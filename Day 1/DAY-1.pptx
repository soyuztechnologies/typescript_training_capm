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Lst>
  <p:notesMasterIdLst>
    <p:notesMasterId r:id="rId31"/>
  </p:notesMasterIdLst>
  <p:sldIdLst>
    <p:sldId id="256" r:id="rId5"/>
    <p:sldId id="402" r:id="rId6"/>
    <p:sldId id="423" r:id="rId7"/>
    <p:sldId id="405" r:id="rId8"/>
    <p:sldId id="258" r:id="rId9"/>
    <p:sldId id="259" r:id="rId10"/>
    <p:sldId id="293" r:id="rId11"/>
    <p:sldId id="294" r:id="rId12"/>
    <p:sldId id="432" r:id="rId13"/>
    <p:sldId id="297" r:id="rId14"/>
    <p:sldId id="298" r:id="rId15"/>
    <p:sldId id="434" r:id="rId16"/>
    <p:sldId id="299" r:id="rId17"/>
    <p:sldId id="300" r:id="rId18"/>
    <p:sldId id="301" r:id="rId19"/>
    <p:sldId id="295" r:id="rId20"/>
    <p:sldId id="424" r:id="rId21"/>
    <p:sldId id="425" r:id="rId22"/>
    <p:sldId id="426" r:id="rId23"/>
    <p:sldId id="427" r:id="rId24"/>
    <p:sldId id="428" r:id="rId25"/>
    <p:sldId id="429" r:id="rId26"/>
    <p:sldId id="430" r:id="rId27"/>
    <p:sldId id="406" r:id="rId28"/>
    <p:sldId id="407" r:id="rId29"/>
    <p:sldId id="409" r:id="rId30"/>
  </p:sldIdLst>
  <p:sldSz cx="12188825" cy="6858000"/>
  <p:notesSz cx="6858000" cy="9144000"/>
  <p:embeddedFontLst>
    <p:embeddedFont>
      <p:font typeface="Arial Black" panose="020B0A04020102020204" pitchFamily="34" charset="0"/>
      <p:regular r:id="rId32"/>
      <p:bold r:id="rId33"/>
    </p:embeddedFont>
    <p:embeddedFont>
      <p:font typeface="Cambria" panose="02040503050406030204" pitchFamily="18" charset="0"/>
      <p:regular r:id="rId34"/>
      <p:bold r:id="rId35"/>
      <p:italic r:id="rId36"/>
      <p:boldItalic r:id="rId37"/>
    </p:embeddedFont>
    <p:embeddedFont>
      <p:font typeface="Cascadia Code" panose="020B0609020000020004" pitchFamily="49" charset="0"/>
      <p:regular r:id="rId38"/>
      <p:bold r:id="rId39"/>
      <p:italic r:id="rId40"/>
      <p:boldItalic r:id="rId41"/>
    </p:embeddedFont>
    <p:embeddedFont>
      <p:font typeface="Consolas" panose="020B0609020204030204" pitchFamily="49" charset="0"/>
      <p:regular r:id="rId42"/>
      <p:bold r:id="rId43"/>
      <p:italic r:id="rId44"/>
      <p:boldItalic r:id="rId45"/>
    </p:embeddedFont>
    <p:embeddedFont>
      <p:font typeface="Cooper Black" panose="0208090404030B020404" pitchFamily="18" charset="0"/>
      <p:regular r:id="rId46"/>
    </p:embeddedFont>
    <p:embeddedFont>
      <p:font typeface="Corben" panose="020B0604020202020204" charset="0"/>
      <p:bold r:id="rId47"/>
    </p:embeddedFont>
    <p:embeddedFont>
      <p:font typeface="Gill Sans" panose="020B0604020202020204" charset="0"/>
      <p:regular r:id="rId48"/>
      <p:bold r:id="rId49"/>
    </p:embeddedFont>
    <p:embeddedFont>
      <p:font typeface="Open Sans" panose="020B0606030504020204" pitchFamily="34" charset="0"/>
      <p:regular r:id="rId50"/>
      <p:bold r:id="rId51"/>
      <p:italic r:id="rId52"/>
      <p:boldItalic r:id="rId53"/>
    </p:embeddedFont>
    <p:embeddedFont>
      <p:font typeface="Quattrocento Sans" panose="020B0502050000020003" pitchFamily="34" charset="0"/>
      <p:regular r:id="rId54"/>
      <p:bold r:id="rId55"/>
      <p:italic r:id="rId56"/>
      <p:boldItalic r:id="rId57"/>
    </p:embeddedFont>
    <p:embeddedFont>
      <p:font typeface="Segoe UI" panose="020B0502040204020203" pitchFamily="34" charset="0"/>
      <p:regular r:id="rId58"/>
      <p:bold r:id="rId59"/>
      <p:italic r:id="rId60"/>
      <p:boldItalic r:id="rId61"/>
    </p:embeddedFont>
    <p:embeddedFont>
      <p:font typeface="Segoe UI Light" panose="020B0502040204020203" pitchFamily="34" charset="0"/>
      <p:regular r:id="rId62"/>
      <p:italic r:id="rId6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8" y="80"/>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font" Target="fonts/font16.fntdata"/><Relationship Id="rId50" Type="http://schemas.openxmlformats.org/officeDocument/2006/relationships/font" Target="fonts/font19.fntdata"/><Relationship Id="rId55" Type="http://schemas.openxmlformats.org/officeDocument/2006/relationships/font" Target="fonts/font24.fntdata"/><Relationship Id="rId63" Type="http://schemas.openxmlformats.org/officeDocument/2006/relationships/font" Target="fonts/font32.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font" Target="fonts/font14.fntdata"/><Relationship Id="rId53" Type="http://schemas.openxmlformats.org/officeDocument/2006/relationships/font" Target="fonts/font22.fntdata"/><Relationship Id="rId58" Type="http://schemas.openxmlformats.org/officeDocument/2006/relationships/font" Target="fonts/font27.fntdata"/><Relationship Id="rId5" Type="http://schemas.openxmlformats.org/officeDocument/2006/relationships/slide" Target="slides/slide1.xml"/><Relationship Id="rId61" Type="http://schemas.openxmlformats.org/officeDocument/2006/relationships/font" Target="fonts/font30.fntdata"/><Relationship Id="rId203" Type="http://customschemas.google.com/relationships/presentationmetadata" Target="meta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4.fntdata"/><Relationship Id="rId43" Type="http://schemas.openxmlformats.org/officeDocument/2006/relationships/font" Target="fonts/font12.fntdata"/><Relationship Id="rId48" Type="http://schemas.openxmlformats.org/officeDocument/2006/relationships/font" Target="fonts/font17.fntdata"/><Relationship Id="rId56" Type="http://schemas.openxmlformats.org/officeDocument/2006/relationships/font" Target="fonts/font25.fntdata"/><Relationship Id="rId8" Type="http://schemas.openxmlformats.org/officeDocument/2006/relationships/slide" Target="slides/slide4.xml"/><Relationship Id="rId51" Type="http://schemas.openxmlformats.org/officeDocument/2006/relationships/font" Target="fonts/font20.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font" Target="fonts/font15.fntdata"/><Relationship Id="rId59" Type="http://schemas.openxmlformats.org/officeDocument/2006/relationships/font" Target="fonts/font28.fntdata"/><Relationship Id="rId20" Type="http://schemas.openxmlformats.org/officeDocument/2006/relationships/slide" Target="slides/slide16.xml"/><Relationship Id="rId41" Type="http://schemas.openxmlformats.org/officeDocument/2006/relationships/font" Target="fonts/font10.fntdata"/><Relationship Id="rId54" Type="http://schemas.openxmlformats.org/officeDocument/2006/relationships/font" Target="fonts/font23.fntdata"/><Relationship Id="rId62" Type="http://schemas.openxmlformats.org/officeDocument/2006/relationships/font" Target="fonts/font31.fntdata"/><Relationship Id="rId1" Type="http://schemas.openxmlformats.org/officeDocument/2006/relationships/slideMaster" Target="slideMasters/slideMaster1.xml"/><Relationship Id="rId6" Type="http://schemas.openxmlformats.org/officeDocument/2006/relationships/slide" Target="slides/slide2.xml"/><Relationship Id="rId204" Type="http://schemas.openxmlformats.org/officeDocument/2006/relationships/presProps" Target="presProps.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5.fntdata"/><Relationship Id="rId49" Type="http://schemas.openxmlformats.org/officeDocument/2006/relationships/font" Target="fonts/font18.fntdata"/><Relationship Id="rId57" Type="http://schemas.openxmlformats.org/officeDocument/2006/relationships/font" Target="fonts/font26.fntdata"/><Relationship Id="rId10" Type="http://schemas.openxmlformats.org/officeDocument/2006/relationships/slide" Target="slides/slide6.xml"/><Relationship Id="rId31" Type="http://schemas.openxmlformats.org/officeDocument/2006/relationships/notesMaster" Target="notesMasters/notesMaster1.xml"/><Relationship Id="rId44" Type="http://schemas.openxmlformats.org/officeDocument/2006/relationships/font" Target="fonts/font13.fntdata"/><Relationship Id="rId52" Type="http://schemas.openxmlformats.org/officeDocument/2006/relationships/font" Target="fonts/font21.fntdata"/><Relationship Id="rId60" Type="http://schemas.openxmlformats.org/officeDocument/2006/relationships/font" Target="fonts/font29.fntdata"/><Relationship Id="rId4" Type="http://schemas.openxmlformats.org/officeDocument/2006/relationships/slideMaster" Target="slideMasters/slideMaster4.xml"/><Relationship Id="rId9" Type="http://schemas.openxmlformats.org/officeDocument/2006/relationships/slide" Target="slides/slide5.xml"/><Relationship Id="rId207"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6" name="Google Shape;55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7" name="Google Shape;557;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5_Title Only">
  <p:cSld name="5_Title Only">
    <p:spTree>
      <p:nvGrpSpPr>
        <p:cNvPr id="1" name="Shape 37"/>
        <p:cNvGrpSpPr/>
        <p:nvPr/>
      </p:nvGrpSpPr>
      <p:grpSpPr>
        <a:xfrm>
          <a:off x="0" y="0"/>
          <a:ext cx="0" cy="0"/>
          <a:chOff x="0" y="0"/>
          <a:chExt cx="0" cy="0"/>
        </a:xfrm>
      </p:grpSpPr>
      <p:sp>
        <p:nvSpPr>
          <p:cNvPr id="38" name="Google Shape;38;p148"/>
          <p:cNvSpPr/>
          <p:nvPr/>
        </p:nvSpPr>
        <p:spPr>
          <a:xfrm>
            <a:off x="0" y="0"/>
            <a:ext cx="4619558" cy="6858000"/>
          </a:xfrm>
          <a:prstGeom prst="rect">
            <a:avLst/>
          </a:pr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9" name="Google Shape;39;p148"/>
          <p:cNvSpPr/>
          <p:nvPr/>
        </p:nvSpPr>
        <p:spPr>
          <a:xfrm rot="1478791">
            <a:off x="659862" y="-879949"/>
            <a:ext cx="4884899" cy="6963279"/>
          </a:xfrm>
          <a:custGeom>
            <a:avLst/>
            <a:gdLst/>
            <a:ahLst/>
            <a:cxnLst/>
            <a:rect l="l" t="t" r="r" b="b"/>
            <a:pathLst>
              <a:path w="4884899" h="6963279" extrusionOk="0">
                <a:moveTo>
                  <a:pt x="203954" y="1646235"/>
                </a:moveTo>
                <a:lnTo>
                  <a:pt x="3791945" y="0"/>
                </a:lnTo>
                <a:lnTo>
                  <a:pt x="3856353" y="65510"/>
                </a:lnTo>
                <a:cubicBezTo>
                  <a:pt x="4478833" y="754104"/>
                  <a:pt x="4884899" y="1885242"/>
                  <a:pt x="4884899" y="3163913"/>
                </a:cubicBezTo>
                <a:cubicBezTo>
                  <a:pt x="4884899" y="5262245"/>
                  <a:pt x="3791377" y="6963279"/>
                  <a:pt x="2442450" y="6963279"/>
                </a:cubicBezTo>
                <a:cubicBezTo>
                  <a:pt x="1093522" y="6963279"/>
                  <a:pt x="0" y="5262245"/>
                  <a:pt x="0" y="3163913"/>
                </a:cubicBezTo>
                <a:cubicBezTo>
                  <a:pt x="0" y="2639331"/>
                  <a:pt x="68346" y="2139579"/>
                  <a:pt x="191941" y="1685029"/>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0" name="Google Shape;40;p148"/>
          <p:cNvSpPr/>
          <p:nvPr/>
        </p:nvSpPr>
        <p:spPr>
          <a:xfrm rot="2150186">
            <a:off x="1041565" y="-955093"/>
            <a:ext cx="4536504" cy="6965899"/>
          </a:xfrm>
          <a:custGeom>
            <a:avLst/>
            <a:gdLst/>
            <a:ahLst/>
            <a:cxnLst/>
            <a:rect l="l" t="t" r="r" b="b"/>
            <a:pathLst>
              <a:path w="4536504" h="6965899" extrusionOk="0">
                <a:moveTo>
                  <a:pt x="254007" y="1819471"/>
                </a:moveTo>
                <a:lnTo>
                  <a:pt x="2773388" y="0"/>
                </a:lnTo>
                <a:lnTo>
                  <a:pt x="2942761" y="67744"/>
                </a:lnTo>
                <a:cubicBezTo>
                  <a:pt x="3866095" y="514480"/>
                  <a:pt x="4536504" y="1854207"/>
                  <a:pt x="4536504" y="3437507"/>
                </a:cubicBezTo>
                <a:cubicBezTo>
                  <a:pt x="4536504" y="5386184"/>
                  <a:pt x="3520973" y="6965899"/>
                  <a:pt x="2268252" y="6965899"/>
                </a:cubicBezTo>
                <a:cubicBezTo>
                  <a:pt x="1015531" y="6965899"/>
                  <a:pt x="0" y="5386184"/>
                  <a:pt x="0" y="3437507"/>
                </a:cubicBezTo>
                <a:cubicBezTo>
                  <a:pt x="0" y="2950338"/>
                  <a:pt x="63471" y="2486229"/>
                  <a:pt x="178251" y="2064098"/>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1" name="Google Shape;41;p148"/>
          <p:cNvSpPr/>
          <p:nvPr/>
        </p:nvSpPr>
        <p:spPr>
          <a:xfrm>
            <a:off x="516501" y="0"/>
            <a:ext cx="8834816" cy="6858000"/>
          </a:xfrm>
          <a:custGeom>
            <a:avLst/>
            <a:gdLst/>
            <a:ahLst/>
            <a:cxnLst/>
            <a:rect l="l" t="t" r="r" b="b"/>
            <a:pathLst>
              <a:path w="8834816" h="6858000" extrusionOk="0">
                <a:moveTo>
                  <a:pt x="3199584" y="0"/>
                </a:moveTo>
                <a:lnTo>
                  <a:pt x="5635232" y="0"/>
                </a:lnTo>
                <a:lnTo>
                  <a:pt x="5731010" y="27198"/>
                </a:lnTo>
                <a:cubicBezTo>
                  <a:pt x="7529198" y="586493"/>
                  <a:pt x="8834816" y="2263779"/>
                  <a:pt x="8834816" y="4246008"/>
                </a:cubicBezTo>
                <a:cubicBezTo>
                  <a:pt x="8834816" y="5160884"/>
                  <a:pt x="8556697" y="6010801"/>
                  <a:pt x="8080391" y="6715824"/>
                </a:cubicBezTo>
                <a:lnTo>
                  <a:pt x="7974075" y="6858000"/>
                </a:lnTo>
                <a:lnTo>
                  <a:pt x="860743" y="6858000"/>
                </a:lnTo>
                <a:lnTo>
                  <a:pt x="754425" y="6715824"/>
                </a:lnTo>
                <a:cubicBezTo>
                  <a:pt x="278121" y="6010801"/>
                  <a:pt x="0" y="5160884"/>
                  <a:pt x="0" y="4246008"/>
                </a:cubicBezTo>
                <a:cubicBezTo>
                  <a:pt x="0" y="2263779"/>
                  <a:pt x="1305618" y="586493"/>
                  <a:pt x="3103806" y="2719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2" name="Google Shape;42;p148"/>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48"/>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48"/>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45" name="Google Shape;45;p148"/>
          <p:cNvSpPr txBox="1">
            <a:spLocks noGrp="1"/>
          </p:cNvSpPr>
          <p:nvPr>
            <p:ph type="title"/>
          </p:nvPr>
        </p:nvSpPr>
        <p:spPr>
          <a:xfrm>
            <a:off x="7534572" y="332656"/>
            <a:ext cx="4044812" cy="19302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1"/>
        <p:cNvGrpSpPr/>
        <p:nvPr/>
      </p:nvGrpSpPr>
      <p:grpSpPr>
        <a:xfrm>
          <a:off x="0" y="0"/>
          <a:ext cx="0" cy="0"/>
          <a:chOff x="0" y="0"/>
          <a:chExt cx="0" cy="0"/>
        </a:xfrm>
      </p:grpSpPr>
      <p:sp>
        <p:nvSpPr>
          <p:cNvPr id="62" name="Google Shape;62;p15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5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5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18" Type="http://schemas.openxmlformats.org/officeDocument/2006/relationships/slideLayout" Target="../slideLayouts/slideLayout2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slideLayout" Target="../slideLayouts/slideLayout27.xml"/><Relationship Id="rId2" Type="http://schemas.openxmlformats.org/officeDocument/2006/relationships/slideLayout" Target="../slideLayouts/slideLayout12.xml"/><Relationship Id="rId16" Type="http://schemas.openxmlformats.org/officeDocument/2006/relationships/slideLayout" Target="../slideLayouts/slideLayout26.xml"/><Relationship Id="rId20" Type="http://schemas.openxmlformats.org/officeDocument/2006/relationships/theme" Target="../theme/theme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slideLayout" Target="../slideLayouts/slideLayout25.xml"/><Relationship Id="rId10" Type="http://schemas.openxmlformats.org/officeDocument/2006/relationships/slideLayout" Target="../slideLayouts/slideLayout20.xml"/><Relationship Id="rId19" Type="http://schemas.openxmlformats.org/officeDocument/2006/relationships/slideLayout" Target="../slideLayouts/slideLayout29.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image" Target="../media/image1.png"/><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 Type="http://schemas.openxmlformats.org/officeDocument/2006/relationships/slideLayout" Target="../slideLayouts/slideLayout43.xml"/><Relationship Id="rId21" Type="http://schemas.openxmlformats.org/officeDocument/2006/relationships/slideLayout" Target="../slideLayouts/slideLayout61.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0" Type="http://schemas.openxmlformats.org/officeDocument/2006/relationships/slideLayout" Target="../slideLayouts/slideLayout60.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5" Type="http://schemas.openxmlformats.org/officeDocument/2006/relationships/slideLayout" Target="../slideLayouts/slideLayout55.xml"/><Relationship Id="rId23" Type="http://schemas.openxmlformats.org/officeDocument/2006/relationships/theme" Target="../theme/theme4.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7" r:id="rId6"/>
    <p:sldLayoutId id="2147483658" r:id="rId7"/>
    <p:sldLayoutId id="2147483659" r:id="rId8"/>
    <p:sldLayoutId id="2147483660" r:id="rId9"/>
    <p:sldLayoutId id="214748370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6/12/2026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06/12/2026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4.xml.rels><?xml version="1.0" encoding="UTF-8" standalone="yes"?>
<Relationships xmlns="http://schemas.openxmlformats.org/package/2006/relationships"><Relationship Id="rId3" Type="http://schemas.openxmlformats.org/officeDocument/2006/relationships/hyperlink" Target="https://www.npmjs.com/package/@openui5/types" TargetMode="External"/><Relationship Id="rId2" Type="http://schemas.openxmlformats.org/officeDocument/2006/relationships/hyperlink" Target="http://definitelytyped.org/" TargetMode="External"/><Relationship Id="rId1" Type="http://schemas.openxmlformats.org/officeDocument/2006/relationships/slideLayout" Target="../slideLayouts/slideLayout62.xml"/><Relationship Id="rId5" Type="http://schemas.openxmlformats.org/officeDocument/2006/relationships/image" Target="../media/image11.png"/><Relationship Id="rId4" Type="http://schemas.openxmlformats.org/officeDocument/2006/relationships/hyperlink" Target="https://github.com/SAP-samples/ui5-cap-event-app/blob/js-with-typescript-support/README.md"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4.jpg"/><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3.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26.xml.rels><?xml version="1.0" encoding="UTF-8" standalone="yes"?>
<Relationships xmlns="http://schemas.openxmlformats.org/package/2006/relationships"><Relationship Id="rId8" Type="http://schemas.openxmlformats.org/officeDocument/2006/relationships/image" Target="../media/image30.jpeg"/><Relationship Id="rId3" Type="http://schemas.openxmlformats.org/officeDocument/2006/relationships/image" Target="../media/image25.jpeg"/><Relationship Id="rId7" Type="http://schemas.openxmlformats.org/officeDocument/2006/relationships/image" Target="../media/image29.tiff"/><Relationship Id="rId2" Type="http://schemas.openxmlformats.org/officeDocument/2006/relationships/notesSlide" Target="../notesSlides/notesSlide5.xml"/><Relationship Id="rId1" Type="http://schemas.openxmlformats.org/officeDocument/2006/relationships/slideLayout" Target="../slideLayouts/slideLayout40.xml"/><Relationship Id="rId6" Type="http://schemas.openxmlformats.org/officeDocument/2006/relationships/image" Target="../media/image28.tiff"/><Relationship Id="rId5" Type="http://schemas.openxmlformats.org/officeDocument/2006/relationships/image" Target="../media/image27.tiff"/><Relationship Id="rId4" Type="http://schemas.openxmlformats.org/officeDocument/2006/relationships/image" Target="../media/image26.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6124544" cy="859686"/>
            <a:chOff x="3657616" y="440668"/>
            <a:chExt cx="6124544"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5180573"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Who is this course for</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6931310" cy="859686"/>
            <a:chOff x="3657616" y="440668"/>
            <a:chExt cx="6931310"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5987339"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Introduction to Type script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6939132" cy="859686"/>
            <a:chOff x="3657616" y="440668"/>
            <a:chExt cx="6939132"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8" y="636144"/>
              <a:ext cx="5995160"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Advance type </a:t>
              </a:r>
              <a:r>
                <a:rPr kumimoji="0" lang="en-US" sz="2400" b="0" i="0" u="none" strike="noStrike" kern="0" cap="none" spc="0" normalizeH="0" baseline="0" noProof="0">
                  <a:ln>
                    <a:noFill/>
                  </a:ln>
                  <a:solidFill>
                    <a:srgbClr val="1B294E"/>
                  </a:solidFill>
                  <a:effectLst/>
                  <a:uLnTx/>
                  <a:uFillTx/>
                  <a:latin typeface="Corben"/>
                  <a:ea typeface="Corben"/>
                  <a:cs typeface="Corben"/>
                  <a:sym typeface="Corben"/>
                </a:rPr>
                <a:t>script concepts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6208303"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Interfaces, Types, Classes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35">
            <a:extLst>
              <a:ext uri="{FF2B5EF4-FFF2-40B4-BE49-F238E27FC236}">
                <a16:creationId xmlns:a16="http://schemas.microsoft.com/office/drawing/2014/main" id="{984BD025-E8D6-4986-ACB4-348E6D14FD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6180" y="607234"/>
            <a:ext cx="727947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p:spPr>
      </p:pic>
      <p:sp>
        <p:nvSpPr>
          <p:cNvPr id="4"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rgbClr val="00B050"/>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5" name="TextBox 4">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4000" b="1" i="0" u="none" strike="noStrike" kern="1200" cap="none" spc="0" normalizeH="0" baseline="0" noProof="0" dirty="0">
                <a:ln>
                  <a:noFill/>
                </a:ln>
                <a:solidFill>
                  <a:prstClr val="white"/>
                </a:solidFill>
                <a:effectLst/>
                <a:uLnTx/>
                <a:uFillTx/>
                <a:latin typeface="Segoe UI"/>
                <a:ea typeface="+mn-ea"/>
                <a:cs typeface="+mn-cs"/>
              </a:rPr>
              <a:t>Introduction</a:t>
            </a:r>
            <a:endParaRPr kumimoji="0" lang="en-IN" sz="4000" b="1" i="0" u="none" strike="noStrike" kern="1200" cap="none" spc="0" normalizeH="0" baseline="0" noProof="0" dirty="0">
              <a:ln>
                <a:noFill/>
              </a:ln>
              <a:solidFill>
                <a:prstClr val="white"/>
              </a:solidFill>
              <a:effectLst/>
              <a:uLnTx/>
              <a:uFillTx/>
              <a:latin typeface="Segoe UI Light" panose="020B0502040204020203" pitchFamily="34" charset="0"/>
              <a:ea typeface="+mn-ea"/>
              <a:cs typeface="Segoe UI Light" panose="020B0502040204020203" pitchFamily="34" charset="0"/>
            </a:endParaRPr>
          </a:p>
        </p:txBody>
      </p:sp>
      <p:sp>
        <p:nvSpPr>
          <p:cNvPr id="6" name="TextBox 5">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Welcome to the BTP CAP Type Script training,</a:t>
            </a:r>
            <a:r>
              <a:rPr kumimoji="0" lang="en-US" sz="1600" b="0" i="0" u="none" strike="noStrike" kern="0" cap="none" spc="0" normalizeH="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 The training is designed specifically for Fiori &amp; CAP developers to migrate projects to Type Script</a:t>
            </a:r>
            <a:endParaRPr kumimoji="0" lang="en-US" sz="1600" b="0" i="0" u="none" strike="noStrike" kern="120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1C86F990-08A5-4110-8C03-B0D18CCCACC8}"/>
              </a:ext>
            </a:extLst>
          </p:cNvPr>
          <p:cNvGrpSpPr/>
          <p:nvPr/>
        </p:nvGrpSpPr>
        <p:grpSpPr>
          <a:xfrm>
            <a:off x="5940975" y="5825370"/>
            <a:ext cx="617354" cy="109990"/>
            <a:chOff x="6006451" y="5603130"/>
            <a:chExt cx="617354" cy="109990"/>
          </a:xfrm>
        </p:grpSpPr>
        <p:sp>
          <p:nvSpPr>
            <p:cNvPr id="8"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9"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10"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grpSp>
      <p:sp>
        <p:nvSpPr>
          <p:cNvPr id="11" name="Minus 10"/>
          <p:cNvSpPr/>
          <p:nvPr/>
        </p:nvSpPr>
        <p:spPr>
          <a:xfrm>
            <a:off x="5898754" y="6314025"/>
            <a:ext cx="3571325"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2" name="Google Shape;845;p16"/>
          <p:cNvSpPr/>
          <p:nvPr/>
        </p:nvSpPr>
        <p:spPr>
          <a:xfrm>
            <a:off x="-2" y="0"/>
            <a:ext cx="3790157"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3" name="Minus 12"/>
          <p:cNvSpPr/>
          <p:nvPr/>
        </p:nvSpPr>
        <p:spPr>
          <a:xfrm>
            <a:off x="-386308" y="1048251"/>
            <a:ext cx="3096344"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4"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
        <p:nvSpPr>
          <p:cNvPr id="16" name="TextBox 15">
            <a:extLst>
              <a:ext uri="{FF2B5EF4-FFF2-40B4-BE49-F238E27FC236}">
                <a16:creationId xmlns:a16="http://schemas.microsoft.com/office/drawing/2014/main" id="{F654CA03-8569-49F8-9893-34C384845174}"/>
              </a:ext>
            </a:extLst>
          </p:cNvPr>
          <p:cNvSpPr txBox="1"/>
          <p:nvPr/>
        </p:nvSpPr>
        <p:spPr>
          <a:xfrm>
            <a:off x="233203" y="3637063"/>
            <a:ext cx="3526565" cy="2154436"/>
          </a:xfrm>
          <a:prstGeom prst="rect">
            <a:avLst/>
          </a:prstGeom>
          <a:noFill/>
        </p:spPr>
        <p:txBody>
          <a:bodyPr wrap="square" lIns="0" tIns="0" rIns="0" bIns="0" rtlCol="0" anchor="t">
            <a:spAutoFit/>
          </a:bodyPr>
          <a:lstStyle/>
          <a:p>
            <a:r>
              <a:rPr lang="en-US" dirty="0">
                <a:solidFill>
                  <a:srgbClr val="283E69"/>
                </a:solidFill>
                <a:latin typeface="Segoe UI" panose="020B0502040204020203" pitchFamily="34" charset="0"/>
                <a:ea typeface="Calibri Light" charset="0"/>
                <a:cs typeface="Segoe UI" panose="020B0502040204020203" pitchFamily="34" charset="0"/>
              </a:rPr>
              <a:t>This course is designed exclusively for SAP BTP developers who are already proficient in JavaScript, Node.js, the CAP framework, and the BTP platform. It covers only the TypeScript-specific knowledge and migration patterns needed to transition existing BTP projects from JavaScript to TypeScript — no platform orientation, no Node.js fundamentals, and no CAP architecture basics.</a:t>
            </a: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6182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arn(inVertical)">
                                      <p:cBhvr>
                                        <p:cTn id="10" dur="500"/>
                                        <p:tgtEl>
                                          <p:spTgt spid="5"/>
                                        </p:tgtEl>
                                      </p:cBhvr>
                                    </p:animEffect>
                                  </p:childTnLst>
                                </p:cTn>
                              </p:par>
                              <p:par>
                                <p:cTn id="11" presetID="16" presetClass="entr" presetSubtype="21"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barn(inVertical)">
                                      <p:cBhvr>
                                        <p:cTn id="13" dur="500"/>
                                        <p:tgtEl>
                                          <p:spTgt spid="6"/>
                                        </p:tgtEl>
                                      </p:cBhvr>
                                    </p:animEffect>
                                  </p:childTnLst>
                                </p:cTn>
                              </p:par>
                              <p:par>
                                <p:cTn id="14" presetID="16" presetClass="entr" presetSubtype="21"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barn(inVertical)">
                                      <p:cBhvr>
                                        <p:cTn id="19" dur="500"/>
                                        <p:tgtEl>
                                          <p:spTgt spid="4"/>
                                        </p:tgtEl>
                                      </p:cBhvr>
                                    </p:animEffect>
                                  </p:childTnLst>
                                </p:cTn>
                              </p:par>
                              <p:par>
                                <p:cTn id="20" presetID="16" presetClass="entr" presetSubtype="21"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barn(inVertical)">
                                      <p:cBhvr>
                                        <p:cTn id="22" dur="500"/>
                                        <p:tgtEl>
                                          <p:spTgt spid="11"/>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barn(inVertical)">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11" grpId="0" animBg="1"/>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ACD98C"/>
        </a:solidFill>
        <a:effectLst/>
      </p:bgPr>
    </p:bg>
    <p:spTree>
      <p:nvGrpSpPr>
        <p:cNvPr id="1" name="Shape 558"/>
        <p:cNvGrpSpPr/>
        <p:nvPr/>
      </p:nvGrpSpPr>
      <p:grpSpPr>
        <a:xfrm>
          <a:off x="0" y="0"/>
          <a:ext cx="0" cy="0"/>
          <a:chOff x="0" y="0"/>
          <a:chExt cx="0" cy="0"/>
        </a:xfrm>
      </p:grpSpPr>
      <p:sp>
        <p:nvSpPr>
          <p:cNvPr id="559" name="Google Shape;559;p3"/>
          <p:cNvSpPr txBox="1">
            <a:spLocks noGrp="1"/>
          </p:cNvSpPr>
          <p:nvPr>
            <p:ph type="title"/>
          </p:nvPr>
        </p:nvSpPr>
        <p:spPr>
          <a:xfrm>
            <a:off x="112541" y="48811"/>
            <a:ext cx="7244862" cy="720080"/>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rgbClr val="1B294E"/>
              </a:buClr>
              <a:buSzPts val="3600"/>
              <a:buFont typeface="Corben"/>
              <a:buNone/>
            </a:pPr>
            <a:r>
              <a:rPr lang="en-US" dirty="0">
                <a:solidFill>
                  <a:schemeClr val="tx1">
                    <a:lumMod val="50000"/>
                  </a:schemeClr>
                </a:solidFill>
                <a:latin typeface="Corben"/>
                <a:ea typeface="Corben"/>
                <a:cs typeface="Corben"/>
                <a:sym typeface="Corben"/>
              </a:rPr>
              <a:t>Who is this course for</a:t>
            </a:r>
            <a:endParaRPr dirty="0">
              <a:solidFill>
                <a:schemeClr val="tx1">
                  <a:lumMod val="50000"/>
                </a:schemeClr>
              </a:solidFill>
            </a:endParaRPr>
          </a:p>
        </p:txBody>
      </p:sp>
      <p:pic>
        <p:nvPicPr>
          <p:cNvPr id="563" name="Google Shape;563;p3" descr="A person standing in a field&#10;&#10;Description automatically generated with low confidence"/>
          <p:cNvPicPr preferRelativeResize="0"/>
          <p:nvPr/>
        </p:nvPicPr>
        <p:blipFill rotWithShape="1">
          <a:blip r:embed="rId3">
            <a:alphaModFix/>
          </a:blip>
          <a:srcRect l="28636" t="17313" r="28636" b="20279"/>
          <a:stretch/>
        </p:blipFill>
        <p:spPr>
          <a:xfrm>
            <a:off x="1053852" y="1425551"/>
            <a:ext cx="1846661" cy="1846658"/>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4" name="Google Shape;564;p3" descr="A person wearing glasses&#10;&#10;Description automatically generated with medium confidence"/>
          <p:cNvPicPr preferRelativeResize="0"/>
          <p:nvPr/>
        </p:nvPicPr>
        <p:blipFill rotWithShape="1">
          <a:blip r:embed="rId4">
            <a:alphaModFix/>
          </a:blip>
          <a:srcRect l="27338" t="16047" r="27339" b="16046"/>
          <a:stretch/>
        </p:blipFill>
        <p:spPr>
          <a:xfrm>
            <a:off x="9983784" y="1425551"/>
            <a:ext cx="1846661" cy="1846659"/>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5" name="Google Shape;565;p3" descr="A picture containing text, person&#10;&#10;Description automatically generated"/>
          <p:cNvPicPr preferRelativeResize="0"/>
          <p:nvPr/>
        </p:nvPicPr>
        <p:blipFill rotWithShape="1">
          <a:blip r:embed="rId5">
            <a:alphaModFix/>
          </a:blip>
          <a:srcRect l="19184" t="14435" r="36161" b="18672"/>
          <a:stretch/>
        </p:blipFill>
        <p:spPr>
          <a:xfrm>
            <a:off x="1018867" y="4235432"/>
            <a:ext cx="1828647" cy="1828645"/>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6" name="Google Shape;566;p3" descr="A person with long hair&#10;&#10;Description automatically generated with medium confidence"/>
          <p:cNvPicPr preferRelativeResize="0"/>
          <p:nvPr/>
        </p:nvPicPr>
        <p:blipFill rotWithShape="1">
          <a:blip r:embed="rId6">
            <a:alphaModFix/>
          </a:blip>
          <a:srcRect l="30390" t="16070" r="22114" b="12684"/>
          <a:stretch/>
        </p:blipFill>
        <p:spPr>
          <a:xfrm>
            <a:off x="9809849" y="4235432"/>
            <a:ext cx="1955107" cy="1955104"/>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sp>
        <p:nvSpPr>
          <p:cNvPr id="567" name="Google Shape;567;p3"/>
          <p:cNvSpPr txBox="1"/>
          <p:nvPr/>
        </p:nvSpPr>
        <p:spPr>
          <a:xfrm>
            <a:off x="3214092" y="1582341"/>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BTP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James- </a:t>
            </a:r>
            <a:r>
              <a:rPr lang="en-US" sz="1800" dirty="0">
                <a:solidFill>
                  <a:srgbClr val="1B294E"/>
                </a:solidFill>
                <a:latin typeface="Quattrocento Sans"/>
                <a:ea typeface="Quattrocento Sans"/>
                <a:cs typeface="Quattrocento Sans"/>
                <a:sym typeface="Quattrocento Sans"/>
              </a:rPr>
              <a:t>Embrace the change in the development paradigm using advance syntax of Type Script</a:t>
            </a:r>
            <a:endParaRPr dirty="0"/>
          </a:p>
        </p:txBody>
      </p:sp>
      <p:sp>
        <p:nvSpPr>
          <p:cNvPr id="568" name="Google Shape;568;p3"/>
          <p:cNvSpPr txBox="1"/>
          <p:nvPr/>
        </p:nvSpPr>
        <p:spPr>
          <a:xfrm>
            <a:off x="6742484" y="1582341"/>
            <a:ext cx="2880320" cy="1661953"/>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CAP Developer</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Ruhaan-</a:t>
            </a:r>
            <a:r>
              <a:rPr lang="en-US" sz="2400" b="1" dirty="0">
                <a:solidFill>
                  <a:srgbClr val="1B294E"/>
                </a:solidFill>
                <a:latin typeface="Quattrocento Sans"/>
                <a:ea typeface="Quattrocento Sans"/>
                <a:cs typeface="Quattrocento Sans"/>
                <a:sym typeface="Quattrocento Sans"/>
              </a:rPr>
              <a:t> </a:t>
            </a:r>
            <a:r>
              <a:rPr lang="en-US" sz="1800" dirty="0">
                <a:solidFill>
                  <a:srgbClr val="1B294E"/>
                </a:solidFill>
                <a:latin typeface="Quattrocento Sans"/>
                <a:ea typeface="Quattrocento Sans"/>
                <a:cs typeface="Quattrocento Sans"/>
                <a:sym typeface="Quattrocento Sans"/>
              </a:rPr>
              <a:t>Migrate your existing Java Script code to Type Script code along with best practices</a:t>
            </a:r>
            <a:endParaRPr sz="2400" dirty="0">
              <a:solidFill>
                <a:srgbClr val="1B294E"/>
              </a:solidFill>
              <a:latin typeface="Quattrocento Sans"/>
              <a:ea typeface="Quattrocento Sans"/>
              <a:cs typeface="Quattrocento Sans"/>
              <a:sym typeface="Quattrocento Sans"/>
            </a:endParaRPr>
          </a:p>
        </p:txBody>
      </p:sp>
      <p:sp>
        <p:nvSpPr>
          <p:cNvPr id="569" name="Google Shape;569;p3"/>
          <p:cNvSpPr txBox="1"/>
          <p:nvPr/>
        </p:nvSpPr>
        <p:spPr>
          <a:xfrm>
            <a:off x="3222515" y="4494417"/>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Fiori Developer</a:t>
            </a:r>
            <a:endParaRPr dirty="0"/>
          </a:p>
          <a:p>
            <a:pPr marL="0" marR="0" lvl="0" indent="0" algn="ctr" rtl="0">
              <a:spcBef>
                <a:spcPts val="0"/>
              </a:spcBef>
              <a:spcAft>
                <a:spcPts val="0"/>
              </a:spcAft>
              <a:buNone/>
            </a:pPr>
            <a:r>
              <a:rPr lang="en-US" sz="1800" b="1" dirty="0" err="1">
                <a:solidFill>
                  <a:srgbClr val="1B294E"/>
                </a:solidFill>
                <a:latin typeface="Quattrocento Sans"/>
                <a:ea typeface="Quattrocento Sans"/>
                <a:cs typeface="Quattrocento Sans"/>
                <a:sym typeface="Quattrocento Sans"/>
              </a:rPr>
              <a:t>Emayaa</a:t>
            </a:r>
            <a:r>
              <a:rPr lang="en-US" sz="1800" b="1" dirty="0">
                <a:solidFill>
                  <a:srgbClr val="1B294E"/>
                </a:solidFill>
                <a:latin typeface="Quattrocento Sans"/>
                <a:ea typeface="Quattrocento Sans"/>
                <a:cs typeface="Quattrocento Sans"/>
                <a:sym typeface="Quattrocento Sans"/>
              </a:rPr>
              <a:t> – </a:t>
            </a:r>
            <a:r>
              <a:rPr lang="en-US" sz="1800" dirty="0">
                <a:solidFill>
                  <a:srgbClr val="1B294E"/>
                </a:solidFill>
                <a:latin typeface="Quattrocento Sans"/>
                <a:ea typeface="Quattrocento Sans"/>
                <a:cs typeface="Quattrocento Sans"/>
                <a:sym typeface="Quattrocento Sans"/>
              </a:rPr>
              <a:t>Understand the syntax and changes which needs to be applied to logic to convert project to type script</a:t>
            </a:r>
            <a:endParaRPr sz="1800" dirty="0">
              <a:solidFill>
                <a:srgbClr val="1B294E"/>
              </a:solidFill>
              <a:latin typeface="Quattrocento Sans"/>
              <a:ea typeface="Quattrocento Sans"/>
              <a:cs typeface="Quattrocento Sans"/>
              <a:sym typeface="Quattrocento Sans"/>
            </a:endParaRPr>
          </a:p>
        </p:txBody>
      </p:sp>
      <p:sp>
        <p:nvSpPr>
          <p:cNvPr id="570" name="Google Shape;570;p3"/>
          <p:cNvSpPr txBox="1"/>
          <p:nvPr/>
        </p:nvSpPr>
        <p:spPr>
          <a:xfrm>
            <a:off x="6618413" y="4428154"/>
            <a:ext cx="3052352" cy="15696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Any SAP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Ronny – </a:t>
            </a:r>
            <a:r>
              <a:rPr lang="en-US" sz="1800" dirty="0">
                <a:solidFill>
                  <a:srgbClr val="1B294E"/>
                </a:solidFill>
                <a:latin typeface="Quattrocento Sans"/>
                <a:ea typeface="Quattrocento Sans"/>
                <a:cs typeface="Quattrocento Sans"/>
                <a:sym typeface="Quattrocento Sans"/>
              </a:rPr>
              <a:t>Embrace Type Script knowledge to implement type safe application development</a:t>
            </a:r>
            <a:endParaRPr dirty="0"/>
          </a:p>
        </p:txBody>
      </p:sp>
      <p:pic>
        <p:nvPicPr>
          <p:cNvPr id="15"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6"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59"/>
                                        </p:tgtEl>
                                        <p:attrNameLst>
                                          <p:attrName>style.visibility</p:attrName>
                                        </p:attrNameLst>
                                      </p:cBhvr>
                                      <p:to>
                                        <p:strVal val="visible"/>
                                      </p:to>
                                    </p:set>
                                    <p:animEffect transition="in" filter="barn(inVertical)">
                                      <p:cBhvr>
                                        <p:cTn id="7" dur="500"/>
                                        <p:tgtEl>
                                          <p:spTgt spid="559"/>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67"/>
                                        </p:tgtEl>
                                        <p:attrNameLst>
                                          <p:attrName>style.visibility</p:attrName>
                                        </p:attrNameLst>
                                      </p:cBhvr>
                                      <p:to>
                                        <p:strVal val="visible"/>
                                      </p:to>
                                    </p:set>
                                    <p:animEffect transition="in" filter="barn(inVertical)">
                                      <p:cBhvr>
                                        <p:cTn id="12" dur="500"/>
                                        <p:tgtEl>
                                          <p:spTgt spid="567"/>
                                        </p:tgtEl>
                                      </p:cBhvr>
                                    </p:animEffect>
                                  </p:childTnLst>
                                </p:cTn>
                              </p:par>
                              <p:par>
                                <p:cTn id="13" presetID="16" presetClass="entr" presetSubtype="21" fill="hold" nodeType="withEffect">
                                  <p:stCondLst>
                                    <p:cond delay="0"/>
                                  </p:stCondLst>
                                  <p:childTnLst>
                                    <p:set>
                                      <p:cBhvr>
                                        <p:cTn id="14" dur="1" fill="hold">
                                          <p:stCondLst>
                                            <p:cond delay="0"/>
                                          </p:stCondLst>
                                        </p:cTn>
                                        <p:tgtEl>
                                          <p:spTgt spid="563"/>
                                        </p:tgtEl>
                                        <p:attrNameLst>
                                          <p:attrName>style.visibility</p:attrName>
                                        </p:attrNameLst>
                                      </p:cBhvr>
                                      <p:to>
                                        <p:strVal val="visible"/>
                                      </p:to>
                                    </p:set>
                                    <p:animEffect transition="in" filter="barn(inVertical)">
                                      <p:cBhvr>
                                        <p:cTn id="15" dur="500"/>
                                        <p:tgtEl>
                                          <p:spTgt spid="56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568"/>
                                        </p:tgtEl>
                                        <p:attrNameLst>
                                          <p:attrName>style.visibility</p:attrName>
                                        </p:attrNameLst>
                                      </p:cBhvr>
                                      <p:to>
                                        <p:strVal val="visible"/>
                                      </p:to>
                                    </p:set>
                                    <p:animEffect transition="in" filter="barn(inVertical)">
                                      <p:cBhvr>
                                        <p:cTn id="20" dur="500"/>
                                        <p:tgtEl>
                                          <p:spTgt spid="568"/>
                                        </p:tgtEl>
                                      </p:cBhvr>
                                    </p:animEffect>
                                  </p:childTnLst>
                                </p:cTn>
                              </p:par>
                              <p:par>
                                <p:cTn id="21" presetID="16" presetClass="entr" presetSubtype="21" fill="hold" nodeType="withEffect">
                                  <p:stCondLst>
                                    <p:cond delay="0"/>
                                  </p:stCondLst>
                                  <p:childTnLst>
                                    <p:set>
                                      <p:cBhvr>
                                        <p:cTn id="22" dur="1" fill="hold">
                                          <p:stCondLst>
                                            <p:cond delay="0"/>
                                          </p:stCondLst>
                                        </p:cTn>
                                        <p:tgtEl>
                                          <p:spTgt spid="564"/>
                                        </p:tgtEl>
                                        <p:attrNameLst>
                                          <p:attrName>style.visibility</p:attrName>
                                        </p:attrNameLst>
                                      </p:cBhvr>
                                      <p:to>
                                        <p:strVal val="visible"/>
                                      </p:to>
                                    </p:set>
                                    <p:animEffect transition="in" filter="barn(inVertical)">
                                      <p:cBhvr>
                                        <p:cTn id="23" dur="500"/>
                                        <p:tgtEl>
                                          <p:spTgt spid="564"/>
                                        </p:tgtEl>
                                      </p:cBhvr>
                                    </p:animEffect>
                                  </p:childTnLst>
                                </p:cTn>
                              </p:par>
                            </p:childTnLst>
                          </p:cTn>
                        </p:par>
                      </p:childTnLst>
                    </p:cTn>
                  </p:par>
                  <p:par>
                    <p:cTn id="24" fill="hold">
                      <p:stCondLst>
                        <p:cond delay="indefinite"/>
                      </p:stCondLst>
                      <p:childTnLst>
                        <p:par>
                          <p:cTn id="25" fill="hold">
                            <p:stCondLst>
                              <p:cond delay="0"/>
                            </p:stCondLst>
                            <p:childTnLst>
                              <p:par>
                                <p:cTn id="26" presetID="16" presetClass="entr" presetSubtype="21" fill="hold" nodeType="clickEffect">
                                  <p:stCondLst>
                                    <p:cond delay="0"/>
                                  </p:stCondLst>
                                  <p:childTnLst>
                                    <p:set>
                                      <p:cBhvr>
                                        <p:cTn id="27" dur="1" fill="hold">
                                          <p:stCondLst>
                                            <p:cond delay="0"/>
                                          </p:stCondLst>
                                        </p:cTn>
                                        <p:tgtEl>
                                          <p:spTgt spid="565"/>
                                        </p:tgtEl>
                                        <p:attrNameLst>
                                          <p:attrName>style.visibility</p:attrName>
                                        </p:attrNameLst>
                                      </p:cBhvr>
                                      <p:to>
                                        <p:strVal val="visible"/>
                                      </p:to>
                                    </p:set>
                                    <p:animEffect transition="in" filter="barn(inVertical)">
                                      <p:cBhvr>
                                        <p:cTn id="28" dur="500"/>
                                        <p:tgtEl>
                                          <p:spTgt spid="565"/>
                                        </p:tgtEl>
                                      </p:cBhvr>
                                    </p:animEffect>
                                  </p:childTnLst>
                                </p:cTn>
                              </p:par>
                              <p:par>
                                <p:cTn id="29" presetID="16" presetClass="entr" presetSubtype="21" fill="hold" grpId="0" nodeType="withEffect">
                                  <p:stCondLst>
                                    <p:cond delay="0"/>
                                  </p:stCondLst>
                                  <p:childTnLst>
                                    <p:set>
                                      <p:cBhvr>
                                        <p:cTn id="30" dur="1" fill="hold">
                                          <p:stCondLst>
                                            <p:cond delay="0"/>
                                          </p:stCondLst>
                                        </p:cTn>
                                        <p:tgtEl>
                                          <p:spTgt spid="569"/>
                                        </p:tgtEl>
                                        <p:attrNameLst>
                                          <p:attrName>style.visibility</p:attrName>
                                        </p:attrNameLst>
                                      </p:cBhvr>
                                      <p:to>
                                        <p:strVal val="visible"/>
                                      </p:to>
                                    </p:set>
                                    <p:animEffect transition="in" filter="barn(inVertical)">
                                      <p:cBhvr>
                                        <p:cTn id="31" dur="500"/>
                                        <p:tgtEl>
                                          <p:spTgt spid="569"/>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21" fill="hold" grpId="0" nodeType="clickEffect">
                                  <p:stCondLst>
                                    <p:cond delay="0"/>
                                  </p:stCondLst>
                                  <p:childTnLst>
                                    <p:set>
                                      <p:cBhvr>
                                        <p:cTn id="35" dur="1" fill="hold">
                                          <p:stCondLst>
                                            <p:cond delay="0"/>
                                          </p:stCondLst>
                                        </p:cTn>
                                        <p:tgtEl>
                                          <p:spTgt spid="570"/>
                                        </p:tgtEl>
                                        <p:attrNameLst>
                                          <p:attrName>style.visibility</p:attrName>
                                        </p:attrNameLst>
                                      </p:cBhvr>
                                      <p:to>
                                        <p:strVal val="visible"/>
                                      </p:to>
                                    </p:set>
                                    <p:animEffect transition="in" filter="barn(inVertical)">
                                      <p:cBhvr>
                                        <p:cTn id="36" dur="500"/>
                                        <p:tgtEl>
                                          <p:spTgt spid="570"/>
                                        </p:tgtEl>
                                      </p:cBhvr>
                                    </p:animEffect>
                                  </p:childTnLst>
                                </p:cTn>
                              </p:par>
                              <p:par>
                                <p:cTn id="37" presetID="16" presetClass="entr" presetSubtype="21" fill="hold" nodeType="withEffect">
                                  <p:stCondLst>
                                    <p:cond delay="0"/>
                                  </p:stCondLst>
                                  <p:childTnLst>
                                    <p:set>
                                      <p:cBhvr>
                                        <p:cTn id="38" dur="1" fill="hold">
                                          <p:stCondLst>
                                            <p:cond delay="0"/>
                                          </p:stCondLst>
                                        </p:cTn>
                                        <p:tgtEl>
                                          <p:spTgt spid="566"/>
                                        </p:tgtEl>
                                        <p:attrNameLst>
                                          <p:attrName>style.visibility</p:attrName>
                                        </p:attrNameLst>
                                      </p:cBhvr>
                                      <p:to>
                                        <p:strVal val="visible"/>
                                      </p:to>
                                    </p:set>
                                    <p:animEffect transition="in" filter="barn(inVertical)">
                                      <p:cBhvr>
                                        <p:cTn id="39" dur="500"/>
                                        <p:tgtEl>
                                          <p:spTgt spid="5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9" grpId="0"/>
      <p:bldP spid="567" grpId="0"/>
      <p:bldP spid="568" grpId="0"/>
      <p:bldP spid="569" grpId="0"/>
      <p:bldP spid="57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5AF73F78-4DFA-4183-97B6-DD080B6A82DF}"/>
              </a:ext>
            </a:extLst>
          </p:cNvPr>
          <p:cNvSpPr/>
          <p:nvPr/>
        </p:nvSpPr>
        <p:spPr>
          <a:xfrm>
            <a:off x="349804" y="951221"/>
            <a:ext cx="2721499" cy="5285357"/>
          </a:xfrm>
          <a:prstGeom prst="rect">
            <a:avLst/>
          </a:prstGeom>
          <a:noFill/>
          <a:ln w="571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F47B6-7C81-D099-56D9-B25C0716EF0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CC0E9F38-3F0C-20A9-FDF7-9926CC56A9E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What is Type Script</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725DD64-2B00-6D77-EF58-4B20D34C8C54}"/>
              </a:ext>
            </a:extLst>
          </p:cNvPr>
          <p:cNvSpPr txBox="1"/>
          <p:nvPr/>
        </p:nvSpPr>
        <p:spPr>
          <a:xfrm>
            <a:off x="142630" y="655071"/>
            <a:ext cx="11483853" cy="5293702"/>
          </a:xfrm>
          <a:prstGeom prst="rect">
            <a:avLst/>
          </a:prstGeom>
          <a:noFill/>
        </p:spPr>
        <p:txBody>
          <a:bodyPr wrap="square" lIns="121867" tIns="60933" rIns="121867" bIns="60933" rtlCol="0">
            <a:spAutoFit/>
          </a:bodyPr>
          <a:lstStyle/>
          <a:p>
            <a:pPr defTabSz="914126">
              <a:buClrTx/>
            </a:pPr>
            <a:r>
              <a:rPr lang="en-IN" sz="1600" kern="1200" dirty="0">
                <a:solidFill>
                  <a:prstClr val="black"/>
                </a:solidFill>
                <a:latin typeface="Aptos" panose="02110004020202020204"/>
                <a:ea typeface="+mn-ea"/>
                <a:cs typeface="+mn-cs"/>
              </a:rPr>
              <a:t>Type Script is enhanced version of JS, </a:t>
            </a:r>
            <a:r>
              <a:rPr lang="en-US" sz="1600" kern="1200" dirty="0">
                <a:solidFill>
                  <a:prstClr val="black"/>
                </a:solidFill>
                <a:latin typeface="Aptos" panose="02110004020202020204"/>
                <a:ea typeface="+mn-ea"/>
                <a:cs typeface="+mn-cs"/>
              </a:rPr>
              <a:t>TypeScript is a syntactic superset of JavaScript which adds </a:t>
            </a:r>
            <a:r>
              <a:rPr lang="en-US" sz="1600" b="1" kern="1200" dirty="0">
                <a:solidFill>
                  <a:prstClr val="black"/>
                </a:solidFill>
                <a:latin typeface="Aptos" panose="02110004020202020204"/>
                <a:ea typeface="+mn-ea"/>
                <a:cs typeface="+mn-cs"/>
              </a:rPr>
              <a:t>static typing</a:t>
            </a:r>
            <a:r>
              <a:rPr lang="en-US" sz="1600" kern="1200" dirty="0">
                <a:solidFill>
                  <a:prstClr val="black"/>
                </a:solidFill>
                <a:latin typeface="Aptos" panose="02110004020202020204"/>
                <a:ea typeface="+mn-ea"/>
                <a:cs typeface="+mn-cs"/>
              </a:rPr>
              <a:t>.</a:t>
            </a:r>
          </a:p>
          <a:p>
            <a:pPr defTabSz="914126">
              <a:buClrTx/>
            </a:pPr>
            <a:endParaRPr lang="en-US" sz="1600" kern="1200" dirty="0">
              <a:solidFill>
                <a:prstClr val="black"/>
              </a:solidFill>
              <a:latin typeface="Aptos" panose="02110004020202020204"/>
              <a:ea typeface="+mn-ea"/>
              <a:cs typeface="+mn-cs"/>
            </a:endParaRPr>
          </a:p>
          <a:p>
            <a:pPr marL="342797" indent="-342797" defTabSz="914126">
              <a:buClrTx/>
              <a:buFontTx/>
              <a:buAutoNum type="arabicPeriod"/>
            </a:pPr>
            <a:r>
              <a:rPr lang="en-IN" sz="1600" kern="1200" dirty="0">
                <a:solidFill>
                  <a:prstClr val="black"/>
                </a:solidFill>
                <a:latin typeface="Aptos" panose="02110004020202020204"/>
                <a:ea typeface="+mn-ea"/>
                <a:cs typeface="+mn-cs"/>
              </a:rPr>
              <a:t>We could say its superset of JS</a:t>
            </a:r>
          </a:p>
          <a:p>
            <a:pPr marL="342797" indent="-342797" defTabSz="914126">
              <a:buClrTx/>
              <a:buFontTx/>
              <a:buAutoNum type="arabicPeriod"/>
            </a:pPr>
            <a:r>
              <a:rPr lang="en-IN" sz="1600" kern="1200" dirty="0">
                <a:solidFill>
                  <a:prstClr val="black"/>
                </a:solidFill>
                <a:latin typeface="Aptos" panose="02110004020202020204"/>
                <a:ea typeface="+mn-ea"/>
                <a:cs typeface="+mn-cs"/>
              </a:rPr>
              <a:t>You can think like C++ is enhanced version of C</a:t>
            </a:r>
          </a:p>
          <a:p>
            <a:pPr marL="342797" indent="-342797" defTabSz="914126">
              <a:buClrTx/>
              <a:buFontTx/>
              <a:buAutoNum type="arabicPeriod"/>
            </a:pPr>
            <a:r>
              <a:rPr lang="en-IN" sz="1600" kern="1200" dirty="0">
                <a:solidFill>
                  <a:prstClr val="black"/>
                </a:solidFill>
                <a:latin typeface="Aptos" panose="02110004020202020204"/>
                <a:ea typeface="+mn-ea"/>
                <a:cs typeface="+mn-cs"/>
              </a:rPr>
              <a:t>TypeScript is built upon Java Script only</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 JS + Types, Like usually in JS we never provide data types while creating variables but in TS we must</a:t>
            </a:r>
          </a:p>
          <a:p>
            <a:pPr marL="342797" indent="-342797" defTabSz="914126">
              <a:buClrTx/>
              <a:buFontTx/>
              <a:buAutoNum type="arabicPeriod"/>
            </a:pPr>
            <a:r>
              <a:rPr lang="en-IN" sz="1600" kern="1200" dirty="0">
                <a:solidFill>
                  <a:prstClr val="black"/>
                </a:solidFill>
                <a:latin typeface="Aptos" panose="02110004020202020204"/>
                <a:ea typeface="+mn-ea"/>
                <a:cs typeface="+mn-cs"/>
              </a:rPr>
              <a:t>Also TS offers better syntax to manage the classes and objects</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cannot run directly in Browser, so it has to be converted to JS hence we have to write some special file or use modules to convert the TS to JS at runtime</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Compiler converts the code from TS to JS</a:t>
            </a:r>
          </a:p>
          <a:p>
            <a:pPr marL="342797" indent="-342797" defTabSz="914126">
              <a:buClrTx/>
              <a:buFontTx/>
              <a:buAutoNum type="arabicPeriod"/>
            </a:pPr>
            <a:endParaRPr lang="en-IN" sz="1600" kern="1200" dirty="0">
              <a:solidFill>
                <a:prstClr val="black"/>
              </a:solidFill>
              <a:latin typeface="Aptos" panose="02110004020202020204"/>
              <a:ea typeface="+mn-ea"/>
              <a:cs typeface="+mn-cs"/>
            </a:endParaRPr>
          </a:p>
          <a:p>
            <a:pPr defTabSz="914126">
              <a:buClrTx/>
            </a:pPr>
            <a:r>
              <a:rPr lang="en-IN" sz="1600" kern="1200" dirty="0">
                <a:solidFill>
                  <a:prstClr val="black"/>
                </a:solidFill>
                <a:latin typeface="Aptos" panose="02110004020202020204"/>
                <a:ea typeface="+mn-ea"/>
                <a:cs typeface="+mn-cs"/>
              </a:rPr>
              <a:t>Benefits</a:t>
            </a:r>
          </a:p>
          <a:p>
            <a:pPr marL="342797" indent="-342797" defTabSz="914126">
              <a:buClrTx/>
              <a:buFontTx/>
              <a:buAutoNum type="arabicPeriod"/>
            </a:pPr>
            <a:r>
              <a:rPr lang="en-IN" sz="1600" kern="1200" dirty="0">
                <a:solidFill>
                  <a:prstClr val="black"/>
                </a:solidFill>
                <a:latin typeface="Aptos" panose="02110004020202020204"/>
                <a:ea typeface="+mn-ea"/>
                <a:cs typeface="+mn-cs"/>
              </a:rPr>
              <a:t>We can do checks at compile time, So error handling is easy</a:t>
            </a:r>
          </a:p>
          <a:p>
            <a:pPr marL="342797" indent="-342797" defTabSz="914126">
              <a:buClrTx/>
              <a:buFontTx/>
              <a:buAutoNum type="arabicPeriod"/>
            </a:pPr>
            <a:r>
              <a:rPr lang="en-IN" sz="1600" kern="1200" dirty="0">
                <a:solidFill>
                  <a:prstClr val="black"/>
                </a:solidFill>
                <a:latin typeface="Aptos" panose="02110004020202020204"/>
                <a:ea typeface="+mn-ea"/>
                <a:cs typeface="+mn-cs"/>
              </a:rPr>
              <a:t>Code Completion is better</a:t>
            </a:r>
          </a:p>
          <a:p>
            <a:pPr marL="342797" indent="-342797" defTabSz="914126">
              <a:buClrTx/>
              <a:buFontTx/>
              <a:buAutoNum type="arabicPeriod"/>
            </a:pPr>
            <a:r>
              <a:rPr lang="en-IN" sz="1600" kern="1200" dirty="0">
                <a:solidFill>
                  <a:prstClr val="black"/>
                </a:solidFill>
                <a:latin typeface="Aptos" panose="02110004020202020204"/>
                <a:ea typeface="+mn-ea"/>
                <a:cs typeface="+mn-cs"/>
              </a:rPr>
              <a:t>Object Oriented programming can be added which offers classes, polymorphism, inheritance etc</a:t>
            </a:r>
          </a:p>
          <a:p>
            <a:pPr marL="342797" indent="-342797" defTabSz="914126">
              <a:buClrTx/>
              <a:buFontTx/>
              <a:buAutoNum type="arabicPeriod"/>
            </a:pPr>
            <a:r>
              <a:rPr lang="en-IN" sz="1600" kern="1200" dirty="0">
                <a:solidFill>
                  <a:prstClr val="black"/>
                </a:solidFill>
                <a:latin typeface="Aptos" panose="02110004020202020204"/>
                <a:ea typeface="+mn-ea"/>
                <a:cs typeface="+mn-cs"/>
              </a:rPr>
              <a:t>Example when we define return type for the function @ design time which helps us to find compile time</a:t>
            </a:r>
          </a:p>
          <a:p>
            <a:pPr marL="342797" indent="-342797" defTabSz="914126">
              <a:buClrTx/>
              <a:buFontTx/>
              <a:buAutoNum type="arabicPeriod"/>
            </a:pPr>
            <a:endParaRPr lang="en-IN" sz="1600" kern="1200" dirty="0">
              <a:solidFill>
                <a:prstClr val="black"/>
              </a:solidFill>
              <a:latin typeface="Aptos" panose="02110004020202020204"/>
              <a:ea typeface="+mn-ea"/>
              <a:cs typeface="+mn-cs"/>
            </a:endParaRPr>
          </a:p>
          <a:p>
            <a:pPr defTabSz="914126">
              <a:buClrTx/>
            </a:pPr>
            <a:r>
              <a:rPr lang="en-IN" sz="1600" kern="1200" dirty="0">
                <a:solidFill>
                  <a:prstClr val="black"/>
                </a:solidFill>
                <a:latin typeface="Aptos" panose="02110004020202020204"/>
                <a:ea typeface="+mn-ea"/>
                <a:cs typeface="+mn-cs"/>
              </a:rPr>
              <a:t>History</a:t>
            </a:r>
          </a:p>
          <a:p>
            <a:pPr marL="285664" indent="-285664" defTabSz="914126">
              <a:buClrTx/>
              <a:buFont typeface="Arial" panose="020B0604020202020204" pitchFamily="34" charset="0"/>
              <a:buChar char="•"/>
            </a:pPr>
            <a:r>
              <a:rPr lang="en-IN" sz="1600" kern="1200" dirty="0">
                <a:solidFill>
                  <a:prstClr val="black"/>
                </a:solidFill>
                <a:latin typeface="Aptos" panose="02110004020202020204"/>
                <a:ea typeface="+mn-ea"/>
                <a:cs typeface="+mn-cs"/>
              </a:rPr>
              <a:t>Developed by Microsoft by enhancing JS</a:t>
            </a:r>
          </a:p>
          <a:p>
            <a:pPr marL="285664" indent="-285664" defTabSz="914126">
              <a:buClrTx/>
              <a:buFont typeface="Arial" panose="020B0604020202020204" pitchFamily="34" charset="0"/>
              <a:buChar char="•"/>
            </a:pPr>
            <a:r>
              <a:rPr lang="en-IN" sz="1600" kern="1200" dirty="0">
                <a:solidFill>
                  <a:prstClr val="black"/>
                </a:solidFill>
                <a:latin typeface="Aptos" panose="02110004020202020204"/>
                <a:ea typeface="+mn-ea"/>
                <a:cs typeface="+mn-cs"/>
              </a:rPr>
              <a:t>First released in Oct-2012 and influenced by JS</a:t>
            </a:r>
          </a:p>
          <a:p>
            <a:pPr marL="285664" indent="-285664" defTabSz="914126">
              <a:buClrTx/>
              <a:buFont typeface="Arial" panose="020B0604020202020204" pitchFamily="34" charset="0"/>
              <a:buChar char="•"/>
            </a:pPr>
            <a:endParaRPr lang="en-IN" sz="1600"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25366F9-2B4D-AFE8-FA33-FE876E2CDA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D075D4CF-F9E0-5E46-8452-CD3F6D569B0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37D3D9-8B87-81D3-673C-C7A55CFD326F}"/>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7691D2-2C0D-60EE-E216-BFE6F7F8515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F4438852-C63A-252A-9141-088B065E3CC7}"/>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165651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1000"/>
                                        <p:tgtEl>
                                          <p:spTgt spid="3">
                                            <p:txEl>
                                              <p:pRg st="10" end="10"/>
                                            </p:txEl>
                                          </p:spTgt>
                                        </p:tgtEl>
                                      </p:cBhvr>
                                    </p:animEffect>
                                    <p:anim calcmode="lin" valueType="num">
                                      <p:cBhvr>
                                        <p:cTn id="50"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1" end="11"/>
                                            </p:txEl>
                                          </p:spTgt>
                                        </p:tgtEl>
                                        <p:attrNameLst>
                                          <p:attrName>style.visibility</p:attrName>
                                        </p:attrNameLst>
                                      </p:cBhvr>
                                      <p:to>
                                        <p:strVal val="visible"/>
                                      </p:to>
                                    </p:set>
                                    <p:animEffect transition="in" filter="fade">
                                      <p:cBhvr>
                                        <p:cTn id="54" dur="1000"/>
                                        <p:tgtEl>
                                          <p:spTgt spid="3">
                                            <p:txEl>
                                              <p:pRg st="11" end="11"/>
                                            </p:txEl>
                                          </p:spTgt>
                                        </p:tgtEl>
                                      </p:cBhvr>
                                    </p:animEffect>
                                    <p:anim calcmode="lin" valueType="num">
                                      <p:cBhvr>
                                        <p:cTn id="5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animEffect transition="in" filter="fade">
                                      <p:cBhvr>
                                        <p:cTn id="59" dur="1000"/>
                                        <p:tgtEl>
                                          <p:spTgt spid="3">
                                            <p:txEl>
                                              <p:pRg st="12" end="12"/>
                                            </p:txEl>
                                          </p:spTgt>
                                        </p:tgtEl>
                                      </p:cBhvr>
                                    </p:animEffect>
                                    <p:anim calcmode="lin" valueType="num">
                                      <p:cBhvr>
                                        <p:cTn id="60"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3">
                                            <p:txEl>
                                              <p:pRg st="13" end="13"/>
                                            </p:txEl>
                                          </p:spTgt>
                                        </p:tgtEl>
                                        <p:attrNameLst>
                                          <p:attrName>style.visibility</p:attrName>
                                        </p:attrNameLst>
                                      </p:cBhvr>
                                      <p:to>
                                        <p:strVal val="visible"/>
                                      </p:to>
                                    </p:set>
                                    <p:animEffect transition="in" filter="fade">
                                      <p:cBhvr>
                                        <p:cTn id="64" dur="1000"/>
                                        <p:tgtEl>
                                          <p:spTgt spid="3">
                                            <p:txEl>
                                              <p:pRg st="13" end="13"/>
                                            </p:txEl>
                                          </p:spTgt>
                                        </p:tgtEl>
                                      </p:cBhvr>
                                    </p:animEffect>
                                    <p:anim calcmode="lin" valueType="num">
                                      <p:cBhvr>
                                        <p:cTn id="65"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6"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3">
                                            <p:txEl>
                                              <p:pRg st="14" end="14"/>
                                            </p:txEl>
                                          </p:spTgt>
                                        </p:tgtEl>
                                        <p:attrNameLst>
                                          <p:attrName>style.visibility</p:attrName>
                                        </p:attrNameLst>
                                      </p:cBhvr>
                                      <p:to>
                                        <p:strVal val="visible"/>
                                      </p:to>
                                    </p:set>
                                    <p:animEffect transition="in" filter="fade">
                                      <p:cBhvr>
                                        <p:cTn id="69" dur="1000"/>
                                        <p:tgtEl>
                                          <p:spTgt spid="3">
                                            <p:txEl>
                                              <p:pRg st="14" end="14"/>
                                            </p:txEl>
                                          </p:spTgt>
                                        </p:tgtEl>
                                      </p:cBhvr>
                                    </p:animEffect>
                                    <p:anim calcmode="lin" valueType="num">
                                      <p:cBhvr>
                                        <p:cTn id="7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3">
                                            <p:txEl>
                                              <p:pRg st="16" end="16"/>
                                            </p:txEl>
                                          </p:spTgt>
                                        </p:tgtEl>
                                        <p:attrNameLst>
                                          <p:attrName>style.visibility</p:attrName>
                                        </p:attrNameLst>
                                      </p:cBhvr>
                                      <p:to>
                                        <p:strVal val="visible"/>
                                      </p:to>
                                    </p:set>
                                    <p:animEffect transition="in" filter="fade">
                                      <p:cBhvr>
                                        <p:cTn id="76" dur="1000"/>
                                        <p:tgtEl>
                                          <p:spTgt spid="3">
                                            <p:txEl>
                                              <p:pRg st="16" end="16"/>
                                            </p:txEl>
                                          </p:spTgt>
                                        </p:tgtEl>
                                      </p:cBhvr>
                                    </p:animEffect>
                                    <p:anim calcmode="lin" valueType="num">
                                      <p:cBhvr>
                                        <p:cTn id="77" dur="1000" fill="hold"/>
                                        <p:tgtEl>
                                          <p:spTgt spid="3">
                                            <p:txEl>
                                              <p:pRg st="16" end="16"/>
                                            </p:txEl>
                                          </p:spTgt>
                                        </p:tgtEl>
                                        <p:attrNameLst>
                                          <p:attrName>ppt_x</p:attrName>
                                        </p:attrNameLst>
                                      </p:cBhvr>
                                      <p:tavLst>
                                        <p:tav tm="0">
                                          <p:val>
                                            <p:strVal val="#ppt_x"/>
                                          </p:val>
                                        </p:tav>
                                        <p:tav tm="100000">
                                          <p:val>
                                            <p:strVal val="#ppt_x"/>
                                          </p:val>
                                        </p:tav>
                                      </p:tavLst>
                                    </p:anim>
                                    <p:anim calcmode="lin" valueType="num">
                                      <p:cBhvr>
                                        <p:cTn id="78" dur="1000" fill="hold"/>
                                        <p:tgtEl>
                                          <p:spTgt spid="3">
                                            <p:txEl>
                                              <p:pRg st="16" end="16"/>
                                            </p:txEl>
                                          </p:spTgt>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3">
                                            <p:txEl>
                                              <p:pRg st="17" end="17"/>
                                            </p:txEl>
                                          </p:spTgt>
                                        </p:tgtEl>
                                        <p:attrNameLst>
                                          <p:attrName>style.visibility</p:attrName>
                                        </p:attrNameLst>
                                      </p:cBhvr>
                                      <p:to>
                                        <p:strVal val="visible"/>
                                      </p:to>
                                    </p:set>
                                    <p:animEffect transition="in" filter="fade">
                                      <p:cBhvr>
                                        <p:cTn id="81" dur="1000"/>
                                        <p:tgtEl>
                                          <p:spTgt spid="3">
                                            <p:txEl>
                                              <p:pRg st="17" end="17"/>
                                            </p:txEl>
                                          </p:spTgt>
                                        </p:tgtEl>
                                      </p:cBhvr>
                                    </p:animEffect>
                                    <p:anim calcmode="lin" valueType="num">
                                      <p:cBhvr>
                                        <p:cTn id="82" dur="1000" fill="hold"/>
                                        <p:tgtEl>
                                          <p:spTgt spid="3">
                                            <p:txEl>
                                              <p:pRg st="17" end="17"/>
                                            </p:txEl>
                                          </p:spTgt>
                                        </p:tgtEl>
                                        <p:attrNameLst>
                                          <p:attrName>ppt_x</p:attrName>
                                        </p:attrNameLst>
                                      </p:cBhvr>
                                      <p:tavLst>
                                        <p:tav tm="0">
                                          <p:val>
                                            <p:strVal val="#ppt_x"/>
                                          </p:val>
                                        </p:tav>
                                        <p:tav tm="100000">
                                          <p:val>
                                            <p:strVal val="#ppt_x"/>
                                          </p:val>
                                        </p:tav>
                                      </p:tavLst>
                                    </p:anim>
                                    <p:anim calcmode="lin" valueType="num">
                                      <p:cBhvr>
                                        <p:cTn id="83" dur="1000" fill="hold"/>
                                        <p:tgtEl>
                                          <p:spTgt spid="3">
                                            <p:txEl>
                                              <p:pRg st="17" end="17"/>
                                            </p:txEl>
                                          </p:spTgt>
                                        </p:tgtEl>
                                        <p:attrNameLst>
                                          <p:attrName>ppt_y</p:attrName>
                                        </p:attrNameLst>
                                      </p:cBhvr>
                                      <p:tavLst>
                                        <p:tav tm="0">
                                          <p:val>
                                            <p:strVal val="#ppt_y+.1"/>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3">
                                            <p:txEl>
                                              <p:pRg st="18" end="18"/>
                                            </p:txEl>
                                          </p:spTgt>
                                        </p:tgtEl>
                                        <p:attrNameLst>
                                          <p:attrName>style.visibility</p:attrName>
                                        </p:attrNameLst>
                                      </p:cBhvr>
                                      <p:to>
                                        <p:strVal val="visible"/>
                                      </p:to>
                                    </p:set>
                                    <p:animEffect transition="in" filter="fade">
                                      <p:cBhvr>
                                        <p:cTn id="86" dur="1000"/>
                                        <p:tgtEl>
                                          <p:spTgt spid="3">
                                            <p:txEl>
                                              <p:pRg st="18" end="18"/>
                                            </p:txEl>
                                          </p:spTgt>
                                        </p:tgtEl>
                                      </p:cBhvr>
                                    </p:animEffect>
                                    <p:anim calcmode="lin" valueType="num">
                                      <p:cBhvr>
                                        <p:cTn id="87" dur="1000" fill="hold"/>
                                        <p:tgtEl>
                                          <p:spTgt spid="3">
                                            <p:txEl>
                                              <p:pRg st="18" end="18"/>
                                            </p:txEl>
                                          </p:spTgt>
                                        </p:tgtEl>
                                        <p:attrNameLst>
                                          <p:attrName>ppt_x</p:attrName>
                                        </p:attrNameLst>
                                      </p:cBhvr>
                                      <p:tavLst>
                                        <p:tav tm="0">
                                          <p:val>
                                            <p:strVal val="#ppt_x"/>
                                          </p:val>
                                        </p:tav>
                                        <p:tav tm="100000">
                                          <p:val>
                                            <p:strVal val="#ppt_x"/>
                                          </p:val>
                                        </p:tav>
                                      </p:tavLst>
                                    </p:anim>
                                    <p:anim calcmode="lin" valueType="num">
                                      <p:cBhvr>
                                        <p:cTn id="88" dur="1000" fill="hold"/>
                                        <p:tgtEl>
                                          <p:spTgt spid="3">
                                            <p:txEl>
                                              <p:pRg st="18" end="18"/>
                                            </p:txEl>
                                          </p:spTgt>
                                        </p:tgtEl>
                                        <p:attrNameLst>
                                          <p:attrName>ppt_y</p:attrName>
                                        </p:attrNameLst>
                                      </p:cBhvr>
                                      <p:tavLst>
                                        <p:tav tm="0">
                                          <p:val>
                                            <p:strVal val="#ppt_y+.1"/>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fade">
                                      <p:cBhvr>
                                        <p:cTn id="91" dur="1000"/>
                                        <p:tgtEl>
                                          <p:spTgt spid="9"/>
                                        </p:tgtEl>
                                      </p:cBhvr>
                                    </p:animEffect>
                                    <p:anim calcmode="lin" valueType="num">
                                      <p:cBhvr>
                                        <p:cTn id="92" dur="1000" fill="hold"/>
                                        <p:tgtEl>
                                          <p:spTgt spid="9"/>
                                        </p:tgtEl>
                                        <p:attrNameLst>
                                          <p:attrName>ppt_x</p:attrName>
                                        </p:attrNameLst>
                                      </p:cBhvr>
                                      <p:tavLst>
                                        <p:tav tm="0">
                                          <p:val>
                                            <p:strVal val="#ppt_x"/>
                                          </p:val>
                                        </p:tav>
                                        <p:tav tm="100000">
                                          <p:val>
                                            <p:strVal val="#ppt_x"/>
                                          </p:val>
                                        </p:tav>
                                      </p:tavLst>
                                    </p:anim>
                                    <p:anim calcmode="lin" valueType="num">
                                      <p:cBhvr>
                                        <p:cTn id="9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619-40C1-1AAF-F549-CF77C15C2EE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382A3FD-CF73-C89A-B105-0E9813383F9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Variable Creation</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1DE8E74-AF39-656E-EBCB-DE3A61B3FB4D}"/>
              </a:ext>
            </a:extLst>
          </p:cNvPr>
          <p:cNvSpPr txBox="1"/>
          <p:nvPr/>
        </p:nvSpPr>
        <p:spPr>
          <a:xfrm>
            <a:off x="142630" y="655071"/>
            <a:ext cx="11483853" cy="5384665"/>
          </a:xfrm>
          <a:prstGeom prst="rect">
            <a:avLst/>
          </a:prstGeom>
          <a:noFill/>
        </p:spPr>
        <p:txBody>
          <a:bodyPr wrap="square" lIns="121867" tIns="60933" rIns="121867" bIns="60933" rtlCol="0">
            <a:spAutoFit/>
          </a:bodyPr>
          <a:lstStyle/>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most basic types in TypeScript are called </a:t>
            </a:r>
            <a:r>
              <a:rPr lang="en-US" sz="1799" b="1" kern="1200" dirty="0">
                <a:solidFill>
                  <a:prstClr val="black"/>
                </a:solidFill>
                <a:latin typeface="Aptos" panose="02110004020202020204"/>
                <a:ea typeface="+mn-ea"/>
                <a:cs typeface="+mn-cs"/>
              </a:rPr>
              <a:t>primitives</a:t>
            </a:r>
            <a:r>
              <a:rPr lang="en-US" sz="1799" kern="1200" dirty="0">
                <a:solidFill>
                  <a:prstClr val="black"/>
                </a:solidFill>
                <a:latin typeface="Aptos" panose="02110004020202020204"/>
                <a:ea typeface="+mn-ea"/>
                <a:cs typeface="+mn-cs"/>
              </a:rPr>
              <a:t>.</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types form the building blocks of more complex types in your applications.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TypeScript includes all JavaScript primitives plus additional type features.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Here are the five primitive types you'll use most often:</a:t>
            </a:r>
          </a:p>
          <a:p>
            <a:pPr defTabSz="914126">
              <a:buClrTx/>
            </a:pP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varName</a:t>
            </a:r>
            <a:r>
              <a:rPr lang="en-US" sz="1799" kern="1200" dirty="0">
                <a:solidFill>
                  <a:prstClr val="black"/>
                </a:solidFill>
                <a:latin typeface="Aptos" panose="02110004020202020204"/>
                <a:ea typeface="+mn-ea"/>
                <a:cs typeface="+mn-cs"/>
              </a:rPr>
              <a:t> : datatype = value;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isActive</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 true;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hasPermission</a:t>
            </a:r>
            <a:r>
              <a:rPr lang="en-US" sz="1799" kern="1200" dirty="0">
                <a:solidFill>
                  <a:prstClr val="black"/>
                </a:solidFill>
                <a:latin typeface="Aptos" panose="02110004020202020204"/>
                <a:ea typeface="+mn-ea"/>
                <a:cs typeface="+mn-cs"/>
              </a:rPr>
              <a:t> = false; // TypeScript infers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type</a:t>
            </a:r>
          </a:p>
          <a:p>
            <a:pPr defTabSz="914126">
              <a:buClrTx/>
            </a:pPr>
            <a:r>
              <a:rPr lang="en-US" sz="1799" kern="1200" dirty="0">
                <a:solidFill>
                  <a:prstClr val="black"/>
                </a:solidFill>
                <a:latin typeface="Aptos" panose="02110004020202020204"/>
                <a:ea typeface="+mn-ea"/>
                <a:cs typeface="+mn-cs"/>
              </a:rPr>
              <a:t>let decimal: number = 6;</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hex: number = 0xf00d;       // Hexadecimal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binary: number = 0b1010;     // Binary</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octal: number = 0o744;      // Octal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float: number = 3.14;      // Floating point</a:t>
            </a:r>
          </a:p>
          <a:p>
            <a:pPr defTabSz="914126">
              <a:buClrTx/>
            </a:pPr>
            <a:r>
              <a:rPr lang="en-US" sz="1799" kern="1200" dirty="0">
                <a:solidFill>
                  <a:prstClr val="black"/>
                </a:solidFill>
                <a:latin typeface="Aptos" panose="02110004020202020204"/>
                <a:ea typeface="+mn-ea"/>
                <a:cs typeface="+mn-cs"/>
              </a:rPr>
              <a:t>let color: string = "blue";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string = 'John Doe';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age: number = 30;</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sentence: string = `Hello, my name is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and I'll be ${age + 1} next year.`;</a:t>
            </a:r>
          </a:p>
        </p:txBody>
      </p:sp>
      <p:sp>
        <p:nvSpPr>
          <p:cNvPr id="4" name="TextBox 3">
            <a:extLst>
              <a:ext uri="{FF2B5EF4-FFF2-40B4-BE49-F238E27FC236}">
                <a16:creationId xmlns:a16="http://schemas.microsoft.com/office/drawing/2014/main" id="{0D8B0749-10E3-0FBB-C6FD-994748A219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9E833806-7B26-94E0-3775-6F80FE0CEFA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7B43491-0AB6-2035-4038-CEA7884AD671}"/>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B4D2C62-36D7-323F-FCBF-BBFD3190794D}"/>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373515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1000"/>
                                        <p:tgtEl>
                                          <p:spTgt spid="3">
                                            <p:txEl>
                                              <p:pRg st="6" end="6"/>
                                            </p:txEl>
                                          </p:spTgt>
                                        </p:tgtEl>
                                      </p:cBhvr>
                                    </p:animEffect>
                                    <p:anim calcmode="lin" valueType="num">
                                      <p:cBhvr>
                                        <p:cTn id="3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1000"/>
                                        <p:tgtEl>
                                          <p:spTgt spid="3">
                                            <p:txEl>
                                              <p:pRg st="8" end="8"/>
                                            </p:txEl>
                                          </p:spTgt>
                                        </p:tgtEl>
                                      </p:cBhvr>
                                    </p:animEffect>
                                    <p:anim calcmode="lin" valueType="num">
                                      <p:cBhvr>
                                        <p:cTn id="3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861EF-61EC-42FB-83F6-29AE0B651BB4}"/>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5EB9415-1D12-1F94-DF89-9351330C5C9D}"/>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How to run TS code in VS Code/BAS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BED232F-AF5B-7663-9E75-CCCA88362B37}"/>
              </a:ext>
            </a:extLst>
          </p:cNvPr>
          <p:cNvSpPr txBox="1"/>
          <p:nvPr/>
        </p:nvSpPr>
        <p:spPr>
          <a:xfrm>
            <a:off x="142630" y="655071"/>
            <a:ext cx="11483853" cy="4555039"/>
          </a:xfrm>
          <a:prstGeom prst="rect">
            <a:avLst/>
          </a:prstGeom>
          <a:noFill/>
        </p:spPr>
        <p:txBody>
          <a:bodyPr wrap="square" lIns="121867" tIns="60933" rIns="121867" bIns="60933" rtlCol="0">
            <a:spAutoFit/>
          </a:bodyPr>
          <a:lstStyle/>
          <a:p>
            <a:pPr algn="just" defTabSz="914126">
              <a:buClrTx/>
            </a:pPr>
            <a:r>
              <a:rPr lang="en-US" sz="1600" kern="1200" dirty="0">
                <a:solidFill>
                  <a:prstClr val="black"/>
                </a:solidFill>
                <a:latin typeface="Aptos" panose="02110004020202020204"/>
                <a:ea typeface="+mn-ea"/>
                <a:cs typeface="+mn-cs"/>
              </a:rPr>
              <a:t>TypeScript is a superset of JavaScript that adds features such as data types, interfaces, classes, and compile-time error checking. Since browsers and Node.js understand JavaScript, TypeScript code must first be converted (compiled) into JavaScript before it can be executed. Visual Studio Code provides excellent support for TypeScript development, including syntax highlighting, IntelliSense, debugging, and terminal integration. To work with TypeScript, developers typically install Node.js, TypeScript, and optionally </a:t>
            </a:r>
            <a:r>
              <a:rPr lang="en-US" sz="1600" kern="1200" dirty="0" err="1">
                <a:solidFill>
                  <a:prstClr val="black"/>
                </a:solidFill>
                <a:latin typeface="Aptos" panose="02110004020202020204"/>
                <a:ea typeface="+mn-ea"/>
                <a:cs typeface="+mn-cs"/>
              </a:rPr>
              <a:t>ts</a:t>
            </a:r>
            <a:r>
              <a:rPr lang="en-US" sz="1600" kern="1200" dirty="0">
                <a:solidFill>
                  <a:prstClr val="black"/>
                </a:solidFill>
                <a:latin typeface="Aptos" panose="02110004020202020204"/>
                <a:ea typeface="+mn-ea"/>
                <a:cs typeface="+mn-cs"/>
              </a:rPr>
              <a:t>-node, which allows TypeScript files to be executed directly without manually compiling them.</a:t>
            </a:r>
          </a:p>
          <a:p>
            <a:pPr algn="just" defTabSz="914126">
              <a:buClrTx/>
            </a:pPr>
            <a:endParaRPr lang="en-US" sz="1600" kern="1200" dirty="0">
              <a:solidFill>
                <a:prstClr val="black"/>
              </a:solidFill>
              <a:latin typeface="Aptos" panose="02110004020202020204"/>
              <a:ea typeface="+mn-ea"/>
              <a:cs typeface="+mn-cs"/>
            </a:endParaRPr>
          </a:p>
          <a:p>
            <a:pPr algn="just" defTabSz="914126">
              <a:buClrTx/>
            </a:pPr>
            <a:r>
              <a:rPr lang="en-US" sz="1600" kern="1200" dirty="0">
                <a:solidFill>
                  <a:prstClr val="black"/>
                </a:solidFill>
                <a:latin typeface="Aptos" panose="02110004020202020204"/>
                <a:ea typeface="+mn-ea"/>
                <a:cs typeface="+mn-cs"/>
              </a:rPr>
              <a:t>TypeScript can be installed globally using </a:t>
            </a:r>
            <a:r>
              <a:rPr lang="en-US" sz="1600" kern="1200" dirty="0" err="1">
                <a:solidFill>
                  <a:prstClr val="black"/>
                </a:solidFill>
                <a:latin typeface="Aptos" panose="02110004020202020204"/>
                <a:ea typeface="+mn-ea"/>
                <a:cs typeface="+mn-cs"/>
              </a:rPr>
              <a:t>npm</a:t>
            </a:r>
            <a:r>
              <a:rPr lang="en-US" sz="1600" kern="1200" dirty="0">
                <a:solidFill>
                  <a:prstClr val="black"/>
                </a:solidFill>
                <a:latin typeface="Aptos" panose="02110004020202020204"/>
                <a:ea typeface="+mn-ea"/>
                <a:cs typeface="+mn-cs"/>
              </a:rPr>
              <a:t>. This provides access to the TypeScript Compiler (</a:t>
            </a:r>
            <a:r>
              <a:rPr lang="en-US" sz="1600" kern="1200" dirty="0" err="1">
                <a:solidFill>
                  <a:prstClr val="black"/>
                </a:solidFill>
                <a:latin typeface="Aptos" panose="02110004020202020204"/>
                <a:ea typeface="+mn-ea"/>
                <a:cs typeface="+mn-cs"/>
              </a:rPr>
              <a:t>tsc</a:t>
            </a:r>
            <a:r>
              <a:rPr lang="en-US" sz="1600" kern="1200" dirty="0">
                <a:solidFill>
                  <a:prstClr val="black"/>
                </a:solidFill>
                <a:latin typeface="Aptos" panose="02110004020202020204"/>
                <a:ea typeface="+mn-ea"/>
                <a:cs typeface="+mn-cs"/>
              </a:rPr>
              <a:t>) from any terminal window.</a:t>
            </a:r>
          </a:p>
          <a:p>
            <a:pPr algn="just" defTabSz="914126">
              <a:buClrTx/>
            </a:pPr>
            <a:r>
              <a:rPr lang="en-IN" sz="1600" kern="1200" dirty="0" err="1">
                <a:solidFill>
                  <a:prstClr val="black"/>
                </a:solidFill>
                <a:latin typeface="Aptos" panose="02110004020202020204"/>
                <a:ea typeface="+mn-ea"/>
                <a:cs typeface="+mn-cs"/>
              </a:rPr>
              <a:t>npm</a:t>
            </a:r>
            <a:r>
              <a:rPr lang="en-IN" sz="1600" kern="1200" dirty="0">
                <a:solidFill>
                  <a:prstClr val="black"/>
                </a:solidFill>
                <a:latin typeface="Aptos" panose="02110004020202020204"/>
                <a:ea typeface="+mn-ea"/>
                <a:cs typeface="+mn-cs"/>
              </a:rPr>
              <a:t> install -g typescript   	</a:t>
            </a:r>
            <a:r>
              <a:rPr lang="en-IN" i="1" kern="1200" dirty="0">
                <a:solidFill>
                  <a:prstClr val="black"/>
                </a:solidFill>
                <a:latin typeface="Aptos" panose="02110004020202020204"/>
                <a:ea typeface="+mn-ea"/>
                <a:cs typeface="+mn-cs"/>
              </a:rPr>
              <a:t>--Install TypeScript</a:t>
            </a:r>
            <a:endParaRPr lang="en-IN" sz="1600" i="1" kern="1200" dirty="0">
              <a:solidFill>
                <a:prstClr val="black"/>
              </a:solidFill>
              <a:latin typeface="Aptos" panose="02110004020202020204"/>
              <a:ea typeface="+mn-ea"/>
              <a:cs typeface="+mn-cs"/>
            </a:endParaRPr>
          </a:p>
          <a:p>
            <a:pPr algn="just" defTabSz="914126">
              <a:buClrTx/>
            </a:pPr>
            <a:r>
              <a:rPr lang="en-IN" sz="1600" kern="1200" dirty="0" err="1">
                <a:solidFill>
                  <a:prstClr val="black"/>
                </a:solidFill>
                <a:latin typeface="Aptos" panose="02110004020202020204"/>
                <a:ea typeface="+mn-ea"/>
                <a:cs typeface="+mn-cs"/>
              </a:rPr>
              <a:t>tsc</a:t>
            </a:r>
            <a:r>
              <a:rPr lang="en-IN" sz="1600" kern="1200" dirty="0">
                <a:solidFill>
                  <a:prstClr val="black"/>
                </a:solidFill>
                <a:latin typeface="Aptos" panose="02110004020202020204"/>
                <a:ea typeface="+mn-ea"/>
                <a:cs typeface="+mn-cs"/>
              </a:rPr>
              <a:t> </a:t>
            </a:r>
            <a:r>
              <a:rPr lang="en-IN" sz="1600" kern="1200" dirty="0" err="1">
                <a:solidFill>
                  <a:prstClr val="black"/>
                </a:solidFill>
                <a:latin typeface="Aptos" panose="02110004020202020204"/>
                <a:ea typeface="+mn-ea"/>
                <a:cs typeface="+mn-cs"/>
              </a:rPr>
              <a:t>hello.ts</a:t>
            </a:r>
            <a:r>
              <a:rPr lang="en-IN" sz="1600" kern="1200" dirty="0">
                <a:solidFill>
                  <a:prstClr val="black"/>
                </a:solidFill>
                <a:latin typeface="Aptos" panose="02110004020202020204"/>
                <a:ea typeface="+mn-ea"/>
                <a:cs typeface="+mn-cs"/>
              </a:rPr>
              <a:t>		</a:t>
            </a:r>
            <a:r>
              <a:rPr lang="en-IN" i="1" kern="1200" dirty="0">
                <a:solidFill>
                  <a:prstClr val="black"/>
                </a:solidFill>
                <a:latin typeface="Aptos" panose="02110004020202020204"/>
                <a:ea typeface="+mn-ea"/>
                <a:cs typeface="+mn-cs"/>
              </a:rPr>
              <a:t>--The TypeScript Compiler (</a:t>
            </a:r>
            <a:r>
              <a:rPr lang="en-IN" i="1" kern="1200" dirty="0" err="1">
                <a:solidFill>
                  <a:prstClr val="black"/>
                </a:solidFill>
                <a:latin typeface="Aptos" panose="02110004020202020204"/>
                <a:ea typeface="+mn-ea"/>
                <a:cs typeface="+mn-cs"/>
              </a:rPr>
              <a:t>tsc</a:t>
            </a:r>
            <a:r>
              <a:rPr lang="en-IN" i="1" kern="1200" dirty="0">
                <a:solidFill>
                  <a:prstClr val="black"/>
                </a:solidFill>
                <a:latin typeface="Aptos" panose="02110004020202020204"/>
                <a:ea typeface="+mn-ea"/>
                <a:cs typeface="+mn-cs"/>
              </a:rPr>
              <a:t>) converts .</a:t>
            </a:r>
            <a:r>
              <a:rPr lang="en-IN" i="1" kern="1200" dirty="0" err="1">
                <a:solidFill>
                  <a:prstClr val="black"/>
                </a:solidFill>
                <a:latin typeface="Aptos" panose="02110004020202020204"/>
                <a:ea typeface="+mn-ea"/>
                <a:cs typeface="+mn-cs"/>
              </a:rPr>
              <a:t>ts</a:t>
            </a:r>
            <a:r>
              <a:rPr lang="en-IN" i="1" kern="1200" dirty="0">
                <a:solidFill>
                  <a:prstClr val="black"/>
                </a:solidFill>
                <a:latin typeface="Aptos" panose="02110004020202020204"/>
                <a:ea typeface="+mn-ea"/>
                <a:cs typeface="+mn-cs"/>
              </a:rPr>
              <a:t> files into .</a:t>
            </a:r>
            <a:r>
              <a:rPr lang="en-IN" i="1" kern="1200" dirty="0" err="1">
                <a:solidFill>
                  <a:prstClr val="black"/>
                </a:solidFill>
                <a:latin typeface="Aptos" panose="02110004020202020204"/>
                <a:ea typeface="+mn-ea"/>
                <a:cs typeface="+mn-cs"/>
              </a:rPr>
              <a:t>js</a:t>
            </a:r>
            <a:r>
              <a:rPr lang="en-IN" i="1" kern="1200" dirty="0">
                <a:solidFill>
                  <a:prstClr val="black"/>
                </a:solidFill>
                <a:latin typeface="Aptos" panose="02110004020202020204"/>
                <a:ea typeface="+mn-ea"/>
                <a:cs typeface="+mn-cs"/>
              </a:rPr>
              <a:t> files that can be executed by Node.js.</a:t>
            </a:r>
          </a:p>
          <a:p>
            <a:pPr algn="just" defTabSz="914126">
              <a:buClrTx/>
            </a:pPr>
            <a:r>
              <a:rPr lang="en-IN" sz="1600" kern="1200" dirty="0">
                <a:solidFill>
                  <a:prstClr val="black"/>
                </a:solidFill>
                <a:latin typeface="Aptos" panose="02110004020202020204"/>
                <a:ea typeface="+mn-ea"/>
                <a:cs typeface="+mn-cs"/>
              </a:rPr>
              <a:t>node hello.js		</a:t>
            </a:r>
            <a:r>
              <a:rPr lang="en-IN" i="1" kern="1200" dirty="0">
                <a:solidFill>
                  <a:prstClr val="black"/>
                </a:solidFill>
                <a:latin typeface="Aptos" panose="02110004020202020204"/>
                <a:ea typeface="+mn-ea"/>
                <a:cs typeface="+mn-cs"/>
              </a:rPr>
              <a:t>--Run the Generated JavaScript File:</a:t>
            </a:r>
          </a:p>
          <a:p>
            <a:pPr algn="just" defTabSz="914126">
              <a:buClrTx/>
            </a:pPr>
            <a:endParaRPr lang="en-IN" sz="1600" kern="1200" dirty="0">
              <a:solidFill>
                <a:prstClr val="black"/>
              </a:solidFill>
              <a:latin typeface="Aptos" panose="02110004020202020204"/>
              <a:ea typeface="+mn-ea"/>
              <a:cs typeface="+mn-cs"/>
            </a:endParaRPr>
          </a:p>
          <a:p>
            <a:pPr algn="just" defTabSz="914126">
              <a:buClrTx/>
            </a:pPr>
            <a:endParaRPr lang="en-IN" sz="1600" kern="1200" dirty="0">
              <a:solidFill>
                <a:prstClr val="black"/>
              </a:solidFill>
              <a:latin typeface="Aptos" panose="02110004020202020204"/>
              <a:ea typeface="+mn-ea"/>
              <a:cs typeface="+mn-cs"/>
            </a:endParaRPr>
          </a:p>
          <a:p>
            <a:pPr algn="just" defTabSz="914126">
              <a:buClrTx/>
            </a:pPr>
            <a:endParaRPr lang="en-IN" sz="1600" kern="1200" dirty="0">
              <a:solidFill>
                <a:prstClr val="black"/>
              </a:solidFill>
              <a:latin typeface="Aptos" panose="02110004020202020204"/>
              <a:ea typeface="+mn-ea"/>
              <a:cs typeface="+mn-cs"/>
            </a:endParaRPr>
          </a:p>
          <a:p>
            <a:pPr algn="just" defTabSz="914126">
              <a:buClrTx/>
            </a:pPr>
            <a:r>
              <a:rPr lang="en-US" sz="1600" kern="1200" dirty="0">
                <a:solidFill>
                  <a:prstClr val="black"/>
                </a:solidFill>
                <a:latin typeface="Aptos" panose="02110004020202020204"/>
                <a:ea typeface="+mn-ea"/>
                <a:cs typeface="+mn-cs"/>
              </a:rPr>
              <a:t>Instead of compiling manually every time, developers often use </a:t>
            </a:r>
            <a:r>
              <a:rPr lang="en-US" sz="1600" kern="1200" dirty="0" err="1">
                <a:solidFill>
                  <a:prstClr val="black"/>
                </a:solidFill>
                <a:latin typeface="Aptos" panose="02110004020202020204"/>
                <a:ea typeface="+mn-ea"/>
                <a:cs typeface="+mn-cs"/>
              </a:rPr>
              <a:t>ts</a:t>
            </a:r>
            <a:r>
              <a:rPr lang="en-US" sz="1600" kern="1200" dirty="0">
                <a:solidFill>
                  <a:prstClr val="black"/>
                </a:solidFill>
                <a:latin typeface="Aptos" panose="02110004020202020204"/>
                <a:ea typeface="+mn-ea"/>
                <a:cs typeface="+mn-cs"/>
              </a:rPr>
              <a:t>-node, which compiles and executes TypeScript in a single step.</a:t>
            </a:r>
          </a:p>
          <a:p>
            <a:pPr algn="just" defTabSz="914126">
              <a:buClrTx/>
            </a:pPr>
            <a:endParaRPr lang="en-US" sz="1600" kern="1200" dirty="0">
              <a:solidFill>
                <a:prstClr val="black"/>
              </a:solidFill>
              <a:latin typeface="Aptos" panose="02110004020202020204"/>
              <a:ea typeface="+mn-ea"/>
              <a:cs typeface="+mn-cs"/>
            </a:endParaRPr>
          </a:p>
          <a:p>
            <a:pPr algn="just" defTabSz="914126">
              <a:buClrTx/>
            </a:pPr>
            <a:r>
              <a:rPr lang="en-IN" sz="1600" kern="1200" dirty="0" err="1">
                <a:solidFill>
                  <a:prstClr val="black"/>
                </a:solidFill>
                <a:latin typeface="Aptos" panose="02110004020202020204"/>
                <a:ea typeface="+mn-ea"/>
                <a:cs typeface="+mn-cs"/>
              </a:rPr>
              <a:t>npm</a:t>
            </a:r>
            <a:r>
              <a:rPr lang="en-IN" sz="1600" kern="1200" dirty="0">
                <a:solidFill>
                  <a:prstClr val="black"/>
                </a:solidFill>
                <a:latin typeface="Aptos" panose="02110004020202020204"/>
                <a:ea typeface="+mn-ea"/>
                <a:cs typeface="+mn-cs"/>
              </a:rPr>
              <a:t> install -g </a:t>
            </a:r>
            <a:r>
              <a:rPr lang="en-IN" sz="1600" kern="1200" dirty="0" err="1">
                <a:solidFill>
                  <a:prstClr val="black"/>
                </a:solidFill>
                <a:latin typeface="Aptos" panose="02110004020202020204"/>
                <a:ea typeface="+mn-ea"/>
                <a:cs typeface="+mn-cs"/>
              </a:rPr>
              <a:t>ts</a:t>
            </a:r>
            <a:r>
              <a:rPr lang="en-IN" sz="1600" kern="1200" dirty="0">
                <a:solidFill>
                  <a:prstClr val="black"/>
                </a:solidFill>
                <a:latin typeface="Aptos" panose="02110004020202020204"/>
                <a:ea typeface="+mn-ea"/>
                <a:cs typeface="+mn-cs"/>
              </a:rPr>
              <a:t>-node</a:t>
            </a:r>
          </a:p>
          <a:p>
            <a:pPr algn="just" defTabSz="914126">
              <a:buClrTx/>
            </a:pPr>
            <a:r>
              <a:rPr lang="en-IN" sz="1600" kern="1200" dirty="0" err="1">
                <a:solidFill>
                  <a:prstClr val="black"/>
                </a:solidFill>
                <a:latin typeface="Aptos" panose="02110004020202020204"/>
                <a:ea typeface="+mn-ea"/>
                <a:cs typeface="+mn-cs"/>
              </a:rPr>
              <a:t>ts</a:t>
            </a:r>
            <a:r>
              <a:rPr lang="en-IN" sz="1600" kern="1200" dirty="0">
                <a:solidFill>
                  <a:prstClr val="black"/>
                </a:solidFill>
                <a:latin typeface="Aptos" panose="02110004020202020204"/>
                <a:ea typeface="+mn-ea"/>
                <a:cs typeface="+mn-cs"/>
              </a:rPr>
              <a:t>-node </a:t>
            </a:r>
            <a:r>
              <a:rPr lang="en-IN" sz="1600" kern="1200" dirty="0" err="1">
                <a:solidFill>
                  <a:prstClr val="black"/>
                </a:solidFill>
                <a:latin typeface="Aptos" panose="02110004020202020204"/>
                <a:ea typeface="+mn-ea"/>
                <a:cs typeface="+mn-cs"/>
              </a:rPr>
              <a:t>hello.ts</a:t>
            </a:r>
            <a:endParaRPr lang="en-IN" sz="1600"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696E9FB4-37F0-21A5-A4FE-AA1425E71F64}"/>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D4C75C8-945A-81A4-78B0-574BD370F08E}"/>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33C121A3-8987-CCB9-6080-7BA13FA6579D}"/>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05A7E4-F127-C15D-8FC2-5C8025E6D4B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56423B82-ED00-9DF1-96CF-8667A5C22C88}"/>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2219282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1000"/>
                                        <p:tgtEl>
                                          <p:spTgt spid="3">
                                            <p:txEl>
                                              <p:pRg st="3" end="3"/>
                                            </p:txEl>
                                          </p:spTgt>
                                        </p:tgtEl>
                                      </p:cBhvr>
                                    </p:animEffect>
                                    <p:anim calcmode="lin" valueType="num">
                                      <p:cBhvr>
                                        <p:cTn id="2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1000"/>
                                        <p:tgtEl>
                                          <p:spTgt spid="3">
                                            <p:txEl>
                                              <p:pRg st="4" end="4"/>
                                            </p:txEl>
                                          </p:spTgt>
                                        </p:tgtEl>
                                      </p:cBhvr>
                                    </p:animEffect>
                                    <p:anim calcmode="lin" valueType="num">
                                      <p:cBhvr>
                                        <p:cTn id="2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fade">
                                      <p:cBhvr>
                                        <p:cTn id="35" dur="1000"/>
                                        <p:tgtEl>
                                          <p:spTgt spid="3">
                                            <p:txEl>
                                              <p:pRg st="5" end="5"/>
                                            </p:txEl>
                                          </p:spTgt>
                                        </p:tgtEl>
                                      </p:cBhvr>
                                    </p:animEffect>
                                    <p:anim calcmode="lin" valueType="num">
                                      <p:cBhvr>
                                        <p:cTn id="36"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1000"/>
                                        <p:tgtEl>
                                          <p:spTgt spid="3">
                                            <p:txEl>
                                              <p:pRg st="9" end="9"/>
                                            </p:txEl>
                                          </p:spTgt>
                                        </p:tgtEl>
                                      </p:cBhvr>
                                    </p:animEffect>
                                    <p:anim calcmode="lin" valueType="num">
                                      <p:cBhvr>
                                        <p:cTn id="43"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2" end="12"/>
                                            </p:txEl>
                                          </p:spTgt>
                                        </p:tgtEl>
                                        <p:attrNameLst>
                                          <p:attrName>style.visibility</p:attrName>
                                        </p:attrNameLst>
                                      </p:cBhvr>
                                      <p:to>
                                        <p:strVal val="visible"/>
                                      </p:to>
                                    </p:set>
                                    <p:animEffect transition="in" filter="fade">
                                      <p:cBhvr>
                                        <p:cTn id="56" dur="1000"/>
                                        <p:tgtEl>
                                          <p:spTgt spid="3">
                                            <p:txEl>
                                              <p:pRg st="12" end="12"/>
                                            </p:txEl>
                                          </p:spTgt>
                                        </p:tgtEl>
                                      </p:cBhvr>
                                    </p:animEffect>
                                    <p:anim calcmode="lin" valueType="num">
                                      <p:cBhvr>
                                        <p:cTn id="5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1000"/>
                                        <p:tgtEl>
                                          <p:spTgt spid="9"/>
                                        </p:tgtEl>
                                      </p:cBhvr>
                                    </p:animEffect>
                                    <p:anim calcmode="lin" valueType="num">
                                      <p:cBhvr>
                                        <p:cTn id="62" dur="1000" fill="hold"/>
                                        <p:tgtEl>
                                          <p:spTgt spid="9"/>
                                        </p:tgtEl>
                                        <p:attrNameLst>
                                          <p:attrName>ppt_x</p:attrName>
                                        </p:attrNameLst>
                                      </p:cBhvr>
                                      <p:tavLst>
                                        <p:tav tm="0">
                                          <p:val>
                                            <p:strVal val="#ppt_x"/>
                                          </p:val>
                                        </p:tav>
                                        <p:tav tm="100000">
                                          <p:val>
                                            <p:strVal val="#ppt_x"/>
                                          </p:val>
                                        </p:tav>
                                      </p:tavLst>
                                    </p:anim>
                                    <p:anim calcmode="lin" valueType="num">
                                      <p:cBhvr>
                                        <p:cTn id="6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33482-03CC-0AD9-5458-285B49E53E4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3F63B317-0AF9-F0D5-D83F-D5CCD77BD0D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Annotations and Inference</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CC3AD2D-3DB3-9393-A882-8634EC90587C}"/>
              </a:ext>
            </a:extLst>
          </p:cNvPr>
          <p:cNvSpPr txBox="1"/>
          <p:nvPr/>
        </p:nvSpPr>
        <p:spPr>
          <a:xfrm>
            <a:off x="142630" y="655071"/>
            <a:ext cx="11483853" cy="5815384"/>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TypeScript offers two ways to work with types:</a:t>
            </a:r>
          </a:p>
          <a:p>
            <a:pPr defTabSz="914126">
              <a:buClrTx/>
            </a:pPr>
            <a:r>
              <a:rPr lang="en-US" sz="1799" b="1" kern="1200" dirty="0">
                <a:solidFill>
                  <a:prstClr val="black"/>
                </a:solidFill>
                <a:latin typeface="Aptos" panose="02110004020202020204"/>
                <a:ea typeface="+mn-ea"/>
                <a:cs typeface="+mn-cs"/>
              </a:rPr>
              <a:t>Explicit Typing</a:t>
            </a:r>
            <a:r>
              <a:rPr lang="en-US" sz="1799" kern="1200" dirty="0">
                <a:solidFill>
                  <a:prstClr val="black"/>
                </a:solidFill>
                <a:latin typeface="Aptos" panose="02110004020202020204"/>
                <a:ea typeface="+mn-ea"/>
                <a:cs typeface="+mn-cs"/>
              </a:rPr>
              <a:t>: You explicitly declare the type of a variable</a:t>
            </a:r>
          </a:p>
          <a:p>
            <a:pPr defTabSz="914126">
              <a:buClrTx/>
            </a:pP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TypeScript automatically determines the type based on the assigned value</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When to Use Each Approach</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explicit types</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Function parameters and return types</a:t>
            </a:r>
          </a:p>
          <a:p>
            <a:pPr marL="457063" lvl="1" defTabSz="914126">
              <a:buClrTx/>
            </a:pPr>
            <a:r>
              <a:rPr lang="en-US" sz="1799" kern="1200" dirty="0">
                <a:solidFill>
                  <a:prstClr val="black"/>
                </a:solidFill>
                <a:latin typeface="Aptos" panose="02110004020202020204"/>
                <a:ea typeface="+mn-ea"/>
                <a:cs typeface="+mn-cs"/>
              </a:rPr>
              <a:t>Object literals</a:t>
            </a:r>
          </a:p>
          <a:p>
            <a:pPr marL="457063" lvl="1" defTabSz="914126">
              <a:buClrTx/>
            </a:pPr>
            <a:r>
              <a:rPr lang="en-US" sz="1799" kern="1200" dirty="0">
                <a:solidFill>
                  <a:prstClr val="black"/>
                </a:solidFill>
                <a:latin typeface="Aptos" panose="02110004020202020204"/>
                <a:ea typeface="+mn-ea"/>
                <a:cs typeface="+mn-cs"/>
              </a:rPr>
              <a:t>When the initial value might not be the final type</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Simple variable declarations with immediate assignment</a:t>
            </a:r>
          </a:p>
          <a:p>
            <a:pPr marL="457063" lvl="1" defTabSz="914126">
              <a:buClrTx/>
            </a:pPr>
            <a:r>
              <a:rPr lang="en-US" sz="1799" kern="1200" dirty="0">
                <a:solidFill>
                  <a:prstClr val="black"/>
                </a:solidFill>
                <a:latin typeface="Aptos" panose="02110004020202020204"/>
                <a:ea typeface="+mn-ea"/>
                <a:cs typeface="+mn-cs"/>
              </a:rPr>
              <a:t>When the type is obvious from the context</a:t>
            </a:r>
          </a:p>
          <a:p>
            <a:pPr defTabSz="914126">
              <a:buClrTx/>
            </a:pPr>
            <a:r>
              <a:rPr lang="en-US" kern="1200" dirty="0">
                <a:solidFill>
                  <a:prstClr val="black"/>
                </a:solidFill>
                <a:latin typeface="Aptos" panose="02110004020202020204"/>
                <a:ea typeface="+mn-ea"/>
                <a:cs typeface="+mn-cs"/>
              </a:rPr>
              <a:t>// String</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greeting: string = "Hello, TypeScript!";</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Number</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userCount</a:t>
            </a:r>
            <a:r>
              <a:rPr lang="en-US" kern="1200" dirty="0">
                <a:solidFill>
                  <a:prstClr val="black"/>
                </a:solidFill>
                <a:latin typeface="Aptos" panose="02110004020202020204"/>
                <a:ea typeface="+mn-ea"/>
                <a:cs typeface="+mn-cs"/>
              </a:rPr>
              <a:t>: number = 42;</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Boolean</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isLoading</a:t>
            </a:r>
            <a:r>
              <a:rPr lang="en-US" kern="1200" dirty="0">
                <a:solidFill>
                  <a:prstClr val="black"/>
                </a:solidFill>
                <a:latin typeface="Aptos" panose="02110004020202020204"/>
                <a:ea typeface="+mn-ea"/>
                <a:cs typeface="+mn-cs"/>
              </a:rPr>
              <a:t>: </a:t>
            </a:r>
            <a:r>
              <a:rPr lang="en-US" kern="1200" dirty="0" err="1">
                <a:solidFill>
                  <a:prstClr val="black"/>
                </a:solidFill>
                <a:latin typeface="Aptos" panose="02110004020202020204"/>
                <a:ea typeface="+mn-ea"/>
                <a:cs typeface="+mn-cs"/>
              </a:rPr>
              <a:t>boolean</a:t>
            </a:r>
            <a:r>
              <a:rPr lang="en-US" kern="1200" dirty="0">
                <a:solidFill>
                  <a:prstClr val="black"/>
                </a:solidFill>
                <a:latin typeface="Aptos" panose="02110004020202020204"/>
                <a:ea typeface="+mn-ea"/>
                <a:cs typeface="+mn-cs"/>
              </a:rPr>
              <a:t> = true;</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Array of numbers</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scores: number[] = [100, 95, 98];</a:t>
            </a:r>
          </a:p>
        </p:txBody>
      </p:sp>
      <p:sp>
        <p:nvSpPr>
          <p:cNvPr id="4" name="TextBox 3">
            <a:extLst>
              <a:ext uri="{FF2B5EF4-FFF2-40B4-BE49-F238E27FC236}">
                <a16:creationId xmlns:a16="http://schemas.microsoft.com/office/drawing/2014/main" id="{40550172-C8FC-E014-6A77-35031BFEC2B6}"/>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5A34E66-E449-02B7-36A7-30A06BF2A5A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567AF1-F694-2A5A-D968-591789833BB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0754381-0491-3243-83A1-04ED30D37FAE}"/>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
        <p:nvSpPr>
          <p:cNvPr id="9" name="TextBox 8">
            <a:extLst>
              <a:ext uri="{FF2B5EF4-FFF2-40B4-BE49-F238E27FC236}">
                <a16:creationId xmlns:a16="http://schemas.microsoft.com/office/drawing/2014/main" id="{8E5CA562-8113-7900-B865-C181FE7E88FB}"/>
              </a:ext>
            </a:extLst>
          </p:cNvPr>
          <p:cNvSpPr txBox="1"/>
          <p:nvPr/>
        </p:nvSpPr>
        <p:spPr>
          <a:xfrm>
            <a:off x="5182182" y="4716586"/>
            <a:ext cx="6095434" cy="1753869"/>
          </a:xfrm>
          <a:prstGeom prst="rect">
            <a:avLst/>
          </a:prstGeom>
          <a:noFill/>
        </p:spPr>
        <p:txBody>
          <a:bodyPr wrap="square">
            <a:spAutoFit/>
          </a:bodyPr>
          <a:lstStyle/>
          <a:p>
            <a:pPr defTabSz="914126">
              <a:buClrTx/>
            </a:pPr>
            <a:r>
              <a:rPr lang="en-US" sz="1200" kern="1200" dirty="0">
                <a:solidFill>
                  <a:srgbClr val="708090"/>
                </a:solidFill>
                <a:latin typeface="Consolas" panose="020B0609020204030204" pitchFamily="49" charset="0"/>
                <a:ea typeface="+mn-ea"/>
                <a:cs typeface="+mn-cs"/>
              </a:rPr>
              <a:t>// Function with explicit parameter and return types</a:t>
            </a:r>
            <a:br>
              <a:rPr lang="en-US" sz="1200" kern="1200" dirty="0">
                <a:solidFill>
                  <a:srgbClr val="708090"/>
                </a:solidFill>
                <a:latin typeface="Consolas" panose="020B0609020204030204" pitchFamily="49" charset="0"/>
                <a:ea typeface="+mn-ea"/>
                <a:cs typeface="+mn-cs"/>
              </a:rPr>
            </a:br>
            <a:r>
              <a:rPr lang="en-US" sz="1200" kern="1200" dirty="0">
                <a:solidFill>
                  <a:srgbClr val="005CC5"/>
                </a:solidFill>
                <a:latin typeface="Consolas" panose="020B0609020204030204" pitchFamily="49" charset="0"/>
                <a:ea typeface="+mn-ea"/>
                <a:cs typeface="+mn-cs"/>
              </a:rPr>
              <a:t>function</a:t>
            </a:r>
            <a:r>
              <a:rPr lang="en-US" sz="1200" kern="1200" dirty="0">
                <a:latin typeface="Consolas" panose="020B0609020204030204" pitchFamily="49" charset="0"/>
                <a:ea typeface="+mn-ea"/>
                <a:cs typeface="+mn-cs"/>
              </a:rPr>
              <a:t> greet(name: string): string {</a:t>
            </a:r>
            <a:br>
              <a:rPr lang="en-US" sz="1200" kern="1200" dirty="0">
                <a:solidFill>
                  <a:prstClr val="black"/>
                </a:solidFill>
                <a:latin typeface="Aptos" panose="02110004020202020204"/>
                <a:ea typeface="+mn-ea"/>
                <a:cs typeface="+mn-cs"/>
              </a:rPr>
            </a:br>
            <a:r>
              <a:rPr lang="en-US" sz="1200" kern="1200" dirty="0">
                <a:solidFill>
                  <a:srgbClr val="005CC5"/>
                </a:solidFill>
                <a:latin typeface="Consolas" panose="020B0609020204030204" pitchFamily="49" charset="0"/>
                <a:ea typeface="+mn-ea"/>
                <a:cs typeface="+mn-cs"/>
              </a:rPr>
              <a:t>return</a:t>
            </a:r>
            <a:r>
              <a:rPr lang="en-US" sz="1200" kern="1200" dirty="0">
                <a:latin typeface="Consolas" panose="020B0609020204030204" pitchFamily="49" charset="0"/>
                <a:ea typeface="+mn-ea"/>
                <a:cs typeface="+mn-cs"/>
              </a:rPr>
              <a:t> </a:t>
            </a:r>
            <a:r>
              <a:rPr lang="en-US" sz="1200" kern="1200" dirty="0">
                <a:solidFill>
                  <a:srgbClr val="FF5500"/>
                </a:solidFill>
                <a:latin typeface="Consolas" panose="020B0609020204030204" pitchFamily="49" charset="0"/>
                <a:ea typeface="+mn-ea"/>
                <a:cs typeface="+mn-cs"/>
              </a:rPr>
              <a:t>`Hello, ${name}!`</a:t>
            </a: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br>
              <a:rPr lang="en-US" sz="1200" kern="1200" dirty="0">
                <a:solidFill>
                  <a:prstClr val="black"/>
                </a:solidFill>
                <a:latin typeface="Aptos" panose="02110004020202020204"/>
                <a:ea typeface="+mn-ea"/>
                <a:cs typeface="+mn-cs"/>
              </a:rPr>
            </a:br>
            <a:r>
              <a:rPr lang="en-US" sz="1200" kern="1200" dirty="0">
                <a:solidFill>
                  <a:srgbClr val="708090"/>
                </a:solidFill>
                <a:latin typeface="Consolas" panose="020B0609020204030204" pitchFamily="49" charset="0"/>
                <a:ea typeface="+mn-ea"/>
                <a:cs typeface="+mn-cs"/>
              </a:rPr>
              <a:t>// TypeScript will ensure you pass the correct argument type</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008000"/>
                </a:solidFill>
                <a:latin typeface="Consolas" panose="020B0609020204030204" pitchFamily="49" charset="0"/>
                <a:ea typeface="+mn-ea"/>
                <a:cs typeface="+mn-cs"/>
              </a:rPr>
              <a:t>"Alice"</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OK</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990055"/>
                </a:solidFill>
                <a:latin typeface="Consolas" panose="020B0609020204030204" pitchFamily="49" charset="0"/>
                <a:ea typeface="+mn-ea"/>
                <a:cs typeface="+mn-cs"/>
              </a:rPr>
              <a:t>42</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Error: Argument of type '42' is not assignable to parameter of type 'string'</a:t>
            </a:r>
            <a:endParaRPr lang="en-IN" sz="1200" kern="1200" dirty="0">
              <a:solidFill>
                <a:prstClr val="black"/>
              </a:solidFill>
              <a:latin typeface="Aptos" panose="02110004020202020204"/>
              <a:ea typeface="+mn-ea"/>
              <a:cs typeface="+mn-cs"/>
            </a:endParaRPr>
          </a:p>
        </p:txBody>
      </p:sp>
    </p:spTree>
    <p:extLst>
      <p:ext uri="{BB962C8B-B14F-4D97-AF65-F5344CB8AC3E}">
        <p14:creationId xmlns:p14="http://schemas.microsoft.com/office/powerpoint/2010/main" val="379879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0" end="10"/>
                                            </p:txEl>
                                          </p:spTgt>
                                        </p:tgtEl>
                                        <p:attrNameLst>
                                          <p:attrName>style.visibility</p:attrName>
                                        </p:attrNameLst>
                                      </p:cBhvr>
                                      <p:to>
                                        <p:strVal val="visible"/>
                                      </p:to>
                                    </p:set>
                                    <p:animEffect transition="in" filter="fade">
                                      <p:cBhvr>
                                        <p:cTn id="54" dur="1000"/>
                                        <p:tgtEl>
                                          <p:spTgt spid="3">
                                            <p:txEl>
                                              <p:pRg st="10" end="10"/>
                                            </p:txEl>
                                          </p:spTgt>
                                        </p:tgtEl>
                                      </p:cBhvr>
                                    </p:animEffect>
                                    <p:anim calcmode="lin" valueType="num">
                                      <p:cBhvr>
                                        <p:cTn id="5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1" end="11"/>
                                            </p:txEl>
                                          </p:spTgt>
                                        </p:tgtEl>
                                        <p:attrNameLst>
                                          <p:attrName>style.visibility</p:attrName>
                                        </p:attrNameLst>
                                      </p:cBhvr>
                                      <p:to>
                                        <p:strVal val="visible"/>
                                      </p:to>
                                    </p:set>
                                    <p:animEffect transition="in" filter="fade">
                                      <p:cBhvr>
                                        <p:cTn id="59" dur="1000"/>
                                        <p:tgtEl>
                                          <p:spTgt spid="3">
                                            <p:txEl>
                                              <p:pRg st="11" end="11"/>
                                            </p:txEl>
                                          </p:spTgt>
                                        </p:tgtEl>
                                      </p:cBhvr>
                                    </p:animEffect>
                                    <p:anim calcmode="lin" valueType="num">
                                      <p:cBhvr>
                                        <p:cTn id="6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nodeType="clickEffect">
                                  <p:stCondLst>
                                    <p:cond delay="0"/>
                                  </p:stCondLst>
                                  <p:childTnLst>
                                    <p:set>
                                      <p:cBhvr>
                                        <p:cTn id="65" dur="1" fill="hold">
                                          <p:stCondLst>
                                            <p:cond delay="0"/>
                                          </p:stCondLst>
                                        </p:cTn>
                                        <p:tgtEl>
                                          <p:spTgt spid="3">
                                            <p:txEl>
                                              <p:pRg st="12" end="12"/>
                                            </p:txEl>
                                          </p:spTgt>
                                        </p:tgtEl>
                                        <p:attrNameLst>
                                          <p:attrName>style.visibility</p:attrName>
                                        </p:attrNameLst>
                                      </p:cBhvr>
                                      <p:to>
                                        <p:strVal val="visible"/>
                                      </p:to>
                                    </p:set>
                                    <p:animEffect transition="in" filter="fade">
                                      <p:cBhvr>
                                        <p:cTn id="66" dur="1000"/>
                                        <p:tgtEl>
                                          <p:spTgt spid="3">
                                            <p:txEl>
                                              <p:pRg st="12" end="12"/>
                                            </p:txEl>
                                          </p:spTgt>
                                        </p:tgtEl>
                                      </p:cBhvr>
                                    </p:animEffect>
                                    <p:anim calcmode="lin" valueType="num">
                                      <p:cBhvr>
                                        <p:cTn id="6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1000"/>
                                        <p:tgtEl>
                                          <p:spTgt spid="9"/>
                                        </p:tgtEl>
                                      </p:cBhvr>
                                    </p:animEffect>
                                    <p:anim calcmode="lin" valueType="num">
                                      <p:cBhvr>
                                        <p:cTn id="74" dur="1000" fill="hold"/>
                                        <p:tgtEl>
                                          <p:spTgt spid="9"/>
                                        </p:tgtEl>
                                        <p:attrNameLst>
                                          <p:attrName>ppt_x</p:attrName>
                                        </p:attrNameLst>
                                      </p:cBhvr>
                                      <p:tavLst>
                                        <p:tav tm="0">
                                          <p:val>
                                            <p:strVal val="#ppt_x"/>
                                          </p:val>
                                        </p:tav>
                                        <p:tav tm="100000">
                                          <p:val>
                                            <p:strVal val="#ppt_x"/>
                                          </p:val>
                                        </p:tav>
                                      </p:tavLst>
                                    </p:anim>
                                    <p:anim calcmode="lin" valueType="num">
                                      <p:cBhvr>
                                        <p:cTn id="7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7333B-3F5A-1075-F057-D3359D63610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0019707-61F2-4E8E-4EB9-C11B16E77BF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Special Types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D6961807-D204-4416-F887-6F695DBC7607}"/>
              </a:ext>
            </a:extLst>
          </p:cNvPr>
          <p:cNvSpPr txBox="1"/>
          <p:nvPr/>
        </p:nvSpPr>
        <p:spPr>
          <a:xfrm>
            <a:off x="142630" y="655071"/>
            <a:ext cx="11483853" cy="5660469"/>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'any' type allows you to opt-out of type checking for a variable. It can hold any value, and you can perform any operation on it without TypeScript raising an error.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'unknown' type is similar to 'any' in that it can hold any value, but it is safer because you cannot perform operations on it without first checking its type.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Working with arrays - let</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arrName</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dataType</a:t>
            </a:r>
            <a:r>
              <a:rPr lang="en-IN" sz="1799" kern="1200" dirty="0">
                <a:solidFill>
                  <a:prstClr val="black"/>
                </a:solidFill>
                <a:latin typeface="Aptos" panose="02110004020202020204"/>
                <a:ea typeface="+mn-ea"/>
                <a:cs typeface="+mn-cs"/>
              </a:rPr>
              <a:t>[] = [];</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Tuple, </a:t>
            </a:r>
            <a:r>
              <a:rPr lang="en-US" sz="1799" kern="1200" dirty="0">
                <a:solidFill>
                  <a:prstClr val="black"/>
                </a:solidFill>
                <a:latin typeface="Aptos" panose="02110004020202020204"/>
                <a:ea typeface="+mn-ea"/>
                <a:cs typeface="+mn-cs"/>
              </a:rPr>
              <a:t>A tuple is a typed array with a pre-defined length and types for each index. Tuples are great because they allow each element in the array to be a known type of value.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Object - TypeScript has a specific syntax for typing objects.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Type Guard</a:t>
            </a:r>
          </a:p>
          <a:p>
            <a:pPr defTabSz="914126">
              <a:buClrTx/>
            </a:pPr>
            <a:r>
              <a:rPr lang="en-IN" sz="1799" kern="1200" dirty="0">
                <a:solidFill>
                  <a:prstClr val="black"/>
                </a:solidFill>
                <a:latin typeface="Aptos" panose="02110004020202020204"/>
                <a:ea typeface="+mn-ea"/>
                <a:cs typeface="+mn-cs"/>
              </a:rPr>
              <a:t>A </a:t>
            </a:r>
            <a:r>
              <a:rPr lang="en-IN" sz="1799" b="1" kern="1200" dirty="0">
                <a:solidFill>
                  <a:prstClr val="black"/>
                </a:solidFill>
                <a:latin typeface="Aptos" panose="02110004020202020204"/>
                <a:ea typeface="+mn-ea"/>
                <a:cs typeface="+mn-cs"/>
              </a:rPr>
              <a:t>Type Guard </a:t>
            </a:r>
            <a:r>
              <a:rPr lang="en-IN" sz="1799" kern="1200" dirty="0">
                <a:solidFill>
                  <a:prstClr val="black"/>
                </a:solidFill>
                <a:latin typeface="Aptos" panose="02110004020202020204"/>
                <a:ea typeface="+mn-ea"/>
                <a:cs typeface="+mn-cs"/>
              </a:rPr>
              <a:t>in TypeScript is a technique used to </a:t>
            </a:r>
            <a:r>
              <a:rPr lang="en-IN" sz="1799" b="1" kern="1200" dirty="0">
                <a:solidFill>
                  <a:prstClr val="black"/>
                </a:solidFill>
                <a:latin typeface="Aptos" panose="02110004020202020204"/>
                <a:ea typeface="+mn-ea"/>
                <a:cs typeface="+mn-cs"/>
              </a:rPr>
              <a:t>check the type of a variable at runtime </a:t>
            </a:r>
            <a:r>
              <a:rPr lang="en-IN" sz="1799" kern="1200" dirty="0">
                <a:solidFill>
                  <a:prstClr val="black"/>
                </a:solidFill>
                <a:latin typeface="Aptos" panose="02110004020202020204"/>
                <a:ea typeface="+mn-ea"/>
                <a:cs typeface="+mn-cs"/>
              </a:rPr>
              <a:t>so that TypeScript can safely narrow the variable's type within a specific block of code.</a:t>
            </a:r>
          </a:p>
          <a:p>
            <a:pPr defTabSz="914126">
              <a:buClrTx/>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E7FD553F-2E68-3343-093A-607A73FC53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3838F351-4C67-8467-D2B1-8C2BEFCC57E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72DC512A-1222-19CE-39EA-D0C2D8C687A6}"/>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4845FDA-EFB2-65B1-04BD-46A223D7B6A8}"/>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AD589D1F-51B8-11FF-7E50-8371FD406CAA}"/>
              </a:ext>
            </a:extLst>
          </p:cNvPr>
          <p:cNvPicPr>
            <a:picLocks noChangeAspect="1"/>
          </p:cNvPicPr>
          <p:nvPr/>
        </p:nvPicPr>
        <p:blipFill>
          <a:blip r:embed="rId3"/>
          <a:stretch>
            <a:fillRect/>
          </a:stretch>
        </p:blipFill>
        <p:spPr>
          <a:xfrm>
            <a:off x="2709688" y="1174634"/>
            <a:ext cx="6769448" cy="4508732"/>
          </a:xfrm>
          <a:prstGeom prst="rect">
            <a:avLst/>
          </a:prstGeom>
        </p:spPr>
      </p:pic>
    </p:spTree>
    <p:extLst>
      <p:ext uri="{BB962C8B-B14F-4D97-AF65-F5344CB8AC3E}">
        <p14:creationId xmlns:p14="http://schemas.microsoft.com/office/powerpoint/2010/main" val="298453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1000"/>
                                        <p:tgtEl>
                                          <p:spTgt spid="3">
                                            <p:txEl>
                                              <p:pRg st="8" end="8"/>
                                            </p:txEl>
                                          </p:spTgt>
                                        </p:tgtEl>
                                      </p:cBhvr>
                                    </p:animEffect>
                                    <p:anim calcmode="lin" valueType="num">
                                      <p:cBhvr>
                                        <p:cTn id="3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1000"/>
                                        <p:tgtEl>
                                          <p:spTgt spid="3">
                                            <p:txEl>
                                              <p:pRg st="9" end="9"/>
                                            </p:txEl>
                                          </p:spTgt>
                                        </p:tgtEl>
                                      </p:cBhvr>
                                    </p:animEffect>
                                    <p:anim calcmode="lin" valueType="num">
                                      <p:cBhvr>
                                        <p:cTn id="3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8F324-E191-0FC6-270F-965A95AAEE4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60D839F-4A8C-8A28-A48F-C595C9D342B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Guard</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CA04FE5-85CB-C94A-ACE1-281515ABB900}"/>
              </a:ext>
            </a:extLst>
          </p:cNvPr>
          <p:cNvSpPr txBox="1"/>
          <p:nvPr/>
        </p:nvSpPr>
        <p:spPr>
          <a:xfrm>
            <a:off x="142630" y="655071"/>
            <a:ext cx="11483853" cy="2338021"/>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A </a:t>
            </a:r>
            <a:r>
              <a:rPr lang="en-IN" sz="1799" b="1" kern="1200" dirty="0">
                <a:solidFill>
                  <a:prstClr val="black"/>
                </a:solidFill>
                <a:latin typeface="Aptos" panose="02110004020202020204"/>
                <a:ea typeface="+mn-ea"/>
                <a:cs typeface="+mn-cs"/>
              </a:rPr>
              <a:t>Type Guard </a:t>
            </a:r>
            <a:r>
              <a:rPr lang="en-IN" sz="1799" kern="1200" dirty="0">
                <a:solidFill>
                  <a:prstClr val="black"/>
                </a:solidFill>
                <a:latin typeface="Aptos" panose="02110004020202020204"/>
                <a:ea typeface="+mn-ea"/>
                <a:cs typeface="+mn-cs"/>
              </a:rPr>
              <a:t>in TypeScript is a technique used to </a:t>
            </a:r>
            <a:r>
              <a:rPr lang="en-IN" sz="1799" b="1" kern="1200" dirty="0">
                <a:solidFill>
                  <a:prstClr val="black"/>
                </a:solidFill>
                <a:latin typeface="Aptos" panose="02110004020202020204"/>
                <a:ea typeface="+mn-ea"/>
                <a:cs typeface="+mn-cs"/>
              </a:rPr>
              <a:t>check the type of a variable at runtime </a:t>
            </a:r>
            <a:r>
              <a:rPr lang="en-IN" sz="1799" kern="1200" dirty="0">
                <a:solidFill>
                  <a:prstClr val="black"/>
                </a:solidFill>
                <a:latin typeface="Aptos" panose="02110004020202020204"/>
                <a:ea typeface="+mn-ea"/>
                <a:cs typeface="+mn-cs"/>
              </a:rPr>
              <a:t>so that TypeScript can safely narrow the variable's type within a specific block of code.</a:t>
            </a:r>
          </a:p>
          <a:p>
            <a:pPr defTabSz="914126">
              <a:buClrTx/>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A4E084BC-193E-6BB2-AD06-E9AB077CB9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1A5E4B26-7AB5-CE11-C06A-F43A4BEAA43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9C5CFB5F-40AE-F979-C149-46D60BF3AE1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86698E95-17D8-EA85-0023-8A9888F953F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2AB83868-E03C-0C93-D382-FBA06CCDB46C}"/>
              </a:ext>
            </a:extLst>
          </p:cNvPr>
          <p:cNvPicPr>
            <a:picLocks noChangeAspect="1"/>
          </p:cNvPicPr>
          <p:nvPr/>
        </p:nvPicPr>
        <p:blipFill>
          <a:blip r:embed="rId3"/>
          <a:stretch>
            <a:fillRect/>
          </a:stretch>
        </p:blipFill>
        <p:spPr>
          <a:xfrm>
            <a:off x="837623" y="1328111"/>
            <a:ext cx="3787524" cy="2522647"/>
          </a:xfrm>
          <a:prstGeom prst="rect">
            <a:avLst/>
          </a:prstGeom>
        </p:spPr>
      </p:pic>
      <p:pic>
        <p:nvPicPr>
          <p:cNvPr id="10" name="Picture 9">
            <a:extLst>
              <a:ext uri="{FF2B5EF4-FFF2-40B4-BE49-F238E27FC236}">
                <a16:creationId xmlns:a16="http://schemas.microsoft.com/office/drawing/2014/main" id="{ED91BB59-7AF6-76BE-C3C8-870BD23A5476}"/>
              </a:ext>
            </a:extLst>
          </p:cNvPr>
          <p:cNvPicPr>
            <a:picLocks noChangeAspect="1"/>
          </p:cNvPicPr>
          <p:nvPr/>
        </p:nvPicPr>
        <p:blipFill>
          <a:blip r:embed="rId4"/>
          <a:stretch>
            <a:fillRect/>
          </a:stretch>
        </p:blipFill>
        <p:spPr>
          <a:xfrm>
            <a:off x="5355373" y="1328111"/>
            <a:ext cx="5058968" cy="5313116"/>
          </a:xfrm>
          <a:prstGeom prst="rect">
            <a:avLst/>
          </a:prstGeom>
        </p:spPr>
      </p:pic>
      <p:pic>
        <p:nvPicPr>
          <p:cNvPr id="12" name="Picture 11">
            <a:extLst>
              <a:ext uri="{FF2B5EF4-FFF2-40B4-BE49-F238E27FC236}">
                <a16:creationId xmlns:a16="http://schemas.microsoft.com/office/drawing/2014/main" id="{7200AC5F-1501-5DA6-8A71-B20C826B291A}"/>
              </a:ext>
            </a:extLst>
          </p:cNvPr>
          <p:cNvPicPr>
            <a:picLocks noChangeAspect="1"/>
          </p:cNvPicPr>
          <p:nvPr/>
        </p:nvPicPr>
        <p:blipFill>
          <a:blip r:embed="rId5"/>
          <a:stretch>
            <a:fillRect/>
          </a:stretch>
        </p:blipFill>
        <p:spPr>
          <a:xfrm>
            <a:off x="836038" y="3901964"/>
            <a:ext cx="3789109" cy="2754391"/>
          </a:xfrm>
          <a:prstGeom prst="rect">
            <a:avLst/>
          </a:prstGeom>
        </p:spPr>
      </p:pic>
    </p:spTree>
    <p:extLst>
      <p:ext uri="{BB962C8B-B14F-4D97-AF65-F5344CB8AC3E}">
        <p14:creationId xmlns:p14="http://schemas.microsoft.com/office/powerpoint/2010/main" val="2783804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0F81-44B1-80D5-E0EB-3FD96C8DFC3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9DE3B7D-434D-16AF-87CF-BE021BAD9DB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Type Aliases and Interfaces</a:t>
            </a:r>
          </a:p>
        </p:txBody>
      </p:sp>
      <p:sp>
        <p:nvSpPr>
          <p:cNvPr id="3" name="TextBox 2">
            <a:extLst>
              <a:ext uri="{FF2B5EF4-FFF2-40B4-BE49-F238E27FC236}">
                <a16:creationId xmlns:a16="http://schemas.microsoft.com/office/drawing/2014/main" id="{47972995-9FAA-FB0C-EA39-324BC62639D0}"/>
              </a:ext>
            </a:extLst>
          </p:cNvPr>
          <p:cNvSpPr txBox="1"/>
          <p:nvPr/>
        </p:nvSpPr>
        <p:spPr>
          <a:xfrm>
            <a:off x="142630" y="655071"/>
            <a:ext cx="11483853" cy="4276116"/>
          </a:xfrm>
          <a:prstGeom prst="rect">
            <a:avLst/>
          </a:prstGeom>
          <a:noFill/>
        </p:spPr>
        <p:txBody>
          <a:bodyPr wrap="square" lIns="121867" tIns="60933" rIns="121867" bIns="60933" rtlCol="0">
            <a:spAutoFit/>
          </a:bodyPr>
          <a:lstStyle/>
          <a:p>
            <a:pPr defTabSz="914126">
              <a:buClrTx/>
            </a:pPr>
            <a:r>
              <a:rPr lang="en-US" sz="1799" b="1" kern="1200" dirty="0">
                <a:solidFill>
                  <a:prstClr val="black"/>
                </a:solidFill>
                <a:latin typeface="Aptos" panose="02110004020202020204"/>
                <a:ea typeface="+mn-ea"/>
                <a:cs typeface="+mn-cs"/>
              </a:rPr>
              <a:t>Extending:</a:t>
            </a:r>
            <a:r>
              <a:rPr lang="en-US" sz="1799" kern="1200" dirty="0">
                <a:solidFill>
                  <a:prstClr val="black"/>
                </a:solidFill>
                <a:latin typeface="Aptos" panose="02110004020202020204"/>
                <a:ea typeface="+mn-ea"/>
                <a:cs typeface="+mn-cs"/>
              </a:rPr>
              <a:t> Both can be extended, but interfaces support declaration merging.</a:t>
            </a:r>
          </a:p>
          <a:p>
            <a:pPr defTabSz="914126">
              <a:buClrTx/>
            </a:pPr>
            <a:r>
              <a:rPr lang="en-US" sz="1799" b="1" kern="1200" dirty="0">
                <a:solidFill>
                  <a:prstClr val="black"/>
                </a:solidFill>
                <a:latin typeface="Aptos" panose="02110004020202020204"/>
                <a:ea typeface="+mn-ea"/>
                <a:cs typeface="+mn-cs"/>
              </a:rPr>
              <a:t>Unions/Intersections:</a:t>
            </a:r>
            <a:r>
              <a:rPr lang="en-US" sz="1799" kern="1200" dirty="0">
                <a:solidFill>
                  <a:prstClr val="black"/>
                </a:solidFill>
                <a:latin typeface="Aptos" panose="02110004020202020204"/>
                <a:ea typeface="+mn-ea"/>
                <a:cs typeface="+mn-cs"/>
              </a:rPr>
              <a:t> Only type aliases support union and intersection types.</a:t>
            </a:r>
          </a:p>
          <a:p>
            <a:pPr defTabSz="914126">
              <a:buClrTx/>
            </a:pPr>
            <a:r>
              <a:rPr lang="en-US" sz="1799" b="1" kern="1200" dirty="0">
                <a:solidFill>
                  <a:prstClr val="black"/>
                </a:solidFill>
                <a:latin typeface="Aptos" panose="02110004020202020204"/>
                <a:ea typeface="+mn-ea"/>
                <a:cs typeface="+mn-cs"/>
              </a:rPr>
              <a:t>Implements:</a:t>
            </a:r>
            <a:r>
              <a:rPr lang="en-US" sz="1799" kern="1200" dirty="0">
                <a:solidFill>
                  <a:prstClr val="black"/>
                </a:solidFill>
                <a:latin typeface="Aptos" panose="02110004020202020204"/>
                <a:ea typeface="+mn-ea"/>
                <a:cs typeface="+mn-cs"/>
              </a:rPr>
              <a:t> Classes can implement either.</a:t>
            </a:r>
          </a:p>
          <a:p>
            <a:pPr defTabSz="914126">
              <a:buClrTx/>
            </a:pPr>
            <a:r>
              <a:rPr lang="en-US" sz="1799" b="1" kern="1200" dirty="0">
                <a:solidFill>
                  <a:prstClr val="black"/>
                </a:solidFill>
                <a:latin typeface="Aptos" panose="02110004020202020204"/>
                <a:ea typeface="+mn-ea"/>
                <a:cs typeface="+mn-cs"/>
              </a:rPr>
              <a:t>Recommendation:</a:t>
            </a:r>
            <a:r>
              <a:rPr lang="en-US" sz="1799" kern="1200" dirty="0">
                <a:solidFill>
                  <a:prstClr val="black"/>
                </a:solidFill>
                <a:latin typeface="Aptos" panose="02110004020202020204"/>
                <a:ea typeface="+mn-ea"/>
                <a:cs typeface="+mn-cs"/>
              </a:rPr>
              <a:t> Use interface for objects, type for everything else.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Best Practices: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interface for defining object shapes and public APIs.</a:t>
            </a:r>
          </a:p>
          <a:p>
            <a:pPr defTabSz="914126">
              <a:buClrTx/>
            </a:pPr>
            <a:r>
              <a:rPr lang="en-US" sz="1799" kern="1200" dirty="0">
                <a:solidFill>
                  <a:prstClr val="black"/>
                </a:solidFill>
                <a:latin typeface="Aptos" panose="02110004020202020204"/>
                <a:ea typeface="+mn-ea"/>
                <a:cs typeface="+mn-cs"/>
              </a:rPr>
              <a:t>Use type for unions, intersections, and primitives.</a:t>
            </a:r>
          </a:p>
          <a:p>
            <a:pPr defTabSz="914126">
              <a:buClrTx/>
            </a:pPr>
            <a:r>
              <a:rPr lang="en-US" sz="1799" kern="1200" dirty="0">
                <a:solidFill>
                  <a:prstClr val="black"/>
                </a:solidFill>
                <a:latin typeface="Aptos" panose="02110004020202020204"/>
                <a:ea typeface="+mn-ea"/>
                <a:cs typeface="+mn-cs"/>
              </a:rPr>
              <a:t>Favor composition over inheritance for types.</a:t>
            </a:r>
          </a:p>
          <a:p>
            <a:pPr defTabSz="914126">
              <a:buClrTx/>
            </a:pPr>
            <a:r>
              <a:rPr lang="en-US" sz="1799" kern="1200" dirty="0">
                <a:solidFill>
                  <a:prstClr val="black"/>
                </a:solidFill>
                <a:latin typeface="Aptos" panose="02110004020202020204"/>
                <a:ea typeface="+mn-ea"/>
                <a:cs typeface="+mn-cs"/>
              </a:rPr>
              <a:t>Document your types and interfaces for clarity.</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Common Pitfalls: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type when you need declaration merging (use interface).</a:t>
            </a:r>
          </a:p>
          <a:p>
            <a:pPr defTabSz="914126">
              <a:buClrTx/>
            </a:pPr>
            <a:r>
              <a:rPr lang="en-US" sz="1799" kern="1200" dirty="0">
                <a:solidFill>
                  <a:prstClr val="black"/>
                </a:solidFill>
                <a:latin typeface="Aptos" panose="02110004020202020204"/>
                <a:ea typeface="+mn-ea"/>
                <a:cs typeface="+mn-cs"/>
              </a:rPr>
              <a:t>Overcomplicating types-keep them simple and focused.</a:t>
            </a:r>
          </a:p>
          <a:p>
            <a:pPr defTabSz="914126">
              <a:buClrTx/>
            </a:pPr>
            <a:r>
              <a:rPr lang="en-US" sz="1799" kern="1200" dirty="0">
                <a:solidFill>
                  <a:prstClr val="black"/>
                </a:solidFill>
                <a:latin typeface="Aptos" panose="02110004020202020204"/>
                <a:ea typeface="+mn-ea"/>
                <a:cs typeface="+mn-cs"/>
              </a:rPr>
              <a:t>Forgetting to update types/interfaces as code evolves.</a:t>
            </a:r>
          </a:p>
        </p:txBody>
      </p:sp>
      <p:sp>
        <p:nvSpPr>
          <p:cNvPr id="4" name="TextBox 3">
            <a:extLst>
              <a:ext uri="{FF2B5EF4-FFF2-40B4-BE49-F238E27FC236}">
                <a16:creationId xmlns:a16="http://schemas.microsoft.com/office/drawing/2014/main" id="{19501F94-EF83-CAA0-D953-6A5D8C8A12AA}"/>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8AD7142A-E97A-1A71-4A82-CD69E0238C4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C3249FD-A198-9F37-BF6A-BF6B0054802A}"/>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E2A8E718-DA37-F45D-F908-7DEB7754008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01196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E508F-295E-3DC4-A064-3E284A081E8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2210074-1A05-FAF6-B3D4-9F4FE1A1DD0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Definitely Typed</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6DEE9A0-C1F1-F751-FA84-80BBD7FB698D}"/>
              </a:ext>
            </a:extLst>
          </p:cNvPr>
          <p:cNvSpPr txBox="1"/>
          <p:nvPr/>
        </p:nvSpPr>
        <p:spPr>
          <a:xfrm>
            <a:off x="142630" y="655071"/>
            <a:ext cx="11483853" cy="5938518"/>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NPM packages in the broad JavaScript ecosystem don't always have types available.</a:t>
            </a:r>
          </a:p>
          <a:p>
            <a:pPr defTabSz="914126">
              <a:buClrTx/>
            </a:pPr>
            <a:r>
              <a:rPr lang="en-US" sz="1799" kern="1200" dirty="0">
                <a:solidFill>
                  <a:prstClr val="black"/>
                </a:solidFill>
                <a:latin typeface="Aptos" panose="02110004020202020204"/>
                <a:ea typeface="+mn-ea"/>
                <a:cs typeface="+mn-cs"/>
              </a:rPr>
              <a:t>Sometimes the projects are no longer maintained, and other times they aren't interested in, agree with, or have time to use TypeScript.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untyped NPM packages with TypeScript is not type-safe because types are missing.</a:t>
            </a:r>
          </a:p>
          <a:p>
            <a:pPr defTabSz="914126">
              <a:buClrTx/>
            </a:pPr>
            <a:r>
              <a:rPr lang="en-US" sz="1799" kern="1200" dirty="0">
                <a:solidFill>
                  <a:prstClr val="black"/>
                </a:solidFill>
                <a:latin typeface="Aptos" panose="02110004020202020204"/>
                <a:ea typeface="+mn-ea"/>
                <a:cs typeface="+mn-cs"/>
              </a:rPr>
              <a:t>To help TypeScript developers use such packages, there is a community-maintained project called </a:t>
            </a:r>
            <a:r>
              <a:rPr lang="en-US" sz="1799" kern="1200" dirty="0">
                <a:solidFill>
                  <a:prstClr val="black"/>
                </a:solidFill>
                <a:latin typeface="Aptos" panose="02110004020202020204"/>
                <a:ea typeface="+mn-ea"/>
                <a:cs typeface="+mn-cs"/>
                <a:hlinkClick r:id="rId2"/>
              </a:rPr>
              <a:t>Definitely Typed</a:t>
            </a:r>
            <a:r>
              <a:rPr lang="en-US" sz="1799" kern="1200" dirty="0">
                <a:solidFill>
                  <a:prstClr val="black"/>
                </a:solidFill>
                <a:latin typeface="Aptos" panose="02110004020202020204"/>
                <a:ea typeface="+mn-ea"/>
                <a:cs typeface="+mn-cs"/>
              </a:rPr>
              <a:t>.</a:t>
            </a:r>
          </a:p>
          <a:p>
            <a:pPr defTabSz="914126">
              <a:buClrTx/>
            </a:pPr>
            <a:r>
              <a:rPr lang="en-US" sz="1799" kern="1200" dirty="0">
                <a:solidFill>
                  <a:prstClr val="black"/>
                </a:solidFill>
                <a:latin typeface="Aptos" panose="02110004020202020204"/>
                <a:ea typeface="+mn-ea"/>
                <a:cs typeface="+mn-cs"/>
                <a:hlinkClick r:id="rId3"/>
              </a:rPr>
              <a:t>https://www.npmjs.com/package/@openui5/types</a:t>
            </a: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This </a:t>
            </a:r>
            <a:r>
              <a:rPr lang="en-US" sz="1799" kern="1200" dirty="0" err="1">
                <a:solidFill>
                  <a:prstClr val="black"/>
                </a:solidFill>
                <a:latin typeface="Aptos" panose="02110004020202020204"/>
                <a:ea typeface="+mn-ea"/>
                <a:cs typeface="+mn-cs"/>
              </a:rPr>
              <a:t>npm</a:t>
            </a:r>
            <a:r>
              <a:rPr lang="en-US" sz="1799" kern="1200" dirty="0">
                <a:solidFill>
                  <a:prstClr val="black"/>
                </a:solidFill>
                <a:latin typeface="Aptos" panose="02110004020202020204"/>
                <a:ea typeface="+mn-ea"/>
                <a:cs typeface="+mn-cs"/>
              </a:rPr>
              <a:t> package contains the TypeScript type definitions based on ES modules for all the OpenUI5 libraries. </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These definitions can be used to:</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Enable advanced content assist in IDEs, </a:t>
            </a:r>
            <a:r>
              <a:rPr lang="en-US" sz="1799" kern="1200" dirty="0" err="1">
                <a:solidFill>
                  <a:prstClr val="black"/>
                </a:solidFill>
                <a:latin typeface="Aptos" panose="02110004020202020204"/>
                <a:ea typeface="+mn-ea"/>
                <a:cs typeface="+mn-cs"/>
              </a:rPr>
              <a:t>e.g</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VSCode</a:t>
            </a:r>
            <a:r>
              <a:rPr lang="en-US" sz="1799" kern="1200" dirty="0">
                <a:solidFill>
                  <a:prstClr val="black"/>
                </a:solidFill>
                <a:latin typeface="Aptos" panose="02110004020202020204"/>
                <a:ea typeface="+mn-ea"/>
                <a:cs typeface="+mn-cs"/>
              </a:rPr>
              <a:t> / IntelliJ / </a:t>
            </a:r>
            <a:r>
              <a:rPr lang="en-US" sz="1799" kern="1200" dirty="0" err="1">
                <a:solidFill>
                  <a:prstClr val="black"/>
                </a:solidFill>
                <a:latin typeface="Aptos" panose="02110004020202020204"/>
                <a:ea typeface="+mn-ea"/>
                <a:cs typeface="+mn-cs"/>
              </a:rPr>
              <a:t>Webstorm</a:t>
            </a:r>
            <a:r>
              <a:rPr lang="en-US" sz="1799" kern="1200" dirty="0">
                <a:solidFill>
                  <a:prstClr val="black"/>
                </a:solidFill>
                <a:latin typeface="Aptos" panose="02110004020202020204"/>
                <a:ea typeface="+mn-ea"/>
                <a:cs typeface="+mn-cs"/>
              </a:rPr>
              <a:t>) for OpenUI5.</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Integrate type checking for OpenUI5 applications using the TypeScript compiler.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capabilities are available not only for OpenUI5 apps written in TypeScript, but to some degree also </a:t>
            </a:r>
            <a:r>
              <a:rPr lang="en-US" sz="1799" b="1" kern="1200" dirty="0">
                <a:solidFill>
                  <a:prstClr val="black"/>
                </a:solidFill>
                <a:latin typeface="Aptos" panose="02110004020202020204"/>
                <a:ea typeface="+mn-ea"/>
                <a:cs typeface="+mn-cs"/>
                <a:hlinkClick r:id="rId4"/>
              </a:rPr>
              <a:t>in JavaScript</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NOTE:</a:t>
            </a:r>
            <a:r>
              <a:rPr lang="en-US" sz="1799" kern="1200" dirty="0">
                <a:solidFill>
                  <a:prstClr val="black"/>
                </a:solidFill>
                <a:latin typeface="Aptos" panose="02110004020202020204"/>
                <a:ea typeface="+mn-ea"/>
                <a:cs typeface="+mn-cs"/>
              </a:rPr>
              <a:t> "</a:t>
            </a:r>
            <a:r>
              <a:rPr lang="en-US" sz="1799" i="1" kern="1200" dirty="0">
                <a:solidFill>
                  <a:prstClr val="black"/>
                </a:solidFill>
                <a:latin typeface="Aptos" panose="02110004020202020204"/>
                <a:ea typeface="+mn-ea"/>
                <a:cs typeface="+mn-cs"/>
              </a:rPr>
              <a:t>based on ES modules</a:t>
            </a:r>
            <a:r>
              <a:rPr lang="en-US" sz="1799" kern="1200" dirty="0">
                <a:solidFill>
                  <a:prstClr val="black"/>
                </a:solidFill>
                <a:latin typeface="Aptos" panose="02110004020202020204"/>
                <a:ea typeface="+mn-ea"/>
                <a:cs typeface="+mn-cs"/>
              </a:rPr>
              <a:t>" means that the application code needs to load UI5 modules using the ES6 modules syntax and needs to be transformed to standard UI5 require/define syntax before it is executed. This is the recommended approach!</a:t>
            </a: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0A5EA6C8-606C-0E76-B733-C2A8153DF18E}"/>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04F10913-E4BE-BEA7-1A55-ABE6FAE44B10}"/>
              </a:ext>
            </a:extLst>
          </p:cNvPr>
          <p:cNvPicPr>
            <a:picLocks noChangeAspect="1"/>
          </p:cNvPicPr>
          <p:nvPr/>
        </p:nvPicPr>
        <p:blipFill>
          <a:blip r:embed="rId5"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E2B4D7D-2761-BB65-0D88-03269DC36E1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66D60F4-C508-BDA5-7E86-74926F981BC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543287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1000"/>
                                        <p:tgtEl>
                                          <p:spTgt spid="3">
                                            <p:txEl>
                                              <p:pRg st="7" end="7"/>
                                            </p:txEl>
                                          </p:spTgt>
                                        </p:tgtEl>
                                      </p:cBhvr>
                                    </p:animEffect>
                                    <p:anim calcmode="lin" valueType="num">
                                      <p:cBhvr>
                                        <p:cTn id="35"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2" end="12"/>
                                            </p:txEl>
                                          </p:spTgt>
                                        </p:tgtEl>
                                        <p:attrNameLst>
                                          <p:attrName>style.visibility</p:attrName>
                                        </p:attrNameLst>
                                      </p:cBhvr>
                                      <p:to>
                                        <p:strVal val="visible"/>
                                      </p:to>
                                    </p:set>
                                    <p:animEffect transition="in" filter="fade">
                                      <p:cBhvr>
                                        <p:cTn id="54" dur="1000"/>
                                        <p:tgtEl>
                                          <p:spTgt spid="3">
                                            <p:txEl>
                                              <p:pRg st="12" end="12"/>
                                            </p:txEl>
                                          </p:spTgt>
                                        </p:tgtEl>
                                      </p:cBhvr>
                                    </p:animEffect>
                                    <p:anim calcmode="lin" valueType="num">
                                      <p:cBhvr>
                                        <p:cTn id="55"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nodeType="click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1000"/>
                                        <p:tgtEl>
                                          <p:spTgt spid="3">
                                            <p:txEl>
                                              <p:pRg st="14" end="14"/>
                                            </p:txEl>
                                          </p:spTgt>
                                        </p:tgtEl>
                                      </p:cBhvr>
                                    </p:animEffect>
                                    <p:anim calcmode="lin" valueType="num">
                                      <p:cBhvr>
                                        <p:cTn id="6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3DEAC-5215-EAA1-8A20-C3F96F4BA84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15442564-B480-63C8-7356-9951A340C07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Configuration – </a:t>
            </a:r>
            <a:r>
              <a:rPr lang="en-US" sz="3199" dirty="0" err="1">
                <a:solidFill>
                  <a:prstClr val="black"/>
                </a:solidFill>
                <a:latin typeface="Cooper Black" panose="0208090404030B020404" pitchFamily="18" charset="0"/>
                <a:cs typeface="Times New Roman" panose="02020603050405020304" pitchFamily="18" charset="0"/>
              </a:rPr>
              <a:t>tsconfig.json</a:t>
            </a:r>
            <a:endParaRPr lang="en-US" sz="3199" dirty="0">
              <a:solidFill>
                <a:prstClr val="black"/>
              </a:solidFill>
              <a:latin typeface="Cooper Black" panose="0208090404030B020404" pitchFamily="18" charset="0"/>
              <a:cs typeface="Times New Roman" panose="02020603050405020304" pitchFamily="18" charset="0"/>
            </a:endParaRP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89DD576-62AB-4147-025C-C8CA963C788D}"/>
              </a:ext>
            </a:extLst>
          </p:cNvPr>
          <p:cNvSpPr txBox="1"/>
          <p:nvPr/>
        </p:nvSpPr>
        <p:spPr>
          <a:xfrm>
            <a:off x="142630" y="655071"/>
            <a:ext cx="11483853" cy="3723104"/>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file is the heart of every TypeScript project.</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It tells the TypeScript compiler how to process your code, which files to include, and which features to enable or disable.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A well-configured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ensures a smooth developer experience and reliable builds.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b="1" kern="1200" dirty="0" err="1">
                <a:solidFill>
                  <a:prstClr val="black"/>
                </a:solidFill>
                <a:latin typeface="Aptos" panose="02110004020202020204"/>
                <a:ea typeface="+mn-ea"/>
                <a:cs typeface="+mn-cs"/>
              </a:rPr>
              <a:t>compilerOptions</a:t>
            </a:r>
            <a:r>
              <a:rPr lang="en-US" sz="1799" kern="1200" dirty="0">
                <a:solidFill>
                  <a:prstClr val="black"/>
                </a:solidFill>
                <a:latin typeface="Aptos" panose="02110004020202020204"/>
                <a:ea typeface="+mn-ea"/>
                <a:cs typeface="+mn-cs"/>
              </a:rPr>
              <a:t>: Controls how TypeScript compiles your code (e.g., target, module, strictness).</a:t>
            </a:r>
          </a:p>
          <a:p>
            <a:pPr defTabSz="914126">
              <a:buClrTx/>
            </a:pPr>
            <a:r>
              <a:rPr lang="en-US" sz="1799" b="1" kern="1200" dirty="0">
                <a:solidFill>
                  <a:prstClr val="black"/>
                </a:solidFill>
                <a:latin typeface="Aptos" panose="02110004020202020204"/>
                <a:ea typeface="+mn-ea"/>
                <a:cs typeface="+mn-cs"/>
              </a:rPr>
              <a:t>include</a:t>
            </a:r>
            <a:r>
              <a:rPr lang="en-US" sz="1799" kern="1200" dirty="0">
                <a:solidFill>
                  <a:prstClr val="black"/>
                </a:solidFill>
                <a:latin typeface="Aptos" panose="02110004020202020204"/>
                <a:ea typeface="+mn-ea"/>
                <a:cs typeface="+mn-cs"/>
              </a:rPr>
              <a:t>: Files or folders to include in the compilation.</a:t>
            </a:r>
          </a:p>
          <a:p>
            <a:pPr defTabSz="914126">
              <a:buClrTx/>
            </a:pPr>
            <a:r>
              <a:rPr lang="en-US" sz="1799" b="1" kern="1200" dirty="0">
                <a:solidFill>
                  <a:prstClr val="black"/>
                </a:solidFill>
                <a:latin typeface="Aptos" panose="02110004020202020204"/>
                <a:ea typeface="+mn-ea"/>
                <a:cs typeface="+mn-cs"/>
              </a:rPr>
              <a:t>exclude</a:t>
            </a:r>
            <a:r>
              <a:rPr lang="en-US" sz="1799" kern="1200" dirty="0">
                <a:solidFill>
                  <a:prstClr val="black"/>
                </a:solidFill>
                <a:latin typeface="Aptos" panose="02110004020202020204"/>
                <a:ea typeface="+mn-ea"/>
                <a:cs typeface="+mn-cs"/>
              </a:rPr>
              <a:t>: Files or folders to exclude.</a:t>
            </a:r>
          </a:p>
          <a:p>
            <a:pPr defTabSz="914126">
              <a:buClrTx/>
            </a:pPr>
            <a:r>
              <a:rPr lang="en-US" sz="1799" b="1" kern="1200" dirty="0">
                <a:solidFill>
                  <a:prstClr val="black"/>
                </a:solidFill>
                <a:latin typeface="Aptos" panose="02110004020202020204"/>
                <a:ea typeface="+mn-ea"/>
                <a:cs typeface="+mn-cs"/>
              </a:rPr>
              <a:t>files</a:t>
            </a:r>
            <a:r>
              <a:rPr lang="en-US" sz="1799" kern="1200" dirty="0">
                <a:solidFill>
                  <a:prstClr val="black"/>
                </a:solidFill>
                <a:latin typeface="Aptos" panose="02110004020202020204"/>
                <a:ea typeface="+mn-ea"/>
                <a:cs typeface="+mn-cs"/>
              </a:rPr>
              <a:t>: Explicit list of files to include (rarely used with include).</a:t>
            </a:r>
          </a:p>
          <a:p>
            <a:pPr defTabSz="914126">
              <a:buClrTx/>
            </a:pPr>
            <a:r>
              <a:rPr lang="en-US" sz="1799" b="1" kern="1200" dirty="0">
                <a:solidFill>
                  <a:prstClr val="black"/>
                </a:solidFill>
                <a:latin typeface="Aptos" panose="02110004020202020204"/>
                <a:ea typeface="+mn-ea"/>
                <a:cs typeface="+mn-cs"/>
              </a:rPr>
              <a:t>extends</a:t>
            </a:r>
            <a:r>
              <a:rPr lang="en-US" sz="1799" kern="1200" dirty="0">
                <a:solidFill>
                  <a:prstClr val="black"/>
                </a:solidFill>
                <a:latin typeface="Aptos" panose="02110004020202020204"/>
                <a:ea typeface="+mn-ea"/>
                <a:cs typeface="+mn-cs"/>
              </a:rPr>
              <a:t>: Inherit options from another config file.</a:t>
            </a:r>
          </a:p>
          <a:p>
            <a:pPr defTabSz="914126">
              <a:buClrTx/>
            </a:pPr>
            <a:r>
              <a:rPr lang="en-US" sz="1799" b="1" kern="1200" dirty="0">
                <a:solidFill>
                  <a:prstClr val="black"/>
                </a:solidFill>
                <a:latin typeface="Aptos" panose="02110004020202020204"/>
                <a:ea typeface="+mn-ea"/>
                <a:cs typeface="+mn-cs"/>
              </a:rPr>
              <a:t>references</a:t>
            </a:r>
            <a:r>
              <a:rPr lang="en-US" sz="1799" kern="1200" dirty="0">
                <a:solidFill>
                  <a:prstClr val="black"/>
                </a:solidFill>
                <a:latin typeface="Aptos" panose="02110004020202020204"/>
                <a:ea typeface="+mn-ea"/>
                <a:cs typeface="+mn-cs"/>
              </a:rPr>
              <a:t>: Enable project references for </a:t>
            </a:r>
            <a:r>
              <a:rPr lang="en-US" sz="1799" kern="1200" dirty="0" err="1">
                <a:solidFill>
                  <a:prstClr val="black"/>
                </a:solidFill>
                <a:latin typeface="Aptos" panose="02110004020202020204"/>
                <a:ea typeface="+mn-ea"/>
                <a:cs typeface="+mn-cs"/>
              </a:rPr>
              <a:t>monorepos</a:t>
            </a:r>
            <a:r>
              <a:rPr lang="en-US" sz="1799" kern="1200" dirty="0">
                <a:solidFill>
                  <a:prstClr val="black"/>
                </a:solidFill>
                <a:latin typeface="Aptos" panose="02110004020202020204"/>
                <a:ea typeface="+mn-ea"/>
                <a:cs typeface="+mn-cs"/>
              </a:rPr>
              <a:t> or multi-package setups.</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command </a:t>
            </a:r>
            <a:r>
              <a:rPr lang="en-IN" sz="1799" b="1" kern="1200" dirty="0" err="1">
                <a:solidFill>
                  <a:prstClr val="black"/>
                </a:solidFill>
                <a:latin typeface="Aptos" panose="02110004020202020204"/>
                <a:ea typeface="+mn-ea"/>
                <a:cs typeface="+mn-cs"/>
              </a:rPr>
              <a:t>tsc</a:t>
            </a:r>
            <a:r>
              <a:rPr lang="en-IN" sz="1799" b="1" kern="1200" dirty="0">
                <a:solidFill>
                  <a:prstClr val="black"/>
                </a:solidFill>
                <a:latin typeface="Aptos" panose="02110004020202020204"/>
                <a:ea typeface="+mn-ea"/>
                <a:cs typeface="+mn-cs"/>
              </a:rPr>
              <a:t> --</a:t>
            </a:r>
            <a:r>
              <a:rPr lang="en-IN" sz="1799" b="1" kern="1200" dirty="0" err="1">
                <a:solidFill>
                  <a:prstClr val="black"/>
                </a:solidFill>
                <a:latin typeface="Aptos" panose="02110004020202020204"/>
                <a:ea typeface="+mn-ea"/>
                <a:cs typeface="+mn-cs"/>
              </a:rPr>
              <a:t>init</a:t>
            </a:r>
            <a:r>
              <a:rPr lang="en-IN" sz="1799" b="1" kern="1200" dirty="0">
                <a:solidFill>
                  <a:prstClr val="black"/>
                </a:solidFill>
                <a:latin typeface="Aptos" panose="02110004020202020204"/>
                <a:ea typeface="+mn-ea"/>
                <a:cs typeface="+mn-cs"/>
              </a:rPr>
              <a:t> </a:t>
            </a:r>
            <a:r>
              <a:rPr lang="en-IN" sz="1799" kern="1200" dirty="0">
                <a:solidFill>
                  <a:prstClr val="black"/>
                </a:solidFill>
                <a:latin typeface="Aptos" panose="02110004020202020204"/>
                <a:ea typeface="+mn-ea"/>
                <a:cs typeface="+mn-cs"/>
              </a:rPr>
              <a:t>generate the </a:t>
            </a:r>
            <a:r>
              <a:rPr lang="en-IN" sz="1799" kern="1200" dirty="0" err="1">
                <a:solidFill>
                  <a:prstClr val="black"/>
                </a:solidFill>
                <a:latin typeface="Aptos" panose="02110004020202020204"/>
                <a:ea typeface="+mn-ea"/>
                <a:cs typeface="+mn-cs"/>
              </a:rPr>
              <a:t>tsconfig.json</a:t>
            </a:r>
            <a:r>
              <a:rPr lang="en-IN" sz="1799" kern="1200" dirty="0">
                <a:solidFill>
                  <a:prstClr val="black"/>
                </a:solidFill>
                <a:latin typeface="Aptos" panose="02110004020202020204"/>
                <a:ea typeface="+mn-ea"/>
                <a:cs typeface="+mn-cs"/>
              </a:rPr>
              <a:t> file</a:t>
            </a: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BB5D258-38D7-CD40-A5A1-34E08462690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7412777-C56F-37F1-CDF7-70A5C0E48F4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6C66A549-56DD-AD4D-ECB5-F49CA746255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1510434-9946-EBAD-BC57-0574D5FEA366}"/>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234479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40C5-B7F0-2F8F-98AD-37195EF959C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C087EDC-D62A-866D-037C-620E771D78A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Why Use TypeScript with Node.js?</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D3E04FC-AAF3-AAC9-8860-390477212A26}"/>
              </a:ext>
            </a:extLst>
          </p:cNvPr>
          <p:cNvSpPr txBox="1"/>
          <p:nvPr/>
        </p:nvSpPr>
        <p:spPr>
          <a:xfrm>
            <a:off x="142630" y="655071"/>
            <a:ext cx="11483853" cy="4246188"/>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TypeScript brings static typing to Node.js development, providing better tooling, improved code quality, and enhanced developer experience.</a:t>
            </a:r>
          </a:p>
          <a:p>
            <a:pPr defTabSz="914126">
              <a:buClrTx/>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Key benefits include: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Type safety for JavaScript code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Better IDE support with autocompletion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Early error detection during development</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Improved code maintainability and documentation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Easier refactoring</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mkdir</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cd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-y</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install typescript @types/node --save-dev</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npx</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tsc</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endPar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C2205E2-4842-2F5B-2AB6-A7577ABDDD09}"/>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9D7F6E5-9726-86A4-131E-E9DDA9650FB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24B8872D-FD14-FC67-423B-B1282B22F602}"/>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E7A0ED9-BBA4-B0D4-0C6D-D55C245C4DC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700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1000"/>
                                        <p:tgtEl>
                                          <p:spTgt spid="3">
                                            <p:txEl>
                                              <p:pRg st="3" end="3"/>
                                            </p:txEl>
                                          </p:spTgt>
                                        </p:tgtEl>
                                      </p:cBhvr>
                                    </p:animEffect>
                                    <p:anim calcmode="lin" valueType="num">
                                      <p:cBhvr>
                                        <p:cTn id="20"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nodeType="click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r>
              <a:rPr lang="en-IN" sz="1800" b="1" dirty="0"/>
              <a:t>Decorators</a:t>
            </a:r>
            <a:r>
              <a:rPr lang="en-IN" sz="1800" dirty="0"/>
              <a:t> are special functions prefixed with </a:t>
            </a:r>
            <a:r>
              <a:rPr lang="en-IN" dirty="0"/>
              <a:t>@</a:t>
            </a:r>
            <a:r>
              <a:rPr lang="en-IN" sz="1800" dirty="0"/>
              <a:t> that attach to classes, methods, properties, or parameters and add behavior without modifying the original code — similar to Java Annotations or Python Decorators.</a:t>
            </a:r>
          </a:p>
          <a:p>
            <a:endParaRPr lang="en-IN" sz="1800" dirty="0"/>
          </a:p>
          <a:p>
            <a:r>
              <a:rPr lang="en-IN" sz="1800" b="1" dirty="0"/>
              <a:t>Metadata Reflection</a:t>
            </a:r>
            <a:r>
              <a:rPr lang="en-IN" sz="1800" dirty="0"/>
              <a:t> (</a:t>
            </a:r>
            <a:r>
              <a:rPr lang="en-IN" dirty="0"/>
              <a:t>reflect-metadata</a:t>
            </a:r>
            <a:r>
              <a:rPr lang="en-IN" sz="1800" dirty="0"/>
              <a:t>) lets decorators read/write hidden metadata about classes at runtime — used heavily by frameworks like </a:t>
            </a:r>
            <a:r>
              <a:rPr lang="en-IN" sz="1800" dirty="0" err="1"/>
              <a:t>NestJS</a:t>
            </a:r>
            <a:r>
              <a:rPr lang="en-IN" sz="1800" dirty="0"/>
              <a:t>, </a:t>
            </a:r>
            <a:r>
              <a:rPr lang="en-IN" sz="1800" dirty="0" err="1"/>
              <a:t>TypeORM</a:t>
            </a:r>
            <a:r>
              <a:rPr lang="en-IN" sz="1800" dirty="0"/>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677054"/>
          </a:xfrm>
          <a:prstGeom prst="rect">
            <a:avLst/>
          </a:prstGeom>
          <a:noFill/>
        </p:spPr>
        <p:txBody>
          <a:bodyPr wrap="square" lIns="121867" tIns="60933" rIns="121867" bIns="60933" rtlCol="0">
            <a:spAutoFit/>
          </a:bodyPr>
          <a:lstStyle/>
          <a:p>
            <a:pPr lvl="0" defTabSz="914126">
              <a:buClrTx/>
            </a:pPr>
            <a:r>
              <a:rPr lang="en-IN" sz="1800" dirty="0"/>
              <a:t>Utility types are </a:t>
            </a:r>
            <a:r>
              <a:rPr lang="en-IN" sz="1800" b="1" dirty="0"/>
              <a:t>built-in generic types</a:t>
            </a:r>
            <a:r>
              <a:rPr lang="en-IN" sz="1800" dirty="0"/>
              <a:t> that transform existing types into new ones — no need to rewrite interfaces from scratch.</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230069"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4021881" y="648511"/>
            <a:ext cx="3679619" cy="5907461"/>
          </a:xfrm>
          <a:prstGeom prst="rect">
            <a:avLst/>
          </a:prstGeom>
        </p:spPr>
      </p:pic>
      <p:pic>
        <p:nvPicPr>
          <p:cNvPr id="8" name="Picture 7">
            <a:extLst>
              <a:ext uri="{FF2B5EF4-FFF2-40B4-BE49-F238E27FC236}">
                <a16:creationId xmlns:a16="http://schemas.microsoft.com/office/drawing/2014/main" id="{8A10D05F-D1B9-7910-F2E4-6B496B597812}"/>
              </a:ext>
            </a:extLst>
          </p:cNvPr>
          <p:cNvPicPr>
            <a:picLocks noChangeAspect="1"/>
          </p:cNvPicPr>
          <p:nvPr/>
        </p:nvPicPr>
        <p:blipFill>
          <a:blip r:embed="rId5"/>
          <a:stretch>
            <a:fillRect/>
          </a:stretch>
        </p:blipFill>
        <p:spPr>
          <a:xfrm>
            <a:off x="7745568" y="655071"/>
            <a:ext cx="4213188" cy="3314870"/>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6541958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872</TotalTime>
  <Words>2221</Words>
  <Application>Microsoft Office PowerPoint</Application>
  <PresentationFormat>Custom</PresentationFormat>
  <Paragraphs>269</Paragraphs>
  <Slides>26</Slides>
  <Notes>5</Notes>
  <HiddenSlides>0</HiddenSlides>
  <MMClips>0</MMClips>
  <ScaleCrop>false</ScaleCrop>
  <HeadingPairs>
    <vt:vector size="6" baseType="variant">
      <vt:variant>
        <vt:lpstr>Fonts Used</vt:lpstr>
      </vt:variant>
      <vt:variant>
        <vt:i4>15</vt:i4>
      </vt:variant>
      <vt:variant>
        <vt:lpstr>Theme</vt:lpstr>
      </vt:variant>
      <vt:variant>
        <vt:i4>4</vt:i4>
      </vt:variant>
      <vt:variant>
        <vt:lpstr>Slide Titles</vt:lpstr>
      </vt:variant>
      <vt:variant>
        <vt:i4>26</vt:i4>
      </vt:variant>
    </vt:vector>
  </HeadingPairs>
  <TitlesOfParts>
    <vt:vector size="45" baseType="lpstr">
      <vt:lpstr>Arial</vt:lpstr>
      <vt:lpstr>Aptos</vt:lpstr>
      <vt:lpstr>Consolas</vt:lpstr>
      <vt:lpstr>Aptos Display</vt:lpstr>
      <vt:lpstr>Gill Sans</vt:lpstr>
      <vt:lpstr>Arial Black</vt:lpstr>
      <vt:lpstr>Cambria</vt:lpstr>
      <vt:lpstr>Corben</vt:lpstr>
      <vt:lpstr>Segoe UI Light</vt:lpstr>
      <vt:lpstr>Segoe UI</vt:lpstr>
      <vt:lpstr>Open Sans</vt:lpstr>
      <vt:lpstr>Quattrocento Sans</vt:lpstr>
      <vt:lpstr>Cooper Black</vt:lpstr>
      <vt:lpstr>Calibri</vt:lpstr>
      <vt:lpstr>Cascadia Code</vt:lpstr>
      <vt:lpstr>Office Theme</vt:lpstr>
      <vt:lpstr>2_Office Theme</vt:lpstr>
      <vt:lpstr>3_Office Theme</vt:lpstr>
      <vt:lpstr>1_Office Theme</vt:lpstr>
      <vt:lpstr>SAP BTP CAPM “TypeScript” for Developers</vt:lpstr>
      <vt:lpstr>PowerPoint Presentation</vt:lpstr>
      <vt:lpstr>Agenda </vt:lpstr>
      <vt:lpstr>PowerPoint Presentation</vt:lpstr>
      <vt:lpstr>Who is this course for</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51</cp:revision>
  <dcterms:created xsi:type="dcterms:W3CDTF">2023-10-03T21:33:12Z</dcterms:created>
  <dcterms:modified xsi:type="dcterms:W3CDTF">2026-06-12T09:08:13Z</dcterms:modified>
</cp:coreProperties>
</file>