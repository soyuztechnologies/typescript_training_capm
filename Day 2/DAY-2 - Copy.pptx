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41" r:id="rId1"/>
    <p:sldMasterId id="2147483764" r:id="rId2"/>
  </p:sldMasterIdLst>
  <p:notesMasterIdLst>
    <p:notesMasterId r:id="rId38"/>
  </p:notesMasterIdLst>
  <p:sldIdLst>
    <p:sldId id="443" r:id="rId3"/>
    <p:sldId id="257" r:id="rId4"/>
    <p:sldId id="258" r:id="rId5"/>
    <p:sldId id="444" r:id="rId6"/>
    <p:sldId id="260" r:id="rId7"/>
    <p:sldId id="262" r:id="rId8"/>
    <p:sldId id="261" r:id="rId9"/>
    <p:sldId id="263" r:id="rId10"/>
    <p:sldId id="264" r:id="rId11"/>
    <p:sldId id="265" r:id="rId12"/>
    <p:sldId id="445" r:id="rId13"/>
    <p:sldId id="446" r:id="rId14"/>
    <p:sldId id="447" r:id="rId15"/>
    <p:sldId id="448" r:id="rId16"/>
    <p:sldId id="449" r:id="rId17"/>
    <p:sldId id="450" r:id="rId18"/>
    <p:sldId id="272" r:id="rId19"/>
    <p:sldId id="273" r:id="rId20"/>
    <p:sldId id="433" r:id="rId21"/>
    <p:sldId id="434" r:id="rId22"/>
    <p:sldId id="435" r:id="rId23"/>
    <p:sldId id="436" r:id="rId24"/>
    <p:sldId id="437" r:id="rId25"/>
    <p:sldId id="438" r:id="rId26"/>
    <p:sldId id="439" r:id="rId27"/>
    <p:sldId id="440" r:id="rId28"/>
    <p:sldId id="441" r:id="rId29"/>
    <p:sldId id="442" r:id="rId30"/>
    <p:sldId id="266" r:id="rId31"/>
    <p:sldId id="267" r:id="rId32"/>
    <p:sldId id="268" r:id="rId33"/>
    <p:sldId id="269" r:id="rId34"/>
    <p:sldId id="270" r:id="rId35"/>
    <p:sldId id="271" r:id="rId36"/>
    <p:sldId id="429" r:id="rId37"/>
  </p:sldIdLst>
  <p:sldSz cx="12188825" cy="6858000"/>
  <p:notesSz cx="6858000" cy="9144000"/>
  <p:embeddedFontLst>
    <p:embeddedFont>
      <p:font typeface="Amasis MT Pro" panose="02040504050005020304" pitchFamily="18" charset="0"/>
      <p:regular r:id="rId39"/>
      <p:bold r:id="rId40"/>
      <p:italic r:id="rId41"/>
      <p:boldItalic r:id="rId42"/>
    </p:embeddedFont>
    <p:embeddedFont>
      <p:font typeface="Arial Black" panose="020B0A04020102020204" pitchFamily="34" charset="0"/>
      <p:regular r:id="rId43"/>
      <p:bold r:id="rId44"/>
    </p:embeddedFont>
    <p:embeddedFont>
      <p:font typeface="Consolas" panose="020B0609020204030204" pitchFamily="49" charset="0"/>
      <p:regular r:id="rId45"/>
      <p:bold r:id="rId46"/>
      <p:italic r:id="rId47"/>
      <p:boldItalic r:id="rId48"/>
    </p:embeddedFont>
    <p:embeddedFont>
      <p:font typeface="Cooper Black" panose="0208090404030B020404" pitchFamily="18" charset="0"/>
      <p:regular r:id="rId49"/>
    </p:embeddedFont>
    <p:embeddedFont>
      <p:font typeface="Segoe UI" panose="020B0502040204020203" pitchFamily="34"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88" y="80"/>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7" Type="http://schemas.openxmlformats.org/officeDocument/2006/relationships/slide" Target="slides/slide5.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5" Type="http://schemas.openxmlformats.org/officeDocument/2006/relationships/slide" Target="slides/slide3.xml"/><Relationship Id="rId203" Type="http://customschemas.google.com/relationships/presentationmetadata" Target="metadata"/><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5.fntdata"/><Relationship Id="rId48" Type="http://schemas.openxmlformats.org/officeDocument/2006/relationships/font" Target="fonts/font10.fntdata"/><Relationship Id="rId20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font" Target="fonts/font13.fntdata"/><Relationship Id="rId206"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8.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204" Type="http://schemas.openxmlformats.org/officeDocument/2006/relationships/presProps" Target="presProps.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11.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6.fntdata"/><Relationship Id="rId52"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86378C3B-E184-A1ED-97D3-9127CD494699}"/>
              </a:ext>
            </a:extLst>
          </p:cNvPr>
          <p:cNvSpPr>
            <a:spLocks noGrp="1"/>
          </p:cNvSpPr>
          <p:nvPr>
            <p:ph type="pic" sz="quarter" idx="10"/>
          </p:nvPr>
        </p:nvSpPr>
        <p:spPr>
          <a:xfrm>
            <a:off x="6306710" y="1325486"/>
            <a:ext cx="5002372" cy="4247185"/>
          </a:xfrm>
          <a:custGeom>
            <a:avLst/>
            <a:gdLst>
              <a:gd name="connsiteX0" fmla="*/ 2017799 w 5003675"/>
              <a:gd name="connsiteY0" fmla="*/ 3 h 4247185"/>
              <a:gd name="connsiteX1" fmla="*/ 2666935 w 5003675"/>
              <a:gd name="connsiteY1" fmla="*/ 270746 h 4247185"/>
              <a:gd name="connsiteX2" fmla="*/ 5003675 w 5003675"/>
              <a:gd name="connsiteY2" fmla="*/ 2618943 h 4247185"/>
              <a:gd name="connsiteX3" fmla="*/ 3636329 w 5003675"/>
              <a:gd name="connsiteY3" fmla="*/ 3979618 h 4247185"/>
              <a:gd name="connsiteX4" fmla="*/ 2336740 w 5003675"/>
              <a:gd name="connsiteY4" fmla="*/ 3976439 h 4247185"/>
              <a:gd name="connsiteX5" fmla="*/ 0 w 5003675"/>
              <a:gd name="connsiteY5" fmla="*/ 1628243 h 4247185"/>
              <a:gd name="connsiteX6" fmla="*/ 1367347 w 5003675"/>
              <a:gd name="connsiteY6" fmla="*/ 267568 h 4247185"/>
              <a:gd name="connsiteX7" fmla="*/ 2017799 w 5003675"/>
              <a:gd name="connsiteY7" fmla="*/ 3 h 4247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3675" h="4247185">
                <a:moveTo>
                  <a:pt x="2017799" y="3"/>
                </a:moveTo>
                <a:cubicBezTo>
                  <a:pt x="2252978" y="578"/>
                  <a:pt x="2487938" y="90871"/>
                  <a:pt x="2666935" y="270746"/>
                </a:cubicBezTo>
                <a:lnTo>
                  <a:pt x="5003675" y="2618943"/>
                </a:lnTo>
                <a:lnTo>
                  <a:pt x="3636329" y="3979618"/>
                </a:lnTo>
                <a:cubicBezTo>
                  <a:pt x="3276579" y="4337612"/>
                  <a:pt x="2694734" y="4336189"/>
                  <a:pt x="2336740" y="3976439"/>
                </a:cubicBezTo>
                <a:lnTo>
                  <a:pt x="0" y="1628243"/>
                </a:lnTo>
                <a:lnTo>
                  <a:pt x="1367347" y="267568"/>
                </a:lnTo>
                <a:cubicBezTo>
                  <a:pt x="1547222" y="88571"/>
                  <a:pt x="1782620" y="-572"/>
                  <a:pt x="2017799" y="3"/>
                </a:cubicBezTo>
                <a:close/>
              </a:path>
            </a:pathLst>
          </a:custGeom>
        </p:spPr>
        <p:txBody>
          <a:bodyPr wrap="square">
            <a:noAutofit/>
          </a:bodyPr>
          <a:lstStyle/>
          <a:p>
            <a:endParaRPr lang="en-PK"/>
          </a:p>
        </p:txBody>
      </p:sp>
    </p:spTree>
    <p:extLst>
      <p:ext uri="{BB962C8B-B14F-4D97-AF65-F5344CB8AC3E}">
        <p14:creationId xmlns:p14="http://schemas.microsoft.com/office/powerpoint/2010/main" val="14542382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CE35D361-ABEE-D79C-865F-AA6BA02832C6}"/>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41488193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6C5DDD57-31F3-A936-88B6-B56E3475F2DD}"/>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11" name="Picture Placeholder 10">
            <a:extLst>
              <a:ext uri="{FF2B5EF4-FFF2-40B4-BE49-F238E27FC236}">
                <a16:creationId xmlns:a16="http://schemas.microsoft.com/office/drawing/2014/main" id="{45E843CF-E274-2A06-E086-3AB252A4C96D}"/>
              </a:ext>
            </a:extLst>
          </p:cNvPr>
          <p:cNvSpPr>
            <a:spLocks noGrp="1"/>
          </p:cNvSpPr>
          <p:nvPr>
            <p:ph type="pic" sz="quarter" idx="11"/>
          </p:nvPr>
        </p:nvSpPr>
        <p:spPr>
          <a:xfrm>
            <a:off x="7017008" y="680012"/>
            <a:ext cx="4191362" cy="5497976"/>
          </a:xfrm>
          <a:custGeom>
            <a:avLst/>
            <a:gdLst>
              <a:gd name="connsiteX0" fmla="*/ 2096227 w 4192454"/>
              <a:gd name="connsiteY0" fmla="*/ 0 h 5497976"/>
              <a:gd name="connsiteX1" fmla="*/ 4192454 w 4192454"/>
              <a:gd name="connsiteY1" fmla="*/ 0 h 5497976"/>
              <a:gd name="connsiteX2" fmla="*/ 4192454 w 4192454"/>
              <a:gd name="connsiteY2" fmla="*/ 3401749 h 5497976"/>
              <a:gd name="connsiteX3" fmla="*/ 2096227 w 4192454"/>
              <a:gd name="connsiteY3" fmla="*/ 5497976 h 5497976"/>
              <a:gd name="connsiteX4" fmla="*/ 0 w 4192454"/>
              <a:gd name="connsiteY4" fmla="*/ 5497976 h 5497976"/>
              <a:gd name="connsiteX5" fmla="*/ 0 w 4192454"/>
              <a:gd name="connsiteY5" fmla="*/ 2096227 h 5497976"/>
              <a:gd name="connsiteX6" fmla="*/ 2096227 w 4192454"/>
              <a:gd name="connsiteY6" fmla="*/ 0 h 5497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2454" h="5497976">
                <a:moveTo>
                  <a:pt x="2096227" y="0"/>
                </a:moveTo>
                <a:lnTo>
                  <a:pt x="4192454" y="0"/>
                </a:lnTo>
                <a:lnTo>
                  <a:pt x="4192454" y="3401749"/>
                </a:lnTo>
                <a:cubicBezTo>
                  <a:pt x="4192454" y="4559463"/>
                  <a:pt x="3253941" y="5497976"/>
                  <a:pt x="2096227" y="5497976"/>
                </a:cubicBezTo>
                <a:lnTo>
                  <a:pt x="0" y="5497976"/>
                </a:lnTo>
                <a:lnTo>
                  <a:pt x="0" y="2096227"/>
                </a:lnTo>
                <a:cubicBezTo>
                  <a:pt x="0" y="938513"/>
                  <a:pt x="938513" y="0"/>
                  <a:pt x="2096227" y="0"/>
                </a:cubicBezTo>
                <a:close/>
              </a:path>
            </a:pathLst>
          </a:custGeom>
        </p:spPr>
        <p:txBody>
          <a:bodyPr wrap="square">
            <a:noAutofit/>
          </a:bodyPr>
          <a:lstStyle/>
          <a:p>
            <a:endParaRPr lang="en-PK"/>
          </a:p>
        </p:txBody>
      </p:sp>
    </p:spTree>
    <p:extLst>
      <p:ext uri="{BB962C8B-B14F-4D97-AF65-F5344CB8AC3E}">
        <p14:creationId xmlns:p14="http://schemas.microsoft.com/office/powerpoint/2010/main" val="8053641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7EF7B7BF-954B-E717-9848-38C7072F5E5F}"/>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12" name="Picture Placeholder 11">
            <a:extLst>
              <a:ext uri="{FF2B5EF4-FFF2-40B4-BE49-F238E27FC236}">
                <a16:creationId xmlns:a16="http://schemas.microsoft.com/office/drawing/2014/main" id="{2693CE21-91E7-2D69-9690-1A156A79573C}"/>
              </a:ext>
            </a:extLst>
          </p:cNvPr>
          <p:cNvSpPr>
            <a:spLocks noGrp="1"/>
          </p:cNvSpPr>
          <p:nvPr>
            <p:ph type="pic" sz="quarter" idx="11"/>
          </p:nvPr>
        </p:nvSpPr>
        <p:spPr>
          <a:xfrm>
            <a:off x="839569" y="3871154"/>
            <a:ext cx="4992554" cy="2676124"/>
          </a:xfrm>
          <a:custGeom>
            <a:avLst/>
            <a:gdLst>
              <a:gd name="connsiteX0" fmla="*/ 446030 w 4993854"/>
              <a:gd name="connsiteY0" fmla="*/ 0 h 2676124"/>
              <a:gd name="connsiteX1" fmla="*/ 4993854 w 4993854"/>
              <a:gd name="connsiteY1" fmla="*/ 0 h 2676124"/>
              <a:gd name="connsiteX2" fmla="*/ 4993854 w 4993854"/>
              <a:gd name="connsiteY2" fmla="*/ 2230094 h 2676124"/>
              <a:gd name="connsiteX3" fmla="*/ 4547824 w 4993854"/>
              <a:gd name="connsiteY3" fmla="*/ 2676124 h 2676124"/>
              <a:gd name="connsiteX4" fmla="*/ 0 w 4993854"/>
              <a:gd name="connsiteY4" fmla="*/ 2676124 h 2676124"/>
              <a:gd name="connsiteX5" fmla="*/ 0 w 4993854"/>
              <a:gd name="connsiteY5" fmla="*/ 446030 h 2676124"/>
              <a:gd name="connsiteX6" fmla="*/ 446030 w 4993854"/>
              <a:gd name="connsiteY6" fmla="*/ 0 h 2676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3854" h="2676124">
                <a:moveTo>
                  <a:pt x="446030" y="0"/>
                </a:moveTo>
                <a:lnTo>
                  <a:pt x="4993854" y="0"/>
                </a:lnTo>
                <a:lnTo>
                  <a:pt x="4993854" y="2230094"/>
                </a:lnTo>
                <a:cubicBezTo>
                  <a:pt x="4993854" y="2476430"/>
                  <a:pt x="4794160" y="2676124"/>
                  <a:pt x="4547824" y="2676124"/>
                </a:cubicBezTo>
                <a:lnTo>
                  <a:pt x="0" y="2676124"/>
                </a:lnTo>
                <a:lnTo>
                  <a:pt x="0" y="446030"/>
                </a:lnTo>
                <a:cubicBezTo>
                  <a:pt x="0" y="199694"/>
                  <a:pt x="199694" y="0"/>
                  <a:pt x="446030" y="0"/>
                </a:cubicBezTo>
                <a:close/>
              </a:path>
            </a:pathLst>
          </a:custGeom>
        </p:spPr>
        <p:txBody>
          <a:bodyPr wrap="square">
            <a:noAutofit/>
          </a:bodyPr>
          <a:lstStyle/>
          <a:p>
            <a:endParaRPr lang="en-PK"/>
          </a:p>
        </p:txBody>
      </p:sp>
    </p:spTree>
    <p:extLst>
      <p:ext uri="{BB962C8B-B14F-4D97-AF65-F5344CB8AC3E}">
        <p14:creationId xmlns:p14="http://schemas.microsoft.com/office/powerpoint/2010/main" val="27898166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Text Placeholder 7">
            <a:extLst>
              <a:ext uri="{FF2B5EF4-FFF2-40B4-BE49-F238E27FC236}">
                <a16:creationId xmlns:a16="http://schemas.microsoft.com/office/drawing/2014/main" id="{43F07389-8932-42FB-F708-932E2263F576}"/>
              </a:ext>
            </a:extLst>
          </p:cNvPr>
          <p:cNvSpPr>
            <a:spLocks noGrp="1"/>
          </p:cNvSpPr>
          <p:nvPr>
            <p:ph type="body" sz="quarter" idx="10"/>
          </p:nvPr>
        </p:nvSpPr>
        <p:spPr>
          <a:xfrm>
            <a:off x="839570" y="2307014"/>
            <a:ext cx="3407233" cy="1121986"/>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5885234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82ADEE87-6030-E1DA-86A9-0872B31F167E}"/>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967952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ext Placeholder 7">
            <a:extLst>
              <a:ext uri="{FF2B5EF4-FFF2-40B4-BE49-F238E27FC236}">
                <a16:creationId xmlns:a16="http://schemas.microsoft.com/office/drawing/2014/main" id="{5EA10585-713E-0C3F-37FB-777EB8FFEF81}"/>
              </a:ext>
            </a:extLst>
          </p:cNvPr>
          <p:cNvSpPr>
            <a:spLocks noGrp="1"/>
          </p:cNvSpPr>
          <p:nvPr>
            <p:ph type="body" sz="quarter" idx="10"/>
          </p:nvPr>
        </p:nvSpPr>
        <p:spPr>
          <a:xfrm>
            <a:off x="839569" y="971551"/>
            <a:ext cx="5640565"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25395936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6C680AFC-5A5D-E566-4767-30630FF921DC}"/>
              </a:ext>
            </a:extLst>
          </p:cNvPr>
          <p:cNvSpPr>
            <a:spLocks noGrp="1"/>
          </p:cNvSpPr>
          <p:nvPr>
            <p:ph type="body" sz="quarter" idx="10"/>
          </p:nvPr>
        </p:nvSpPr>
        <p:spPr>
          <a:xfrm>
            <a:off x="839569" y="971551"/>
            <a:ext cx="7225884"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35477575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52D4ED0-A469-1D30-D0B9-075007FDB1D1}"/>
              </a:ext>
            </a:extLst>
          </p:cNvPr>
          <p:cNvSpPr>
            <a:spLocks noGrp="1"/>
          </p:cNvSpPr>
          <p:nvPr>
            <p:ph type="body" sz="quarter" idx="10"/>
          </p:nvPr>
        </p:nvSpPr>
        <p:spPr>
          <a:xfrm>
            <a:off x="839569" y="1443990"/>
            <a:ext cx="3684954" cy="1077218"/>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19752458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A9D3FF98-2D57-B6D5-34A1-E29FC9D40A22}"/>
              </a:ext>
            </a:extLst>
          </p:cNvPr>
          <p:cNvSpPr>
            <a:spLocks noGrp="1"/>
          </p:cNvSpPr>
          <p:nvPr>
            <p:ph type="body" sz="quarter" idx="10"/>
          </p:nvPr>
        </p:nvSpPr>
        <p:spPr>
          <a:xfrm>
            <a:off x="839569" y="971551"/>
            <a:ext cx="5605271"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28880438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C53A74ED-76FC-8CC0-D7E9-B3BEDEC06882}"/>
              </a:ext>
            </a:extLst>
          </p:cNvPr>
          <p:cNvSpPr>
            <a:spLocks noGrp="1"/>
          </p:cNvSpPr>
          <p:nvPr>
            <p:ph type="body" sz="quarter" idx="10"/>
          </p:nvPr>
        </p:nvSpPr>
        <p:spPr>
          <a:xfrm>
            <a:off x="839569" y="971551"/>
            <a:ext cx="8255762"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15433549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C9C5D43-2BAE-AA68-28A0-B95983F1434F}"/>
              </a:ext>
            </a:extLst>
          </p:cNvPr>
          <p:cNvSpPr>
            <a:spLocks noGrp="1"/>
          </p:cNvSpPr>
          <p:nvPr>
            <p:ph type="pic" sz="quarter" idx="11"/>
          </p:nvPr>
        </p:nvSpPr>
        <p:spPr>
          <a:xfrm>
            <a:off x="1378858" y="2778194"/>
            <a:ext cx="1406706" cy="1452458"/>
          </a:xfrm>
          <a:custGeom>
            <a:avLst/>
            <a:gdLst>
              <a:gd name="connsiteX0" fmla="*/ 179411 w 1076445"/>
              <a:gd name="connsiteY0" fmla="*/ 0 h 1111169"/>
              <a:gd name="connsiteX1" fmla="*/ 1076445 w 1076445"/>
              <a:gd name="connsiteY1" fmla="*/ 0 h 1111169"/>
              <a:gd name="connsiteX2" fmla="*/ 1076445 w 1076445"/>
              <a:gd name="connsiteY2" fmla="*/ 931758 h 1111169"/>
              <a:gd name="connsiteX3" fmla="*/ 897034 w 1076445"/>
              <a:gd name="connsiteY3" fmla="*/ 1111169 h 1111169"/>
              <a:gd name="connsiteX4" fmla="*/ 0 w 1076445"/>
              <a:gd name="connsiteY4" fmla="*/ 1111169 h 1111169"/>
              <a:gd name="connsiteX5" fmla="*/ 0 w 1076445"/>
              <a:gd name="connsiteY5" fmla="*/ 179411 h 1111169"/>
              <a:gd name="connsiteX6" fmla="*/ 179411 w 1076445"/>
              <a:gd name="connsiteY6" fmla="*/ 0 h 1111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6445" h="1111169">
                <a:moveTo>
                  <a:pt x="179411" y="0"/>
                </a:moveTo>
                <a:lnTo>
                  <a:pt x="1076445" y="0"/>
                </a:lnTo>
                <a:lnTo>
                  <a:pt x="1076445" y="931758"/>
                </a:lnTo>
                <a:cubicBezTo>
                  <a:pt x="1076445" y="1030844"/>
                  <a:pt x="996120" y="1111169"/>
                  <a:pt x="897034" y="1111169"/>
                </a:cubicBezTo>
                <a:lnTo>
                  <a:pt x="0" y="1111169"/>
                </a:lnTo>
                <a:lnTo>
                  <a:pt x="0" y="179411"/>
                </a:lnTo>
                <a:cubicBezTo>
                  <a:pt x="0" y="80325"/>
                  <a:pt x="80325" y="0"/>
                  <a:pt x="179411" y="0"/>
                </a:cubicBezTo>
                <a:close/>
              </a:path>
            </a:pathLst>
          </a:custGeom>
          <a:ln w="34925">
            <a:solidFill>
              <a:schemeClr val="bg1"/>
            </a:solidFill>
          </a:ln>
          <a:effectLst/>
        </p:spPr>
        <p:txBody>
          <a:bodyPr wrap="square">
            <a:noAutofit/>
          </a:bodyPr>
          <a:lstStyle/>
          <a:p>
            <a:endParaRPr lang="en-PK"/>
          </a:p>
        </p:txBody>
      </p:sp>
      <p:sp>
        <p:nvSpPr>
          <p:cNvPr id="7" name="Picture Placeholder 8">
            <a:extLst>
              <a:ext uri="{FF2B5EF4-FFF2-40B4-BE49-F238E27FC236}">
                <a16:creationId xmlns:a16="http://schemas.microsoft.com/office/drawing/2014/main" id="{5C439F7A-5536-B6C0-F563-E47C03FC5E9F}"/>
              </a:ext>
            </a:extLst>
          </p:cNvPr>
          <p:cNvSpPr>
            <a:spLocks noGrp="1"/>
          </p:cNvSpPr>
          <p:nvPr>
            <p:ph type="pic" sz="quarter" idx="12"/>
          </p:nvPr>
        </p:nvSpPr>
        <p:spPr>
          <a:xfrm>
            <a:off x="4093637" y="2778194"/>
            <a:ext cx="1406706" cy="1452458"/>
          </a:xfrm>
          <a:custGeom>
            <a:avLst/>
            <a:gdLst>
              <a:gd name="connsiteX0" fmla="*/ 179411 w 1076445"/>
              <a:gd name="connsiteY0" fmla="*/ 0 h 1111169"/>
              <a:gd name="connsiteX1" fmla="*/ 1076445 w 1076445"/>
              <a:gd name="connsiteY1" fmla="*/ 0 h 1111169"/>
              <a:gd name="connsiteX2" fmla="*/ 1076445 w 1076445"/>
              <a:gd name="connsiteY2" fmla="*/ 931758 h 1111169"/>
              <a:gd name="connsiteX3" fmla="*/ 897034 w 1076445"/>
              <a:gd name="connsiteY3" fmla="*/ 1111169 h 1111169"/>
              <a:gd name="connsiteX4" fmla="*/ 0 w 1076445"/>
              <a:gd name="connsiteY4" fmla="*/ 1111169 h 1111169"/>
              <a:gd name="connsiteX5" fmla="*/ 0 w 1076445"/>
              <a:gd name="connsiteY5" fmla="*/ 179411 h 1111169"/>
              <a:gd name="connsiteX6" fmla="*/ 179411 w 1076445"/>
              <a:gd name="connsiteY6" fmla="*/ 0 h 1111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6445" h="1111169">
                <a:moveTo>
                  <a:pt x="179411" y="0"/>
                </a:moveTo>
                <a:lnTo>
                  <a:pt x="1076445" y="0"/>
                </a:lnTo>
                <a:lnTo>
                  <a:pt x="1076445" y="931758"/>
                </a:lnTo>
                <a:cubicBezTo>
                  <a:pt x="1076445" y="1030844"/>
                  <a:pt x="996120" y="1111169"/>
                  <a:pt x="897034" y="1111169"/>
                </a:cubicBezTo>
                <a:lnTo>
                  <a:pt x="0" y="1111169"/>
                </a:lnTo>
                <a:lnTo>
                  <a:pt x="0" y="179411"/>
                </a:lnTo>
                <a:cubicBezTo>
                  <a:pt x="0" y="80325"/>
                  <a:pt x="80325" y="0"/>
                  <a:pt x="179411" y="0"/>
                </a:cubicBezTo>
                <a:close/>
              </a:path>
            </a:pathLst>
          </a:custGeom>
          <a:ln w="34925">
            <a:solidFill>
              <a:schemeClr val="bg1"/>
            </a:solidFill>
          </a:ln>
          <a:effectLst/>
        </p:spPr>
        <p:txBody>
          <a:bodyPr wrap="square">
            <a:noAutofit/>
          </a:bodyPr>
          <a:lstStyle/>
          <a:p>
            <a:endParaRPr lang="en-PK"/>
          </a:p>
        </p:txBody>
      </p:sp>
      <p:sp>
        <p:nvSpPr>
          <p:cNvPr id="8" name="Picture Placeholder 8">
            <a:extLst>
              <a:ext uri="{FF2B5EF4-FFF2-40B4-BE49-F238E27FC236}">
                <a16:creationId xmlns:a16="http://schemas.microsoft.com/office/drawing/2014/main" id="{CA5EEFA0-64F6-654A-EE27-E4ED44358947}"/>
              </a:ext>
            </a:extLst>
          </p:cNvPr>
          <p:cNvSpPr>
            <a:spLocks noGrp="1"/>
          </p:cNvSpPr>
          <p:nvPr>
            <p:ph type="pic" sz="quarter" idx="13"/>
          </p:nvPr>
        </p:nvSpPr>
        <p:spPr>
          <a:xfrm>
            <a:off x="6808424" y="2778194"/>
            <a:ext cx="1406706" cy="1452458"/>
          </a:xfrm>
          <a:custGeom>
            <a:avLst/>
            <a:gdLst>
              <a:gd name="connsiteX0" fmla="*/ 179411 w 1076445"/>
              <a:gd name="connsiteY0" fmla="*/ 0 h 1111169"/>
              <a:gd name="connsiteX1" fmla="*/ 1076445 w 1076445"/>
              <a:gd name="connsiteY1" fmla="*/ 0 h 1111169"/>
              <a:gd name="connsiteX2" fmla="*/ 1076445 w 1076445"/>
              <a:gd name="connsiteY2" fmla="*/ 931758 h 1111169"/>
              <a:gd name="connsiteX3" fmla="*/ 897034 w 1076445"/>
              <a:gd name="connsiteY3" fmla="*/ 1111169 h 1111169"/>
              <a:gd name="connsiteX4" fmla="*/ 0 w 1076445"/>
              <a:gd name="connsiteY4" fmla="*/ 1111169 h 1111169"/>
              <a:gd name="connsiteX5" fmla="*/ 0 w 1076445"/>
              <a:gd name="connsiteY5" fmla="*/ 179411 h 1111169"/>
              <a:gd name="connsiteX6" fmla="*/ 179411 w 1076445"/>
              <a:gd name="connsiteY6" fmla="*/ 0 h 1111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6445" h="1111169">
                <a:moveTo>
                  <a:pt x="179411" y="0"/>
                </a:moveTo>
                <a:lnTo>
                  <a:pt x="1076445" y="0"/>
                </a:lnTo>
                <a:lnTo>
                  <a:pt x="1076445" y="931758"/>
                </a:lnTo>
                <a:cubicBezTo>
                  <a:pt x="1076445" y="1030844"/>
                  <a:pt x="996120" y="1111169"/>
                  <a:pt x="897034" y="1111169"/>
                </a:cubicBezTo>
                <a:lnTo>
                  <a:pt x="0" y="1111169"/>
                </a:lnTo>
                <a:lnTo>
                  <a:pt x="0" y="179411"/>
                </a:lnTo>
                <a:cubicBezTo>
                  <a:pt x="0" y="80325"/>
                  <a:pt x="80325" y="0"/>
                  <a:pt x="179411" y="0"/>
                </a:cubicBezTo>
                <a:close/>
              </a:path>
            </a:pathLst>
          </a:custGeom>
          <a:ln w="34925">
            <a:solidFill>
              <a:schemeClr val="bg1"/>
            </a:solidFill>
          </a:ln>
          <a:effectLst/>
        </p:spPr>
        <p:txBody>
          <a:bodyPr wrap="square">
            <a:noAutofit/>
          </a:bodyPr>
          <a:lstStyle/>
          <a:p>
            <a:endParaRPr lang="en-PK"/>
          </a:p>
        </p:txBody>
      </p:sp>
      <p:sp>
        <p:nvSpPr>
          <p:cNvPr id="10" name="Picture Placeholder 8">
            <a:extLst>
              <a:ext uri="{FF2B5EF4-FFF2-40B4-BE49-F238E27FC236}">
                <a16:creationId xmlns:a16="http://schemas.microsoft.com/office/drawing/2014/main" id="{B336F180-1189-E865-EC9D-3A737DFE33B9}"/>
              </a:ext>
            </a:extLst>
          </p:cNvPr>
          <p:cNvSpPr>
            <a:spLocks noGrp="1"/>
          </p:cNvSpPr>
          <p:nvPr>
            <p:ph type="pic" sz="quarter" idx="14"/>
          </p:nvPr>
        </p:nvSpPr>
        <p:spPr>
          <a:xfrm>
            <a:off x="9523208" y="2778194"/>
            <a:ext cx="1406706" cy="1452458"/>
          </a:xfrm>
          <a:custGeom>
            <a:avLst/>
            <a:gdLst>
              <a:gd name="connsiteX0" fmla="*/ 179411 w 1076445"/>
              <a:gd name="connsiteY0" fmla="*/ 0 h 1111169"/>
              <a:gd name="connsiteX1" fmla="*/ 1076445 w 1076445"/>
              <a:gd name="connsiteY1" fmla="*/ 0 h 1111169"/>
              <a:gd name="connsiteX2" fmla="*/ 1076445 w 1076445"/>
              <a:gd name="connsiteY2" fmla="*/ 931758 h 1111169"/>
              <a:gd name="connsiteX3" fmla="*/ 897034 w 1076445"/>
              <a:gd name="connsiteY3" fmla="*/ 1111169 h 1111169"/>
              <a:gd name="connsiteX4" fmla="*/ 0 w 1076445"/>
              <a:gd name="connsiteY4" fmla="*/ 1111169 h 1111169"/>
              <a:gd name="connsiteX5" fmla="*/ 0 w 1076445"/>
              <a:gd name="connsiteY5" fmla="*/ 179411 h 1111169"/>
              <a:gd name="connsiteX6" fmla="*/ 179411 w 1076445"/>
              <a:gd name="connsiteY6" fmla="*/ 0 h 1111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6445" h="1111169">
                <a:moveTo>
                  <a:pt x="179411" y="0"/>
                </a:moveTo>
                <a:lnTo>
                  <a:pt x="1076445" y="0"/>
                </a:lnTo>
                <a:lnTo>
                  <a:pt x="1076445" y="931758"/>
                </a:lnTo>
                <a:cubicBezTo>
                  <a:pt x="1076445" y="1030844"/>
                  <a:pt x="996120" y="1111169"/>
                  <a:pt x="897034" y="1111169"/>
                </a:cubicBezTo>
                <a:lnTo>
                  <a:pt x="0" y="1111169"/>
                </a:lnTo>
                <a:lnTo>
                  <a:pt x="0" y="179411"/>
                </a:lnTo>
                <a:cubicBezTo>
                  <a:pt x="0" y="80325"/>
                  <a:pt x="80325" y="0"/>
                  <a:pt x="179411" y="0"/>
                </a:cubicBezTo>
                <a:close/>
              </a:path>
            </a:pathLst>
          </a:custGeom>
          <a:ln w="34925">
            <a:solidFill>
              <a:schemeClr val="bg1"/>
            </a:solidFill>
          </a:ln>
          <a:effectLst/>
        </p:spPr>
        <p:txBody>
          <a:bodyPr wrap="square">
            <a:noAutofit/>
          </a:bodyPr>
          <a:lstStyle/>
          <a:p>
            <a:endParaRPr lang="en-PK"/>
          </a:p>
        </p:txBody>
      </p:sp>
      <p:sp>
        <p:nvSpPr>
          <p:cNvPr id="6" name="Text Placeholder 7">
            <a:extLst>
              <a:ext uri="{FF2B5EF4-FFF2-40B4-BE49-F238E27FC236}">
                <a16:creationId xmlns:a16="http://schemas.microsoft.com/office/drawing/2014/main" id="{A1681684-B50D-931D-5AC8-80568BFA9AC7}"/>
              </a:ext>
            </a:extLst>
          </p:cNvPr>
          <p:cNvSpPr>
            <a:spLocks noGrp="1"/>
          </p:cNvSpPr>
          <p:nvPr>
            <p:ph type="body" sz="quarter" idx="10"/>
          </p:nvPr>
        </p:nvSpPr>
        <p:spPr>
          <a:xfrm>
            <a:off x="839569" y="971551"/>
            <a:ext cx="5941428"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9165101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67BF7C55-2A56-B649-6B81-0CD6A253F1F3}"/>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5" name="Picture Placeholder 4">
            <a:extLst>
              <a:ext uri="{FF2B5EF4-FFF2-40B4-BE49-F238E27FC236}">
                <a16:creationId xmlns:a16="http://schemas.microsoft.com/office/drawing/2014/main" id="{770D99CB-7D8E-D735-B5D0-393275D617F8}"/>
              </a:ext>
            </a:extLst>
          </p:cNvPr>
          <p:cNvSpPr>
            <a:spLocks noGrp="1"/>
          </p:cNvSpPr>
          <p:nvPr>
            <p:ph type="pic" sz="quarter" idx="11"/>
          </p:nvPr>
        </p:nvSpPr>
        <p:spPr>
          <a:xfrm>
            <a:off x="8175517" y="0"/>
            <a:ext cx="4013310" cy="6858000"/>
          </a:xfrm>
          <a:custGeom>
            <a:avLst/>
            <a:gdLst>
              <a:gd name="connsiteX0" fmla="*/ 0 w 4014355"/>
              <a:gd name="connsiteY0" fmla="*/ 0 h 6858000"/>
              <a:gd name="connsiteX1" fmla="*/ 4014355 w 4014355"/>
              <a:gd name="connsiteY1" fmla="*/ 0 h 6858000"/>
              <a:gd name="connsiteX2" fmla="*/ 4014355 w 4014355"/>
              <a:gd name="connsiteY2" fmla="*/ 6858000 h 6858000"/>
              <a:gd name="connsiteX3" fmla="*/ 0 w 40143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014355" h="6858000">
                <a:moveTo>
                  <a:pt x="0" y="0"/>
                </a:moveTo>
                <a:lnTo>
                  <a:pt x="4014355" y="0"/>
                </a:lnTo>
                <a:lnTo>
                  <a:pt x="4014355" y="6858000"/>
                </a:lnTo>
                <a:lnTo>
                  <a:pt x="0" y="6858000"/>
                </a:lnTo>
                <a:close/>
              </a:path>
            </a:pathLst>
          </a:custGeom>
        </p:spPr>
        <p:txBody>
          <a:bodyPr wrap="square">
            <a:noAutofit/>
          </a:bodyPr>
          <a:lstStyle/>
          <a:p>
            <a:endParaRPr lang="en-PK"/>
          </a:p>
        </p:txBody>
      </p:sp>
    </p:spTree>
    <p:extLst>
      <p:ext uri="{BB962C8B-B14F-4D97-AF65-F5344CB8AC3E}">
        <p14:creationId xmlns:p14="http://schemas.microsoft.com/office/powerpoint/2010/main" val="29821171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BD038D30-D0CE-FB58-3CB7-714B70054F10}"/>
              </a:ext>
            </a:extLst>
          </p:cNvPr>
          <p:cNvSpPr>
            <a:spLocks noGrp="1"/>
          </p:cNvSpPr>
          <p:nvPr>
            <p:ph type="body" sz="quarter" idx="10"/>
          </p:nvPr>
        </p:nvSpPr>
        <p:spPr>
          <a:xfrm>
            <a:off x="839569" y="971551"/>
            <a:ext cx="5803340"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39995885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FFD9CB8F-45B4-E333-AB67-85836ED65CEF}"/>
              </a:ext>
            </a:extLst>
          </p:cNvPr>
          <p:cNvSpPr>
            <a:spLocks noGrp="1"/>
          </p:cNvSpPr>
          <p:nvPr>
            <p:ph type="body" sz="quarter" idx="10"/>
          </p:nvPr>
        </p:nvSpPr>
        <p:spPr>
          <a:xfrm>
            <a:off x="839570" y="971551"/>
            <a:ext cx="5691609"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19492387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0D4F87C9-AFD5-D11D-A745-9B8F1A936BC0}"/>
              </a:ext>
            </a:extLst>
          </p:cNvPr>
          <p:cNvSpPr>
            <a:spLocks noGrp="1"/>
          </p:cNvSpPr>
          <p:nvPr>
            <p:ph type="body" sz="quarter" idx="10"/>
          </p:nvPr>
        </p:nvSpPr>
        <p:spPr>
          <a:xfrm>
            <a:off x="839569" y="2199501"/>
            <a:ext cx="4234029" cy="553998"/>
          </a:xfrm>
        </p:spPr>
        <p:txBody>
          <a:bodyPr lIns="0" tIns="0" rIns="0" bIns="0">
            <a:sp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5" name="Picture Placeholder 4">
            <a:extLst>
              <a:ext uri="{FF2B5EF4-FFF2-40B4-BE49-F238E27FC236}">
                <a16:creationId xmlns:a16="http://schemas.microsoft.com/office/drawing/2014/main" id="{CF7E5E00-74B3-AADD-0627-BA27887FE810}"/>
              </a:ext>
            </a:extLst>
          </p:cNvPr>
          <p:cNvSpPr>
            <a:spLocks noGrp="1"/>
          </p:cNvSpPr>
          <p:nvPr>
            <p:ph type="pic" sz="quarter" idx="11"/>
          </p:nvPr>
        </p:nvSpPr>
        <p:spPr>
          <a:xfrm>
            <a:off x="5903962" y="538775"/>
            <a:ext cx="2239697" cy="1783080"/>
          </a:xfrm>
          <a:custGeom>
            <a:avLst/>
            <a:gdLst>
              <a:gd name="connsiteX0" fmla="*/ 125600 w 2240280"/>
              <a:gd name="connsiteY0" fmla="*/ 0 h 1783080"/>
              <a:gd name="connsiteX1" fmla="*/ 2114680 w 2240280"/>
              <a:gd name="connsiteY1" fmla="*/ 0 h 1783080"/>
              <a:gd name="connsiteX2" fmla="*/ 2240280 w 2240280"/>
              <a:gd name="connsiteY2" fmla="*/ 125600 h 1783080"/>
              <a:gd name="connsiteX3" fmla="*/ 2240280 w 2240280"/>
              <a:gd name="connsiteY3" fmla="*/ 1657480 h 1783080"/>
              <a:gd name="connsiteX4" fmla="*/ 2114680 w 2240280"/>
              <a:gd name="connsiteY4" fmla="*/ 1783080 h 1783080"/>
              <a:gd name="connsiteX5" fmla="*/ 125600 w 2240280"/>
              <a:gd name="connsiteY5" fmla="*/ 1783080 h 1783080"/>
              <a:gd name="connsiteX6" fmla="*/ 0 w 2240280"/>
              <a:gd name="connsiteY6" fmla="*/ 1657480 h 1783080"/>
              <a:gd name="connsiteX7" fmla="*/ 0 w 2240280"/>
              <a:gd name="connsiteY7" fmla="*/ 125600 h 1783080"/>
              <a:gd name="connsiteX8" fmla="*/ 125600 w 2240280"/>
              <a:gd name="connsiteY8" fmla="*/ 0 h 178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40280" h="1783080">
                <a:moveTo>
                  <a:pt x="125600" y="0"/>
                </a:moveTo>
                <a:lnTo>
                  <a:pt x="2114680" y="0"/>
                </a:lnTo>
                <a:cubicBezTo>
                  <a:pt x="2184047" y="0"/>
                  <a:pt x="2240280" y="56233"/>
                  <a:pt x="2240280" y="125600"/>
                </a:cubicBezTo>
                <a:lnTo>
                  <a:pt x="2240280" y="1657480"/>
                </a:lnTo>
                <a:cubicBezTo>
                  <a:pt x="2240280" y="1726847"/>
                  <a:pt x="2184047" y="1783080"/>
                  <a:pt x="2114680" y="1783080"/>
                </a:cubicBezTo>
                <a:lnTo>
                  <a:pt x="125600" y="1783080"/>
                </a:lnTo>
                <a:cubicBezTo>
                  <a:pt x="56233" y="1783080"/>
                  <a:pt x="0" y="1726847"/>
                  <a:pt x="0" y="1657480"/>
                </a:cubicBezTo>
                <a:lnTo>
                  <a:pt x="0" y="125600"/>
                </a:lnTo>
                <a:cubicBezTo>
                  <a:pt x="0" y="56233"/>
                  <a:pt x="56233" y="0"/>
                  <a:pt x="125600" y="0"/>
                </a:cubicBezTo>
                <a:close/>
              </a:path>
            </a:pathLst>
          </a:custGeom>
        </p:spPr>
        <p:txBody>
          <a:bodyPr wrap="square">
            <a:noAutofit/>
          </a:bodyPr>
          <a:lstStyle/>
          <a:p>
            <a:endParaRPr lang="en-US"/>
          </a:p>
        </p:txBody>
      </p:sp>
      <p:sp>
        <p:nvSpPr>
          <p:cNvPr id="9" name="Picture Placeholder 8">
            <a:extLst>
              <a:ext uri="{FF2B5EF4-FFF2-40B4-BE49-F238E27FC236}">
                <a16:creationId xmlns:a16="http://schemas.microsoft.com/office/drawing/2014/main" id="{888FFE2A-D715-1690-3C75-E65A19C6266F}"/>
              </a:ext>
            </a:extLst>
          </p:cNvPr>
          <p:cNvSpPr>
            <a:spLocks noGrp="1"/>
          </p:cNvSpPr>
          <p:nvPr>
            <p:ph type="pic" sz="quarter" idx="12"/>
          </p:nvPr>
        </p:nvSpPr>
        <p:spPr>
          <a:xfrm>
            <a:off x="5903962" y="2537460"/>
            <a:ext cx="2239697" cy="1783080"/>
          </a:xfrm>
          <a:custGeom>
            <a:avLst/>
            <a:gdLst>
              <a:gd name="connsiteX0" fmla="*/ 118539 w 2240280"/>
              <a:gd name="connsiteY0" fmla="*/ 0 h 1783080"/>
              <a:gd name="connsiteX1" fmla="*/ 2121741 w 2240280"/>
              <a:gd name="connsiteY1" fmla="*/ 0 h 1783080"/>
              <a:gd name="connsiteX2" fmla="*/ 2240280 w 2240280"/>
              <a:gd name="connsiteY2" fmla="*/ 118539 h 1783080"/>
              <a:gd name="connsiteX3" fmla="*/ 2240280 w 2240280"/>
              <a:gd name="connsiteY3" fmla="*/ 1664541 h 1783080"/>
              <a:gd name="connsiteX4" fmla="*/ 2121741 w 2240280"/>
              <a:gd name="connsiteY4" fmla="*/ 1783080 h 1783080"/>
              <a:gd name="connsiteX5" fmla="*/ 118539 w 2240280"/>
              <a:gd name="connsiteY5" fmla="*/ 1783080 h 1783080"/>
              <a:gd name="connsiteX6" fmla="*/ 0 w 2240280"/>
              <a:gd name="connsiteY6" fmla="*/ 1664541 h 1783080"/>
              <a:gd name="connsiteX7" fmla="*/ 0 w 2240280"/>
              <a:gd name="connsiteY7" fmla="*/ 118539 h 1783080"/>
              <a:gd name="connsiteX8" fmla="*/ 118539 w 2240280"/>
              <a:gd name="connsiteY8" fmla="*/ 0 h 178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40280" h="1783080">
                <a:moveTo>
                  <a:pt x="118539" y="0"/>
                </a:moveTo>
                <a:lnTo>
                  <a:pt x="2121741" y="0"/>
                </a:lnTo>
                <a:cubicBezTo>
                  <a:pt x="2187208" y="0"/>
                  <a:pt x="2240280" y="53072"/>
                  <a:pt x="2240280" y="118539"/>
                </a:cubicBezTo>
                <a:lnTo>
                  <a:pt x="2240280" y="1664541"/>
                </a:lnTo>
                <a:cubicBezTo>
                  <a:pt x="2240280" y="1730008"/>
                  <a:pt x="2187208" y="1783080"/>
                  <a:pt x="2121741" y="1783080"/>
                </a:cubicBezTo>
                <a:lnTo>
                  <a:pt x="118539" y="1783080"/>
                </a:lnTo>
                <a:cubicBezTo>
                  <a:pt x="53072" y="1783080"/>
                  <a:pt x="0" y="1730008"/>
                  <a:pt x="0" y="1664541"/>
                </a:cubicBezTo>
                <a:lnTo>
                  <a:pt x="0" y="118539"/>
                </a:lnTo>
                <a:cubicBezTo>
                  <a:pt x="0" y="53072"/>
                  <a:pt x="53072" y="0"/>
                  <a:pt x="118539" y="0"/>
                </a:cubicBezTo>
                <a:close/>
              </a:path>
            </a:pathLst>
          </a:custGeom>
        </p:spPr>
        <p:txBody>
          <a:bodyPr wrap="square">
            <a:noAutofit/>
          </a:bodyPr>
          <a:lstStyle/>
          <a:p>
            <a:endParaRPr lang="en-US"/>
          </a:p>
        </p:txBody>
      </p:sp>
      <p:sp>
        <p:nvSpPr>
          <p:cNvPr id="11" name="Picture Placeholder 10">
            <a:extLst>
              <a:ext uri="{FF2B5EF4-FFF2-40B4-BE49-F238E27FC236}">
                <a16:creationId xmlns:a16="http://schemas.microsoft.com/office/drawing/2014/main" id="{69AEC7D6-C7F6-C6DD-7A93-7F15BDB694C2}"/>
              </a:ext>
            </a:extLst>
          </p:cNvPr>
          <p:cNvSpPr>
            <a:spLocks noGrp="1"/>
          </p:cNvSpPr>
          <p:nvPr>
            <p:ph type="pic" sz="quarter" idx="13"/>
          </p:nvPr>
        </p:nvSpPr>
        <p:spPr>
          <a:xfrm>
            <a:off x="5903962" y="4536145"/>
            <a:ext cx="2239697" cy="1783080"/>
          </a:xfrm>
          <a:custGeom>
            <a:avLst/>
            <a:gdLst>
              <a:gd name="connsiteX0" fmla="*/ 124459 w 2240280"/>
              <a:gd name="connsiteY0" fmla="*/ 0 h 1783080"/>
              <a:gd name="connsiteX1" fmla="*/ 2115821 w 2240280"/>
              <a:gd name="connsiteY1" fmla="*/ 0 h 1783080"/>
              <a:gd name="connsiteX2" fmla="*/ 2240280 w 2240280"/>
              <a:gd name="connsiteY2" fmla="*/ 124459 h 1783080"/>
              <a:gd name="connsiteX3" fmla="*/ 2240280 w 2240280"/>
              <a:gd name="connsiteY3" fmla="*/ 1658621 h 1783080"/>
              <a:gd name="connsiteX4" fmla="*/ 2115821 w 2240280"/>
              <a:gd name="connsiteY4" fmla="*/ 1783080 h 1783080"/>
              <a:gd name="connsiteX5" fmla="*/ 124459 w 2240280"/>
              <a:gd name="connsiteY5" fmla="*/ 1783080 h 1783080"/>
              <a:gd name="connsiteX6" fmla="*/ 0 w 2240280"/>
              <a:gd name="connsiteY6" fmla="*/ 1658621 h 1783080"/>
              <a:gd name="connsiteX7" fmla="*/ 0 w 2240280"/>
              <a:gd name="connsiteY7" fmla="*/ 124459 h 1783080"/>
              <a:gd name="connsiteX8" fmla="*/ 124459 w 2240280"/>
              <a:gd name="connsiteY8" fmla="*/ 0 h 178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40280" h="1783080">
                <a:moveTo>
                  <a:pt x="124459" y="0"/>
                </a:moveTo>
                <a:lnTo>
                  <a:pt x="2115821" y="0"/>
                </a:lnTo>
                <a:cubicBezTo>
                  <a:pt x="2184558" y="0"/>
                  <a:pt x="2240280" y="55722"/>
                  <a:pt x="2240280" y="124459"/>
                </a:cubicBezTo>
                <a:lnTo>
                  <a:pt x="2240280" y="1658621"/>
                </a:lnTo>
                <a:cubicBezTo>
                  <a:pt x="2240280" y="1727358"/>
                  <a:pt x="2184558" y="1783080"/>
                  <a:pt x="2115821" y="1783080"/>
                </a:cubicBezTo>
                <a:lnTo>
                  <a:pt x="124459" y="1783080"/>
                </a:lnTo>
                <a:cubicBezTo>
                  <a:pt x="55722" y="1783080"/>
                  <a:pt x="0" y="1727358"/>
                  <a:pt x="0" y="1658621"/>
                </a:cubicBezTo>
                <a:lnTo>
                  <a:pt x="0" y="124459"/>
                </a:lnTo>
                <a:cubicBezTo>
                  <a:pt x="0" y="55722"/>
                  <a:pt x="55722" y="0"/>
                  <a:pt x="124459" y="0"/>
                </a:cubicBezTo>
                <a:close/>
              </a:path>
            </a:pathLst>
          </a:custGeom>
        </p:spPr>
        <p:txBody>
          <a:bodyPr wrap="square">
            <a:noAutofit/>
          </a:bodyPr>
          <a:lstStyle/>
          <a:p>
            <a:endParaRPr lang="en-US"/>
          </a:p>
        </p:txBody>
      </p:sp>
    </p:spTree>
    <p:extLst>
      <p:ext uri="{BB962C8B-B14F-4D97-AF65-F5344CB8AC3E}">
        <p14:creationId xmlns:p14="http://schemas.microsoft.com/office/powerpoint/2010/main" val="28950776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CEBD1DE8-A38D-041F-7BE7-63EB75067B36}"/>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5" name="Picture Placeholder 4">
            <a:extLst>
              <a:ext uri="{FF2B5EF4-FFF2-40B4-BE49-F238E27FC236}">
                <a16:creationId xmlns:a16="http://schemas.microsoft.com/office/drawing/2014/main" id="{0894CE71-D989-A01B-2541-02035A315D52}"/>
              </a:ext>
            </a:extLst>
          </p:cNvPr>
          <p:cNvSpPr>
            <a:spLocks noGrp="1"/>
          </p:cNvSpPr>
          <p:nvPr>
            <p:ph type="pic" sz="quarter" idx="11"/>
          </p:nvPr>
        </p:nvSpPr>
        <p:spPr>
          <a:xfrm>
            <a:off x="7191136" y="1"/>
            <a:ext cx="4997689" cy="6858000"/>
          </a:xfrm>
          <a:custGeom>
            <a:avLst/>
            <a:gdLst>
              <a:gd name="connsiteX0" fmla="*/ 2276199 w 4998991"/>
              <a:gd name="connsiteY0" fmla="*/ 0 h 6858000"/>
              <a:gd name="connsiteX1" fmla="*/ 4998991 w 4998991"/>
              <a:gd name="connsiteY1" fmla="*/ 0 h 6858000"/>
              <a:gd name="connsiteX2" fmla="*/ 4998991 w 4998991"/>
              <a:gd name="connsiteY2" fmla="*/ 6858000 h 6858000"/>
              <a:gd name="connsiteX3" fmla="*/ 3385646 w 4998991"/>
              <a:gd name="connsiteY3" fmla="*/ 6858000 h 6858000"/>
              <a:gd name="connsiteX4" fmla="*/ 568771 w 4998991"/>
              <a:gd name="connsiteY4" fmla="*/ 5231676 h 6858000"/>
              <a:gd name="connsiteX5" fmla="*/ 152541 w 4998991"/>
              <a:gd name="connsiteY5" fmla="*/ 36782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8991" h="6858000">
                <a:moveTo>
                  <a:pt x="2276199" y="0"/>
                </a:moveTo>
                <a:lnTo>
                  <a:pt x="4998991" y="0"/>
                </a:lnTo>
                <a:lnTo>
                  <a:pt x="4998991" y="6858000"/>
                </a:lnTo>
                <a:lnTo>
                  <a:pt x="3385646" y="6858000"/>
                </a:lnTo>
                <a:lnTo>
                  <a:pt x="568771" y="5231676"/>
                </a:lnTo>
                <a:cubicBezTo>
                  <a:pt x="24875" y="4917657"/>
                  <a:pt x="-161478" y="4222181"/>
                  <a:pt x="152541" y="3678285"/>
                </a:cubicBezTo>
                <a:close/>
              </a:path>
            </a:pathLst>
          </a:custGeom>
        </p:spPr>
        <p:txBody>
          <a:bodyPr wrap="square">
            <a:noAutofit/>
          </a:bodyPr>
          <a:lstStyle/>
          <a:p>
            <a:endParaRPr lang="en-PK"/>
          </a:p>
        </p:txBody>
      </p:sp>
    </p:spTree>
    <p:extLst>
      <p:ext uri="{BB962C8B-B14F-4D97-AF65-F5344CB8AC3E}">
        <p14:creationId xmlns:p14="http://schemas.microsoft.com/office/powerpoint/2010/main" val="3572369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10C56D3C-4260-8E27-5665-613701086D72}"/>
              </a:ext>
            </a:extLst>
          </p:cNvPr>
          <p:cNvSpPr>
            <a:spLocks noGrp="1"/>
          </p:cNvSpPr>
          <p:nvPr>
            <p:ph type="body" sz="quarter" idx="10"/>
          </p:nvPr>
        </p:nvSpPr>
        <p:spPr>
          <a:xfrm>
            <a:off x="839569" y="1793638"/>
            <a:ext cx="3522950" cy="1107996"/>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13066246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DB8B3CA3-442F-6635-C547-4290D042B76C}"/>
              </a:ext>
            </a:extLst>
          </p:cNvPr>
          <p:cNvSpPr>
            <a:spLocks noGrp="1"/>
          </p:cNvSpPr>
          <p:nvPr>
            <p:ph type="body" sz="quarter" idx="10"/>
          </p:nvPr>
        </p:nvSpPr>
        <p:spPr>
          <a:xfrm>
            <a:off x="839569" y="971551"/>
            <a:ext cx="6300150"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25900449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37687893-67B4-A936-3437-9722BD427319}"/>
              </a:ext>
            </a:extLst>
          </p:cNvPr>
          <p:cNvSpPr>
            <a:spLocks noGrp="1"/>
          </p:cNvSpPr>
          <p:nvPr>
            <p:ph type="body" sz="quarter" idx="10"/>
          </p:nvPr>
        </p:nvSpPr>
        <p:spPr>
          <a:xfrm>
            <a:off x="839569" y="971551"/>
            <a:ext cx="5715386"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8602288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53227017-0470-41EB-12C4-6E8CCAF5BCF1}"/>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5" name="Picture Placeholder 4">
            <a:extLst>
              <a:ext uri="{FF2B5EF4-FFF2-40B4-BE49-F238E27FC236}">
                <a16:creationId xmlns:a16="http://schemas.microsoft.com/office/drawing/2014/main" id="{2B77C54E-8E8F-1DF8-C6DB-2862B452F363}"/>
              </a:ext>
            </a:extLst>
          </p:cNvPr>
          <p:cNvSpPr>
            <a:spLocks noGrp="1"/>
          </p:cNvSpPr>
          <p:nvPr>
            <p:ph type="pic" sz="quarter" idx="11"/>
          </p:nvPr>
        </p:nvSpPr>
        <p:spPr>
          <a:xfrm>
            <a:off x="6751447" y="1911755"/>
            <a:ext cx="4597810" cy="3854275"/>
          </a:xfrm>
          <a:custGeom>
            <a:avLst/>
            <a:gdLst>
              <a:gd name="connsiteX0" fmla="*/ 642392 w 4599008"/>
              <a:gd name="connsiteY0" fmla="*/ 0 h 3854275"/>
              <a:gd name="connsiteX1" fmla="*/ 4599008 w 4599008"/>
              <a:gd name="connsiteY1" fmla="*/ 0 h 3854275"/>
              <a:gd name="connsiteX2" fmla="*/ 4599008 w 4599008"/>
              <a:gd name="connsiteY2" fmla="*/ 3211883 h 3854275"/>
              <a:gd name="connsiteX3" fmla="*/ 3956616 w 4599008"/>
              <a:gd name="connsiteY3" fmla="*/ 3854275 h 3854275"/>
              <a:gd name="connsiteX4" fmla="*/ 0 w 4599008"/>
              <a:gd name="connsiteY4" fmla="*/ 3854275 h 3854275"/>
              <a:gd name="connsiteX5" fmla="*/ 0 w 4599008"/>
              <a:gd name="connsiteY5" fmla="*/ 642392 h 3854275"/>
              <a:gd name="connsiteX6" fmla="*/ 642392 w 4599008"/>
              <a:gd name="connsiteY6" fmla="*/ 0 h 385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99008" h="3854275">
                <a:moveTo>
                  <a:pt x="642392" y="0"/>
                </a:moveTo>
                <a:lnTo>
                  <a:pt x="4599008" y="0"/>
                </a:lnTo>
                <a:lnTo>
                  <a:pt x="4599008" y="3211883"/>
                </a:lnTo>
                <a:cubicBezTo>
                  <a:pt x="4599008" y="3566666"/>
                  <a:pt x="4311399" y="3854275"/>
                  <a:pt x="3956616" y="3854275"/>
                </a:cubicBezTo>
                <a:lnTo>
                  <a:pt x="0" y="3854275"/>
                </a:lnTo>
                <a:lnTo>
                  <a:pt x="0" y="642392"/>
                </a:lnTo>
                <a:cubicBezTo>
                  <a:pt x="0" y="287609"/>
                  <a:pt x="287609" y="0"/>
                  <a:pt x="642392" y="0"/>
                </a:cubicBezTo>
                <a:close/>
              </a:path>
            </a:pathLst>
          </a:custGeom>
        </p:spPr>
        <p:txBody>
          <a:bodyPr wrap="square">
            <a:noAutofit/>
          </a:bodyPr>
          <a:lstStyle/>
          <a:p>
            <a:endParaRPr lang="en-PK"/>
          </a:p>
        </p:txBody>
      </p:sp>
    </p:spTree>
    <p:extLst>
      <p:ext uri="{BB962C8B-B14F-4D97-AF65-F5344CB8AC3E}">
        <p14:creationId xmlns:p14="http://schemas.microsoft.com/office/powerpoint/2010/main" val="4816920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1176A7-B091-469C-82C8-89C693043C40}"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39B1FA-81F2-4940-9AF3-5EAFB5D6669B}" type="slidenum">
              <a:rPr lang="en-US" smtClean="0"/>
              <a:pPr/>
              <a:t>‹#›</a:t>
            </a:fld>
            <a:endParaRPr lang="en-US"/>
          </a:p>
        </p:txBody>
      </p:sp>
    </p:spTree>
    <p:extLst>
      <p:ext uri="{BB962C8B-B14F-4D97-AF65-F5344CB8AC3E}">
        <p14:creationId xmlns:p14="http://schemas.microsoft.com/office/powerpoint/2010/main" val="30970653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9314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37E282-A3FD-8FDF-6938-39CB1940284A}"/>
              </a:ext>
            </a:extLst>
          </p:cNvPr>
          <p:cNvSpPr>
            <a:spLocks noGrp="1"/>
          </p:cNvSpPr>
          <p:nvPr>
            <p:ph type="title"/>
          </p:nvPr>
        </p:nvSpPr>
        <p:spPr>
          <a:xfrm>
            <a:off x="837982" y="365126"/>
            <a:ext cx="10512862"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D04E0A95-6555-5CE0-2B04-590BB8885859}"/>
              </a:ext>
            </a:extLst>
          </p:cNvPr>
          <p:cNvSpPr>
            <a:spLocks noGrp="1"/>
          </p:cNvSpPr>
          <p:nvPr>
            <p:ph type="body" idx="1"/>
          </p:nvPr>
        </p:nvSpPr>
        <p:spPr>
          <a:xfrm>
            <a:off x="837982" y="1825625"/>
            <a:ext cx="10512862"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2FCD3B31-96C7-188A-7A1F-74625996BDF5}"/>
              </a:ext>
            </a:extLst>
          </p:cNvPr>
          <p:cNvSpPr>
            <a:spLocks noGrp="1"/>
          </p:cNvSpPr>
          <p:nvPr>
            <p:ph type="dt" sz="half" idx="2"/>
          </p:nvPr>
        </p:nvSpPr>
        <p:spPr>
          <a:xfrm>
            <a:off x="837982" y="6356351"/>
            <a:ext cx="2742486"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B0145F-FA58-4242-A5B4-590FCCB69A0F}" type="datetimeFigureOut">
              <a:rPr lang="en-PK" smtClean="0"/>
              <a:t>06/16/2026</a:t>
            </a:fld>
            <a:endParaRPr lang="en-PK"/>
          </a:p>
        </p:txBody>
      </p:sp>
      <p:sp>
        <p:nvSpPr>
          <p:cNvPr id="5" name="Footer Placeholder 4">
            <a:extLst>
              <a:ext uri="{FF2B5EF4-FFF2-40B4-BE49-F238E27FC236}">
                <a16:creationId xmlns:a16="http://schemas.microsoft.com/office/drawing/2014/main" id="{62B98D10-484E-D76E-8BED-E65AE3160418}"/>
              </a:ext>
            </a:extLst>
          </p:cNvPr>
          <p:cNvSpPr>
            <a:spLocks noGrp="1"/>
          </p:cNvSpPr>
          <p:nvPr>
            <p:ph type="ftr" sz="quarter" idx="3"/>
          </p:nvPr>
        </p:nvSpPr>
        <p:spPr>
          <a:xfrm>
            <a:off x="4037549" y="6356351"/>
            <a:ext cx="4113728"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46E80257-D808-F7F3-9DDC-7F1794A6BA5B}"/>
              </a:ext>
            </a:extLst>
          </p:cNvPr>
          <p:cNvSpPr>
            <a:spLocks noGrp="1"/>
          </p:cNvSpPr>
          <p:nvPr>
            <p:ph type="sldNum" sz="quarter" idx="4"/>
          </p:nvPr>
        </p:nvSpPr>
        <p:spPr>
          <a:xfrm>
            <a:off x="8608357" y="6356351"/>
            <a:ext cx="2742486"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DDFB9D-E974-4984-B692-DF7D1E2E45AF}" type="slidenum">
              <a:rPr lang="en-PK" smtClean="0"/>
              <a:t>‹#›</a:t>
            </a:fld>
            <a:endParaRPr lang="en-PK"/>
          </a:p>
        </p:txBody>
      </p:sp>
    </p:spTree>
    <p:extLst>
      <p:ext uri="{BB962C8B-B14F-4D97-AF65-F5344CB8AC3E}">
        <p14:creationId xmlns:p14="http://schemas.microsoft.com/office/powerpoint/2010/main" val="531121325"/>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 id="2147483756" r:id="rId15"/>
    <p:sldLayoutId id="2147483757" r:id="rId16"/>
    <p:sldLayoutId id="2147483758" r:id="rId17"/>
    <p:sldLayoutId id="2147483759" r:id="rId18"/>
    <p:sldLayoutId id="2147483760" r:id="rId19"/>
    <p:sldLayoutId id="2147483761" r:id="rId20"/>
    <p:sldLayoutId id="2147483762" r:id="rId21"/>
    <p:sldLayoutId id="2147483763" r:id="rId22"/>
  </p:sldLayoutIdLst>
  <p:txStyles>
    <p:titleStyle>
      <a:lvl1pPr algn="l" defTabSz="914126"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PK"/>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07112"/>
      </p:ext>
    </p:extLst>
  </p:cSld>
  <p:clrMap bg1="lt1" tx1="dk1" bg2="lt2" tx2="dk2" accent1="accent1" accent2="accent2" accent3="accent3" accent4="accent4" accent5="accent5" accent6="accent6" hlink="hlink" folHlink="folHlink"/>
  <p:sldLayoutIdLst>
    <p:sldLayoutId id="2147483765" r:id="rId1"/>
  </p:sldLayoutIdLst>
  <p:hf sldNum="0" hdr="0" ftr="0" dt="0"/>
  <p:txStyles>
    <p:titleStyle>
      <a:lvl1pPr algn="ctr" defTabSz="1218895" rtl="0" eaLnBrk="1" latinLnBrk="0" hangingPunct="1">
        <a:spcBef>
          <a:spcPct val="0"/>
        </a:spcBef>
        <a:buNone/>
        <a:defRPr sz="5865" kern="1200">
          <a:solidFill>
            <a:schemeClr val="tx1"/>
          </a:solidFill>
          <a:latin typeface="+mj-lt"/>
          <a:ea typeface="+mj-ea"/>
          <a:cs typeface="+mj-cs"/>
        </a:defRPr>
      </a:lvl1pPr>
    </p:titleStyle>
    <p:bodyStyle>
      <a:lvl1pPr marL="457086" indent="-457086" algn="l" defTabSz="1218895" rtl="0" eaLnBrk="1" latinLnBrk="0" hangingPunct="1">
        <a:spcBef>
          <a:spcPct val="20000"/>
        </a:spcBef>
        <a:buFont typeface="Arial" pitchFamily="34" charset="0"/>
        <a:buChar char="•"/>
        <a:defRPr sz="4266" kern="1200">
          <a:solidFill>
            <a:schemeClr val="tx1"/>
          </a:solidFill>
          <a:latin typeface="+mn-lt"/>
          <a:ea typeface="+mn-ea"/>
          <a:cs typeface="+mn-cs"/>
        </a:defRPr>
      </a:lvl1pPr>
      <a:lvl2pPr marL="990352" indent="-380905" algn="l" defTabSz="1218895" rtl="0" eaLnBrk="1" latinLnBrk="0" hangingPunct="1">
        <a:spcBef>
          <a:spcPct val="20000"/>
        </a:spcBef>
        <a:buFont typeface="Arial" pitchFamily="34" charset="0"/>
        <a:buChar char="–"/>
        <a:defRPr sz="3732" kern="1200">
          <a:solidFill>
            <a:schemeClr val="tx1"/>
          </a:solidFill>
          <a:latin typeface="+mn-lt"/>
          <a:ea typeface="+mn-ea"/>
          <a:cs typeface="+mn-cs"/>
        </a:defRPr>
      </a:lvl2pPr>
      <a:lvl3pPr marL="1523619" indent="-304724" algn="l" defTabSz="1218895" rtl="0" eaLnBrk="1" latinLnBrk="0" hangingPunct="1">
        <a:spcBef>
          <a:spcPct val="20000"/>
        </a:spcBef>
        <a:buFont typeface="Arial" pitchFamily="34" charset="0"/>
        <a:buChar char="•"/>
        <a:defRPr sz="3199" kern="1200">
          <a:solidFill>
            <a:schemeClr val="tx1"/>
          </a:solidFill>
          <a:latin typeface="+mn-lt"/>
          <a:ea typeface="+mn-ea"/>
          <a:cs typeface="+mn-cs"/>
        </a:defRPr>
      </a:lvl3pPr>
      <a:lvl4pPr marL="2133067"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4pPr>
      <a:lvl5pPr marL="2742514"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5pPr>
      <a:lvl6pPr marL="3351962"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6pPr>
      <a:lvl7pPr marL="3961409"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7pPr>
      <a:lvl8pPr marL="4570857"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8pPr>
      <a:lvl9pPr marL="5180305"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9pPr>
    </p:bodyStyle>
    <p:other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3.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3.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3.xml"/><Relationship Id="rId6" Type="http://schemas.openxmlformats.org/officeDocument/2006/relationships/image" Target="../media/image1.png"/><Relationship Id="rId5" Type="http://schemas.openxmlformats.org/officeDocument/2006/relationships/image" Target="../media/image11.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2.xml"/><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1" y="893"/>
            <a:ext cx="219399" cy="6856214"/>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Text 1"/>
          <p:cNvSpPr/>
          <p:nvPr/>
        </p:nvSpPr>
        <p:spPr>
          <a:xfrm>
            <a:off x="6703853" y="610334"/>
            <a:ext cx="5484971" cy="5484971"/>
          </a:xfrm>
          <a:prstGeom prst="rect">
            <a:avLst/>
          </a:prstGeom>
          <a:noFill/>
          <a:ln/>
        </p:spPr>
        <p:txBody>
          <a:bodyPr wrap="square" lIns="0" tIns="0" rIns="0" bIns="0" rtlCol="0" anchor="ctr"/>
          <a:lstStyle/>
          <a:p>
            <a:pPr defTabSz="1218895">
              <a:buClrTx/>
            </a:pPr>
            <a:r>
              <a:rPr lang="en-US" sz="30659" b="1" kern="1200" dirty="0">
                <a:solidFill>
                  <a:srgbClr val="1B6CA8">
                    <a:alpha val="18000"/>
                  </a:srgbClr>
                </a:solidFill>
                <a:latin typeface="Arial Black" pitchFamily="34" charset="0"/>
                <a:ea typeface="Arial Black" pitchFamily="34" charset="-122"/>
                <a:cs typeface="Arial Black" pitchFamily="34" charset="-120"/>
              </a:rPr>
              <a:t>TS</a:t>
            </a:r>
            <a:endParaRPr lang="en-US" sz="30659" kern="1200" dirty="0">
              <a:solidFill>
                <a:prstClr val="black"/>
              </a:solidFill>
              <a:latin typeface="Calibri" panose="020F0502020204030204"/>
              <a:ea typeface="+mn-ea"/>
              <a:cs typeface="+mn-cs"/>
            </a:endParaRPr>
          </a:p>
        </p:txBody>
      </p:sp>
      <p:sp>
        <p:nvSpPr>
          <p:cNvPr id="4" name="Text 2"/>
          <p:cNvSpPr/>
          <p:nvPr/>
        </p:nvSpPr>
        <p:spPr>
          <a:xfrm>
            <a:off x="609441" y="1036943"/>
            <a:ext cx="10360501" cy="463175"/>
          </a:xfrm>
          <a:prstGeom prst="rect">
            <a:avLst/>
          </a:prstGeom>
          <a:noFill/>
          <a:ln/>
        </p:spPr>
        <p:txBody>
          <a:bodyPr wrap="square" lIns="0" tIns="0" rIns="0" bIns="0" rtlCol="0" anchor="ctr"/>
          <a:lstStyle/>
          <a:p>
            <a:pPr defTabSz="1218895">
              <a:buClrTx/>
            </a:pPr>
            <a:r>
              <a:rPr lang="en-US" sz="1600" i="1" kern="1200" dirty="0">
                <a:solidFill>
                  <a:srgbClr val="94A3B8"/>
                </a:solidFill>
                <a:latin typeface="Calibri" pitchFamily="34" charset="0"/>
                <a:ea typeface="Calibri" pitchFamily="34" charset="-122"/>
                <a:cs typeface="Calibri" pitchFamily="34" charset="-120"/>
              </a:rPr>
              <a:t>SAP BTP CAP  ·  TypeScript Migration  ·  Complete Course</a:t>
            </a:r>
            <a:endParaRPr lang="en-US" sz="1600" kern="1200" dirty="0">
              <a:solidFill>
                <a:prstClr val="black"/>
              </a:solidFill>
              <a:latin typeface="Calibri" panose="020F0502020204030204"/>
              <a:ea typeface="+mn-ea"/>
              <a:cs typeface="+mn-cs"/>
            </a:endParaRPr>
          </a:p>
        </p:txBody>
      </p:sp>
      <p:sp>
        <p:nvSpPr>
          <p:cNvPr id="5" name="Text 3"/>
          <p:cNvSpPr/>
          <p:nvPr/>
        </p:nvSpPr>
        <p:spPr>
          <a:xfrm>
            <a:off x="609441" y="1646384"/>
            <a:ext cx="10360501" cy="3169095"/>
          </a:xfrm>
          <a:prstGeom prst="rect">
            <a:avLst/>
          </a:prstGeom>
          <a:noFill/>
          <a:ln/>
        </p:spPr>
        <p:txBody>
          <a:bodyPr wrap="square" lIns="0" tIns="0" rIns="0" bIns="0" rtlCol="0" anchor="t"/>
          <a:lstStyle/>
          <a:p>
            <a:pPr defTabSz="1218895">
              <a:buClrTx/>
            </a:pPr>
            <a:r>
              <a:rPr lang="en-US" sz="5332" b="1" kern="1200" dirty="0">
                <a:solidFill>
                  <a:srgbClr val="FFFFFF"/>
                </a:solidFill>
                <a:latin typeface="Calibri" pitchFamily="34" charset="0"/>
                <a:ea typeface="Calibri" pitchFamily="34" charset="-122"/>
                <a:cs typeface="Calibri" pitchFamily="34" charset="-120"/>
              </a:rPr>
              <a:t>JavaScript  →  TypeScript
Incremental Migration
</a:t>
            </a:r>
            <a:r>
              <a:rPr lang="en-US" sz="3732" kern="1200" dirty="0">
                <a:solidFill>
                  <a:srgbClr val="2D9CDB"/>
                </a:solidFill>
                <a:latin typeface="Calibri" pitchFamily="34" charset="0"/>
                <a:ea typeface="Calibri" pitchFamily="34" charset="-122"/>
                <a:cs typeface="Calibri" pitchFamily="34" charset="-120"/>
              </a:rPr>
              <a:t>of SAP BTP CAP Projects</a:t>
            </a:r>
            <a:endParaRPr lang="en-US" sz="5332" kern="1200" dirty="0">
              <a:solidFill>
                <a:prstClr val="black"/>
              </a:solidFill>
              <a:latin typeface="Calibri" panose="020F0502020204030204"/>
              <a:ea typeface="+mn-ea"/>
              <a:cs typeface="+mn-cs"/>
            </a:endParaRPr>
          </a:p>
        </p:txBody>
      </p:sp>
      <p:sp>
        <p:nvSpPr>
          <p:cNvPr id="6" name="Shape 4"/>
          <p:cNvSpPr/>
          <p:nvPr/>
        </p:nvSpPr>
        <p:spPr>
          <a:xfrm>
            <a:off x="609441" y="4998311"/>
            <a:ext cx="4266089" cy="48755"/>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Shape 5"/>
          <p:cNvSpPr/>
          <p:nvPr/>
        </p:nvSpPr>
        <p:spPr>
          <a:xfrm>
            <a:off x="609441" y="5217710"/>
            <a:ext cx="2620597" cy="365665"/>
          </a:xfrm>
          <a:prstGeom prst="rect">
            <a:avLst/>
          </a:prstGeom>
          <a:solidFill>
            <a:srgbClr val="1B6CA8">
              <a:alpha val="80000"/>
            </a:srgbClr>
          </a:solidFill>
          <a:ln w="12700">
            <a:solidFill>
              <a:srgbClr val="2D9CD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09441" y="5217710"/>
            <a:ext cx="2620597" cy="365665"/>
          </a:xfrm>
          <a:prstGeom prst="rect">
            <a:avLst/>
          </a:prstGeom>
          <a:noFill/>
          <a:ln/>
        </p:spPr>
        <p:txBody>
          <a:bodyPr wrap="square" lIns="0" tIns="0" rIns="0" bIns="0" rtlCol="0" anchor="ctr"/>
          <a:lstStyle/>
          <a:p>
            <a:pPr algn="ctr" defTabSz="1218895">
              <a:buClrTx/>
            </a:pPr>
            <a:r>
              <a:rPr lang="en-US" sz="1133" kern="1200" dirty="0">
                <a:solidFill>
                  <a:srgbClr val="FFFFFF"/>
                </a:solidFill>
                <a:latin typeface="Consolas" pitchFamily="34" charset="0"/>
                <a:ea typeface="Consolas" pitchFamily="34" charset="-122"/>
                <a:cs typeface="Consolas" pitchFamily="34" charset="-120"/>
              </a:rPr>
              <a:t>tsconfig.json</a:t>
            </a:r>
            <a:endParaRPr lang="en-US" sz="1133" kern="1200" dirty="0">
              <a:solidFill>
                <a:prstClr val="black"/>
              </a:solidFill>
              <a:latin typeface="Calibri" panose="020F0502020204030204"/>
              <a:ea typeface="+mn-ea"/>
              <a:cs typeface="+mn-cs"/>
            </a:endParaRPr>
          </a:p>
        </p:txBody>
      </p:sp>
      <p:sp>
        <p:nvSpPr>
          <p:cNvPr id="9" name="Shape 7"/>
          <p:cNvSpPr/>
          <p:nvPr/>
        </p:nvSpPr>
        <p:spPr>
          <a:xfrm>
            <a:off x="3412871" y="5217710"/>
            <a:ext cx="2620597" cy="365665"/>
          </a:xfrm>
          <a:prstGeom prst="rect">
            <a:avLst/>
          </a:prstGeom>
          <a:solidFill>
            <a:srgbClr val="1B6CA8">
              <a:alpha val="80000"/>
            </a:srgbClr>
          </a:solidFill>
          <a:ln w="12700">
            <a:solidFill>
              <a:srgbClr val="2D9CD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3412871" y="5217710"/>
            <a:ext cx="2620597" cy="365665"/>
          </a:xfrm>
          <a:prstGeom prst="rect">
            <a:avLst/>
          </a:prstGeom>
          <a:noFill/>
          <a:ln/>
        </p:spPr>
        <p:txBody>
          <a:bodyPr wrap="square" lIns="0" tIns="0" rIns="0" bIns="0" rtlCol="0" anchor="ctr"/>
          <a:lstStyle/>
          <a:p>
            <a:pPr algn="ctr" defTabSz="1218895">
              <a:buClrTx/>
            </a:pPr>
            <a:r>
              <a:rPr lang="en-US" sz="1133" kern="1200" dirty="0">
                <a:solidFill>
                  <a:srgbClr val="FFFFFF"/>
                </a:solidFill>
                <a:latin typeface="Consolas" pitchFamily="34" charset="0"/>
                <a:ea typeface="Consolas" pitchFamily="34" charset="-122"/>
                <a:cs typeface="Consolas" pitchFamily="34" charset="-120"/>
              </a:rPr>
              <a:t>strict mode</a:t>
            </a:r>
            <a:endParaRPr lang="en-US" sz="1133" kern="1200" dirty="0">
              <a:solidFill>
                <a:prstClr val="black"/>
              </a:solidFill>
              <a:latin typeface="Calibri" panose="020F0502020204030204"/>
              <a:ea typeface="+mn-ea"/>
              <a:cs typeface="+mn-cs"/>
            </a:endParaRPr>
          </a:p>
        </p:txBody>
      </p:sp>
      <p:sp>
        <p:nvSpPr>
          <p:cNvPr id="11" name="Shape 9"/>
          <p:cNvSpPr/>
          <p:nvPr/>
        </p:nvSpPr>
        <p:spPr>
          <a:xfrm>
            <a:off x="6216300" y="5217710"/>
            <a:ext cx="2620597" cy="365665"/>
          </a:xfrm>
          <a:prstGeom prst="rect">
            <a:avLst/>
          </a:prstGeom>
          <a:solidFill>
            <a:srgbClr val="1B6CA8">
              <a:alpha val="80000"/>
            </a:srgbClr>
          </a:solidFill>
          <a:ln w="12700">
            <a:solidFill>
              <a:srgbClr val="2D9CD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2" name="Text 10"/>
          <p:cNvSpPr/>
          <p:nvPr/>
        </p:nvSpPr>
        <p:spPr>
          <a:xfrm>
            <a:off x="6216300" y="5217710"/>
            <a:ext cx="2620597" cy="365665"/>
          </a:xfrm>
          <a:prstGeom prst="rect">
            <a:avLst/>
          </a:prstGeom>
          <a:noFill/>
          <a:ln/>
        </p:spPr>
        <p:txBody>
          <a:bodyPr wrap="square" lIns="0" tIns="0" rIns="0" bIns="0" rtlCol="0" anchor="ctr"/>
          <a:lstStyle/>
          <a:p>
            <a:pPr algn="ctr" defTabSz="1218895">
              <a:buClrTx/>
            </a:pPr>
            <a:r>
              <a:rPr lang="en-US" sz="1133" kern="1200" dirty="0">
                <a:solidFill>
                  <a:srgbClr val="FFFFFF"/>
                </a:solidFill>
                <a:latin typeface="Consolas" pitchFamily="34" charset="0"/>
                <a:ea typeface="Consolas" pitchFamily="34" charset="-122"/>
                <a:cs typeface="Consolas" pitchFamily="34" charset="-120"/>
              </a:rPr>
              <a:t>CDS Types</a:t>
            </a:r>
            <a:endParaRPr lang="en-US" sz="1133" kern="1200" dirty="0">
              <a:solidFill>
                <a:prstClr val="black"/>
              </a:solidFill>
              <a:latin typeface="Calibri" panose="020F0502020204030204"/>
              <a:ea typeface="+mn-ea"/>
              <a:cs typeface="+mn-cs"/>
            </a:endParaRPr>
          </a:p>
        </p:txBody>
      </p:sp>
      <p:sp>
        <p:nvSpPr>
          <p:cNvPr id="13" name="Shape 11"/>
          <p:cNvSpPr/>
          <p:nvPr/>
        </p:nvSpPr>
        <p:spPr>
          <a:xfrm>
            <a:off x="9019730" y="5217710"/>
            <a:ext cx="2620597" cy="365665"/>
          </a:xfrm>
          <a:prstGeom prst="rect">
            <a:avLst/>
          </a:prstGeom>
          <a:solidFill>
            <a:srgbClr val="1B6CA8">
              <a:alpha val="80000"/>
            </a:srgbClr>
          </a:solidFill>
          <a:ln w="12700">
            <a:solidFill>
              <a:srgbClr val="2D9CD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9019730" y="5217710"/>
            <a:ext cx="2620597" cy="365665"/>
          </a:xfrm>
          <a:prstGeom prst="rect">
            <a:avLst/>
          </a:prstGeom>
          <a:noFill/>
          <a:ln/>
        </p:spPr>
        <p:txBody>
          <a:bodyPr wrap="square" lIns="0" tIns="0" rIns="0" bIns="0" rtlCol="0" anchor="ctr"/>
          <a:lstStyle/>
          <a:p>
            <a:pPr algn="ctr" defTabSz="1218895">
              <a:buClrTx/>
            </a:pPr>
            <a:r>
              <a:rPr lang="en-US" sz="1133" kern="1200" dirty="0">
                <a:solidFill>
                  <a:srgbClr val="FFFFFF"/>
                </a:solidFill>
                <a:latin typeface="Consolas" pitchFamily="34" charset="0"/>
                <a:ea typeface="Consolas" pitchFamily="34" charset="-122"/>
                <a:cs typeface="Consolas" pitchFamily="34" charset="-120"/>
              </a:rPr>
              <a:t>CatalogService</a:t>
            </a:r>
            <a:endParaRPr lang="en-US" sz="1133" kern="1200" dirty="0">
              <a:solidFill>
                <a:prstClr val="black"/>
              </a:solidFill>
              <a:latin typeface="Calibri" panose="020F0502020204030204"/>
              <a:ea typeface="+mn-ea"/>
              <a:cs typeface="+mn-cs"/>
            </a:endParaRPr>
          </a:p>
        </p:txBody>
      </p:sp>
      <p:sp>
        <p:nvSpPr>
          <p:cNvPr id="15" name="Shape 13"/>
          <p:cNvSpPr/>
          <p:nvPr/>
        </p:nvSpPr>
        <p:spPr>
          <a:xfrm>
            <a:off x="609441" y="5680885"/>
            <a:ext cx="2620597" cy="365665"/>
          </a:xfrm>
          <a:prstGeom prst="rect">
            <a:avLst/>
          </a:prstGeom>
          <a:solidFill>
            <a:srgbClr val="1B6CA8">
              <a:alpha val="80000"/>
            </a:srgbClr>
          </a:solidFill>
          <a:ln w="12700">
            <a:solidFill>
              <a:srgbClr val="2D9CD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609441" y="5680885"/>
            <a:ext cx="2620597" cy="365665"/>
          </a:xfrm>
          <a:prstGeom prst="rect">
            <a:avLst/>
          </a:prstGeom>
          <a:noFill/>
          <a:ln/>
        </p:spPr>
        <p:txBody>
          <a:bodyPr wrap="square" lIns="0" tIns="0" rIns="0" bIns="0" rtlCol="0" anchor="ctr"/>
          <a:lstStyle/>
          <a:p>
            <a:pPr algn="ctr" defTabSz="1218895">
              <a:buClrTx/>
            </a:pPr>
            <a:r>
              <a:rPr lang="en-US" sz="1133" kern="1200" dirty="0">
                <a:solidFill>
                  <a:srgbClr val="FFFFFF"/>
                </a:solidFill>
                <a:latin typeface="Consolas" pitchFamily="34" charset="0"/>
                <a:ea typeface="Consolas" pitchFamily="34" charset="-122"/>
                <a:cs typeface="Consolas" pitchFamily="34" charset="-120"/>
              </a:rPr>
              <a:t>Branded Keys</a:t>
            </a:r>
            <a:endParaRPr lang="en-US" sz="1133" kern="1200" dirty="0">
              <a:solidFill>
                <a:prstClr val="black"/>
              </a:solidFill>
              <a:latin typeface="Calibri" panose="020F0502020204030204"/>
              <a:ea typeface="+mn-ea"/>
              <a:cs typeface="+mn-cs"/>
            </a:endParaRPr>
          </a:p>
        </p:txBody>
      </p:sp>
      <p:sp>
        <p:nvSpPr>
          <p:cNvPr id="17" name="Shape 15"/>
          <p:cNvSpPr/>
          <p:nvPr/>
        </p:nvSpPr>
        <p:spPr>
          <a:xfrm>
            <a:off x="3412871" y="5680885"/>
            <a:ext cx="2620597" cy="365665"/>
          </a:xfrm>
          <a:prstGeom prst="rect">
            <a:avLst/>
          </a:prstGeom>
          <a:solidFill>
            <a:srgbClr val="1B6CA8">
              <a:alpha val="80000"/>
            </a:srgbClr>
          </a:solidFill>
          <a:ln w="12700">
            <a:solidFill>
              <a:srgbClr val="2D9CD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8" name="Text 16"/>
          <p:cNvSpPr/>
          <p:nvPr/>
        </p:nvSpPr>
        <p:spPr>
          <a:xfrm>
            <a:off x="3412871" y="5680885"/>
            <a:ext cx="2620597" cy="365665"/>
          </a:xfrm>
          <a:prstGeom prst="rect">
            <a:avLst/>
          </a:prstGeom>
          <a:noFill/>
          <a:ln/>
        </p:spPr>
        <p:txBody>
          <a:bodyPr wrap="square" lIns="0" tIns="0" rIns="0" bIns="0" rtlCol="0" anchor="ctr"/>
          <a:lstStyle/>
          <a:p>
            <a:pPr algn="ctr" defTabSz="1218895">
              <a:buClrTx/>
            </a:pPr>
            <a:r>
              <a:rPr lang="en-US" sz="1133" kern="1200" dirty="0">
                <a:solidFill>
                  <a:srgbClr val="FFFFFF"/>
                </a:solidFill>
                <a:latin typeface="Consolas" pitchFamily="34" charset="0"/>
                <a:ea typeface="Consolas" pitchFamily="34" charset="-122"/>
                <a:cs typeface="Consolas" pitchFamily="34" charset="-120"/>
              </a:rPr>
              <a:t>Null-safe calls</a:t>
            </a:r>
            <a:endParaRPr lang="en-US" sz="1133" kern="1200" dirty="0">
              <a:solidFill>
                <a:prstClr val="black"/>
              </a:solidFill>
              <a:latin typeface="Calibri" panose="020F0502020204030204"/>
              <a:ea typeface="+mn-ea"/>
              <a:cs typeface="+mn-cs"/>
            </a:endParaRPr>
          </a:p>
        </p:txBody>
      </p:sp>
      <p:sp>
        <p:nvSpPr>
          <p:cNvPr id="19" name="Shape 17"/>
          <p:cNvSpPr/>
          <p:nvPr/>
        </p:nvSpPr>
        <p:spPr>
          <a:xfrm>
            <a:off x="6216300" y="5680885"/>
            <a:ext cx="2620597" cy="365665"/>
          </a:xfrm>
          <a:prstGeom prst="rect">
            <a:avLst/>
          </a:prstGeom>
          <a:solidFill>
            <a:srgbClr val="1B6CA8">
              <a:alpha val="80000"/>
            </a:srgbClr>
          </a:solidFill>
          <a:ln w="12700">
            <a:solidFill>
              <a:srgbClr val="2D9CD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Text 18"/>
          <p:cNvSpPr/>
          <p:nvPr/>
        </p:nvSpPr>
        <p:spPr>
          <a:xfrm>
            <a:off x="6216300" y="5680885"/>
            <a:ext cx="2620597" cy="365665"/>
          </a:xfrm>
          <a:prstGeom prst="rect">
            <a:avLst/>
          </a:prstGeom>
          <a:noFill/>
          <a:ln/>
        </p:spPr>
        <p:txBody>
          <a:bodyPr wrap="square" lIns="0" tIns="0" rIns="0" bIns="0" rtlCol="0" anchor="ctr"/>
          <a:lstStyle/>
          <a:p>
            <a:pPr algn="ctr" defTabSz="1218895">
              <a:buClrTx/>
            </a:pPr>
            <a:r>
              <a:rPr lang="en-US" sz="1133" kern="1200" dirty="0">
                <a:solidFill>
                  <a:srgbClr val="FFFFFF"/>
                </a:solidFill>
                <a:latin typeface="Consolas" pitchFamily="34" charset="0"/>
                <a:ea typeface="Consolas" pitchFamily="34" charset="-122"/>
                <a:cs typeface="Consolas" pitchFamily="34" charset="-120"/>
              </a:rPr>
              <a:t>Jest Tests</a:t>
            </a:r>
            <a:endParaRPr lang="en-US" sz="1133" kern="1200" dirty="0">
              <a:solidFill>
                <a:prstClr val="black"/>
              </a:solidFill>
              <a:latin typeface="Calibri" panose="020F0502020204030204"/>
              <a:ea typeface="+mn-ea"/>
              <a:cs typeface="+mn-cs"/>
            </a:endParaRPr>
          </a:p>
        </p:txBody>
      </p:sp>
      <p:sp>
        <p:nvSpPr>
          <p:cNvPr id="21" name="Shape 19"/>
          <p:cNvSpPr/>
          <p:nvPr/>
        </p:nvSpPr>
        <p:spPr>
          <a:xfrm>
            <a:off x="9507283" y="6034361"/>
            <a:ext cx="2437765" cy="731330"/>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2" name="Text 20"/>
          <p:cNvSpPr/>
          <p:nvPr/>
        </p:nvSpPr>
        <p:spPr>
          <a:xfrm>
            <a:off x="9507283" y="6034361"/>
            <a:ext cx="2437765" cy="731330"/>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alibri" pitchFamily="34" charset="0"/>
                <a:ea typeface="Calibri" pitchFamily="34" charset="-122"/>
                <a:cs typeface="Calibri" pitchFamily="34" charset="-120"/>
              </a:rPr>
              <a:t>Complete Guide</a:t>
            </a:r>
            <a:endParaRPr lang="en-US" sz="1600" kern="1200" dirty="0">
              <a:solidFill>
                <a:prstClr val="black"/>
              </a:solidFill>
              <a:latin typeface="Calibri" panose="020F0502020204030204"/>
              <a:ea typeface="+mn-ea"/>
              <a:cs typeface="+mn-cs"/>
            </a:endParaRPr>
          </a:p>
        </p:txBody>
      </p:sp>
      <p:pic>
        <p:nvPicPr>
          <p:cNvPr id="23" name="Google Shape;497;p1">
            <a:extLst>
              <a:ext uri="{FF2B5EF4-FFF2-40B4-BE49-F238E27FC236}">
                <a16:creationId xmlns:a16="http://schemas.microsoft.com/office/drawing/2014/main" id="{EC806731-862E-4D11-A00A-EB73EF762499}"/>
              </a:ext>
            </a:extLst>
          </p:cNvPr>
          <p:cNvPicPr preferRelativeResize="0"/>
          <p:nvPr/>
        </p:nvPicPr>
        <p:blipFill rotWithShape="1">
          <a:blip r:embed="rId3">
            <a:alphaModFix/>
          </a:blip>
          <a:srcRect/>
          <a:stretch/>
        </p:blipFill>
        <p:spPr>
          <a:xfrm>
            <a:off x="7851539" y="1372856"/>
            <a:ext cx="3508446" cy="33517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1218883"/>
          </a:xfrm>
          <a:prstGeom prst="rect">
            <a:avLst/>
          </a:prstGeom>
          <a:noFill/>
          <a:ln/>
        </p:spPr>
        <p:txBody>
          <a:bodyPr wrap="square" lIns="0" tIns="0" rIns="0" bIns="0" rtlCol="0" anchor="ctr"/>
          <a:lstStyle/>
          <a:p>
            <a:pPr defTabSz="1218895">
              <a:buClrTx/>
            </a:pPr>
            <a:r>
              <a:rPr lang="en-US" sz="3333" b="1" kern="1200" dirty="0">
                <a:solidFill>
                  <a:srgbClr val="FFFFFF"/>
                </a:solidFill>
                <a:latin typeface="Calibri" pitchFamily="34" charset="0"/>
                <a:ea typeface="Calibri" pitchFamily="34" charset="-122"/>
                <a:cs typeface="Calibri" pitchFamily="34" charset="-120"/>
              </a:rPr>
              <a:t>Learning Objectives — Complete Migration Path</a:t>
            </a:r>
            <a:endParaRPr lang="en-US" sz="3333" kern="1200" dirty="0">
              <a:solidFill>
                <a:prstClr val="black"/>
              </a:solidFill>
              <a:latin typeface="Calibri" panose="020F0502020204030204"/>
              <a:ea typeface="+mn-ea"/>
              <a:cs typeface="+mn-cs"/>
            </a:endParaRPr>
          </a:p>
        </p:txBody>
      </p:sp>
      <p:sp>
        <p:nvSpPr>
          <p:cNvPr id="5" name="Shape 3"/>
          <p:cNvSpPr/>
          <p:nvPr/>
        </p:nvSpPr>
        <p:spPr>
          <a:xfrm>
            <a:off x="426608" y="1487929"/>
            <a:ext cx="5728748" cy="12188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6" name="Shape 4"/>
          <p:cNvSpPr/>
          <p:nvPr/>
        </p:nvSpPr>
        <p:spPr>
          <a:xfrm>
            <a:off x="426608" y="1487929"/>
            <a:ext cx="85322" cy="1218883"/>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Shape 5"/>
          <p:cNvSpPr/>
          <p:nvPr/>
        </p:nvSpPr>
        <p:spPr>
          <a:xfrm>
            <a:off x="597252" y="1780461"/>
            <a:ext cx="633819" cy="633819"/>
          </a:xfrm>
          <a:prstGeom prst="ellipse">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633818" y="1817028"/>
            <a:ext cx="560686" cy="560686"/>
          </a:xfrm>
          <a:prstGeom prst="rect">
            <a:avLst/>
          </a:prstGeom>
        </p:spPr>
      </p:pic>
      <p:sp>
        <p:nvSpPr>
          <p:cNvPr id="9" name="Text 6"/>
          <p:cNvSpPr/>
          <p:nvPr/>
        </p:nvSpPr>
        <p:spPr>
          <a:xfrm>
            <a:off x="1377337" y="1609818"/>
            <a:ext cx="4656131" cy="390042"/>
          </a:xfrm>
          <a:prstGeom prst="rect">
            <a:avLst/>
          </a:prstGeom>
          <a:noFill/>
          <a:ln/>
        </p:spPr>
        <p:txBody>
          <a:bodyPr wrap="square" lIns="0" tIns="0" rIns="0" bIns="0" rtlCol="0" anchor="ctr"/>
          <a:lstStyle/>
          <a:p>
            <a:pPr defTabSz="1218895">
              <a:buClrTx/>
            </a:pPr>
            <a:r>
              <a:rPr lang="en-US" sz="1600" b="1" kern="1200" dirty="0">
                <a:solidFill>
                  <a:srgbClr val="0D1B2A"/>
                </a:solidFill>
                <a:latin typeface="Calibri" pitchFamily="34" charset="0"/>
                <a:ea typeface="Calibri" pitchFamily="34" charset="-122"/>
                <a:cs typeface="Calibri" pitchFamily="34" charset="-120"/>
              </a:rPr>
              <a:t>Install &amp; Configure TS in CAP</a:t>
            </a:r>
            <a:endParaRPr lang="en-US" sz="1600" kern="1200" dirty="0">
              <a:solidFill>
                <a:prstClr val="black"/>
              </a:solidFill>
              <a:latin typeface="Calibri" panose="020F0502020204030204"/>
              <a:ea typeface="+mn-ea"/>
              <a:cs typeface="+mn-cs"/>
            </a:endParaRPr>
          </a:p>
        </p:txBody>
      </p:sp>
      <p:sp>
        <p:nvSpPr>
          <p:cNvPr id="10" name="Text 7"/>
          <p:cNvSpPr/>
          <p:nvPr/>
        </p:nvSpPr>
        <p:spPr>
          <a:xfrm>
            <a:off x="1377337" y="2024238"/>
            <a:ext cx="4656131" cy="609441"/>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npm packages, @cap-js/cds-types, tsconfig.json tuned for CAP Node.js projects</a:t>
            </a:r>
            <a:endParaRPr lang="en-US" sz="1266" kern="1200" dirty="0">
              <a:solidFill>
                <a:prstClr val="black"/>
              </a:solidFill>
              <a:latin typeface="Calibri" panose="020F0502020204030204"/>
              <a:ea typeface="+mn-ea"/>
              <a:cs typeface="+mn-cs"/>
            </a:endParaRPr>
          </a:p>
        </p:txBody>
      </p:sp>
      <p:sp>
        <p:nvSpPr>
          <p:cNvPr id="11" name="Shape 8"/>
          <p:cNvSpPr/>
          <p:nvPr/>
        </p:nvSpPr>
        <p:spPr>
          <a:xfrm>
            <a:off x="6423510" y="1487929"/>
            <a:ext cx="5728748" cy="12188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2" name="Shape 9"/>
          <p:cNvSpPr/>
          <p:nvPr/>
        </p:nvSpPr>
        <p:spPr>
          <a:xfrm>
            <a:off x="6423510" y="1487929"/>
            <a:ext cx="85322" cy="1218883"/>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Shape 10"/>
          <p:cNvSpPr/>
          <p:nvPr/>
        </p:nvSpPr>
        <p:spPr>
          <a:xfrm>
            <a:off x="6594154" y="1780461"/>
            <a:ext cx="633819" cy="633819"/>
          </a:xfrm>
          <a:prstGeom prst="ellipse">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14" name="Image 1" descr="preencoded.png"/>
          <p:cNvPicPr>
            <a:picLocks noChangeAspect="1"/>
          </p:cNvPicPr>
          <p:nvPr/>
        </p:nvPicPr>
        <p:blipFill>
          <a:blip r:embed="rId4"/>
          <a:stretch>
            <a:fillRect/>
          </a:stretch>
        </p:blipFill>
        <p:spPr>
          <a:xfrm>
            <a:off x="6630720" y="1817028"/>
            <a:ext cx="560686" cy="560686"/>
          </a:xfrm>
          <a:prstGeom prst="rect">
            <a:avLst/>
          </a:prstGeom>
        </p:spPr>
      </p:pic>
      <p:sp>
        <p:nvSpPr>
          <p:cNvPr id="15" name="Text 11"/>
          <p:cNvSpPr/>
          <p:nvPr/>
        </p:nvSpPr>
        <p:spPr>
          <a:xfrm>
            <a:off x="7374239" y="1609818"/>
            <a:ext cx="4656131" cy="390042"/>
          </a:xfrm>
          <a:prstGeom prst="rect">
            <a:avLst/>
          </a:prstGeom>
          <a:noFill/>
          <a:ln/>
        </p:spPr>
        <p:txBody>
          <a:bodyPr wrap="square" lIns="0" tIns="0" rIns="0" bIns="0" rtlCol="0" anchor="ctr"/>
          <a:lstStyle/>
          <a:p>
            <a:pPr defTabSz="1218895">
              <a:buClrTx/>
            </a:pPr>
            <a:r>
              <a:rPr lang="en-US" sz="1600" b="1" kern="1200" dirty="0">
                <a:solidFill>
                  <a:srgbClr val="0D1B2A"/>
                </a:solidFill>
                <a:latin typeface="Calibri" pitchFamily="34" charset="0"/>
                <a:ea typeface="Calibri" pitchFamily="34" charset="-122"/>
                <a:cs typeface="Calibri" pitchFamily="34" charset="-120"/>
              </a:rPr>
              <a:t>Migrate Utility Files</a:t>
            </a:r>
            <a:endParaRPr lang="en-US" sz="1600" kern="1200" dirty="0">
              <a:solidFill>
                <a:prstClr val="black"/>
              </a:solidFill>
              <a:latin typeface="Calibri" panose="020F0502020204030204"/>
              <a:ea typeface="+mn-ea"/>
              <a:cs typeface="+mn-cs"/>
            </a:endParaRPr>
          </a:p>
        </p:txBody>
      </p:sp>
      <p:sp>
        <p:nvSpPr>
          <p:cNvPr id="16" name="Text 12"/>
          <p:cNvSpPr/>
          <p:nvPr/>
        </p:nvSpPr>
        <p:spPr>
          <a:xfrm>
            <a:off x="7374239" y="2024238"/>
            <a:ext cx="4656131" cy="609441"/>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payload-transformer.ts and error-mapper.ts with full interfaces and strict types</a:t>
            </a:r>
            <a:endParaRPr lang="en-US" sz="1266" kern="1200" dirty="0">
              <a:solidFill>
                <a:prstClr val="black"/>
              </a:solidFill>
              <a:latin typeface="Calibri" panose="020F0502020204030204"/>
              <a:ea typeface="+mn-ea"/>
              <a:cs typeface="+mn-cs"/>
            </a:endParaRPr>
          </a:p>
        </p:txBody>
      </p:sp>
      <p:sp>
        <p:nvSpPr>
          <p:cNvPr id="17" name="Shape 13"/>
          <p:cNvSpPr/>
          <p:nvPr/>
        </p:nvSpPr>
        <p:spPr>
          <a:xfrm>
            <a:off x="426608" y="2828700"/>
            <a:ext cx="5728748" cy="12188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8" name="Shape 14"/>
          <p:cNvSpPr/>
          <p:nvPr/>
        </p:nvSpPr>
        <p:spPr>
          <a:xfrm>
            <a:off x="426608" y="2828700"/>
            <a:ext cx="85322" cy="1218883"/>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Shape 15"/>
          <p:cNvSpPr/>
          <p:nvPr/>
        </p:nvSpPr>
        <p:spPr>
          <a:xfrm>
            <a:off x="597252" y="3121232"/>
            <a:ext cx="633819" cy="633819"/>
          </a:xfrm>
          <a:prstGeom prst="ellipse">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20" name="Image 2" descr="preencoded.png"/>
          <p:cNvPicPr>
            <a:picLocks noChangeAspect="1"/>
          </p:cNvPicPr>
          <p:nvPr/>
        </p:nvPicPr>
        <p:blipFill>
          <a:blip r:embed="rId5"/>
          <a:stretch>
            <a:fillRect/>
          </a:stretch>
        </p:blipFill>
        <p:spPr>
          <a:xfrm>
            <a:off x="633818" y="3157799"/>
            <a:ext cx="560686" cy="560686"/>
          </a:xfrm>
          <a:prstGeom prst="rect">
            <a:avLst/>
          </a:prstGeom>
        </p:spPr>
      </p:pic>
      <p:sp>
        <p:nvSpPr>
          <p:cNvPr id="21" name="Text 16"/>
          <p:cNvSpPr/>
          <p:nvPr/>
        </p:nvSpPr>
        <p:spPr>
          <a:xfrm>
            <a:off x="1377337" y="2950589"/>
            <a:ext cx="4656131" cy="390042"/>
          </a:xfrm>
          <a:prstGeom prst="rect">
            <a:avLst/>
          </a:prstGeom>
          <a:noFill/>
          <a:ln/>
        </p:spPr>
        <p:txBody>
          <a:bodyPr wrap="square" lIns="0" tIns="0" rIns="0" bIns="0" rtlCol="0" anchor="ctr"/>
          <a:lstStyle/>
          <a:p>
            <a:pPr defTabSz="1218895">
              <a:buClrTx/>
            </a:pPr>
            <a:r>
              <a:rPr lang="en-US" sz="1600" b="1" kern="1200" dirty="0">
                <a:solidFill>
                  <a:srgbClr val="0D1B2A"/>
                </a:solidFill>
                <a:latin typeface="Calibri" pitchFamily="34" charset="0"/>
                <a:ea typeface="Calibri" pitchFamily="34" charset="-122"/>
                <a:cs typeface="Calibri" pitchFamily="34" charset="-120"/>
              </a:rPr>
              <a:t>Migrate CAP Service Handlers</a:t>
            </a:r>
            <a:endParaRPr lang="en-US" sz="1600" kern="1200" dirty="0">
              <a:solidFill>
                <a:prstClr val="black"/>
              </a:solidFill>
              <a:latin typeface="Calibri" panose="020F0502020204030204"/>
              <a:ea typeface="+mn-ea"/>
              <a:cs typeface="+mn-cs"/>
            </a:endParaRPr>
          </a:p>
        </p:txBody>
      </p:sp>
      <p:sp>
        <p:nvSpPr>
          <p:cNvPr id="22" name="Text 17"/>
          <p:cNvSpPr/>
          <p:nvPr/>
        </p:nvSpPr>
        <p:spPr>
          <a:xfrm>
            <a:off x="1377337" y="3365009"/>
            <a:ext cx="4656131" cy="609441"/>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CatalogService.js and CDSService.js generic handlers — typed CDS events &amp; requests</a:t>
            </a:r>
            <a:endParaRPr lang="en-US" sz="1266" kern="1200" dirty="0">
              <a:solidFill>
                <a:prstClr val="black"/>
              </a:solidFill>
              <a:latin typeface="Calibri" panose="020F0502020204030204"/>
              <a:ea typeface="+mn-ea"/>
              <a:cs typeface="+mn-cs"/>
            </a:endParaRPr>
          </a:p>
        </p:txBody>
      </p:sp>
      <p:sp>
        <p:nvSpPr>
          <p:cNvPr id="23" name="Shape 18"/>
          <p:cNvSpPr/>
          <p:nvPr/>
        </p:nvSpPr>
        <p:spPr>
          <a:xfrm>
            <a:off x="6423510" y="2828700"/>
            <a:ext cx="5728748" cy="12188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4" name="Shape 19"/>
          <p:cNvSpPr/>
          <p:nvPr/>
        </p:nvSpPr>
        <p:spPr>
          <a:xfrm>
            <a:off x="6423510" y="2828700"/>
            <a:ext cx="85322" cy="1218883"/>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5" name="Shape 20"/>
          <p:cNvSpPr/>
          <p:nvPr/>
        </p:nvSpPr>
        <p:spPr>
          <a:xfrm>
            <a:off x="6594154" y="3121232"/>
            <a:ext cx="633819" cy="633819"/>
          </a:xfrm>
          <a:prstGeom prst="ellipse">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26" name="Image 3" descr="preencoded.png"/>
          <p:cNvPicPr>
            <a:picLocks noChangeAspect="1"/>
          </p:cNvPicPr>
          <p:nvPr/>
        </p:nvPicPr>
        <p:blipFill>
          <a:blip r:embed="rId6"/>
          <a:stretch>
            <a:fillRect/>
          </a:stretch>
        </p:blipFill>
        <p:spPr>
          <a:xfrm>
            <a:off x="6630720" y="3157799"/>
            <a:ext cx="560686" cy="560686"/>
          </a:xfrm>
          <a:prstGeom prst="rect">
            <a:avLst/>
          </a:prstGeom>
        </p:spPr>
      </p:pic>
      <p:sp>
        <p:nvSpPr>
          <p:cNvPr id="27" name="Text 21"/>
          <p:cNvSpPr/>
          <p:nvPr/>
        </p:nvSpPr>
        <p:spPr>
          <a:xfrm>
            <a:off x="7374239" y="2950589"/>
            <a:ext cx="4656131" cy="390042"/>
          </a:xfrm>
          <a:prstGeom prst="rect">
            <a:avLst/>
          </a:prstGeom>
          <a:noFill/>
          <a:ln/>
        </p:spPr>
        <p:txBody>
          <a:bodyPr wrap="square" lIns="0" tIns="0" rIns="0" bIns="0" rtlCol="0" anchor="ctr"/>
          <a:lstStyle/>
          <a:p>
            <a:pPr defTabSz="1218895">
              <a:buClrTx/>
            </a:pPr>
            <a:r>
              <a:rPr lang="en-US" sz="1600" b="1" kern="1200" dirty="0">
                <a:solidFill>
                  <a:srgbClr val="0D1B2A"/>
                </a:solidFill>
                <a:latin typeface="Calibri" pitchFamily="34" charset="0"/>
                <a:ea typeface="Calibri" pitchFamily="34" charset="-122"/>
                <a:cs typeface="Calibri" pitchFamily="34" charset="-120"/>
              </a:rPr>
              <a:t>Define OData Interfaces</a:t>
            </a:r>
            <a:endParaRPr lang="en-US" sz="1600" kern="1200" dirty="0">
              <a:solidFill>
                <a:prstClr val="black"/>
              </a:solidFill>
              <a:latin typeface="Calibri" panose="020F0502020204030204"/>
              <a:ea typeface="+mn-ea"/>
              <a:cs typeface="+mn-cs"/>
            </a:endParaRPr>
          </a:p>
        </p:txBody>
      </p:sp>
      <p:sp>
        <p:nvSpPr>
          <p:cNvPr id="28" name="Text 22"/>
          <p:cNvSpPr/>
          <p:nvPr/>
        </p:nvSpPr>
        <p:spPr>
          <a:xfrm>
            <a:off x="7374239" y="3365009"/>
            <a:ext cx="4656131" cy="609441"/>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OData payload shapes, error objects, and CDS entity interfaces</a:t>
            </a:r>
            <a:endParaRPr lang="en-US" sz="1266" kern="1200" dirty="0">
              <a:solidFill>
                <a:prstClr val="black"/>
              </a:solidFill>
              <a:latin typeface="Calibri" panose="020F0502020204030204"/>
              <a:ea typeface="+mn-ea"/>
              <a:cs typeface="+mn-cs"/>
            </a:endParaRPr>
          </a:p>
        </p:txBody>
      </p:sp>
      <p:sp>
        <p:nvSpPr>
          <p:cNvPr id="29" name="Shape 23"/>
          <p:cNvSpPr/>
          <p:nvPr/>
        </p:nvSpPr>
        <p:spPr>
          <a:xfrm>
            <a:off x="426608" y="4169471"/>
            <a:ext cx="5728748" cy="12188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0" name="Shape 24"/>
          <p:cNvSpPr/>
          <p:nvPr/>
        </p:nvSpPr>
        <p:spPr>
          <a:xfrm>
            <a:off x="426608" y="4169471"/>
            <a:ext cx="85322" cy="1218883"/>
          </a:xfrm>
          <a:prstGeom prst="rect">
            <a:avLst/>
          </a:prstGeom>
          <a:solidFill>
            <a:srgbClr val="DC2626"/>
          </a:solidFill>
          <a:ln w="12700">
            <a:solidFill>
              <a:srgbClr val="DC262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1" name="Shape 25"/>
          <p:cNvSpPr/>
          <p:nvPr/>
        </p:nvSpPr>
        <p:spPr>
          <a:xfrm>
            <a:off x="597252" y="4462003"/>
            <a:ext cx="633819" cy="633819"/>
          </a:xfrm>
          <a:prstGeom prst="ellipse">
            <a:avLst/>
          </a:prstGeom>
          <a:solidFill>
            <a:srgbClr val="DC2626"/>
          </a:solidFill>
          <a:ln w="12700">
            <a:solidFill>
              <a:srgbClr val="DC262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32" name="Image 4" descr="preencoded.png"/>
          <p:cNvPicPr>
            <a:picLocks noChangeAspect="1"/>
          </p:cNvPicPr>
          <p:nvPr/>
        </p:nvPicPr>
        <p:blipFill>
          <a:blip r:embed="rId7"/>
          <a:stretch>
            <a:fillRect/>
          </a:stretch>
        </p:blipFill>
        <p:spPr>
          <a:xfrm>
            <a:off x="633818" y="4498569"/>
            <a:ext cx="560686" cy="560686"/>
          </a:xfrm>
          <a:prstGeom prst="rect">
            <a:avLst/>
          </a:prstGeom>
        </p:spPr>
      </p:pic>
      <p:sp>
        <p:nvSpPr>
          <p:cNvPr id="33" name="Text 26"/>
          <p:cNvSpPr/>
          <p:nvPr/>
        </p:nvSpPr>
        <p:spPr>
          <a:xfrm>
            <a:off x="1377337" y="4291360"/>
            <a:ext cx="4656131" cy="390042"/>
          </a:xfrm>
          <a:prstGeom prst="rect">
            <a:avLst/>
          </a:prstGeom>
          <a:noFill/>
          <a:ln/>
        </p:spPr>
        <p:txBody>
          <a:bodyPr wrap="square" lIns="0" tIns="0" rIns="0" bIns="0" rtlCol="0" anchor="ctr"/>
          <a:lstStyle/>
          <a:p>
            <a:pPr defTabSz="1218895">
              <a:buClrTx/>
            </a:pPr>
            <a:r>
              <a:rPr lang="en-US" sz="1600" b="1" kern="1200" dirty="0">
                <a:solidFill>
                  <a:srgbClr val="0D1B2A"/>
                </a:solidFill>
                <a:latin typeface="Calibri" pitchFamily="34" charset="0"/>
                <a:ea typeface="Calibri" pitchFamily="34" charset="-122"/>
                <a:cs typeface="Calibri" pitchFamily="34" charset="-120"/>
              </a:rPr>
              <a:t>Branded Types for Entity Keys</a:t>
            </a:r>
            <a:endParaRPr lang="en-US" sz="1600" kern="1200" dirty="0">
              <a:solidFill>
                <a:prstClr val="black"/>
              </a:solidFill>
              <a:latin typeface="Calibri" panose="020F0502020204030204"/>
              <a:ea typeface="+mn-ea"/>
              <a:cs typeface="+mn-cs"/>
            </a:endParaRPr>
          </a:p>
        </p:txBody>
      </p:sp>
      <p:sp>
        <p:nvSpPr>
          <p:cNvPr id="34" name="Text 27"/>
          <p:cNvSpPr/>
          <p:nvPr/>
        </p:nvSpPr>
        <p:spPr>
          <a:xfrm>
            <a:off x="1377337" y="4705780"/>
            <a:ext cx="4656131" cy="609441"/>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Prevent ID mix-ups at compile time using opaque/branded string types</a:t>
            </a:r>
            <a:endParaRPr lang="en-US" sz="1266" kern="1200" dirty="0">
              <a:solidFill>
                <a:prstClr val="black"/>
              </a:solidFill>
              <a:latin typeface="Calibri" panose="020F0502020204030204"/>
              <a:ea typeface="+mn-ea"/>
              <a:cs typeface="+mn-cs"/>
            </a:endParaRPr>
          </a:p>
        </p:txBody>
      </p:sp>
      <p:sp>
        <p:nvSpPr>
          <p:cNvPr id="35" name="Shape 28"/>
          <p:cNvSpPr/>
          <p:nvPr/>
        </p:nvSpPr>
        <p:spPr>
          <a:xfrm>
            <a:off x="6423510" y="4169471"/>
            <a:ext cx="5728748" cy="12188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6" name="Shape 29"/>
          <p:cNvSpPr/>
          <p:nvPr/>
        </p:nvSpPr>
        <p:spPr>
          <a:xfrm>
            <a:off x="6423510" y="4169471"/>
            <a:ext cx="85322" cy="1218883"/>
          </a:xfrm>
          <a:prstGeom prst="rect">
            <a:avLst/>
          </a:prstGeom>
          <a:solidFill>
            <a:srgbClr val="1D4ED8"/>
          </a:solidFill>
          <a:ln w="12700">
            <a:solidFill>
              <a:srgbClr val="1D4ED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7" name="Shape 30"/>
          <p:cNvSpPr/>
          <p:nvPr/>
        </p:nvSpPr>
        <p:spPr>
          <a:xfrm>
            <a:off x="6594154" y="4462003"/>
            <a:ext cx="633819" cy="633819"/>
          </a:xfrm>
          <a:prstGeom prst="ellipse">
            <a:avLst/>
          </a:prstGeom>
          <a:solidFill>
            <a:srgbClr val="1D4ED8"/>
          </a:solidFill>
          <a:ln w="12700">
            <a:solidFill>
              <a:srgbClr val="1D4ED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38" name="Image 5" descr="preencoded.png"/>
          <p:cNvPicPr>
            <a:picLocks noChangeAspect="1"/>
          </p:cNvPicPr>
          <p:nvPr/>
        </p:nvPicPr>
        <p:blipFill>
          <a:blip r:embed="rId8"/>
          <a:stretch>
            <a:fillRect/>
          </a:stretch>
        </p:blipFill>
        <p:spPr>
          <a:xfrm>
            <a:off x="6630720" y="4498569"/>
            <a:ext cx="560686" cy="560686"/>
          </a:xfrm>
          <a:prstGeom prst="rect">
            <a:avLst/>
          </a:prstGeom>
        </p:spPr>
      </p:pic>
      <p:sp>
        <p:nvSpPr>
          <p:cNvPr id="39" name="Text 31"/>
          <p:cNvSpPr/>
          <p:nvPr/>
        </p:nvSpPr>
        <p:spPr>
          <a:xfrm>
            <a:off x="7374239" y="4291360"/>
            <a:ext cx="4656131" cy="390042"/>
          </a:xfrm>
          <a:prstGeom prst="rect">
            <a:avLst/>
          </a:prstGeom>
          <a:noFill/>
          <a:ln/>
        </p:spPr>
        <p:txBody>
          <a:bodyPr wrap="square" lIns="0" tIns="0" rIns="0" bIns="0" rtlCol="0" anchor="ctr"/>
          <a:lstStyle/>
          <a:p>
            <a:pPr defTabSz="1218895">
              <a:buClrTx/>
            </a:pPr>
            <a:r>
              <a:rPr lang="en-US" sz="1600" b="1" kern="1200" dirty="0">
                <a:solidFill>
                  <a:srgbClr val="0D1B2A"/>
                </a:solidFill>
                <a:latin typeface="Calibri" pitchFamily="34" charset="0"/>
                <a:ea typeface="Calibri" pitchFamily="34" charset="-122"/>
                <a:cs typeface="Calibri" pitchFamily="34" charset="-120"/>
              </a:rPr>
              <a:t>Strict Null-Safe Service Calls</a:t>
            </a:r>
            <a:endParaRPr lang="en-US" sz="1600" kern="1200" dirty="0">
              <a:solidFill>
                <a:prstClr val="black"/>
              </a:solidFill>
              <a:latin typeface="Calibri" panose="020F0502020204030204"/>
              <a:ea typeface="+mn-ea"/>
              <a:cs typeface="+mn-cs"/>
            </a:endParaRPr>
          </a:p>
        </p:txBody>
      </p:sp>
      <p:sp>
        <p:nvSpPr>
          <p:cNvPr id="40" name="Text 32"/>
          <p:cNvSpPr/>
          <p:nvPr/>
        </p:nvSpPr>
        <p:spPr>
          <a:xfrm>
            <a:off x="7374239" y="4705780"/>
            <a:ext cx="4656131" cy="609441"/>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Guard every cds.connect, service.run and request.data against null/undefined</a:t>
            </a:r>
            <a:endParaRPr lang="en-US" sz="1266" kern="1200" dirty="0">
              <a:solidFill>
                <a:prstClr val="black"/>
              </a:solidFill>
              <a:latin typeface="Calibri" panose="020F0502020204030204"/>
              <a:ea typeface="+mn-ea"/>
              <a:cs typeface="+mn-cs"/>
            </a:endParaRPr>
          </a:p>
        </p:txBody>
      </p:sp>
      <p:sp>
        <p:nvSpPr>
          <p:cNvPr id="41" name="Shape 33"/>
          <p:cNvSpPr/>
          <p:nvPr/>
        </p:nvSpPr>
        <p:spPr>
          <a:xfrm>
            <a:off x="3108150" y="5510242"/>
            <a:ext cx="5972524" cy="12188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2" name="Shape 34"/>
          <p:cNvSpPr/>
          <p:nvPr/>
        </p:nvSpPr>
        <p:spPr>
          <a:xfrm>
            <a:off x="3108150" y="5510242"/>
            <a:ext cx="85322" cy="1218883"/>
          </a:xfrm>
          <a:prstGeom prst="rect">
            <a:avLst/>
          </a:prstGeom>
          <a:solidFill>
            <a:srgbClr val="059669"/>
          </a:solidFill>
          <a:ln w="12700">
            <a:solidFill>
              <a:srgbClr val="059669"/>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3" name="Shape 35"/>
          <p:cNvSpPr/>
          <p:nvPr/>
        </p:nvSpPr>
        <p:spPr>
          <a:xfrm>
            <a:off x="3278793" y="5802774"/>
            <a:ext cx="633819" cy="633819"/>
          </a:xfrm>
          <a:prstGeom prst="ellipse">
            <a:avLst/>
          </a:prstGeom>
          <a:solidFill>
            <a:srgbClr val="059669"/>
          </a:solidFill>
          <a:ln w="12700">
            <a:solidFill>
              <a:srgbClr val="059669"/>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44" name="Image 6" descr="preencoded.png"/>
          <p:cNvPicPr>
            <a:picLocks noChangeAspect="1"/>
          </p:cNvPicPr>
          <p:nvPr/>
        </p:nvPicPr>
        <p:blipFill>
          <a:blip r:embed="rId9"/>
          <a:stretch>
            <a:fillRect/>
          </a:stretch>
        </p:blipFill>
        <p:spPr>
          <a:xfrm>
            <a:off x="3315360" y="5839340"/>
            <a:ext cx="560686" cy="560686"/>
          </a:xfrm>
          <a:prstGeom prst="rect">
            <a:avLst/>
          </a:prstGeom>
        </p:spPr>
      </p:pic>
      <p:sp>
        <p:nvSpPr>
          <p:cNvPr id="45" name="Text 36"/>
          <p:cNvSpPr/>
          <p:nvPr/>
        </p:nvSpPr>
        <p:spPr>
          <a:xfrm>
            <a:off x="4058878" y="5632130"/>
            <a:ext cx="4875530" cy="390042"/>
          </a:xfrm>
          <a:prstGeom prst="rect">
            <a:avLst/>
          </a:prstGeom>
          <a:noFill/>
          <a:ln/>
        </p:spPr>
        <p:txBody>
          <a:bodyPr wrap="square" lIns="0" tIns="0" rIns="0" bIns="0" rtlCol="0" anchor="ctr"/>
          <a:lstStyle/>
          <a:p>
            <a:pPr defTabSz="1218895">
              <a:buClrTx/>
            </a:pPr>
            <a:r>
              <a:rPr lang="en-US" sz="1600" b="1" kern="1200" dirty="0">
                <a:solidFill>
                  <a:srgbClr val="0D1B2A"/>
                </a:solidFill>
                <a:latin typeface="Calibri" pitchFamily="34" charset="0"/>
                <a:ea typeface="Calibri" pitchFamily="34" charset="-122"/>
                <a:cs typeface="Calibri" pitchFamily="34" charset="-120"/>
              </a:rPr>
              <a:t>Verify Without Rewriting</a:t>
            </a:r>
            <a:endParaRPr lang="en-US" sz="1600" kern="1200" dirty="0">
              <a:solidFill>
                <a:prstClr val="black"/>
              </a:solidFill>
              <a:latin typeface="Calibri" panose="020F0502020204030204"/>
              <a:ea typeface="+mn-ea"/>
              <a:cs typeface="+mn-cs"/>
            </a:endParaRPr>
          </a:p>
        </p:txBody>
      </p:sp>
      <p:sp>
        <p:nvSpPr>
          <p:cNvPr id="46" name="Text 37"/>
          <p:cNvSpPr/>
          <p:nvPr/>
        </p:nvSpPr>
        <p:spPr>
          <a:xfrm>
            <a:off x="4058878" y="6046550"/>
            <a:ext cx="4875530" cy="609441"/>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tsc --noEmit + unchanged Jest suite confirms all business logic is preserved</a:t>
            </a:r>
            <a:endParaRPr lang="en-US" sz="1266" kern="1200" dirty="0">
              <a:solidFill>
                <a:prstClr val="black"/>
              </a:solidFill>
              <a:latin typeface="Calibri" panose="020F0502020204030204"/>
              <a:ea typeface="+mn-ea"/>
              <a:cs typeface="+mn-cs"/>
            </a:endParaRPr>
          </a:p>
        </p:txBody>
      </p:sp>
      <p:pic>
        <p:nvPicPr>
          <p:cNvPr id="47" name="Google Shape;497;p1">
            <a:extLst>
              <a:ext uri="{FF2B5EF4-FFF2-40B4-BE49-F238E27FC236}">
                <a16:creationId xmlns:a16="http://schemas.microsoft.com/office/drawing/2014/main" id="{075ECE42-CE8E-012D-97F1-129F0653B303}"/>
              </a:ext>
            </a:extLst>
          </p:cNvPr>
          <p:cNvPicPr preferRelativeResize="0"/>
          <p:nvPr/>
        </p:nvPicPr>
        <p:blipFill rotWithShape="1">
          <a:blip r:embed="rId10">
            <a:alphaModFix/>
          </a:blip>
          <a:srcRect/>
          <a:stretch/>
        </p:blipFill>
        <p:spPr>
          <a:xfrm>
            <a:off x="10503584" y="-58217"/>
            <a:ext cx="1733995" cy="165618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FFFFF"/>
                </a:solidFill>
                <a:latin typeface="Calibri" pitchFamily="34" charset="0"/>
                <a:ea typeface="Calibri" pitchFamily="34" charset="-122"/>
                <a:cs typeface="Calibri" pitchFamily="34" charset="-120"/>
              </a:rPr>
              <a:t>Starter Project Structure — Files to Migrate</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All JS files involved · three layers: utilities, service handlers, and tests</a:t>
            </a:r>
            <a:endParaRPr lang="en-US" kern="1200" dirty="0">
              <a:solidFill>
                <a:prstClr val="black"/>
              </a:solidFill>
              <a:latin typeface="Calibri" panose="020F0502020204030204"/>
              <a:ea typeface="+mn-ea"/>
              <a:cs typeface="+mn-cs"/>
            </a:endParaRPr>
          </a:p>
        </p:txBody>
      </p:sp>
      <p:sp>
        <p:nvSpPr>
          <p:cNvPr id="6" name="Shape 4"/>
          <p:cNvSpPr/>
          <p:nvPr/>
        </p:nvSpPr>
        <p:spPr>
          <a:xfrm>
            <a:off x="426609" y="1402608"/>
            <a:ext cx="4997418" cy="5241195"/>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609441" y="1487930"/>
            <a:ext cx="4692698" cy="426609"/>
          </a:xfrm>
          <a:prstGeom prst="rect">
            <a:avLst/>
          </a:prstGeom>
          <a:noFill/>
          <a:ln/>
        </p:spPr>
        <p:txBody>
          <a:bodyPr wrap="square" lIns="0" tIns="0" rIns="0" bIns="0" rtlCol="0" anchor="ctr"/>
          <a:lstStyle/>
          <a:p>
            <a:pPr defTabSz="1218895">
              <a:buClrTx/>
            </a:pPr>
            <a:r>
              <a:rPr lang="en-US" sz="1600" b="1" kern="1200" dirty="0">
                <a:solidFill>
                  <a:srgbClr val="F59E0B"/>
                </a:solidFill>
                <a:latin typeface="Consolas" pitchFamily="34" charset="0"/>
                <a:ea typeface="Consolas" pitchFamily="34" charset="-122"/>
                <a:cs typeface="Consolas" pitchFamily="34" charset="-120"/>
              </a:rPr>
              <a:t>📁 CAP Project Structure</a:t>
            </a:r>
            <a:endParaRPr lang="en-US" sz="1600" kern="1200" dirty="0">
              <a:solidFill>
                <a:prstClr val="black"/>
              </a:solidFill>
              <a:latin typeface="Calibri" panose="020F0502020204030204"/>
              <a:ea typeface="+mn-ea"/>
              <a:cs typeface="+mn-cs"/>
            </a:endParaRPr>
          </a:p>
        </p:txBody>
      </p:sp>
      <p:sp>
        <p:nvSpPr>
          <p:cNvPr id="8" name="Text 6"/>
          <p:cNvSpPr/>
          <p:nvPr/>
        </p:nvSpPr>
        <p:spPr>
          <a:xfrm>
            <a:off x="609441" y="1975483"/>
            <a:ext cx="4631754" cy="292532"/>
          </a:xfrm>
          <a:prstGeom prst="rect">
            <a:avLst/>
          </a:prstGeom>
          <a:noFill/>
          <a:ln/>
        </p:spPr>
        <p:txBody>
          <a:bodyPr wrap="square" lIns="0" tIns="0" rIns="0" bIns="0" rtlCol="0" anchor="ctr"/>
          <a:lstStyle/>
          <a:p>
            <a:pPr defTabSz="1218895">
              <a:buClrTx/>
            </a:pPr>
            <a:r>
              <a:rPr lang="en-US" sz="1200" b="1" kern="1200" dirty="0">
                <a:solidFill>
                  <a:srgbClr val="FFFFFF"/>
                </a:solidFill>
                <a:latin typeface="Consolas" pitchFamily="34" charset="0"/>
                <a:ea typeface="Consolas" pitchFamily="34" charset="-122"/>
                <a:cs typeface="Consolas" pitchFamily="34" charset="-120"/>
              </a:rPr>
              <a:t>my-cap-project/</a:t>
            </a:r>
            <a:endParaRPr lang="en-US" sz="1200" kern="1200" dirty="0">
              <a:solidFill>
                <a:prstClr val="black"/>
              </a:solidFill>
              <a:latin typeface="Calibri" panose="020F0502020204030204"/>
              <a:ea typeface="+mn-ea"/>
              <a:cs typeface="+mn-cs"/>
            </a:endParaRPr>
          </a:p>
        </p:txBody>
      </p:sp>
      <p:sp>
        <p:nvSpPr>
          <p:cNvPr id="9" name="Text 7"/>
          <p:cNvSpPr/>
          <p:nvPr/>
        </p:nvSpPr>
        <p:spPr>
          <a:xfrm>
            <a:off x="755706" y="2292392"/>
            <a:ext cx="4631754" cy="292532"/>
          </a:xfrm>
          <a:prstGeom prst="rect">
            <a:avLst/>
          </a:prstGeom>
          <a:noFill/>
          <a:ln/>
        </p:spPr>
        <p:txBody>
          <a:bodyPr wrap="square" lIns="0" tIns="0" rIns="0" bIns="0" rtlCol="0" anchor="ctr"/>
          <a:lstStyle/>
          <a:p>
            <a:pPr defTabSz="1218895">
              <a:buClrTx/>
            </a:pPr>
            <a:r>
              <a:rPr lang="en-US" sz="1200" kern="1200" dirty="0">
                <a:solidFill>
                  <a:srgbClr val="FCD34D"/>
                </a:solidFill>
                <a:latin typeface="Consolas" pitchFamily="34" charset="0"/>
                <a:ea typeface="Consolas" pitchFamily="34" charset="-122"/>
                <a:cs typeface="Consolas" pitchFamily="34" charset="-120"/>
              </a:rPr>
              <a:t>├─ package.json</a:t>
            </a:r>
            <a:endParaRPr lang="en-US" sz="1200" kern="1200" dirty="0">
              <a:solidFill>
                <a:prstClr val="black"/>
              </a:solidFill>
              <a:latin typeface="Calibri" panose="020F0502020204030204"/>
              <a:ea typeface="+mn-ea"/>
              <a:cs typeface="+mn-cs"/>
            </a:endParaRPr>
          </a:p>
        </p:txBody>
      </p:sp>
      <p:sp>
        <p:nvSpPr>
          <p:cNvPr id="10" name="Text 8"/>
          <p:cNvSpPr/>
          <p:nvPr/>
        </p:nvSpPr>
        <p:spPr>
          <a:xfrm>
            <a:off x="755706" y="2609301"/>
            <a:ext cx="4631754" cy="292532"/>
          </a:xfrm>
          <a:prstGeom prst="rect">
            <a:avLst/>
          </a:prstGeom>
          <a:noFill/>
          <a:ln/>
        </p:spPr>
        <p:txBody>
          <a:bodyPr wrap="square" lIns="0" tIns="0" rIns="0" bIns="0" rtlCol="0" anchor="ctr"/>
          <a:lstStyle/>
          <a:p>
            <a:pPr defTabSz="1218895">
              <a:buClrTx/>
            </a:pPr>
            <a:r>
              <a:rPr lang="en-US" sz="1200" b="1" kern="1200" dirty="0">
                <a:solidFill>
                  <a:srgbClr val="4ADE80"/>
                </a:solidFill>
                <a:latin typeface="Consolas" pitchFamily="34" charset="0"/>
                <a:ea typeface="Consolas" pitchFamily="34" charset="-122"/>
                <a:cs typeface="Consolas" pitchFamily="34" charset="-120"/>
              </a:rPr>
              <a:t>├─ tsconfig.json         ← ADD</a:t>
            </a:r>
            <a:endParaRPr lang="en-US" sz="1200" kern="1200" dirty="0">
              <a:solidFill>
                <a:prstClr val="black"/>
              </a:solidFill>
              <a:latin typeface="Calibri" panose="020F0502020204030204"/>
              <a:ea typeface="+mn-ea"/>
              <a:cs typeface="+mn-cs"/>
            </a:endParaRPr>
          </a:p>
        </p:txBody>
      </p:sp>
      <p:sp>
        <p:nvSpPr>
          <p:cNvPr id="11" name="Text 9"/>
          <p:cNvSpPr/>
          <p:nvPr/>
        </p:nvSpPr>
        <p:spPr>
          <a:xfrm>
            <a:off x="755706" y="2926211"/>
            <a:ext cx="4631754" cy="292532"/>
          </a:xfrm>
          <a:prstGeom prst="rect">
            <a:avLst/>
          </a:prstGeom>
          <a:noFill/>
          <a:ln/>
        </p:spPr>
        <p:txBody>
          <a:bodyPr wrap="square" lIns="0" tIns="0" rIns="0" bIns="0" rtlCol="0" anchor="ctr"/>
          <a:lstStyle/>
          <a:p>
            <a:pPr defTabSz="1218895">
              <a:buClrTx/>
            </a:pPr>
            <a:r>
              <a:rPr lang="en-US" sz="1200" kern="1200" dirty="0">
                <a:solidFill>
                  <a:srgbClr val="FCD34D"/>
                </a:solidFill>
                <a:latin typeface="Consolas" pitchFamily="34" charset="0"/>
                <a:ea typeface="Consolas" pitchFamily="34" charset="-122"/>
                <a:cs typeface="Consolas" pitchFamily="34" charset="-120"/>
              </a:rPr>
              <a:t>├─ .cdsrc.json</a:t>
            </a:r>
            <a:endParaRPr lang="en-US" sz="1200" kern="1200" dirty="0">
              <a:solidFill>
                <a:prstClr val="black"/>
              </a:solidFill>
              <a:latin typeface="Calibri" panose="020F0502020204030204"/>
              <a:ea typeface="+mn-ea"/>
              <a:cs typeface="+mn-cs"/>
            </a:endParaRPr>
          </a:p>
        </p:txBody>
      </p:sp>
      <p:sp>
        <p:nvSpPr>
          <p:cNvPr id="12" name="Text 10"/>
          <p:cNvSpPr/>
          <p:nvPr/>
        </p:nvSpPr>
        <p:spPr>
          <a:xfrm>
            <a:off x="755706" y="3243120"/>
            <a:ext cx="4631754" cy="292532"/>
          </a:xfrm>
          <a:prstGeom prst="rect">
            <a:avLst/>
          </a:prstGeom>
          <a:noFill/>
          <a:ln/>
        </p:spPr>
        <p:txBody>
          <a:bodyPr wrap="square" lIns="0" tIns="0" rIns="0" bIns="0" rtlCol="0" anchor="ctr"/>
          <a:lstStyle/>
          <a:p>
            <a:pPr defTabSz="1218895">
              <a:buClrTx/>
            </a:pPr>
            <a:r>
              <a:rPr lang="en-US" sz="1200" b="1" kern="1200" dirty="0">
                <a:solidFill>
                  <a:srgbClr val="93C5FD"/>
                </a:solidFill>
                <a:latin typeface="Consolas" pitchFamily="34" charset="0"/>
                <a:ea typeface="Consolas" pitchFamily="34" charset="-122"/>
                <a:cs typeface="Consolas" pitchFamily="34" charset="-120"/>
              </a:rPr>
              <a:t>├─ db/</a:t>
            </a:r>
            <a:endParaRPr lang="en-US" sz="1200" kern="1200" dirty="0">
              <a:solidFill>
                <a:prstClr val="black"/>
              </a:solidFill>
              <a:latin typeface="Calibri" panose="020F0502020204030204"/>
              <a:ea typeface="+mn-ea"/>
              <a:cs typeface="+mn-cs"/>
            </a:endParaRPr>
          </a:p>
        </p:txBody>
      </p:sp>
      <p:sp>
        <p:nvSpPr>
          <p:cNvPr id="13" name="Text 11"/>
          <p:cNvSpPr/>
          <p:nvPr/>
        </p:nvSpPr>
        <p:spPr>
          <a:xfrm>
            <a:off x="901972" y="3560030"/>
            <a:ext cx="4631754" cy="292532"/>
          </a:xfrm>
          <a:prstGeom prst="rect">
            <a:avLst/>
          </a:prstGeom>
          <a:noFill/>
          <a:ln/>
        </p:spPr>
        <p:txBody>
          <a:bodyPr wrap="square" lIns="0" tIns="0" rIns="0" bIns="0" rtlCol="0" anchor="ctr"/>
          <a:lstStyle/>
          <a:p>
            <a:pPr defTabSz="1218895">
              <a:buClrTx/>
            </a:pPr>
            <a:r>
              <a:rPr lang="en-US" sz="1200" kern="1200" dirty="0">
                <a:solidFill>
                  <a:srgbClr val="94A3B8"/>
                </a:solidFill>
                <a:latin typeface="Consolas" pitchFamily="34" charset="0"/>
                <a:ea typeface="Consolas" pitchFamily="34" charset="-122"/>
                <a:cs typeface="Consolas" pitchFamily="34" charset="-120"/>
              </a:rPr>
              <a:t>│  └─ schema.cds         ← no change</a:t>
            </a:r>
            <a:endParaRPr lang="en-US" sz="1200" kern="1200" dirty="0">
              <a:solidFill>
                <a:prstClr val="black"/>
              </a:solidFill>
              <a:latin typeface="Calibri" panose="020F0502020204030204"/>
              <a:ea typeface="+mn-ea"/>
              <a:cs typeface="+mn-cs"/>
            </a:endParaRPr>
          </a:p>
        </p:txBody>
      </p:sp>
      <p:sp>
        <p:nvSpPr>
          <p:cNvPr id="14" name="Text 12"/>
          <p:cNvSpPr/>
          <p:nvPr/>
        </p:nvSpPr>
        <p:spPr>
          <a:xfrm>
            <a:off x="755706" y="3876939"/>
            <a:ext cx="4631754" cy="292532"/>
          </a:xfrm>
          <a:prstGeom prst="rect">
            <a:avLst/>
          </a:prstGeom>
          <a:noFill/>
          <a:ln/>
        </p:spPr>
        <p:txBody>
          <a:bodyPr wrap="square" lIns="0" tIns="0" rIns="0" bIns="0" rtlCol="0" anchor="ctr"/>
          <a:lstStyle/>
          <a:p>
            <a:pPr defTabSz="1218895">
              <a:buClrTx/>
            </a:pPr>
            <a:r>
              <a:rPr lang="en-US" sz="1200" b="1" kern="1200" dirty="0">
                <a:solidFill>
                  <a:srgbClr val="93C5FD"/>
                </a:solidFill>
                <a:latin typeface="Consolas" pitchFamily="34" charset="0"/>
                <a:ea typeface="Consolas" pitchFamily="34" charset="-122"/>
                <a:cs typeface="Consolas" pitchFamily="34" charset="-120"/>
              </a:rPr>
              <a:t>├─ srv/</a:t>
            </a:r>
            <a:endParaRPr lang="en-US" sz="1200" kern="1200" dirty="0">
              <a:solidFill>
                <a:prstClr val="black"/>
              </a:solidFill>
              <a:latin typeface="Calibri" panose="020F0502020204030204"/>
              <a:ea typeface="+mn-ea"/>
              <a:cs typeface="+mn-cs"/>
            </a:endParaRPr>
          </a:p>
        </p:txBody>
      </p:sp>
      <p:sp>
        <p:nvSpPr>
          <p:cNvPr id="15" name="Text 13"/>
          <p:cNvSpPr/>
          <p:nvPr/>
        </p:nvSpPr>
        <p:spPr>
          <a:xfrm>
            <a:off x="901972" y="4193849"/>
            <a:ext cx="4631754" cy="292532"/>
          </a:xfrm>
          <a:prstGeom prst="rect">
            <a:avLst/>
          </a:prstGeom>
          <a:noFill/>
          <a:ln/>
        </p:spPr>
        <p:txBody>
          <a:bodyPr wrap="square" lIns="0" tIns="0" rIns="0" bIns="0" rtlCol="0" anchor="ctr"/>
          <a:lstStyle/>
          <a:p>
            <a:pPr defTabSz="1218895">
              <a:buClrTx/>
            </a:pPr>
            <a:r>
              <a:rPr lang="en-US" sz="1200" b="1" kern="1200" dirty="0">
                <a:solidFill>
                  <a:srgbClr val="F59E0B"/>
                </a:solidFill>
                <a:latin typeface="Consolas" pitchFamily="34" charset="0"/>
                <a:ea typeface="Consolas" pitchFamily="34" charset="-122"/>
                <a:cs typeface="Consolas" pitchFamily="34" charset="-120"/>
              </a:rPr>
              <a:t>│  ├─ CatalogService.js  ⬅ migrate</a:t>
            </a:r>
            <a:endParaRPr lang="en-US" sz="1200" kern="1200" dirty="0">
              <a:solidFill>
                <a:prstClr val="black"/>
              </a:solidFill>
              <a:latin typeface="Calibri" panose="020F0502020204030204"/>
              <a:ea typeface="+mn-ea"/>
              <a:cs typeface="+mn-cs"/>
            </a:endParaRPr>
          </a:p>
        </p:txBody>
      </p:sp>
      <p:sp>
        <p:nvSpPr>
          <p:cNvPr id="16" name="Text 14"/>
          <p:cNvSpPr/>
          <p:nvPr/>
        </p:nvSpPr>
        <p:spPr>
          <a:xfrm>
            <a:off x="901972" y="4510758"/>
            <a:ext cx="4631754" cy="292532"/>
          </a:xfrm>
          <a:prstGeom prst="rect">
            <a:avLst/>
          </a:prstGeom>
          <a:noFill/>
          <a:ln/>
        </p:spPr>
        <p:txBody>
          <a:bodyPr wrap="square" lIns="0" tIns="0" rIns="0" bIns="0" rtlCol="0" anchor="ctr"/>
          <a:lstStyle/>
          <a:p>
            <a:pPr defTabSz="1218895">
              <a:buClrTx/>
            </a:pPr>
            <a:r>
              <a:rPr lang="en-US" sz="1200" b="1" kern="1200" dirty="0">
                <a:solidFill>
                  <a:srgbClr val="F59E0B"/>
                </a:solidFill>
                <a:latin typeface="Consolas" pitchFamily="34" charset="0"/>
                <a:ea typeface="Consolas" pitchFamily="34" charset="-122"/>
                <a:cs typeface="Consolas" pitchFamily="34" charset="-120"/>
              </a:rPr>
              <a:t>│  └─ CDSService.js      ⬅ migrate</a:t>
            </a:r>
            <a:endParaRPr lang="en-US" sz="1200" kern="1200" dirty="0">
              <a:solidFill>
                <a:prstClr val="black"/>
              </a:solidFill>
              <a:latin typeface="Calibri" panose="020F0502020204030204"/>
              <a:ea typeface="+mn-ea"/>
              <a:cs typeface="+mn-cs"/>
            </a:endParaRPr>
          </a:p>
        </p:txBody>
      </p:sp>
      <p:sp>
        <p:nvSpPr>
          <p:cNvPr id="17" name="Text 15"/>
          <p:cNvSpPr/>
          <p:nvPr/>
        </p:nvSpPr>
        <p:spPr>
          <a:xfrm>
            <a:off x="755706" y="4827668"/>
            <a:ext cx="4631754" cy="292532"/>
          </a:xfrm>
          <a:prstGeom prst="rect">
            <a:avLst/>
          </a:prstGeom>
          <a:noFill/>
          <a:ln/>
        </p:spPr>
        <p:txBody>
          <a:bodyPr wrap="square" lIns="0" tIns="0" rIns="0" bIns="0" rtlCol="0" anchor="ctr"/>
          <a:lstStyle/>
          <a:p>
            <a:pPr defTabSz="1218895">
              <a:buClrTx/>
            </a:pPr>
            <a:r>
              <a:rPr lang="en-US" sz="1200" b="1" kern="1200" dirty="0">
                <a:solidFill>
                  <a:srgbClr val="93C5FD"/>
                </a:solidFill>
                <a:latin typeface="Consolas" pitchFamily="34" charset="0"/>
                <a:ea typeface="Consolas" pitchFamily="34" charset="-122"/>
                <a:cs typeface="Consolas" pitchFamily="34" charset="-120"/>
              </a:rPr>
              <a:t>├─ utils/</a:t>
            </a:r>
            <a:endParaRPr lang="en-US" sz="1200" kern="1200" dirty="0">
              <a:solidFill>
                <a:prstClr val="black"/>
              </a:solidFill>
              <a:latin typeface="Calibri" panose="020F0502020204030204"/>
              <a:ea typeface="+mn-ea"/>
              <a:cs typeface="+mn-cs"/>
            </a:endParaRPr>
          </a:p>
        </p:txBody>
      </p:sp>
      <p:sp>
        <p:nvSpPr>
          <p:cNvPr id="18" name="Text 16"/>
          <p:cNvSpPr/>
          <p:nvPr/>
        </p:nvSpPr>
        <p:spPr>
          <a:xfrm>
            <a:off x="901972" y="5144577"/>
            <a:ext cx="4631754" cy="292532"/>
          </a:xfrm>
          <a:prstGeom prst="rect">
            <a:avLst/>
          </a:prstGeom>
          <a:noFill/>
          <a:ln/>
        </p:spPr>
        <p:txBody>
          <a:bodyPr wrap="square" lIns="0" tIns="0" rIns="0" bIns="0" rtlCol="0" anchor="ctr"/>
          <a:lstStyle/>
          <a:p>
            <a:pPr defTabSz="1218895">
              <a:buClrTx/>
            </a:pPr>
            <a:r>
              <a:rPr lang="en-US" sz="1200" b="1" kern="1200" dirty="0">
                <a:solidFill>
                  <a:srgbClr val="F59E0B"/>
                </a:solidFill>
                <a:latin typeface="Consolas" pitchFamily="34" charset="0"/>
                <a:ea typeface="Consolas" pitchFamily="34" charset="-122"/>
                <a:cs typeface="Consolas" pitchFamily="34" charset="-120"/>
              </a:rPr>
              <a:t>│  ├─ payload-transformer.js  ⬅ migrate</a:t>
            </a:r>
            <a:endParaRPr lang="en-US" sz="1200" kern="1200" dirty="0">
              <a:solidFill>
                <a:prstClr val="black"/>
              </a:solidFill>
              <a:latin typeface="Calibri" panose="020F0502020204030204"/>
              <a:ea typeface="+mn-ea"/>
              <a:cs typeface="+mn-cs"/>
            </a:endParaRPr>
          </a:p>
        </p:txBody>
      </p:sp>
      <p:sp>
        <p:nvSpPr>
          <p:cNvPr id="19" name="Text 17"/>
          <p:cNvSpPr/>
          <p:nvPr/>
        </p:nvSpPr>
        <p:spPr>
          <a:xfrm>
            <a:off x="901972" y="5461486"/>
            <a:ext cx="4631754" cy="292532"/>
          </a:xfrm>
          <a:prstGeom prst="rect">
            <a:avLst/>
          </a:prstGeom>
          <a:noFill/>
          <a:ln/>
        </p:spPr>
        <p:txBody>
          <a:bodyPr wrap="square" lIns="0" tIns="0" rIns="0" bIns="0" rtlCol="0" anchor="ctr"/>
          <a:lstStyle/>
          <a:p>
            <a:pPr defTabSz="1218895">
              <a:buClrTx/>
            </a:pPr>
            <a:r>
              <a:rPr lang="en-US" sz="1200" b="1" kern="1200" dirty="0">
                <a:solidFill>
                  <a:srgbClr val="F59E0B"/>
                </a:solidFill>
                <a:latin typeface="Consolas" pitchFamily="34" charset="0"/>
                <a:ea typeface="Consolas" pitchFamily="34" charset="-122"/>
                <a:cs typeface="Consolas" pitchFamily="34" charset="-120"/>
              </a:rPr>
              <a:t>│  └─ error-mapper.js         ⬅ migrate</a:t>
            </a:r>
            <a:endParaRPr lang="en-US" sz="1200" kern="1200" dirty="0">
              <a:solidFill>
                <a:prstClr val="black"/>
              </a:solidFill>
              <a:latin typeface="Calibri" panose="020F0502020204030204"/>
              <a:ea typeface="+mn-ea"/>
              <a:cs typeface="+mn-cs"/>
            </a:endParaRPr>
          </a:p>
        </p:txBody>
      </p:sp>
      <p:sp>
        <p:nvSpPr>
          <p:cNvPr id="20" name="Text 18"/>
          <p:cNvSpPr/>
          <p:nvPr/>
        </p:nvSpPr>
        <p:spPr>
          <a:xfrm>
            <a:off x="755706" y="5778396"/>
            <a:ext cx="4631754" cy="292532"/>
          </a:xfrm>
          <a:prstGeom prst="rect">
            <a:avLst/>
          </a:prstGeom>
          <a:noFill/>
          <a:ln/>
        </p:spPr>
        <p:txBody>
          <a:bodyPr wrap="square" lIns="0" tIns="0" rIns="0" bIns="0" rtlCol="0" anchor="ctr"/>
          <a:lstStyle/>
          <a:p>
            <a:pPr defTabSz="1218895">
              <a:buClrTx/>
            </a:pPr>
            <a:r>
              <a:rPr lang="en-US" sz="1200" b="1" kern="1200" dirty="0">
                <a:solidFill>
                  <a:srgbClr val="93C5FD"/>
                </a:solidFill>
                <a:latin typeface="Consolas" pitchFamily="34" charset="0"/>
                <a:ea typeface="Consolas" pitchFamily="34" charset="-122"/>
                <a:cs typeface="Consolas" pitchFamily="34" charset="-120"/>
              </a:rPr>
              <a:t>└─ test/</a:t>
            </a:r>
            <a:endParaRPr lang="en-US" sz="1200" kern="1200" dirty="0">
              <a:solidFill>
                <a:prstClr val="black"/>
              </a:solidFill>
              <a:latin typeface="Calibri" panose="020F0502020204030204"/>
              <a:ea typeface="+mn-ea"/>
              <a:cs typeface="+mn-cs"/>
            </a:endParaRPr>
          </a:p>
        </p:txBody>
      </p:sp>
      <p:sp>
        <p:nvSpPr>
          <p:cNvPr id="21" name="Text 19"/>
          <p:cNvSpPr/>
          <p:nvPr/>
        </p:nvSpPr>
        <p:spPr>
          <a:xfrm>
            <a:off x="901972" y="6095305"/>
            <a:ext cx="4631754" cy="292532"/>
          </a:xfrm>
          <a:prstGeom prst="rect">
            <a:avLst/>
          </a:prstGeom>
          <a:noFill/>
          <a:ln/>
        </p:spPr>
        <p:txBody>
          <a:bodyPr wrap="square" lIns="0" tIns="0" rIns="0" bIns="0" rtlCol="0" anchor="ctr"/>
          <a:lstStyle/>
          <a:p>
            <a:pPr defTabSz="1218895">
              <a:buClrTx/>
            </a:pPr>
            <a:r>
              <a:rPr lang="en-US" sz="1200" kern="1200" dirty="0">
                <a:solidFill>
                  <a:srgbClr val="4ADE80"/>
                </a:solidFill>
                <a:latin typeface="Consolas" pitchFamily="34" charset="0"/>
                <a:ea typeface="Consolas" pitchFamily="34" charset="-122"/>
                <a:cs typeface="Consolas" pitchFamily="34" charset="-120"/>
              </a:rPr>
              <a:t>   └─ utils.test.js  ← must pass</a:t>
            </a:r>
            <a:endParaRPr lang="en-US" sz="1200" kern="1200" dirty="0">
              <a:solidFill>
                <a:prstClr val="black"/>
              </a:solidFill>
              <a:latin typeface="Calibri" panose="020F0502020204030204"/>
              <a:ea typeface="+mn-ea"/>
              <a:cs typeface="+mn-cs"/>
            </a:endParaRPr>
          </a:p>
        </p:txBody>
      </p:sp>
      <p:sp>
        <p:nvSpPr>
          <p:cNvPr id="22" name="Shape 20"/>
          <p:cNvSpPr/>
          <p:nvPr/>
        </p:nvSpPr>
        <p:spPr>
          <a:xfrm>
            <a:off x="5606859" y="1402608"/>
            <a:ext cx="6338189" cy="12188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Shape 21"/>
          <p:cNvSpPr/>
          <p:nvPr/>
        </p:nvSpPr>
        <p:spPr>
          <a:xfrm>
            <a:off x="5606859" y="1402608"/>
            <a:ext cx="6338189" cy="365665"/>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4" name="Text 22"/>
          <p:cNvSpPr/>
          <p:nvPr/>
        </p:nvSpPr>
        <p:spPr>
          <a:xfrm>
            <a:off x="5753125" y="1426986"/>
            <a:ext cx="4875530" cy="341287"/>
          </a:xfrm>
          <a:prstGeom prst="rect">
            <a:avLst/>
          </a:prstGeom>
          <a:noFill/>
          <a:ln/>
        </p:spPr>
        <p:txBody>
          <a:bodyPr wrap="square" lIns="0" tIns="0" rIns="0" bIns="0" rtlCol="0" anchor="ctr"/>
          <a:lstStyle/>
          <a:p>
            <a:pPr defTabSz="1218895">
              <a:buClrTx/>
            </a:pPr>
            <a:r>
              <a:rPr lang="en-US" sz="1333" b="1" kern="1200" dirty="0">
                <a:solidFill>
                  <a:srgbClr val="FFFFFF"/>
                </a:solidFill>
                <a:latin typeface="Consolas" pitchFamily="34" charset="0"/>
                <a:ea typeface="Consolas" pitchFamily="34" charset="-122"/>
                <a:cs typeface="Consolas" pitchFamily="34" charset="-120"/>
              </a:rPr>
              <a:t>tsconfig.json  (NEW)</a:t>
            </a:r>
            <a:endParaRPr lang="en-US" sz="1333" kern="1200" dirty="0">
              <a:solidFill>
                <a:prstClr val="black"/>
              </a:solidFill>
              <a:latin typeface="Calibri" panose="020F0502020204030204"/>
              <a:ea typeface="+mn-ea"/>
              <a:cs typeface="+mn-cs"/>
            </a:endParaRPr>
          </a:p>
        </p:txBody>
      </p:sp>
      <p:sp>
        <p:nvSpPr>
          <p:cNvPr id="25" name="Shape 23"/>
          <p:cNvSpPr/>
          <p:nvPr/>
        </p:nvSpPr>
        <p:spPr>
          <a:xfrm>
            <a:off x="11213718" y="1426985"/>
            <a:ext cx="706952" cy="292532"/>
          </a:xfrm>
          <a:prstGeom prst="rect">
            <a:avLst/>
          </a:prstGeom>
          <a:solidFill>
            <a:srgbClr val="FFFFFF">
              <a:alpha val="75000"/>
            </a:srgbClr>
          </a:solidFill>
          <a:ln w="12700">
            <a:solidFill>
              <a:srgbClr val="FFFFFF">
                <a:alpha val="75000"/>
              </a:srgbClr>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6" name="Text 24"/>
          <p:cNvSpPr/>
          <p:nvPr/>
        </p:nvSpPr>
        <p:spPr>
          <a:xfrm>
            <a:off x="11213718" y="1426985"/>
            <a:ext cx="706952" cy="292532"/>
          </a:xfrm>
          <a:prstGeom prst="rect">
            <a:avLst/>
          </a:prstGeom>
          <a:noFill/>
          <a:ln/>
        </p:spPr>
        <p:txBody>
          <a:bodyPr wrap="square" lIns="0" tIns="0" rIns="0" bIns="0" rtlCol="0" anchor="ctr"/>
          <a:lstStyle/>
          <a:p>
            <a:pPr algn="ctr" defTabSz="1218895">
              <a:buClrTx/>
            </a:pPr>
            <a:r>
              <a:rPr lang="en-US" sz="866" kern="1200" dirty="0">
                <a:solidFill>
                  <a:srgbClr val="FFFFFF"/>
                </a:solidFill>
                <a:latin typeface="Calibri" pitchFamily="34" charset="0"/>
                <a:ea typeface="Calibri" pitchFamily="34" charset="-122"/>
                <a:cs typeface="Calibri" pitchFamily="34" charset="-120"/>
              </a:rPr>
              <a:t>Configuration</a:t>
            </a:r>
            <a:endParaRPr lang="en-US" sz="866" kern="1200" dirty="0">
              <a:solidFill>
                <a:prstClr val="black"/>
              </a:solidFill>
              <a:latin typeface="Calibri" panose="020F0502020204030204"/>
              <a:ea typeface="+mn-ea"/>
              <a:cs typeface="+mn-cs"/>
            </a:endParaRPr>
          </a:p>
        </p:txBody>
      </p:sp>
      <p:sp>
        <p:nvSpPr>
          <p:cNvPr id="27" name="Text 25"/>
          <p:cNvSpPr/>
          <p:nvPr/>
        </p:nvSpPr>
        <p:spPr>
          <a:xfrm>
            <a:off x="5753125" y="1829217"/>
            <a:ext cx="6094413" cy="255965"/>
          </a:xfrm>
          <a:prstGeom prst="rect">
            <a:avLst/>
          </a:prstGeom>
          <a:noFill/>
          <a:ln/>
        </p:spPr>
        <p:txBody>
          <a:bodyPr wrap="square" lIns="0" tIns="0" rIns="0" bIns="0" rtlCol="0" anchor="ctr"/>
          <a:lstStyle/>
          <a:p>
            <a:pPr defTabSz="1218895">
              <a:buClrTx/>
            </a:pPr>
            <a:r>
              <a:rPr lang="en-US" sz="1266" b="1" kern="1200" dirty="0">
                <a:solidFill>
                  <a:srgbClr val="0070F2"/>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CAP-optimised compiler options</a:t>
            </a:r>
            <a:endParaRPr lang="en-US" sz="1266" kern="1200" dirty="0">
              <a:solidFill>
                <a:prstClr val="black"/>
              </a:solidFill>
              <a:latin typeface="Calibri" panose="020F0502020204030204"/>
              <a:ea typeface="+mn-ea"/>
              <a:cs typeface="+mn-cs"/>
            </a:endParaRPr>
          </a:p>
        </p:txBody>
      </p:sp>
      <p:sp>
        <p:nvSpPr>
          <p:cNvPr id="28" name="Text 26"/>
          <p:cNvSpPr/>
          <p:nvPr/>
        </p:nvSpPr>
        <p:spPr>
          <a:xfrm>
            <a:off x="5753125" y="2085182"/>
            <a:ext cx="6094413" cy="255965"/>
          </a:xfrm>
          <a:prstGeom prst="rect">
            <a:avLst/>
          </a:prstGeom>
          <a:noFill/>
          <a:ln/>
        </p:spPr>
        <p:txBody>
          <a:bodyPr wrap="square" lIns="0" tIns="0" rIns="0" bIns="0" rtlCol="0" anchor="ctr"/>
          <a:lstStyle/>
          <a:p>
            <a:pPr defTabSz="1218895">
              <a:buClrTx/>
            </a:pPr>
            <a:r>
              <a:rPr lang="en-US" sz="1266" b="1" kern="1200" dirty="0">
                <a:solidFill>
                  <a:srgbClr val="0070F2"/>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strict + allowJs:false</a:t>
            </a:r>
            <a:endParaRPr lang="en-US" sz="1266" kern="1200" dirty="0">
              <a:solidFill>
                <a:prstClr val="black"/>
              </a:solidFill>
              <a:latin typeface="Calibri" panose="020F0502020204030204"/>
              <a:ea typeface="+mn-ea"/>
              <a:cs typeface="+mn-cs"/>
            </a:endParaRPr>
          </a:p>
        </p:txBody>
      </p:sp>
      <p:sp>
        <p:nvSpPr>
          <p:cNvPr id="29" name="Text 27"/>
          <p:cNvSpPr/>
          <p:nvPr/>
        </p:nvSpPr>
        <p:spPr>
          <a:xfrm>
            <a:off x="5753125" y="2341148"/>
            <a:ext cx="6094413" cy="255965"/>
          </a:xfrm>
          <a:prstGeom prst="rect">
            <a:avLst/>
          </a:prstGeom>
          <a:noFill/>
          <a:ln/>
        </p:spPr>
        <p:txBody>
          <a:bodyPr wrap="square" lIns="0" tIns="0" rIns="0" bIns="0" rtlCol="0" anchor="ctr"/>
          <a:lstStyle/>
          <a:p>
            <a:pPr defTabSz="1218895">
              <a:buClrTx/>
            </a:pPr>
            <a:r>
              <a:rPr lang="en-US" sz="1266" b="1" kern="1200" dirty="0">
                <a:solidFill>
                  <a:srgbClr val="0070F2"/>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@cap-js/cds-types path mapping</a:t>
            </a:r>
            <a:endParaRPr lang="en-US" sz="1266" kern="1200" dirty="0">
              <a:solidFill>
                <a:prstClr val="black"/>
              </a:solidFill>
              <a:latin typeface="Calibri" panose="020F0502020204030204"/>
              <a:ea typeface="+mn-ea"/>
              <a:cs typeface="+mn-cs"/>
            </a:endParaRPr>
          </a:p>
        </p:txBody>
      </p:sp>
      <p:sp>
        <p:nvSpPr>
          <p:cNvPr id="30" name="Shape 28"/>
          <p:cNvSpPr/>
          <p:nvPr/>
        </p:nvSpPr>
        <p:spPr>
          <a:xfrm>
            <a:off x="5606859" y="2743378"/>
            <a:ext cx="6338189" cy="12188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1" name="Shape 29"/>
          <p:cNvSpPr/>
          <p:nvPr/>
        </p:nvSpPr>
        <p:spPr>
          <a:xfrm>
            <a:off x="5606859" y="2743378"/>
            <a:ext cx="6338189" cy="365665"/>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2" name="Text 30"/>
          <p:cNvSpPr/>
          <p:nvPr/>
        </p:nvSpPr>
        <p:spPr>
          <a:xfrm>
            <a:off x="5753125" y="2767756"/>
            <a:ext cx="4875530" cy="341287"/>
          </a:xfrm>
          <a:prstGeom prst="rect">
            <a:avLst/>
          </a:prstGeom>
          <a:noFill/>
          <a:ln/>
        </p:spPr>
        <p:txBody>
          <a:bodyPr wrap="square" lIns="0" tIns="0" rIns="0" bIns="0" rtlCol="0" anchor="ctr"/>
          <a:lstStyle/>
          <a:p>
            <a:pPr defTabSz="1218895">
              <a:buClrTx/>
            </a:pPr>
            <a:r>
              <a:rPr lang="en-US" sz="1333" b="1" kern="1200" dirty="0">
                <a:solidFill>
                  <a:srgbClr val="FFFFFF"/>
                </a:solidFill>
                <a:latin typeface="Consolas" pitchFamily="34" charset="0"/>
                <a:ea typeface="Consolas" pitchFamily="34" charset="-122"/>
                <a:cs typeface="Consolas" pitchFamily="34" charset="-120"/>
              </a:rPr>
              <a:t>srv/CatalogService.js → .ts</a:t>
            </a:r>
            <a:endParaRPr lang="en-US" sz="1333" kern="1200" dirty="0">
              <a:solidFill>
                <a:prstClr val="black"/>
              </a:solidFill>
              <a:latin typeface="Calibri" panose="020F0502020204030204"/>
              <a:ea typeface="+mn-ea"/>
              <a:cs typeface="+mn-cs"/>
            </a:endParaRPr>
          </a:p>
        </p:txBody>
      </p:sp>
      <p:sp>
        <p:nvSpPr>
          <p:cNvPr id="33" name="Shape 31"/>
          <p:cNvSpPr/>
          <p:nvPr/>
        </p:nvSpPr>
        <p:spPr>
          <a:xfrm>
            <a:off x="11213718" y="2767756"/>
            <a:ext cx="706952" cy="292532"/>
          </a:xfrm>
          <a:prstGeom prst="rect">
            <a:avLst/>
          </a:prstGeom>
          <a:solidFill>
            <a:srgbClr val="FFFFFF">
              <a:alpha val="75000"/>
            </a:srgbClr>
          </a:solidFill>
          <a:ln w="12700">
            <a:solidFill>
              <a:srgbClr val="FFFFFF">
                <a:alpha val="75000"/>
              </a:srgbClr>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4" name="Text 32"/>
          <p:cNvSpPr/>
          <p:nvPr/>
        </p:nvSpPr>
        <p:spPr>
          <a:xfrm>
            <a:off x="11213718" y="2767756"/>
            <a:ext cx="706952" cy="292532"/>
          </a:xfrm>
          <a:prstGeom prst="rect">
            <a:avLst/>
          </a:prstGeom>
          <a:noFill/>
          <a:ln/>
        </p:spPr>
        <p:txBody>
          <a:bodyPr wrap="square" lIns="0" tIns="0" rIns="0" bIns="0" rtlCol="0" anchor="ctr"/>
          <a:lstStyle/>
          <a:p>
            <a:pPr algn="ctr" defTabSz="1218895">
              <a:buClrTx/>
            </a:pPr>
            <a:r>
              <a:rPr lang="en-US" sz="866" kern="1200" dirty="0">
                <a:solidFill>
                  <a:srgbClr val="FFFFFF"/>
                </a:solidFill>
                <a:latin typeface="Calibri" pitchFamily="34" charset="0"/>
                <a:ea typeface="Calibri" pitchFamily="34" charset="-122"/>
                <a:cs typeface="Calibri" pitchFamily="34" charset="-120"/>
              </a:rPr>
              <a:t>Service Handler</a:t>
            </a:r>
            <a:endParaRPr lang="en-US" sz="866" kern="1200" dirty="0">
              <a:solidFill>
                <a:prstClr val="black"/>
              </a:solidFill>
              <a:latin typeface="Calibri" panose="020F0502020204030204"/>
              <a:ea typeface="+mn-ea"/>
              <a:cs typeface="+mn-cs"/>
            </a:endParaRPr>
          </a:p>
        </p:txBody>
      </p:sp>
      <p:sp>
        <p:nvSpPr>
          <p:cNvPr id="35" name="Text 33"/>
          <p:cNvSpPr/>
          <p:nvPr/>
        </p:nvSpPr>
        <p:spPr>
          <a:xfrm>
            <a:off x="5753125" y="3169988"/>
            <a:ext cx="6094413" cy="255965"/>
          </a:xfrm>
          <a:prstGeom prst="rect">
            <a:avLst/>
          </a:prstGeom>
          <a:noFill/>
          <a:ln/>
        </p:spPr>
        <p:txBody>
          <a:bodyPr wrap="square" lIns="0" tIns="0" rIns="0" bIns="0" rtlCol="0" anchor="ctr"/>
          <a:lstStyle/>
          <a:p>
            <a:pPr defTabSz="1218895">
              <a:buClrTx/>
            </a:pPr>
            <a:r>
              <a:rPr lang="en-US" sz="1266" b="1" kern="1200" dirty="0">
                <a:solidFill>
                  <a:srgbClr val="D97706"/>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Typed CDS.Service class extension</a:t>
            </a:r>
            <a:endParaRPr lang="en-US" sz="1266" kern="1200" dirty="0">
              <a:solidFill>
                <a:prstClr val="black"/>
              </a:solidFill>
              <a:latin typeface="Calibri" panose="020F0502020204030204"/>
              <a:ea typeface="+mn-ea"/>
              <a:cs typeface="+mn-cs"/>
            </a:endParaRPr>
          </a:p>
        </p:txBody>
      </p:sp>
      <p:sp>
        <p:nvSpPr>
          <p:cNvPr id="36" name="Text 34"/>
          <p:cNvSpPr/>
          <p:nvPr/>
        </p:nvSpPr>
        <p:spPr>
          <a:xfrm>
            <a:off x="5753125" y="3425953"/>
            <a:ext cx="6094413" cy="255965"/>
          </a:xfrm>
          <a:prstGeom prst="rect">
            <a:avLst/>
          </a:prstGeom>
          <a:noFill/>
          <a:ln/>
        </p:spPr>
        <p:txBody>
          <a:bodyPr wrap="square" lIns="0" tIns="0" rIns="0" bIns="0" rtlCol="0" anchor="ctr"/>
          <a:lstStyle/>
          <a:p>
            <a:pPr defTabSz="1218895">
              <a:buClrTx/>
            </a:pPr>
            <a:r>
              <a:rPr lang="en-US" sz="1266" b="1" kern="1200" dirty="0">
                <a:solidFill>
                  <a:srgbClr val="D97706"/>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cds.Request&lt;T&gt; parameter types</a:t>
            </a:r>
            <a:endParaRPr lang="en-US" sz="1266" kern="1200" dirty="0">
              <a:solidFill>
                <a:prstClr val="black"/>
              </a:solidFill>
              <a:latin typeface="Calibri" panose="020F0502020204030204"/>
              <a:ea typeface="+mn-ea"/>
              <a:cs typeface="+mn-cs"/>
            </a:endParaRPr>
          </a:p>
        </p:txBody>
      </p:sp>
      <p:sp>
        <p:nvSpPr>
          <p:cNvPr id="37" name="Text 35"/>
          <p:cNvSpPr/>
          <p:nvPr/>
        </p:nvSpPr>
        <p:spPr>
          <a:xfrm>
            <a:off x="5753125" y="3681918"/>
            <a:ext cx="6094413" cy="255965"/>
          </a:xfrm>
          <a:prstGeom prst="rect">
            <a:avLst/>
          </a:prstGeom>
          <a:noFill/>
          <a:ln/>
        </p:spPr>
        <p:txBody>
          <a:bodyPr wrap="square" lIns="0" tIns="0" rIns="0" bIns="0" rtlCol="0" anchor="ctr"/>
          <a:lstStyle/>
          <a:p>
            <a:pPr defTabSz="1218895">
              <a:buClrTx/>
            </a:pPr>
            <a:r>
              <a:rPr lang="en-US" sz="1266" b="1" kern="1200" dirty="0">
                <a:solidFill>
                  <a:srgbClr val="D97706"/>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Entity CRUD operation types</a:t>
            </a:r>
            <a:endParaRPr lang="en-US" sz="1266" kern="1200" dirty="0">
              <a:solidFill>
                <a:prstClr val="black"/>
              </a:solidFill>
              <a:latin typeface="Calibri" panose="020F0502020204030204"/>
              <a:ea typeface="+mn-ea"/>
              <a:cs typeface="+mn-cs"/>
            </a:endParaRPr>
          </a:p>
        </p:txBody>
      </p:sp>
      <p:sp>
        <p:nvSpPr>
          <p:cNvPr id="38" name="Shape 36"/>
          <p:cNvSpPr/>
          <p:nvPr/>
        </p:nvSpPr>
        <p:spPr>
          <a:xfrm>
            <a:off x="5606859" y="4084149"/>
            <a:ext cx="6338189" cy="12188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9" name="Shape 37"/>
          <p:cNvSpPr/>
          <p:nvPr/>
        </p:nvSpPr>
        <p:spPr>
          <a:xfrm>
            <a:off x="5606859" y="4084149"/>
            <a:ext cx="6338189" cy="365665"/>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0" name="Text 38"/>
          <p:cNvSpPr/>
          <p:nvPr/>
        </p:nvSpPr>
        <p:spPr>
          <a:xfrm>
            <a:off x="5753125" y="4108527"/>
            <a:ext cx="4875530" cy="341287"/>
          </a:xfrm>
          <a:prstGeom prst="rect">
            <a:avLst/>
          </a:prstGeom>
          <a:noFill/>
          <a:ln/>
        </p:spPr>
        <p:txBody>
          <a:bodyPr wrap="square" lIns="0" tIns="0" rIns="0" bIns="0" rtlCol="0" anchor="ctr"/>
          <a:lstStyle/>
          <a:p>
            <a:pPr defTabSz="1218895">
              <a:buClrTx/>
            </a:pPr>
            <a:r>
              <a:rPr lang="en-US" sz="1333" b="1" kern="1200" dirty="0">
                <a:solidFill>
                  <a:srgbClr val="FFFFFF"/>
                </a:solidFill>
                <a:latin typeface="Consolas" pitchFamily="34" charset="0"/>
                <a:ea typeface="Consolas" pitchFamily="34" charset="-122"/>
                <a:cs typeface="Consolas" pitchFamily="34" charset="-120"/>
              </a:rPr>
              <a:t>srv/CDSService.js → .ts</a:t>
            </a:r>
            <a:endParaRPr lang="en-US" sz="1333" kern="1200" dirty="0">
              <a:solidFill>
                <a:prstClr val="black"/>
              </a:solidFill>
              <a:latin typeface="Calibri" panose="020F0502020204030204"/>
              <a:ea typeface="+mn-ea"/>
              <a:cs typeface="+mn-cs"/>
            </a:endParaRPr>
          </a:p>
        </p:txBody>
      </p:sp>
      <p:sp>
        <p:nvSpPr>
          <p:cNvPr id="41" name="Shape 39"/>
          <p:cNvSpPr/>
          <p:nvPr/>
        </p:nvSpPr>
        <p:spPr>
          <a:xfrm>
            <a:off x="11213718" y="4108527"/>
            <a:ext cx="706952" cy="292532"/>
          </a:xfrm>
          <a:prstGeom prst="rect">
            <a:avLst/>
          </a:prstGeom>
          <a:solidFill>
            <a:srgbClr val="FFFFFF">
              <a:alpha val="75000"/>
            </a:srgbClr>
          </a:solidFill>
          <a:ln w="12700">
            <a:solidFill>
              <a:srgbClr val="FFFFFF">
                <a:alpha val="75000"/>
              </a:srgbClr>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2" name="Text 40"/>
          <p:cNvSpPr/>
          <p:nvPr/>
        </p:nvSpPr>
        <p:spPr>
          <a:xfrm>
            <a:off x="11213718" y="4108527"/>
            <a:ext cx="706952" cy="292532"/>
          </a:xfrm>
          <a:prstGeom prst="rect">
            <a:avLst/>
          </a:prstGeom>
          <a:noFill/>
          <a:ln/>
        </p:spPr>
        <p:txBody>
          <a:bodyPr wrap="square" lIns="0" tIns="0" rIns="0" bIns="0" rtlCol="0" anchor="ctr"/>
          <a:lstStyle/>
          <a:p>
            <a:pPr algn="ctr" defTabSz="1218895">
              <a:buClrTx/>
            </a:pPr>
            <a:r>
              <a:rPr lang="en-US" sz="866" kern="1200" dirty="0">
                <a:solidFill>
                  <a:srgbClr val="FFFFFF"/>
                </a:solidFill>
                <a:latin typeface="Calibri" pitchFamily="34" charset="0"/>
                <a:ea typeface="Calibri" pitchFamily="34" charset="-122"/>
                <a:cs typeface="Calibri" pitchFamily="34" charset="-120"/>
              </a:rPr>
              <a:t>Generic Handler</a:t>
            </a:r>
            <a:endParaRPr lang="en-US" sz="866" kern="1200" dirty="0">
              <a:solidFill>
                <a:prstClr val="black"/>
              </a:solidFill>
              <a:latin typeface="Calibri" panose="020F0502020204030204"/>
              <a:ea typeface="+mn-ea"/>
              <a:cs typeface="+mn-cs"/>
            </a:endParaRPr>
          </a:p>
        </p:txBody>
      </p:sp>
      <p:sp>
        <p:nvSpPr>
          <p:cNvPr id="43" name="Text 41"/>
          <p:cNvSpPr/>
          <p:nvPr/>
        </p:nvSpPr>
        <p:spPr>
          <a:xfrm>
            <a:off x="5753125" y="4510758"/>
            <a:ext cx="6094413" cy="255965"/>
          </a:xfrm>
          <a:prstGeom prst="rect">
            <a:avLst/>
          </a:prstGeom>
          <a:noFill/>
          <a:ln/>
        </p:spPr>
        <p:txBody>
          <a:bodyPr wrap="square" lIns="0" tIns="0" rIns="0" bIns="0" rtlCol="0" anchor="ctr"/>
          <a:lstStyle/>
          <a:p>
            <a:pPr defTabSz="1218895">
              <a:buClrTx/>
            </a:pPr>
            <a:r>
              <a:rPr lang="en-US" sz="1266" b="1" kern="1200" dirty="0">
                <a:solidFill>
                  <a:srgbClr val="D97706"/>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Generic handler registration pattern</a:t>
            </a:r>
            <a:endParaRPr lang="en-US" sz="1266" kern="1200" dirty="0">
              <a:solidFill>
                <a:prstClr val="black"/>
              </a:solidFill>
              <a:latin typeface="Calibri" panose="020F0502020204030204"/>
              <a:ea typeface="+mn-ea"/>
              <a:cs typeface="+mn-cs"/>
            </a:endParaRPr>
          </a:p>
        </p:txBody>
      </p:sp>
      <p:sp>
        <p:nvSpPr>
          <p:cNvPr id="44" name="Text 42"/>
          <p:cNvSpPr/>
          <p:nvPr/>
        </p:nvSpPr>
        <p:spPr>
          <a:xfrm>
            <a:off x="5753125" y="4766724"/>
            <a:ext cx="6094413" cy="255965"/>
          </a:xfrm>
          <a:prstGeom prst="rect">
            <a:avLst/>
          </a:prstGeom>
          <a:noFill/>
          <a:ln/>
        </p:spPr>
        <p:txBody>
          <a:bodyPr wrap="square" lIns="0" tIns="0" rIns="0" bIns="0" rtlCol="0" anchor="ctr"/>
          <a:lstStyle/>
          <a:p>
            <a:pPr defTabSz="1218895">
              <a:buClrTx/>
            </a:pPr>
            <a:r>
              <a:rPr lang="en-US" sz="1266" b="1" kern="1200" dirty="0">
                <a:solidFill>
                  <a:srgbClr val="D97706"/>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Typed event callbacks</a:t>
            </a:r>
            <a:endParaRPr lang="en-US" sz="1266" kern="1200" dirty="0">
              <a:solidFill>
                <a:prstClr val="black"/>
              </a:solidFill>
              <a:latin typeface="Calibri" panose="020F0502020204030204"/>
              <a:ea typeface="+mn-ea"/>
              <a:cs typeface="+mn-cs"/>
            </a:endParaRPr>
          </a:p>
        </p:txBody>
      </p:sp>
      <p:sp>
        <p:nvSpPr>
          <p:cNvPr id="45" name="Text 43"/>
          <p:cNvSpPr/>
          <p:nvPr/>
        </p:nvSpPr>
        <p:spPr>
          <a:xfrm>
            <a:off x="5753125" y="5022689"/>
            <a:ext cx="6094413" cy="255965"/>
          </a:xfrm>
          <a:prstGeom prst="rect">
            <a:avLst/>
          </a:prstGeom>
          <a:noFill/>
          <a:ln/>
        </p:spPr>
        <p:txBody>
          <a:bodyPr wrap="square" lIns="0" tIns="0" rIns="0" bIns="0" rtlCol="0" anchor="ctr"/>
          <a:lstStyle/>
          <a:p>
            <a:pPr defTabSz="1218895">
              <a:buClrTx/>
            </a:pPr>
            <a:r>
              <a:rPr lang="en-US" sz="1266" b="1" kern="1200" dirty="0">
                <a:solidFill>
                  <a:srgbClr val="D97706"/>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Type-safe this.on() / this.before()</a:t>
            </a:r>
            <a:endParaRPr lang="en-US" sz="1266" kern="1200" dirty="0">
              <a:solidFill>
                <a:prstClr val="black"/>
              </a:solidFill>
              <a:latin typeface="Calibri" panose="020F0502020204030204"/>
              <a:ea typeface="+mn-ea"/>
              <a:cs typeface="+mn-cs"/>
            </a:endParaRPr>
          </a:p>
        </p:txBody>
      </p:sp>
      <p:sp>
        <p:nvSpPr>
          <p:cNvPr id="46" name="Shape 44"/>
          <p:cNvSpPr/>
          <p:nvPr/>
        </p:nvSpPr>
        <p:spPr>
          <a:xfrm>
            <a:off x="5606859" y="5424920"/>
            <a:ext cx="6338189" cy="12188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7" name="Shape 45"/>
          <p:cNvSpPr/>
          <p:nvPr/>
        </p:nvSpPr>
        <p:spPr>
          <a:xfrm>
            <a:off x="5606859" y="5424920"/>
            <a:ext cx="6338189" cy="365665"/>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8" name="Text 46"/>
          <p:cNvSpPr/>
          <p:nvPr/>
        </p:nvSpPr>
        <p:spPr>
          <a:xfrm>
            <a:off x="5753125" y="5449298"/>
            <a:ext cx="4875530" cy="341287"/>
          </a:xfrm>
          <a:prstGeom prst="rect">
            <a:avLst/>
          </a:prstGeom>
          <a:noFill/>
          <a:ln/>
        </p:spPr>
        <p:txBody>
          <a:bodyPr wrap="square" lIns="0" tIns="0" rIns="0" bIns="0" rtlCol="0" anchor="ctr"/>
          <a:lstStyle/>
          <a:p>
            <a:pPr defTabSz="1218895">
              <a:buClrTx/>
            </a:pPr>
            <a:r>
              <a:rPr lang="en-US" sz="1333" b="1" kern="1200" dirty="0">
                <a:solidFill>
                  <a:srgbClr val="FFFFFF"/>
                </a:solidFill>
                <a:latin typeface="Consolas" pitchFamily="34" charset="0"/>
                <a:ea typeface="Consolas" pitchFamily="34" charset="-122"/>
                <a:cs typeface="Consolas" pitchFamily="34" charset="-120"/>
              </a:rPr>
              <a:t>utils/payload-transformer.js → .ts</a:t>
            </a:r>
            <a:endParaRPr lang="en-US" sz="1333" kern="1200" dirty="0">
              <a:solidFill>
                <a:prstClr val="black"/>
              </a:solidFill>
              <a:latin typeface="Calibri" panose="020F0502020204030204"/>
              <a:ea typeface="+mn-ea"/>
              <a:cs typeface="+mn-cs"/>
            </a:endParaRPr>
          </a:p>
        </p:txBody>
      </p:sp>
      <p:sp>
        <p:nvSpPr>
          <p:cNvPr id="49" name="Shape 47"/>
          <p:cNvSpPr/>
          <p:nvPr/>
        </p:nvSpPr>
        <p:spPr>
          <a:xfrm>
            <a:off x="11213718" y="5449298"/>
            <a:ext cx="706952" cy="292532"/>
          </a:xfrm>
          <a:prstGeom prst="rect">
            <a:avLst/>
          </a:prstGeom>
          <a:solidFill>
            <a:srgbClr val="FFFFFF">
              <a:alpha val="75000"/>
            </a:srgbClr>
          </a:solidFill>
          <a:ln w="12700">
            <a:solidFill>
              <a:srgbClr val="FFFFFF">
                <a:alpha val="75000"/>
              </a:srgbClr>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50" name="Text 48"/>
          <p:cNvSpPr/>
          <p:nvPr/>
        </p:nvSpPr>
        <p:spPr>
          <a:xfrm>
            <a:off x="11213718" y="5449298"/>
            <a:ext cx="706952" cy="292532"/>
          </a:xfrm>
          <a:prstGeom prst="rect">
            <a:avLst/>
          </a:prstGeom>
          <a:noFill/>
          <a:ln/>
        </p:spPr>
        <p:txBody>
          <a:bodyPr wrap="square" lIns="0" tIns="0" rIns="0" bIns="0" rtlCol="0" anchor="ctr"/>
          <a:lstStyle/>
          <a:p>
            <a:pPr algn="ctr" defTabSz="1218895">
              <a:buClrTx/>
            </a:pPr>
            <a:r>
              <a:rPr lang="en-US" sz="866" kern="1200" dirty="0">
                <a:solidFill>
                  <a:srgbClr val="FFFFFF"/>
                </a:solidFill>
                <a:latin typeface="Calibri" pitchFamily="34" charset="0"/>
                <a:ea typeface="Calibri" pitchFamily="34" charset="-122"/>
                <a:cs typeface="Calibri" pitchFamily="34" charset="-120"/>
              </a:rPr>
              <a:t>Utility</a:t>
            </a:r>
            <a:endParaRPr lang="en-US" sz="866" kern="1200" dirty="0">
              <a:solidFill>
                <a:prstClr val="black"/>
              </a:solidFill>
              <a:latin typeface="Calibri" panose="020F0502020204030204"/>
              <a:ea typeface="+mn-ea"/>
              <a:cs typeface="+mn-cs"/>
            </a:endParaRPr>
          </a:p>
        </p:txBody>
      </p:sp>
      <p:sp>
        <p:nvSpPr>
          <p:cNvPr id="51" name="Text 49"/>
          <p:cNvSpPr/>
          <p:nvPr/>
        </p:nvSpPr>
        <p:spPr>
          <a:xfrm>
            <a:off x="5753125" y="5851529"/>
            <a:ext cx="6094413" cy="255965"/>
          </a:xfrm>
          <a:prstGeom prst="rect">
            <a:avLst/>
          </a:prstGeom>
          <a:noFill/>
          <a:ln/>
        </p:spPr>
        <p:txBody>
          <a:bodyPr wrap="square" lIns="0" tIns="0" rIns="0" bIns="0" rtlCol="0" anchor="ctr"/>
          <a:lstStyle/>
          <a:p>
            <a:pPr defTabSz="1218895">
              <a:buClrTx/>
            </a:pPr>
            <a:r>
              <a:rPr lang="en-US" sz="1266" b="1" kern="1200" dirty="0">
                <a:solidFill>
                  <a:srgbClr val="0D9488"/>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ODataResponse&lt;T&gt; generic interface</a:t>
            </a:r>
            <a:endParaRPr lang="en-US" sz="1266" kern="1200" dirty="0">
              <a:solidFill>
                <a:prstClr val="black"/>
              </a:solidFill>
              <a:latin typeface="Calibri" panose="020F0502020204030204"/>
              <a:ea typeface="+mn-ea"/>
              <a:cs typeface="+mn-cs"/>
            </a:endParaRPr>
          </a:p>
        </p:txBody>
      </p:sp>
      <p:sp>
        <p:nvSpPr>
          <p:cNvPr id="52" name="Text 50"/>
          <p:cNvSpPr/>
          <p:nvPr/>
        </p:nvSpPr>
        <p:spPr>
          <a:xfrm>
            <a:off x="5753125" y="6107494"/>
            <a:ext cx="6094413" cy="255965"/>
          </a:xfrm>
          <a:prstGeom prst="rect">
            <a:avLst/>
          </a:prstGeom>
          <a:noFill/>
          <a:ln/>
        </p:spPr>
        <p:txBody>
          <a:bodyPr wrap="square" lIns="0" tIns="0" rIns="0" bIns="0" rtlCol="0" anchor="ctr"/>
          <a:lstStyle/>
          <a:p>
            <a:pPr defTabSz="1218895">
              <a:buClrTx/>
            </a:pPr>
            <a:r>
              <a:rPr lang="en-US" sz="1266" b="1" kern="1200" dirty="0">
                <a:solidFill>
                  <a:srgbClr val="0D9488"/>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EntityRecord type alias</a:t>
            </a:r>
            <a:endParaRPr lang="en-US" sz="1266" kern="1200" dirty="0">
              <a:solidFill>
                <a:prstClr val="black"/>
              </a:solidFill>
              <a:latin typeface="Calibri" panose="020F0502020204030204"/>
              <a:ea typeface="+mn-ea"/>
              <a:cs typeface="+mn-cs"/>
            </a:endParaRPr>
          </a:p>
        </p:txBody>
      </p:sp>
      <p:sp>
        <p:nvSpPr>
          <p:cNvPr id="53" name="Text 51"/>
          <p:cNvSpPr/>
          <p:nvPr/>
        </p:nvSpPr>
        <p:spPr>
          <a:xfrm>
            <a:off x="5753125" y="6363460"/>
            <a:ext cx="6094413" cy="255965"/>
          </a:xfrm>
          <a:prstGeom prst="rect">
            <a:avLst/>
          </a:prstGeom>
          <a:noFill/>
          <a:ln/>
        </p:spPr>
        <p:txBody>
          <a:bodyPr wrap="square" lIns="0" tIns="0" rIns="0" bIns="0" rtlCol="0" anchor="ctr"/>
          <a:lstStyle/>
          <a:p>
            <a:pPr defTabSz="1218895">
              <a:buClrTx/>
            </a:pPr>
            <a:r>
              <a:rPr lang="en-US" sz="1266" b="1" kern="1200" dirty="0">
                <a:solidFill>
                  <a:srgbClr val="0D9488"/>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Strict null checks on value</a:t>
            </a:r>
            <a:endParaRPr lang="en-US" sz="1266" kern="1200" dirty="0">
              <a:solidFill>
                <a:prstClr val="black"/>
              </a:solidFill>
              <a:latin typeface="Calibri" panose="020F0502020204030204"/>
              <a:ea typeface="+mn-ea"/>
              <a:cs typeface="+mn-cs"/>
            </a:endParaRPr>
          </a:p>
        </p:txBody>
      </p:sp>
      <p:pic>
        <p:nvPicPr>
          <p:cNvPr id="54" name="Google Shape;497;p1">
            <a:extLst>
              <a:ext uri="{FF2B5EF4-FFF2-40B4-BE49-F238E27FC236}">
                <a16:creationId xmlns:a16="http://schemas.microsoft.com/office/drawing/2014/main" id="{5C9781AF-3925-66E8-08FE-DFCD4ECA22E7}"/>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1a  </a:t>
            </a:r>
            <a:r>
              <a:rPr lang="en-US" sz="3333" b="1" kern="1200" dirty="0">
                <a:solidFill>
                  <a:srgbClr val="FFFFFF"/>
                </a:solidFill>
                <a:latin typeface="Calibri" pitchFamily="34" charset="0"/>
                <a:ea typeface="Calibri" pitchFamily="34" charset="-122"/>
                <a:cs typeface="Calibri" pitchFamily="34" charset="-120"/>
              </a:rPr>
              <a:t>Install TypeScript Dependencies for CAP</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God of all commands: </a:t>
            </a:r>
            <a:r>
              <a:rPr lang="en-US" b="1" i="1" kern="1200" dirty="0">
                <a:solidFill>
                  <a:srgbClr val="FF0000"/>
                </a:solidFill>
                <a:highlight>
                  <a:srgbClr val="FFFF00"/>
                </a:highlight>
                <a:latin typeface="Calibri" pitchFamily="34" charset="0"/>
                <a:ea typeface="Calibri" pitchFamily="34" charset="-122"/>
                <a:cs typeface="Calibri" pitchFamily="34" charset="-120"/>
              </a:rPr>
              <a:t>cds add typescript</a:t>
            </a:r>
            <a:endParaRPr lang="en-US" b="1" kern="1200" dirty="0">
              <a:solidFill>
                <a:srgbClr val="FF0000"/>
              </a:solidFill>
              <a:highlight>
                <a:srgbClr val="FFFF00"/>
              </a:highlight>
              <a:latin typeface="Calibri" panose="020F0502020204030204"/>
              <a:ea typeface="+mn-ea"/>
              <a:cs typeface="+mn-cs"/>
            </a:endParaRPr>
          </a:p>
        </p:txBody>
      </p:sp>
      <p:sp>
        <p:nvSpPr>
          <p:cNvPr id="6" name="Shape 4"/>
          <p:cNvSpPr/>
          <p:nvPr/>
        </p:nvSpPr>
        <p:spPr>
          <a:xfrm>
            <a:off x="487553" y="1366042"/>
            <a:ext cx="536308" cy="536308"/>
          </a:xfrm>
          <a:prstGeom prst="ellipse">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487553" y="1366042"/>
            <a:ext cx="536308" cy="536308"/>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1</a:t>
            </a:r>
            <a:endParaRPr lang="en-US" sz="1733" kern="1200" dirty="0">
              <a:solidFill>
                <a:prstClr val="black"/>
              </a:solidFill>
              <a:latin typeface="Calibri" panose="020F0502020204030204"/>
              <a:ea typeface="+mn-ea"/>
              <a:cs typeface="+mn-cs"/>
            </a:endParaRPr>
          </a:p>
        </p:txBody>
      </p:sp>
      <p:sp>
        <p:nvSpPr>
          <p:cNvPr id="8" name="Shape 6"/>
          <p:cNvSpPr/>
          <p:nvPr/>
        </p:nvSpPr>
        <p:spPr>
          <a:xfrm>
            <a:off x="1048238" y="1634196"/>
            <a:ext cx="1467535" cy="0"/>
          </a:xfrm>
          <a:prstGeom prst="line">
            <a:avLst/>
          </a:prstGeom>
          <a:noFill/>
          <a:ln w="19050">
            <a:solidFill>
              <a:srgbClr val="E2E8F0"/>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9" name="Text 7"/>
          <p:cNvSpPr/>
          <p:nvPr/>
        </p:nvSpPr>
        <p:spPr>
          <a:xfrm>
            <a:off x="365664" y="1951105"/>
            <a:ext cx="2271998" cy="390042"/>
          </a:xfrm>
          <a:prstGeom prst="rect">
            <a:avLst/>
          </a:prstGeom>
          <a:noFill/>
          <a:ln/>
        </p:spPr>
        <p:txBody>
          <a:bodyPr wrap="square" lIns="0" tIns="0" rIns="0" bIns="0" rtlCol="0" anchor="ctr"/>
          <a:lstStyle/>
          <a:p>
            <a:pPr algn="ctr" defTabSz="1218895">
              <a:buClrTx/>
            </a:pPr>
            <a:r>
              <a:rPr lang="en-US" sz="1133" kern="1200" dirty="0">
                <a:solidFill>
                  <a:srgbClr val="334155"/>
                </a:solidFill>
                <a:latin typeface="Calibri" pitchFamily="34" charset="0"/>
                <a:ea typeface="Calibri" pitchFamily="34" charset="-122"/>
                <a:cs typeface="Calibri" pitchFamily="34" charset="-120"/>
              </a:rPr>
              <a:t>Core TS</a:t>
            </a:r>
            <a:endParaRPr lang="en-US" sz="1133" kern="1200" dirty="0">
              <a:solidFill>
                <a:prstClr val="black"/>
              </a:solidFill>
              <a:latin typeface="Calibri" panose="020F0502020204030204"/>
              <a:ea typeface="+mn-ea"/>
              <a:cs typeface="+mn-cs"/>
            </a:endParaRPr>
          </a:p>
        </p:txBody>
      </p:sp>
      <p:sp>
        <p:nvSpPr>
          <p:cNvPr id="10" name="Shape 8"/>
          <p:cNvSpPr/>
          <p:nvPr/>
        </p:nvSpPr>
        <p:spPr>
          <a:xfrm>
            <a:off x="2783928" y="1366042"/>
            <a:ext cx="536308" cy="536308"/>
          </a:xfrm>
          <a:prstGeom prst="ellipse">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2783928" y="1366042"/>
            <a:ext cx="536308" cy="536308"/>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2</a:t>
            </a:r>
            <a:endParaRPr lang="en-US" sz="1733" kern="1200" dirty="0">
              <a:solidFill>
                <a:prstClr val="black"/>
              </a:solidFill>
              <a:latin typeface="Calibri" panose="020F0502020204030204"/>
              <a:ea typeface="+mn-ea"/>
              <a:cs typeface="+mn-cs"/>
            </a:endParaRPr>
          </a:p>
        </p:txBody>
      </p:sp>
      <p:sp>
        <p:nvSpPr>
          <p:cNvPr id="12" name="Shape 10"/>
          <p:cNvSpPr/>
          <p:nvPr/>
        </p:nvSpPr>
        <p:spPr>
          <a:xfrm>
            <a:off x="3344614" y="1634196"/>
            <a:ext cx="1467535" cy="0"/>
          </a:xfrm>
          <a:prstGeom prst="line">
            <a:avLst/>
          </a:prstGeom>
          <a:noFill/>
          <a:ln w="19050">
            <a:solidFill>
              <a:srgbClr val="E2E8F0"/>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Text 11"/>
          <p:cNvSpPr/>
          <p:nvPr/>
        </p:nvSpPr>
        <p:spPr>
          <a:xfrm>
            <a:off x="2662039" y="1951105"/>
            <a:ext cx="2271998" cy="390042"/>
          </a:xfrm>
          <a:prstGeom prst="rect">
            <a:avLst/>
          </a:prstGeom>
          <a:noFill/>
          <a:ln/>
        </p:spPr>
        <p:txBody>
          <a:bodyPr wrap="square" lIns="0" tIns="0" rIns="0" bIns="0" rtlCol="0" anchor="ctr"/>
          <a:lstStyle/>
          <a:p>
            <a:pPr algn="ctr" defTabSz="1218895">
              <a:buClrTx/>
            </a:pPr>
            <a:r>
              <a:rPr lang="en-US" sz="1133" kern="1200" dirty="0">
                <a:solidFill>
                  <a:srgbClr val="334155"/>
                </a:solidFill>
                <a:latin typeface="Calibri" pitchFamily="34" charset="0"/>
                <a:ea typeface="Calibri" pitchFamily="34" charset="-122"/>
                <a:cs typeface="Calibri" pitchFamily="34" charset="-120"/>
              </a:rPr>
              <a:t>CAP Types</a:t>
            </a:r>
            <a:endParaRPr lang="en-US" sz="1133" kern="1200" dirty="0">
              <a:solidFill>
                <a:prstClr val="black"/>
              </a:solidFill>
              <a:latin typeface="Calibri" panose="020F0502020204030204"/>
              <a:ea typeface="+mn-ea"/>
              <a:cs typeface="+mn-cs"/>
            </a:endParaRPr>
          </a:p>
        </p:txBody>
      </p:sp>
      <p:sp>
        <p:nvSpPr>
          <p:cNvPr id="14" name="Shape 12"/>
          <p:cNvSpPr/>
          <p:nvPr/>
        </p:nvSpPr>
        <p:spPr>
          <a:xfrm>
            <a:off x="5080302" y="1366042"/>
            <a:ext cx="536308" cy="536308"/>
          </a:xfrm>
          <a:prstGeom prst="ellipse">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5" name="Text 13"/>
          <p:cNvSpPr/>
          <p:nvPr/>
        </p:nvSpPr>
        <p:spPr>
          <a:xfrm>
            <a:off x="5080302" y="1366042"/>
            <a:ext cx="536308" cy="536308"/>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3</a:t>
            </a:r>
            <a:endParaRPr lang="en-US" sz="1733" kern="1200" dirty="0">
              <a:solidFill>
                <a:prstClr val="black"/>
              </a:solidFill>
              <a:latin typeface="Calibri" panose="020F0502020204030204"/>
              <a:ea typeface="+mn-ea"/>
              <a:cs typeface="+mn-cs"/>
            </a:endParaRPr>
          </a:p>
        </p:txBody>
      </p:sp>
      <p:sp>
        <p:nvSpPr>
          <p:cNvPr id="16" name="Shape 14"/>
          <p:cNvSpPr/>
          <p:nvPr/>
        </p:nvSpPr>
        <p:spPr>
          <a:xfrm>
            <a:off x="5640987" y="1634196"/>
            <a:ext cx="1467535" cy="0"/>
          </a:xfrm>
          <a:prstGeom prst="line">
            <a:avLst/>
          </a:prstGeom>
          <a:noFill/>
          <a:ln w="19050">
            <a:solidFill>
              <a:srgbClr val="E2E8F0"/>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7" name="Text 15"/>
          <p:cNvSpPr/>
          <p:nvPr/>
        </p:nvSpPr>
        <p:spPr>
          <a:xfrm>
            <a:off x="4958413" y="1951105"/>
            <a:ext cx="2271998" cy="390042"/>
          </a:xfrm>
          <a:prstGeom prst="rect">
            <a:avLst/>
          </a:prstGeom>
          <a:noFill/>
          <a:ln/>
        </p:spPr>
        <p:txBody>
          <a:bodyPr wrap="square" lIns="0" tIns="0" rIns="0" bIns="0" rtlCol="0" anchor="ctr"/>
          <a:lstStyle/>
          <a:p>
            <a:pPr algn="ctr" defTabSz="1218895">
              <a:buClrTx/>
            </a:pPr>
            <a:r>
              <a:rPr lang="en-US" sz="1133" kern="1200" dirty="0">
                <a:solidFill>
                  <a:srgbClr val="334155"/>
                </a:solidFill>
                <a:latin typeface="Calibri" pitchFamily="34" charset="0"/>
                <a:ea typeface="Calibri" pitchFamily="34" charset="-122"/>
                <a:cs typeface="Calibri" pitchFamily="34" charset="-120"/>
              </a:rPr>
              <a:t>Test Types</a:t>
            </a:r>
            <a:endParaRPr lang="en-US" sz="1133" kern="1200" dirty="0">
              <a:solidFill>
                <a:prstClr val="black"/>
              </a:solidFill>
              <a:latin typeface="Calibri" panose="020F0502020204030204"/>
              <a:ea typeface="+mn-ea"/>
              <a:cs typeface="+mn-cs"/>
            </a:endParaRPr>
          </a:p>
        </p:txBody>
      </p:sp>
      <p:sp>
        <p:nvSpPr>
          <p:cNvPr id="18" name="Shape 16"/>
          <p:cNvSpPr/>
          <p:nvPr/>
        </p:nvSpPr>
        <p:spPr>
          <a:xfrm>
            <a:off x="7376677" y="1366042"/>
            <a:ext cx="536308" cy="536308"/>
          </a:xfrm>
          <a:prstGeom prst="ellipse">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Text 17"/>
          <p:cNvSpPr/>
          <p:nvPr/>
        </p:nvSpPr>
        <p:spPr>
          <a:xfrm>
            <a:off x="7376677" y="1366042"/>
            <a:ext cx="536308" cy="536308"/>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4</a:t>
            </a:r>
            <a:endParaRPr lang="en-US" sz="1733" kern="1200" dirty="0">
              <a:solidFill>
                <a:prstClr val="black"/>
              </a:solidFill>
              <a:latin typeface="Calibri" panose="020F0502020204030204"/>
              <a:ea typeface="+mn-ea"/>
              <a:cs typeface="+mn-cs"/>
            </a:endParaRPr>
          </a:p>
        </p:txBody>
      </p:sp>
      <p:sp>
        <p:nvSpPr>
          <p:cNvPr id="20" name="Shape 18"/>
          <p:cNvSpPr/>
          <p:nvPr/>
        </p:nvSpPr>
        <p:spPr>
          <a:xfrm>
            <a:off x="7937363" y="1634196"/>
            <a:ext cx="1467535" cy="0"/>
          </a:xfrm>
          <a:prstGeom prst="line">
            <a:avLst/>
          </a:prstGeom>
          <a:noFill/>
          <a:ln w="19050">
            <a:solidFill>
              <a:srgbClr val="E2E8F0"/>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1" name="Text 19"/>
          <p:cNvSpPr/>
          <p:nvPr/>
        </p:nvSpPr>
        <p:spPr>
          <a:xfrm>
            <a:off x="7254788" y="1951105"/>
            <a:ext cx="2271998" cy="390042"/>
          </a:xfrm>
          <a:prstGeom prst="rect">
            <a:avLst/>
          </a:prstGeom>
          <a:noFill/>
          <a:ln/>
        </p:spPr>
        <p:txBody>
          <a:bodyPr wrap="square" lIns="0" tIns="0" rIns="0" bIns="0" rtlCol="0" anchor="ctr"/>
          <a:lstStyle/>
          <a:p>
            <a:pPr algn="ctr" defTabSz="1218895">
              <a:buClrTx/>
            </a:pPr>
            <a:r>
              <a:rPr lang="en-US" sz="1133" kern="1200" dirty="0">
                <a:solidFill>
                  <a:srgbClr val="334155"/>
                </a:solidFill>
                <a:latin typeface="Calibri" pitchFamily="34" charset="0"/>
                <a:ea typeface="Calibri" pitchFamily="34" charset="-122"/>
                <a:cs typeface="Calibri" pitchFamily="34" charset="-120"/>
              </a:rPr>
              <a:t>ts-jest</a:t>
            </a:r>
            <a:endParaRPr lang="en-US" sz="1133" kern="1200" dirty="0">
              <a:solidFill>
                <a:prstClr val="black"/>
              </a:solidFill>
              <a:latin typeface="Calibri" panose="020F0502020204030204"/>
              <a:ea typeface="+mn-ea"/>
              <a:cs typeface="+mn-cs"/>
            </a:endParaRPr>
          </a:p>
        </p:txBody>
      </p:sp>
      <p:sp>
        <p:nvSpPr>
          <p:cNvPr id="22" name="Shape 20"/>
          <p:cNvSpPr/>
          <p:nvPr/>
        </p:nvSpPr>
        <p:spPr>
          <a:xfrm>
            <a:off x="9673051" y="1366042"/>
            <a:ext cx="536308" cy="536308"/>
          </a:xfrm>
          <a:prstGeom prst="ellipse">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Text 21"/>
          <p:cNvSpPr/>
          <p:nvPr/>
        </p:nvSpPr>
        <p:spPr>
          <a:xfrm>
            <a:off x="9673051" y="1366042"/>
            <a:ext cx="536308" cy="536308"/>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5</a:t>
            </a:r>
            <a:endParaRPr lang="en-US" sz="1733" kern="1200" dirty="0">
              <a:solidFill>
                <a:prstClr val="black"/>
              </a:solidFill>
              <a:latin typeface="Calibri" panose="020F0502020204030204"/>
              <a:ea typeface="+mn-ea"/>
              <a:cs typeface="+mn-cs"/>
            </a:endParaRPr>
          </a:p>
        </p:txBody>
      </p:sp>
      <p:sp>
        <p:nvSpPr>
          <p:cNvPr id="24" name="Text 22"/>
          <p:cNvSpPr/>
          <p:nvPr/>
        </p:nvSpPr>
        <p:spPr>
          <a:xfrm>
            <a:off x="9551162" y="1951105"/>
            <a:ext cx="2271998" cy="390042"/>
          </a:xfrm>
          <a:prstGeom prst="rect">
            <a:avLst/>
          </a:prstGeom>
          <a:noFill/>
          <a:ln/>
        </p:spPr>
        <p:txBody>
          <a:bodyPr wrap="square" lIns="0" tIns="0" rIns="0" bIns="0" rtlCol="0" anchor="ctr"/>
          <a:lstStyle/>
          <a:p>
            <a:pPr algn="ctr" defTabSz="1218895">
              <a:buClrTx/>
            </a:pPr>
            <a:r>
              <a:rPr lang="en-US" sz="1133" kern="1200" dirty="0">
                <a:solidFill>
                  <a:srgbClr val="334155"/>
                </a:solidFill>
                <a:latin typeface="Calibri" pitchFamily="34" charset="0"/>
                <a:ea typeface="Calibri" pitchFamily="34" charset="-122"/>
                <a:cs typeface="Calibri" pitchFamily="34" charset="-120"/>
              </a:rPr>
              <a:t>Verify</a:t>
            </a:r>
            <a:endParaRPr lang="en-US" sz="1133" kern="1200" dirty="0">
              <a:solidFill>
                <a:prstClr val="black"/>
              </a:solidFill>
              <a:latin typeface="Calibri" panose="020F0502020204030204"/>
              <a:ea typeface="+mn-ea"/>
              <a:cs typeface="+mn-cs"/>
            </a:endParaRPr>
          </a:p>
        </p:txBody>
      </p:sp>
      <p:sp>
        <p:nvSpPr>
          <p:cNvPr id="25" name="Text 23"/>
          <p:cNvSpPr/>
          <p:nvPr/>
        </p:nvSpPr>
        <p:spPr>
          <a:xfrm>
            <a:off x="487552" y="2219259"/>
            <a:ext cx="5606860"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Step 1 — Core TypeScript Packages</a:t>
            </a:r>
            <a:endParaRPr lang="en-US" sz="1466" kern="1200" dirty="0">
              <a:solidFill>
                <a:prstClr val="black"/>
              </a:solidFill>
              <a:latin typeface="Calibri" panose="020F0502020204030204"/>
              <a:ea typeface="+mn-ea"/>
              <a:cs typeface="+mn-cs"/>
            </a:endParaRPr>
          </a:p>
        </p:txBody>
      </p:sp>
      <p:sp>
        <p:nvSpPr>
          <p:cNvPr id="26" name="Shape 24"/>
          <p:cNvSpPr/>
          <p:nvPr/>
        </p:nvSpPr>
        <p:spPr>
          <a:xfrm>
            <a:off x="487552" y="2584924"/>
            <a:ext cx="5606860" cy="1608925"/>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7" name="Text 25"/>
          <p:cNvSpPr/>
          <p:nvPr/>
        </p:nvSpPr>
        <p:spPr>
          <a:xfrm>
            <a:off x="670385" y="2706812"/>
            <a:ext cx="5338705" cy="1389526"/>
          </a:xfrm>
          <a:prstGeom prst="rect">
            <a:avLst/>
          </a:prstGeom>
          <a:noFill/>
          <a:ln/>
        </p:spPr>
        <p:txBody>
          <a:bodyPr wrap="square" lIns="0" tIns="0" rIns="0" bIns="0" rtlCol="0" anchor="t"/>
          <a:lstStyle/>
          <a:p>
            <a:pPr defTabSz="1218895">
              <a:buClrTx/>
            </a:pPr>
            <a:r>
              <a:rPr lang="en-US" sz="1266" kern="1200" dirty="0">
                <a:solidFill>
                  <a:srgbClr val="818CF8"/>
                </a:solidFill>
                <a:latin typeface="Consolas" pitchFamily="34" charset="0"/>
                <a:ea typeface="Consolas" pitchFamily="34" charset="-122"/>
                <a:cs typeface="Consolas" pitchFamily="34" charset="-120"/>
              </a:rPr>
              <a:t>npm install --save-dev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typescript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@types/node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ts-node</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typescript  — the compiler (tsc)</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@types/node — Node.js built-in types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ts-node     — run .ts files directly</a:t>
            </a:r>
            <a:endParaRPr lang="en-US" sz="1266" kern="1200" dirty="0">
              <a:solidFill>
                <a:prstClr val="black"/>
              </a:solidFill>
              <a:latin typeface="Calibri" panose="020F0502020204030204"/>
              <a:ea typeface="+mn-ea"/>
              <a:cs typeface="+mn-cs"/>
            </a:endParaRPr>
          </a:p>
        </p:txBody>
      </p:sp>
      <p:sp>
        <p:nvSpPr>
          <p:cNvPr id="28" name="Text 26"/>
          <p:cNvSpPr/>
          <p:nvPr/>
        </p:nvSpPr>
        <p:spPr>
          <a:xfrm>
            <a:off x="487552" y="4291359"/>
            <a:ext cx="5606860"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Step 2 — CAP-Specific Type Packages</a:t>
            </a:r>
            <a:endParaRPr lang="en-US" sz="1466" kern="1200" dirty="0">
              <a:solidFill>
                <a:prstClr val="black"/>
              </a:solidFill>
              <a:latin typeface="Calibri" panose="020F0502020204030204"/>
              <a:ea typeface="+mn-ea"/>
              <a:cs typeface="+mn-cs"/>
            </a:endParaRPr>
          </a:p>
        </p:txBody>
      </p:sp>
      <p:sp>
        <p:nvSpPr>
          <p:cNvPr id="29" name="Shape 27"/>
          <p:cNvSpPr/>
          <p:nvPr/>
        </p:nvSpPr>
        <p:spPr>
          <a:xfrm>
            <a:off x="487552" y="4657024"/>
            <a:ext cx="5606860" cy="1852701"/>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0" name="Text 28"/>
          <p:cNvSpPr/>
          <p:nvPr/>
        </p:nvSpPr>
        <p:spPr>
          <a:xfrm>
            <a:off x="670385" y="4778912"/>
            <a:ext cx="5338705" cy="1633303"/>
          </a:xfrm>
          <a:prstGeom prst="rect">
            <a:avLst/>
          </a:prstGeom>
          <a:noFill/>
          <a:ln/>
        </p:spPr>
        <p:txBody>
          <a:bodyPr wrap="square" lIns="0" tIns="0" rIns="0" bIns="0" rtlCol="0" anchor="t"/>
          <a:lstStyle/>
          <a:p>
            <a:pPr defTabSz="1218895">
              <a:buClrTx/>
            </a:pPr>
            <a:r>
              <a:rPr lang="en-US" sz="1266" kern="1200" dirty="0">
                <a:solidFill>
                  <a:srgbClr val="818CF8"/>
                </a:solidFill>
                <a:latin typeface="Consolas" pitchFamily="34" charset="0"/>
                <a:ea typeface="Consolas" pitchFamily="34" charset="-122"/>
                <a:cs typeface="Consolas" pitchFamily="34" charset="-120"/>
              </a:rPr>
              <a:t>npm install --save-dev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@cap-js/cds-types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@sap/cds</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@cap-js/cds-types — official TS defs for:</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cds.Service, cds.Request,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cds.ApplicationService, cds.connect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@sap/cds — CAP runtime (if not installed)</a:t>
            </a:r>
            <a:endParaRPr lang="en-US" sz="1266" kern="1200" dirty="0">
              <a:solidFill>
                <a:prstClr val="black"/>
              </a:solidFill>
              <a:latin typeface="Calibri" panose="020F0502020204030204"/>
              <a:ea typeface="+mn-ea"/>
              <a:cs typeface="+mn-cs"/>
            </a:endParaRPr>
          </a:p>
        </p:txBody>
      </p:sp>
      <p:sp>
        <p:nvSpPr>
          <p:cNvPr id="31" name="Text 29"/>
          <p:cNvSpPr/>
          <p:nvPr/>
        </p:nvSpPr>
        <p:spPr>
          <a:xfrm>
            <a:off x="6338188" y="2219259"/>
            <a:ext cx="5606860"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Step 3 — Jest &amp; Testing Types</a:t>
            </a:r>
            <a:endParaRPr lang="en-US" sz="1466" kern="1200" dirty="0">
              <a:solidFill>
                <a:prstClr val="black"/>
              </a:solidFill>
              <a:latin typeface="Calibri" panose="020F0502020204030204"/>
              <a:ea typeface="+mn-ea"/>
              <a:cs typeface="+mn-cs"/>
            </a:endParaRPr>
          </a:p>
        </p:txBody>
      </p:sp>
      <p:sp>
        <p:nvSpPr>
          <p:cNvPr id="32" name="Shape 30"/>
          <p:cNvSpPr/>
          <p:nvPr/>
        </p:nvSpPr>
        <p:spPr>
          <a:xfrm>
            <a:off x="6338188" y="2584924"/>
            <a:ext cx="5606860" cy="1608925"/>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3" name="Text 31"/>
          <p:cNvSpPr/>
          <p:nvPr/>
        </p:nvSpPr>
        <p:spPr>
          <a:xfrm>
            <a:off x="6521021" y="2706812"/>
            <a:ext cx="5338705" cy="1389526"/>
          </a:xfrm>
          <a:prstGeom prst="rect">
            <a:avLst/>
          </a:prstGeom>
          <a:noFill/>
          <a:ln/>
        </p:spPr>
        <p:txBody>
          <a:bodyPr wrap="square" lIns="0" tIns="0" rIns="0" bIns="0" rtlCol="0" anchor="t"/>
          <a:lstStyle/>
          <a:p>
            <a:pPr defTabSz="1218895">
              <a:buClrTx/>
            </a:pPr>
            <a:r>
              <a:rPr lang="en-US" sz="1266" kern="1200" dirty="0">
                <a:solidFill>
                  <a:srgbClr val="818CF8"/>
                </a:solidFill>
                <a:latin typeface="Consolas" pitchFamily="34" charset="0"/>
                <a:ea typeface="Consolas" pitchFamily="34" charset="-122"/>
                <a:cs typeface="Consolas" pitchFamily="34" charset="-120"/>
              </a:rPr>
              <a:t>npm install --save-dev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ts-jest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@types/jest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ts-jest  — transpiles .ts test files for Jest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@types/jest — describe/it/expect types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No code changes to test files needed!</a:t>
            </a:r>
            <a:endParaRPr lang="en-US" sz="1266" kern="1200" dirty="0">
              <a:solidFill>
                <a:prstClr val="black"/>
              </a:solidFill>
              <a:latin typeface="Calibri" panose="020F0502020204030204"/>
              <a:ea typeface="+mn-ea"/>
              <a:cs typeface="+mn-cs"/>
            </a:endParaRPr>
          </a:p>
        </p:txBody>
      </p:sp>
      <p:sp>
        <p:nvSpPr>
          <p:cNvPr id="34" name="Text 32"/>
          <p:cNvSpPr/>
          <p:nvPr/>
        </p:nvSpPr>
        <p:spPr>
          <a:xfrm>
            <a:off x="6338188" y="4291359"/>
            <a:ext cx="5606860"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Step 4 — package.json scripts</a:t>
            </a:r>
            <a:endParaRPr lang="en-US" sz="1466" kern="1200" dirty="0">
              <a:solidFill>
                <a:prstClr val="black"/>
              </a:solidFill>
              <a:latin typeface="Calibri" panose="020F0502020204030204"/>
              <a:ea typeface="+mn-ea"/>
              <a:cs typeface="+mn-cs"/>
            </a:endParaRPr>
          </a:p>
        </p:txBody>
      </p:sp>
      <p:sp>
        <p:nvSpPr>
          <p:cNvPr id="35" name="Shape 33"/>
          <p:cNvSpPr/>
          <p:nvPr/>
        </p:nvSpPr>
        <p:spPr>
          <a:xfrm>
            <a:off x="6338188" y="4657024"/>
            <a:ext cx="5606860" cy="1852701"/>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6" name="Text 34"/>
          <p:cNvSpPr/>
          <p:nvPr/>
        </p:nvSpPr>
        <p:spPr>
          <a:xfrm>
            <a:off x="6521021" y="4778912"/>
            <a:ext cx="5338705" cy="1633303"/>
          </a:xfrm>
          <a:prstGeom prst="rect">
            <a:avLst/>
          </a:prstGeom>
          <a:noFill/>
          <a:ln/>
        </p:spPr>
        <p:txBody>
          <a:bodyPr wrap="square" lIns="0" tIns="0" rIns="0" bIns="0" rtlCol="0" anchor="t"/>
          <a:lstStyle/>
          <a:p>
            <a:pPr defTabSz="1218895">
              <a:buClrTx/>
            </a:pPr>
            <a:r>
              <a:rPr lang="en-US" sz="1266" kern="1200" dirty="0">
                <a:solidFill>
                  <a:srgbClr val="FFFFFF"/>
                </a:solidFill>
                <a:latin typeface="Consolas" pitchFamily="34" charset="0"/>
                <a:ea typeface="Consolas" pitchFamily="34" charset="-122"/>
                <a:cs typeface="Consolas" pitchFamily="34" charset="-120"/>
              </a:rPr>
              <a:t>"scripts":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"build":    "tsc --noEmit",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"typecheck":"tsc --noEmit --strict",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"start:ts": "ts-node srv/server.ts",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"test":     "jest"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Step 5: verify install</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npx tsc --version  # should print 5.x+</a:t>
            </a:r>
            <a:endParaRPr lang="en-US" sz="1266" kern="1200" dirty="0">
              <a:solidFill>
                <a:prstClr val="black"/>
              </a:solidFill>
              <a:latin typeface="Calibri" panose="020F0502020204030204"/>
              <a:ea typeface="+mn-ea"/>
              <a:cs typeface="+mn-cs"/>
            </a:endParaRPr>
          </a:p>
        </p:txBody>
      </p:sp>
      <p:sp>
        <p:nvSpPr>
          <p:cNvPr id="37" name="Shape 35"/>
          <p:cNvSpPr/>
          <p:nvPr/>
        </p:nvSpPr>
        <p:spPr>
          <a:xfrm>
            <a:off x="487553" y="6582858"/>
            <a:ext cx="11213719" cy="304721"/>
          </a:xfrm>
          <a:prstGeom prst="rect">
            <a:avLst/>
          </a:prstGeom>
          <a:solidFill>
            <a:srgbClr val="FFF3CD"/>
          </a:solidFill>
          <a:ln w="12700">
            <a:solidFill>
              <a:srgbClr val="F59E0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8" name="Text 36"/>
          <p:cNvSpPr/>
          <p:nvPr/>
        </p:nvSpPr>
        <p:spPr>
          <a:xfrm>
            <a:off x="609441" y="6607236"/>
            <a:ext cx="10969943" cy="268154"/>
          </a:xfrm>
          <a:prstGeom prst="rect">
            <a:avLst/>
          </a:prstGeom>
          <a:noFill/>
          <a:ln/>
        </p:spPr>
        <p:txBody>
          <a:bodyPr wrap="square" lIns="0" tIns="0" rIns="0" bIns="0" rtlCol="0" anchor="ctr"/>
          <a:lstStyle/>
          <a:p>
            <a:pPr defTabSz="1218895">
              <a:buClrTx/>
            </a:pPr>
            <a:r>
              <a:rPr lang="en-US" sz="1200" kern="1200" dirty="0">
                <a:solidFill>
                  <a:srgbClr val="334155"/>
                </a:solidFill>
                <a:latin typeface="Calibri" pitchFamily="34" charset="0"/>
                <a:ea typeface="Calibri" pitchFamily="34" charset="-122"/>
                <a:cs typeface="Calibri" pitchFamily="34" charset="-120"/>
              </a:rPr>
              <a:t>⚠  Install @cap-js/cds-types NOT @types/cds (deprecated). The official package ships cds.Request&lt;T&gt;, cds.Service, etc.</a:t>
            </a:r>
            <a:endParaRPr lang="en-US" sz="1200" kern="1200" dirty="0">
              <a:solidFill>
                <a:prstClr val="black"/>
              </a:solidFill>
              <a:latin typeface="Calibri" panose="020F0502020204030204"/>
              <a:ea typeface="+mn-ea"/>
              <a:cs typeface="+mn-cs"/>
            </a:endParaRPr>
          </a:p>
        </p:txBody>
      </p:sp>
      <p:pic>
        <p:nvPicPr>
          <p:cNvPr id="39" name="Google Shape;497;p1">
            <a:extLst>
              <a:ext uri="{FF2B5EF4-FFF2-40B4-BE49-F238E27FC236}">
                <a16:creationId xmlns:a16="http://schemas.microsoft.com/office/drawing/2014/main" id="{68042F1E-E751-B86C-5ED4-D6942310BA00}"/>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1b  </a:t>
            </a:r>
            <a:r>
              <a:rPr lang="en-US" sz="3333" b="1" kern="1200" dirty="0">
                <a:solidFill>
                  <a:srgbClr val="FFFFFF"/>
                </a:solidFill>
                <a:latin typeface="Calibri" pitchFamily="34" charset="0"/>
                <a:ea typeface="Calibri" pitchFamily="34" charset="-122"/>
                <a:cs typeface="Calibri" pitchFamily="34" charset="-120"/>
              </a:rPr>
              <a:t>tsconfig.json — Every Option Explained for CAP</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Configuration · why each compiler option matters in a CAP Node.js context</a:t>
            </a:r>
            <a:endParaRPr lang="en-US" kern="1200" dirty="0">
              <a:solidFill>
                <a:prstClr val="black"/>
              </a:solidFill>
              <a:latin typeface="Calibri" panose="020F0502020204030204"/>
              <a:ea typeface="+mn-ea"/>
              <a:cs typeface="+mn-cs"/>
            </a:endParaRPr>
          </a:p>
        </p:txBody>
      </p:sp>
      <p:sp>
        <p:nvSpPr>
          <p:cNvPr id="6" name="Text 4"/>
          <p:cNvSpPr/>
          <p:nvPr/>
        </p:nvSpPr>
        <p:spPr>
          <a:xfrm>
            <a:off x="487552" y="1402608"/>
            <a:ext cx="5606860"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Complete tsconfig.json for CAP</a:t>
            </a:r>
            <a:endParaRPr lang="en-US" sz="1466" kern="1200" dirty="0">
              <a:solidFill>
                <a:prstClr val="black"/>
              </a:solidFill>
              <a:latin typeface="Calibri" panose="020F0502020204030204"/>
              <a:ea typeface="+mn-ea"/>
              <a:cs typeface="+mn-cs"/>
            </a:endParaRPr>
          </a:p>
        </p:txBody>
      </p:sp>
      <p:sp>
        <p:nvSpPr>
          <p:cNvPr id="7" name="Shape 5"/>
          <p:cNvSpPr/>
          <p:nvPr/>
        </p:nvSpPr>
        <p:spPr>
          <a:xfrm>
            <a:off x="487552" y="1768273"/>
            <a:ext cx="5606860" cy="4875530"/>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70385" y="1890161"/>
            <a:ext cx="5338705" cy="4656131"/>
          </a:xfrm>
          <a:prstGeom prst="rect">
            <a:avLst/>
          </a:prstGeom>
          <a:noFill/>
          <a:ln/>
        </p:spPr>
        <p:txBody>
          <a:bodyPr wrap="square" lIns="0" tIns="0" rIns="0" bIns="0" rtlCol="0" anchor="t"/>
          <a:lstStyle/>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"compilerOptions":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"target":        "ES2022",</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"module":        "commonjs",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"lib":           ["ES2022"],</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"strict":        true,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"allowJs":       false,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"esModuleInterop":true,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"skipLibCheck":  true,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"moduleResolution":"node",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"outDir":        "./dist",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"rootDir":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"baseUrl":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"paths":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"@cds-models/*":["./srv/gen/*"]</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"types": ["node","jest","@cap-js/cds-types"]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"include": ["srv/**/*","utils/**/*","test/**/*"],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4A3B8"/>
                </a:solidFill>
                <a:latin typeface="Consolas" pitchFamily="34" charset="0"/>
                <a:ea typeface="Consolas" pitchFamily="34" charset="-122"/>
                <a:cs typeface="Consolas" pitchFamily="34" charset="-120"/>
              </a:rPr>
              <a:t>  "exclude": ["node_modules","dist","**/*.js"]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p:txBody>
      </p:sp>
      <p:sp>
        <p:nvSpPr>
          <p:cNvPr id="9" name="Text 7"/>
          <p:cNvSpPr/>
          <p:nvPr/>
        </p:nvSpPr>
        <p:spPr>
          <a:xfrm>
            <a:off x="6338188" y="1402608"/>
            <a:ext cx="5606860"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Why each option matters</a:t>
            </a:r>
            <a:endParaRPr lang="en-US" sz="1466" kern="1200" dirty="0">
              <a:solidFill>
                <a:prstClr val="black"/>
              </a:solidFill>
              <a:latin typeface="Calibri" panose="020F0502020204030204"/>
              <a:ea typeface="+mn-ea"/>
              <a:cs typeface="+mn-cs"/>
            </a:endParaRPr>
          </a:p>
        </p:txBody>
      </p:sp>
      <p:sp>
        <p:nvSpPr>
          <p:cNvPr id="10" name="Shape 8"/>
          <p:cNvSpPr/>
          <p:nvPr/>
        </p:nvSpPr>
        <p:spPr>
          <a:xfrm>
            <a:off x="6338188" y="1768273"/>
            <a:ext cx="5606860" cy="633819"/>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Shape 9"/>
          <p:cNvSpPr/>
          <p:nvPr/>
        </p:nvSpPr>
        <p:spPr>
          <a:xfrm>
            <a:off x="6338188" y="1768273"/>
            <a:ext cx="85322" cy="633819"/>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2" name="Text 10"/>
          <p:cNvSpPr/>
          <p:nvPr/>
        </p:nvSpPr>
        <p:spPr>
          <a:xfrm>
            <a:off x="6533210" y="1792650"/>
            <a:ext cx="5302139" cy="268154"/>
          </a:xfrm>
          <a:prstGeom prst="rect">
            <a:avLst/>
          </a:prstGeom>
          <a:noFill/>
          <a:ln/>
        </p:spPr>
        <p:txBody>
          <a:bodyPr wrap="square" lIns="0" tIns="0" rIns="0" bIns="0" rtlCol="0" anchor="ctr"/>
          <a:lstStyle/>
          <a:p>
            <a:pPr defTabSz="1218895">
              <a:buClrTx/>
            </a:pPr>
            <a:r>
              <a:rPr lang="en-US" sz="1266" b="1" kern="1200" dirty="0">
                <a:solidFill>
                  <a:srgbClr val="0070F2"/>
                </a:solidFill>
                <a:latin typeface="Consolas" pitchFamily="34" charset="0"/>
                <a:ea typeface="Consolas" pitchFamily="34" charset="-122"/>
                <a:cs typeface="Consolas" pitchFamily="34" charset="-120"/>
              </a:rPr>
              <a:t>target: "ES2022"</a:t>
            </a:r>
            <a:endParaRPr lang="en-US" sz="1266" kern="1200" dirty="0">
              <a:solidFill>
                <a:prstClr val="black"/>
              </a:solidFill>
              <a:latin typeface="Calibri" panose="020F0502020204030204"/>
              <a:ea typeface="+mn-ea"/>
              <a:cs typeface="+mn-cs"/>
            </a:endParaRPr>
          </a:p>
        </p:txBody>
      </p:sp>
      <p:sp>
        <p:nvSpPr>
          <p:cNvPr id="13" name="Text 11"/>
          <p:cNvSpPr/>
          <p:nvPr/>
        </p:nvSpPr>
        <p:spPr>
          <a:xfrm>
            <a:off x="6533210" y="2060804"/>
            <a:ext cx="5302139" cy="341287"/>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CAP runs on Node 18+. ES2022 enables optional chaining, nullish coalescing, and top-level await natively.</a:t>
            </a:r>
            <a:endParaRPr lang="en-US" sz="1133" kern="1200" dirty="0">
              <a:solidFill>
                <a:prstClr val="black"/>
              </a:solidFill>
              <a:latin typeface="Calibri" panose="020F0502020204030204"/>
              <a:ea typeface="+mn-ea"/>
              <a:cs typeface="+mn-cs"/>
            </a:endParaRPr>
          </a:p>
        </p:txBody>
      </p:sp>
      <p:sp>
        <p:nvSpPr>
          <p:cNvPr id="14" name="Shape 12"/>
          <p:cNvSpPr/>
          <p:nvPr/>
        </p:nvSpPr>
        <p:spPr>
          <a:xfrm>
            <a:off x="6338188" y="2463036"/>
            <a:ext cx="5606860" cy="633819"/>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5" name="Shape 13"/>
          <p:cNvSpPr/>
          <p:nvPr/>
        </p:nvSpPr>
        <p:spPr>
          <a:xfrm>
            <a:off x="6338188" y="2463036"/>
            <a:ext cx="85322" cy="633819"/>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6533210" y="2487413"/>
            <a:ext cx="5302139" cy="268154"/>
          </a:xfrm>
          <a:prstGeom prst="rect">
            <a:avLst/>
          </a:prstGeom>
          <a:noFill/>
          <a:ln/>
        </p:spPr>
        <p:txBody>
          <a:bodyPr wrap="square" lIns="0" tIns="0" rIns="0" bIns="0" rtlCol="0" anchor="ctr"/>
          <a:lstStyle/>
          <a:p>
            <a:pPr defTabSz="1218895">
              <a:buClrTx/>
            </a:pPr>
            <a:r>
              <a:rPr lang="en-US" sz="1266" b="1" kern="1200" dirty="0">
                <a:solidFill>
                  <a:srgbClr val="0070F2"/>
                </a:solidFill>
                <a:latin typeface="Consolas" pitchFamily="34" charset="0"/>
                <a:ea typeface="Consolas" pitchFamily="34" charset="-122"/>
                <a:cs typeface="Consolas" pitchFamily="34" charset="-120"/>
              </a:rPr>
              <a:t>module: "commonjs"</a:t>
            </a:r>
            <a:endParaRPr lang="en-US" sz="1266" kern="1200" dirty="0">
              <a:solidFill>
                <a:prstClr val="black"/>
              </a:solidFill>
              <a:latin typeface="Calibri" panose="020F0502020204030204"/>
              <a:ea typeface="+mn-ea"/>
              <a:cs typeface="+mn-cs"/>
            </a:endParaRPr>
          </a:p>
        </p:txBody>
      </p:sp>
      <p:sp>
        <p:nvSpPr>
          <p:cNvPr id="17" name="Text 15"/>
          <p:cNvSpPr/>
          <p:nvPr/>
        </p:nvSpPr>
        <p:spPr>
          <a:xfrm>
            <a:off x="6533210" y="2755567"/>
            <a:ext cx="5302139" cy="341287"/>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CAP uses require() at runtime. Must be commonjs — do NOT use ESM here or cds.connect() will break.</a:t>
            </a:r>
            <a:endParaRPr lang="en-US" sz="1133" kern="1200" dirty="0">
              <a:solidFill>
                <a:prstClr val="black"/>
              </a:solidFill>
              <a:latin typeface="Calibri" panose="020F0502020204030204"/>
              <a:ea typeface="+mn-ea"/>
              <a:cs typeface="+mn-cs"/>
            </a:endParaRPr>
          </a:p>
        </p:txBody>
      </p:sp>
      <p:sp>
        <p:nvSpPr>
          <p:cNvPr id="18" name="Shape 16"/>
          <p:cNvSpPr/>
          <p:nvPr/>
        </p:nvSpPr>
        <p:spPr>
          <a:xfrm>
            <a:off x="6338188" y="3157799"/>
            <a:ext cx="5606860" cy="633819"/>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Shape 17"/>
          <p:cNvSpPr/>
          <p:nvPr/>
        </p:nvSpPr>
        <p:spPr>
          <a:xfrm>
            <a:off x="6338188" y="3157799"/>
            <a:ext cx="85322" cy="633819"/>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Text 18"/>
          <p:cNvSpPr/>
          <p:nvPr/>
        </p:nvSpPr>
        <p:spPr>
          <a:xfrm>
            <a:off x="6533210" y="3182176"/>
            <a:ext cx="5302139" cy="268154"/>
          </a:xfrm>
          <a:prstGeom prst="rect">
            <a:avLst/>
          </a:prstGeom>
          <a:noFill/>
          <a:ln/>
        </p:spPr>
        <p:txBody>
          <a:bodyPr wrap="square" lIns="0" tIns="0" rIns="0" bIns="0" rtlCol="0" anchor="ctr"/>
          <a:lstStyle/>
          <a:p>
            <a:pPr defTabSz="1218895">
              <a:buClrTx/>
            </a:pPr>
            <a:r>
              <a:rPr lang="en-US" sz="1266" b="1" kern="1200" dirty="0">
                <a:solidFill>
                  <a:srgbClr val="0070F2"/>
                </a:solidFill>
                <a:latin typeface="Consolas" pitchFamily="34" charset="0"/>
                <a:ea typeface="Consolas" pitchFamily="34" charset="-122"/>
                <a:cs typeface="Consolas" pitchFamily="34" charset="-120"/>
              </a:rPr>
              <a:t>strict: true</a:t>
            </a:r>
            <a:endParaRPr lang="en-US" sz="1266" kern="1200" dirty="0">
              <a:solidFill>
                <a:prstClr val="black"/>
              </a:solidFill>
              <a:latin typeface="Calibri" panose="020F0502020204030204"/>
              <a:ea typeface="+mn-ea"/>
              <a:cs typeface="+mn-cs"/>
            </a:endParaRPr>
          </a:p>
        </p:txBody>
      </p:sp>
      <p:sp>
        <p:nvSpPr>
          <p:cNvPr id="21" name="Text 19"/>
          <p:cNvSpPr/>
          <p:nvPr/>
        </p:nvSpPr>
        <p:spPr>
          <a:xfrm>
            <a:off x="6533210" y="3450330"/>
            <a:ext cx="5302139" cy="341287"/>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Enables noImplicitAny, strictNullChecks, strictFunctionTypes — catches the most bugs at compile time.</a:t>
            </a:r>
            <a:endParaRPr lang="en-US" sz="1133" kern="1200" dirty="0">
              <a:solidFill>
                <a:prstClr val="black"/>
              </a:solidFill>
              <a:latin typeface="Calibri" panose="020F0502020204030204"/>
              <a:ea typeface="+mn-ea"/>
              <a:cs typeface="+mn-cs"/>
            </a:endParaRPr>
          </a:p>
        </p:txBody>
      </p:sp>
      <p:sp>
        <p:nvSpPr>
          <p:cNvPr id="22" name="Shape 20"/>
          <p:cNvSpPr/>
          <p:nvPr/>
        </p:nvSpPr>
        <p:spPr>
          <a:xfrm>
            <a:off x="6338188" y="3852562"/>
            <a:ext cx="5606860" cy="633819"/>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Shape 21"/>
          <p:cNvSpPr/>
          <p:nvPr/>
        </p:nvSpPr>
        <p:spPr>
          <a:xfrm>
            <a:off x="6338188" y="3852562"/>
            <a:ext cx="85322" cy="633819"/>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4" name="Text 22"/>
          <p:cNvSpPr/>
          <p:nvPr/>
        </p:nvSpPr>
        <p:spPr>
          <a:xfrm>
            <a:off x="6533210" y="3876939"/>
            <a:ext cx="5302139" cy="268154"/>
          </a:xfrm>
          <a:prstGeom prst="rect">
            <a:avLst/>
          </a:prstGeom>
          <a:noFill/>
          <a:ln/>
        </p:spPr>
        <p:txBody>
          <a:bodyPr wrap="square" lIns="0" tIns="0" rIns="0" bIns="0" rtlCol="0" anchor="ctr"/>
          <a:lstStyle/>
          <a:p>
            <a:pPr defTabSz="1218895">
              <a:buClrTx/>
            </a:pPr>
            <a:r>
              <a:rPr lang="en-US" sz="1266" b="1" kern="1200" dirty="0">
                <a:solidFill>
                  <a:srgbClr val="0070F2"/>
                </a:solidFill>
                <a:latin typeface="Consolas" pitchFamily="34" charset="0"/>
                <a:ea typeface="Consolas" pitchFamily="34" charset="-122"/>
                <a:cs typeface="Consolas" pitchFamily="34" charset="-120"/>
              </a:rPr>
              <a:t>allowJs: false</a:t>
            </a:r>
            <a:endParaRPr lang="en-US" sz="1266" kern="1200" dirty="0">
              <a:solidFill>
                <a:prstClr val="black"/>
              </a:solidFill>
              <a:latin typeface="Calibri" panose="020F0502020204030204"/>
              <a:ea typeface="+mn-ea"/>
              <a:cs typeface="+mn-cs"/>
            </a:endParaRPr>
          </a:p>
        </p:txBody>
      </p:sp>
      <p:sp>
        <p:nvSpPr>
          <p:cNvPr id="25" name="Text 23"/>
          <p:cNvSpPr/>
          <p:nvPr/>
        </p:nvSpPr>
        <p:spPr>
          <a:xfrm>
            <a:off x="6533210" y="4145094"/>
            <a:ext cx="5302139" cy="341287"/>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Forces all files to be .ts once migration is done. Set to true during incremental migration if needed.</a:t>
            </a:r>
            <a:endParaRPr lang="en-US" sz="1133" kern="1200" dirty="0">
              <a:solidFill>
                <a:prstClr val="black"/>
              </a:solidFill>
              <a:latin typeface="Calibri" panose="020F0502020204030204"/>
              <a:ea typeface="+mn-ea"/>
              <a:cs typeface="+mn-cs"/>
            </a:endParaRPr>
          </a:p>
        </p:txBody>
      </p:sp>
      <p:sp>
        <p:nvSpPr>
          <p:cNvPr id="26" name="Shape 24"/>
          <p:cNvSpPr/>
          <p:nvPr/>
        </p:nvSpPr>
        <p:spPr>
          <a:xfrm>
            <a:off x="6338188" y="4547325"/>
            <a:ext cx="5606860" cy="633819"/>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7" name="Shape 25"/>
          <p:cNvSpPr/>
          <p:nvPr/>
        </p:nvSpPr>
        <p:spPr>
          <a:xfrm>
            <a:off x="6338188" y="4547325"/>
            <a:ext cx="85322" cy="633819"/>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8" name="Text 26"/>
          <p:cNvSpPr/>
          <p:nvPr/>
        </p:nvSpPr>
        <p:spPr>
          <a:xfrm>
            <a:off x="6533210" y="4571702"/>
            <a:ext cx="5302139" cy="268154"/>
          </a:xfrm>
          <a:prstGeom prst="rect">
            <a:avLst/>
          </a:prstGeom>
          <a:noFill/>
          <a:ln/>
        </p:spPr>
        <p:txBody>
          <a:bodyPr wrap="square" lIns="0" tIns="0" rIns="0" bIns="0" rtlCol="0" anchor="ctr"/>
          <a:lstStyle/>
          <a:p>
            <a:pPr defTabSz="1218895">
              <a:buClrTx/>
            </a:pPr>
            <a:r>
              <a:rPr lang="en-US" sz="1266" b="1" kern="1200" dirty="0">
                <a:solidFill>
                  <a:srgbClr val="0070F2"/>
                </a:solidFill>
                <a:latin typeface="Consolas" pitchFamily="34" charset="0"/>
                <a:ea typeface="Consolas" pitchFamily="34" charset="-122"/>
                <a:cs typeface="Consolas" pitchFamily="34" charset="-120"/>
              </a:rPr>
              <a:t>skipLibCheck: true</a:t>
            </a:r>
            <a:endParaRPr lang="en-US" sz="1266" kern="1200" dirty="0">
              <a:solidFill>
                <a:prstClr val="black"/>
              </a:solidFill>
              <a:latin typeface="Calibri" panose="020F0502020204030204"/>
              <a:ea typeface="+mn-ea"/>
              <a:cs typeface="+mn-cs"/>
            </a:endParaRPr>
          </a:p>
        </p:txBody>
      </p:sp>
      <p:sp>
        <p:nvSpPr>
          <p:cNvPr id="29" name="Text 27"/>
          <p:cNvSpPr/>
          <p:nvPr/>
        </p:nvSpPr>
        <p:spPr>
          <a:xfrm>
            <a:off x="6533210" y="4839857"/>
            <a:ext cx="5302139" cy="341287"/>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Skips type checks inside node_modules — required because some CDS generated files have loose types.</a:t>
            </a:r>
            <a:endParaRPr lang="en-US" sz="1133" kern="1200" dirty="0">
              <a:solidFill>
                <a:prstClr val="black"/>
              </a:solidFill>
              <a:latin typeface="Calibri" panose="020F0502020204030204"/>
              <a:ea typeface="+mn-ea"/>
              <a:cs typeface="+mn-cs"/>
            </a:endParaRPr>
          </a:p>
        </p:txBody>
      </p:sp>
      <p:sp>
        <p:nvSpPr>
          <p:cNvPr id="30" name="Shape 28"/>
          <p:cNvSpPr/>
          <p:nvPr/>
        </p:nvSpPr>
        <p:spPr>
          <a:xfrm>
            <a:off x="6338188" y="5242088"/>
            <a:ext cx="5606860" cy="633819"/>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1" name="Shape 29"/>
          <p:cNvSpPr/>
          <p:nvPr/>
        </p:nvSpPr>
        <p:spPr>
          <a:xfrm>
            <a:off x="6338188" y="5242088"/>
            <a:ext cx="85322" cy="633819"/>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2" name="Text 30"/>
          <p:cNvSpPr/>
          <p:nvPr/>
        </p:nvSpPr>
        <p:spPr>
          <a:xfrm>
            <a:off x="6533210" y="5266465"/>
            <a:ext cx="5302139" cy="268154"/>
          </a:xfrm>
          <a:prstGeom prst="rect">
            <a:avLst/>
          </a:prstGeom>
          <a:noFill/>
          <a:ln/>
        </p:spPr>
        <p:txBody>
          <a:bodyPr wrap="square" lIns="0" tIns="0" rIns="0" bIns="0" rtlCol="0" anchor="ctr"/>
          <a:lstStyle/>
          <a:p>
            <a:pPr defTabSz="1218895">
              <a:buClrTx/>
            </a:pPr>
            <a:r>
              <a:rPr lang="en-US" sz="1266" b="1" kern="1200" dirty="0">
                <a:solidFill>
                  <a:srgbClr val="0070F2"/>
                </a:solidFill>
                <a:latin typeface="Consolas" pitchFamily="34" charset="0"/>
                <a:ea typeface="Consolas" pitchFamily="34" charset="-122"/>
                <a:cs typeface="Consolas" pitchFamily="34" charset="-120"/>
              </a:rPr>
              <a:t>"@cds-models/*"</a:t>
            </a:r>
            <a:endParaRPr lang="en-US" sz="1266" kern="1200" dirty="0">
              <a:solidFill>
                <a:prstClr val="black"/>
              </a:solidFill>
              <a:latin typeface="Calibri" panose="020F0502020204030204"/>
              <a:ea typeface="+mn-ea"/>
              <a:cs typeface="+mn-cs"/>
            </a:endParaRPr>
          </a:p>
        </p:txBody>
      </p:sp>
      <p:sp>
        <p:nvSpPr>
          <p:cNvPr id="33" name="Text 31"/>
          <p:cNvSpPr/>
          <p:nvPr/>
        </p:nvSpPr>
        <p:spPr>
          <a:xfrm>
            <a:off x="6533210" y="5534620"/>
            <a:ext cx="5302139" cy="341287"/>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Maps generated CDS model types (cds compile --to ts) to their import paths in service files.</a:t>
            </a:r>
            <a:endParaRPr lang="en-US" sz="1133" kern="1200" dirty="0">
              <a:solidFill>
                <a:prstClr val="black"/>
              </a:solidFill>
              <a:latin typeface="Calibri" panose="020F0502020204030204"/>
              <a:ea typeface="+mn-ea"/>
              <a:cs typeface="+mn-cs"/>
            </a:endParaRPr>
          </a:p>
        </p:txBody>
      </p:sp>
      <p:sp>
        <p:nvSpPr>
          <p:cNvPr id="34" name="Shape 32"/>
          <p:cNvSpPr/>
          <p:nvPr/>
        </p:nvSpPr>
        <p:spPr>
          <a:xfrm>
            <a:off x="6338188" y="5936851"/>
            <a:ext cx="5606860" cy="633819"/>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5" name="Shape 33"/>
          <p:cNvSpPr/>
          <p:nvPr/>
        </p:nvSpPr>
        <p:spPr>
          <a:xfrm>
            <a:off x="6338188" y="5936851"/>
            <a:ext cx="85322" cy="633819"/>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6" name="Text 34"/>
          <p:cNvSpPr/>
          <p:nvPr/>
        </p:nvSpPr>
        <p:spPr>
          <a:xfrm>
            <a:off x="6533210" y="5961228"/>
            <a:ext cx="5302139" cy="268154"/>
          </a:xfrm>
          <a:prstGeom prst="rect">
            <a:avLst/>
          </a:prstGeom>
          <a:noFill/>
          <a:ln/>
        </p:spPr>
        <p:txBody>
          <a:bodyPr wrap="square" lIns="0" tIns="0" rIns="0" bIns="0" rtlCol="0" anchor="ctr"/>
          <a:lstStyle/>
          <a:p>
            <a:pPr defTabSz="1218895">
              <a:buClrTx/>
            </a:pPr>
            <a:r>
              <a:rPr lang="en-US" sz="1266" b="1" kern="1200" dirty="0">
                <a:solidFill>
                  <a:srgbClr val="0070F2"/>
                </a:solidFill>
                <a:latin typeface="Consolas" pitchFamily="34" charset="0"/>
                <a:ea typeface="Consolas" pitchFamily="34" charset="-122"/>
                <a:cs typeface="Consolas" pitchFamily="34" charset="-120"/>
              </a:rPr>
              <a:t>types: [...cds-types]</a:t>
            </a:r>
            <a:endParaRPr lang="en-US" sz="1266" kern="1200" dirty="0">
              <a:solidFill>
                <a:prstClr val="black"/>
              </a:solidFill>
              <a:latin typeface="Calibri" panose="020F0502020204030204"/>
              <a:ea typeface="+mn-ea"/>
              <a:cs typeface="+mn-cs"/>
            </a:endParaRPr>
          </a:p>
        </p:txBody>
      </p:sp>
      <p:sp>
        <p:nvSpPr>
          <p:cNvPr id="37" name="Text 35"/>
          <p:cNvSpPr/>
          <p:nvPr/>
        </p:nvSpPr>
        <p:spPr>
          <a:xfrm>
            <a:off x="6533210" y="6229383"/>
            <a:ext cx="5302139" cy="341287"/>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Pulls in cds.Service, cds.Request, cds.ApplicationService global type declarations.</a:t>
            </a:r>
            <a:endParaRPr lang="en-US" sz="1133" kern="1200" dirty="0">
              <a:solidFill>
                <a:prstClr val="black"/>
              </a:solidFill>
              <a:latin typeface="Calibri" panose="020F0502020204030204"/>
              <a:ea typeface="+mn-ea"/>
              <a:cs typeface="+mn-cs"/>
            </a:endParaRPr>
          </a:p>
        </p:txBody>
      </p:sp>
      <p:pic>
        <p:nvPicPr>
          <p:cNvPr id="38" name="Google Shape;497;p1">
            <a:extLst>
              <a:ext uri="{FF2B5EF4-FFF2-40B4-BE49-F238E27FC236}">
                <a16:creationId xmlns:a16="http://schemas.microsoft.com/office/drawing/2014/main" id="{6469B17A-E92D-E703-7802-E1B5B3D0F1A9}"/>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2  </a:t>
            </a:r>
            <a:r>
              <a:rPr lang="en-US" sz="3333" b="1" kern="1200" dirty="0">
                <a:solidFill>
                  <a:srgbClr val="FFFFFF"/>
                </a:solidFill>
                <a:latin typeface="Calibri" pitchFamily="34" charset="0"/>
                <a:ea typeface="Calibri" pitchFamily="34" charset="-122"/>
                <a:cs typeface="Calibri" pitchFamily="34" charset="-120"/>
              </a:rPr>
              <a:t>utils/error-mapper.js → .ts</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Error Interface Hierarchy · ODataError, NormalisedError, union ErrorCategory</a:t>
            </a:r>
            <a:endParaRPr lang="en-US" kern="1200" dirty="0">
              <a:solidFill>
                <a:prstClr val="black"/>
              </a:solidFill>
              <a:latin typeface="Calibri" panose="020F0502020204030204"/>
              <a:ea typeface="+mn-ea"/>
              <a:cs typeface="+mn-cs"/>
            </a:endParaRPr>
          </a:p>
        </p:txBody>
      </p:sp>
      <p:sp>
        <p:nvSpPr>
          <p:cNvPr id="6" name="Text 4"/>
          <p:cNvSpPr/>
          <p:nvPr/>
        </p:nvSpPr>
        <p:spPr>
          <a:xfrm>
            <a:off x="487553" y="1402608"/>
            <a:ext cx="5484971"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Interface Definitions</a:t>
            </a:r>
            <a:endParaRPr lang="en-US" sz="1466" kern="1200" dirty="0">
              <a:solidFill>
                <a:prstClr val="black"/>
              </a:solidFill>
              <a:latin typeface="Calibri" panose="020F0502020204030204"/>
              <a:ea typeface="+mn-ea"/>
              <a:cs typeface="+mn-cs"/>
            </a:endParaRPr>
          </a:p>
        </p:txBody>
      </p:sp>
      <p:sp>
        <p:nvSpPr>
          <p:cNvPr id="7" name="Shape 5"/>
          <p:cNvSpPr/>
          <p:nvPr/>
        </p:nvSpPr>
        <p:spPr>
          <a:xfrm>
            <a:off x="487553" y="1768272"/>
            <a:ext cx="5484971" cy="4753642"/>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70385" y="1890161"/>
            <a:ext cx="5216817" cy="4534243"/>
          </a:xfrm>
          <a:prstGeom prst="rect">
            <a:avLst/>
          </a:prstGeom>
          <a:noFill/>
          <a:ln/>
        </p:spPr>
        <p:txBody>
          <a:bodyPr wrap="square" lIns="0" tIns="0" rIns="0" bIns="0" rtlCol="0" anchor="t"/>
          <a:lstStyle/>
          <a:p>
            <a:pPr defTabSz="1218895">
              <a:buClrTx/>
            </a:pPr>
            <a:r>
              <a:rPr lang="en-US" sz="1200" kern="1200" dirty="0">
                <a:solidFill>
                  <a:srgbClr val="94A3B8"/>
                </a:solidFill>
                <a:latin typeface="Consolas" pitchFamily="34" charset="0"/>
                <a:ea typeface="Consolas" pitchFamily="34" charset="-122"/>
                <a:cs typeface="Consolas" pitchFamily="34" charset="-120"/>
              </a:rPr>
              <a:t>// Shape of a raw CAP/OData error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interface ODataError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code: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message: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innererror?: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errordetails?: ErrorDetail[];</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type?: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interface ErrorDetail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code: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message: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target?: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severity?:'error'|'warning'|'info';</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export interface NormalisedError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status: number;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category: ErrorCategory;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message: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details: ErrorDetail[];</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type ErrorCategory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 'NOT_FOUND'  | 'VALIDATION'</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 'AUTHORIZATION' | 'SERVER_ERROR';</a:t>
            </a:r>
            <a:endParaRPr lang="en-US" sz="1200" kern="1200" dirty="0">
              <a:solidFill>
                <a:prstClr val="black"/>
              </a:solidFill>
              <a:latin typeface="Calibri" panose="020F0502020204030204"/>
              <a:ea typeface="+mn-ea"/>
              <a:cs typeface="+mn-cs"/>
            </a:endParaRPr>
          </a:p>
        </p:txBody>
      </p:sp>
      <p:sp>
        <p:nvSpPr>
          <p:cNvPr id="9" name="Text 7"/>
          <p:cNvSpPr/>
          <p:nvPr/>
        </p:nvSpPr>
        <p:spPr>
          <a:xfrm>
            <a:off x="6277244" y="1402608"/>
            <a:ext cx="5606860"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Typed Implementation</a:t>
            </a:r>
            <a:endParaRPr lang="en-US" sz="1466" kern="1200" dirty="0">
              <a:solidFill>
                <a:prstClr val="black"/>
              </a:solidFill>
              <a:latin typeface="Calibri" panose="020F0502020204030204"/>
              <a:ea typeface="+mn-ea"/>
              <a:cs typeface="+mn-cs"/>
            </a:endParaRPr>
          </a:p>
        </p:txBody>
      </p:sp>
      <p:sp>
        <p:nvSpPr>
          <p:cNvPr id="10" name="Shape 8"/>
          <p:cNvSpPr/>
          <p:nvPr/>
        </p:nvSpPr>
        <p:spPr>
          <a:xfrm>
            <a:off x="6277244" y="1768272"/>
            <a:ext cx="5606860" cy="4753642"/>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6460077" y="1890161"/>
            <a:ext cx="5338705" cy="4534243"/>
          </a:xfrm>
          <a:prstGeom prst="rect">
            <a:avLst/>
          </a:prstGeom>
          <a:noFill/>
          <a:ln/>
        </p:spPr>
        <p:txBody>
          <a:bodyPr wrap="square" lIns="0" tIns="0" rIns="0" bIns="0" rtlCol="0" anchor="t"/>
          <a:lstStyle/>
          <a:p>
            <a:pPr defTabSz="1218895">
              <a:buClrTx/>
            </a:pPr>
            <a:r>
              <a:rPr lang="en-US" sz="1200" kern="1200" dirty="0">
                <a:solidFill>
                  <a:srgbClr val="818CF8"/>
                </a:solidFill>
                <a:latin typeface="Consolas" pitchFamily="34" charset="0"/>
                <a:ea typeface="Consolas" pitchFamily="34" charset="-122"/>
                <a:cs typeface="Consolas" pitchFamily="34" charset="-120"/>
              </a:rPr>
              <a:t>export function mapError(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status: number,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raw: ODataError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NormalisedError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const category = resolveCategory(status);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const details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raw.innererror?.errordetails ??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status, category,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message: raw.message,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details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function resolveCategory(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status: number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ErrorCategory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if (status===404) return 'NOT_FOUND';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if (status===400) return 'VALIDATION';</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if (status===403) return 'AUTHORIZATION';</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'SERVER_ERROR';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p:txBody>
      </p:sp>
      <p:sp>
        <p:nvSpPr>
          <p:cNvPr id="12" name="Shape 10"/>
          <p:cNvSpPr/>
          <p:nvPr/>
        </p:nvSpPr>
        <p:spPr>
          <a:xfrm>
            <a:off x="487553" y="6607236"/>
            <a:ext cx="11213719" cy="304721"/>
          </a:xfrm>
          <a:prstGeom prst="rect">
            <a:avLst/>
          </a:prstGeom>
          <a:solidFill>
            <a:srgbClr val="EDE9FE"/>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Text 11"/>
          <p:cNvSpPr/>
          <p:nvPr/>
        </p:nvSpPr>
        <p:spPr>
          <a:xfrm>
            <a:off x="609441" y="6631614"/>
            <a:ext cx="10969943" cy="268154"/>
          </a:xfrm>
          <a:prstGeom prst="rect">
            <a:avLst/>
          </a:prstGeom>
          <a:noFill/>
          <a:ln/>
        </p:spPr>
        <p:txBody>
          <a:bodyPr wrap="square" lIns="0" tIns="0" rIns="0" bIns="0" rtlCol="0" anchor="ctr"/>
          <a:lstStyle/>
          <a:p>
            <a:pPr defTabSz="1218895">
              <a:buClrTx/>
            </a:pPr>
            <a:r>
              <a:rPr lang="en-US" sz="1200" kern="1200" dirty="0">
                <a:solidFill>
                  <a:srgbClr val="334155"/>
                </a:solidFill>
                <a:latin typeface="Calibri" pitchFamily="34" charset="0"/>
                <a:ea typeface="Calibri" pitchFamily="34" charset="-122"/>
                <a:cs typeface="Calibri" pitchFamily="34" charset="-120"/>
              </a:rPr>
              <a:t>💡  Union types for ErrorCategory prevent invalid strings. Optional chaining (?.) and nullish coalescing (??) handle the nested innererror safely under strict mode.</a:t>
            </a:r>
            <a:endParaRPr lang="en-US" sz="1200" kern="1200" dirty="0">
              <a:solidFill>
                <a:prstClr val="black"/>
              </a:solidFill>
              <a:latin typeface="Calibri" panose="020F0502020204030204"/>
              <a:ea typeface="+mn-ea"/>
              <a:cs typeface="+mn-cs"/>
            </a:endParaRPr>
          </a:p>
        </p:txBody>
      </p:sp>
      <p:pic>
        <p:nvPicPr>
          <p:cNvPr id="14" name="Google Shape;497;p1">
            <a:extLst>
              <a:ext uri="{FF2B5EF4-FFF2-40B4-BE49-F238E27FC236}">
                <a16:creationId xmlns:a16="http://schemas.microsoft.com/office/drawing/2014/main" id="{91BD1543-9E94-AF6A-33B0-B46C31A1E088}"/>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3  </a:t>
            </a:r>
            <a:r>
              <a:rPr lang="en-US" sz="3333" b="1" kern="1200" dirty="0">
                <a:solidFill>
                  <a:srgbClr val="FFFFFF"/>
                </a:solidFill>
                <a:latin typeface="Calibri" pitchFamily="34" charset="0"/>
                <a:ea typeface="Calibri" pitchFamily="34" charset="-122"/>
                <a:cs typeface="Calibri" pitchFamily="34" charset="-120"/>
              </a:rPr>
              <a:t>utils/payload-transformer.js → .ts</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Utility Migration · ODataResponse&lt;T&gt;, EntityRecord, strict null guards</a:t>
            </a:r>
            <a:endParaRPr lang="en-US" kern="1200" dirty="0">
              <a:solidFill>
                <a:prstClr val="black"/>
              </a:solidFill>
              <a:latin typeface="Calibri" panose="020F0502020204030204"/>
              <a:ea typeface="+mn-ea"/>
              <a:cs typeface="+mn-cs"/>
            </a:endParaRPr>
          </a:p>
        </p:txBody>
      </p:sp>
      <p:sp>
        <p:nvSpPr>
          <p:cNvPr id="6" name="Text 4"/>
          <p:cNvSpPr/>
          <p:nvPr/>
        </p:nvSpPr>
        <p:spPr>
          <a:xfrm>
            <a:off x="487553" y="1402608"/>
            <a:ext cx="5484971" cy="341287"/>
          </a:xfrm>
          <a:prstGeom prst="rect">
            <a:avLst/>
          </a:prstGeom>
          <a:noFill/>
          <a:ln/>
        </p:spPr>
        <p:txBody>
          <a:bodyPr wrap="square" lIns="0" tIns="0" rIns="0" bIns="0" rtlCol="0" anchor="ctr"/>
          <a:lstStyle/>
          <a:p>
            <a:pPr defTabSz="1218895">
              <a:buClrTx/>
            </a:pPr>
            <a:r>
              <a:rPr lang="en-US" sz="1466" b="1" kern="1200" dirty="0">
                <a:solidFill>
                  <a:srgbClr val="B91C1C"/>
                </a:solidFill>
                <a:latin typeface="Calibri" pitchFamily="34" charset="0"/>
                <a:ea typeface="Calibri" pitchFamily="34" charset="-122"/>
                <a:cs typeface="Calibri" pitchFamily="34" charset="-120"/>
              </a:rPr>
              <a:t>❌  Before (JavaScript)</a:t>
            </a:r>
            <a:endParaRPr lang="en-US" sz="1466" kern="1200" dirty="0">
              <a:solidFill>
                <a:prstClr val="black"/>
              </a:solidFill>
              <a:latin typeface="Calibri" panose="020F0502020204030204"/>
              <a:ea typeface="+mn-ea"/>
              <a:cs typeface="+mn-cs"/>
            </a:endParaRPr>
          </a:p>
        </p:txBody>
      </p:sp>
      <p:sp>
        <p:nvSpPr>
          <p:cNvPr id="7" name="Shape 5"/>
          <p:cNvSpPr/>
          <p:nvPr/>
        </p:nvSpPr>
        <p:spPr>
          <a:xfrm>
            <a:off x="487553" y="1768272"/>
            <a:ext cx="5484971" cy="4753642"/>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70385" y="1890161"/>
            <a:ext cx="5216817" cy="4534243"/>
          </a:xfrm>
          <a:prstGeom prst="rect">
            <a:avLst/>
          </a:prstGeom>
          <a:noFill/>
          <a:ln/>
        </p:spPr>
        <p:txBody>
          <a:bodyPr wrap="square" lIns="0" tIns="0" rIns="0" bIns="0" rtlCol="0" anchor="t"/>
          <a:lstStyle/>
          <a:p>
            <a:pPr defTabSz="1218895">
              <a:buClrTx/>
            </a:pPr>
            <a:r>
              <a:rPr lang="en-US" sz="1200" kern="1200" dirty="0">
                <a:solidFill>
                  <a:srgbClr val="94A3B8"/>
                </a:solidFill>
                <a:latin typeface="Consolas" pitchFamily="34" charset="0"/>
                <a:ea typeface="Consolas" pitchFamily="34" charset="-122"/>
                <a:cs typeface="Consolas" pitchFamily="34" charset="-120"/>
              </a:rPr>
              <a:t>// utils/payload-transformer.js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function flattenODataResponse(response)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if (!response || !response.value)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response.value.map(entity =&gt;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mapEntity(entity);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function mapEntity(entity)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const result =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for (const key of Object.keys(entity))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if (!key.startsWith('@'))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result[key] = entity[key];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result;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module.exports = { flattenODataResponse };</a:t>
            </a:r>
            <a:endParaRPr lang="en-US" sz="1200" kern="1200" dirty="0">
              <a:solidFill>
                <a:prstClr val="black"/>
              </a:solidFill>
              <a:latin typeface="Calibri" panose="020F0502020204030204"/>
              <a:ea typeface="+mn-ea"/>
              <a:cs typeface="+mn-cs"/>
            </a:endParaRPr>
          </a:p>
        </p:txBody>
      </p:sp>
      <p:sp>
        <p:nvSpPr>
          <p:cNvPr id="9" name="Text 7"/>
          <p:cNvSpPr/>
          <p:nvPr/>
        </p:nvSpPr>
        <p:spPr>
          <a:xfrm>
            <a:off x="6277244" y="1402608"/>
            <a:ext cx="5606860" cy="341287"/>
          </a:xfrm>
          <a:prstGeom prst="rect">
            <a:avLst/>
          </a:prstGeom>
          <a:noFill/>
          <a:ln/>
        </p:spPr>
        <p:txBody>
          <a:bodyPr wrap="square" lIns="0" tIns="0" rIns="0" bIns="0" rtlCol="0" anchor="ctr"/>
          <a:lstStyle/>
          <a:p>
            <a:pPr defTabSz="1218895">
              <a:buClrTx/>
            </a:pPr>
            <a:r>
              <a:rPr lang="en-US" sz="1466" b="1" kern="1200" dirty="0">
                <a:solidFill>
                  <a:srgbClr val="10B981"/>
                </a:solidFill>
                <a:latin typeface="Calibri" pitchFamily="34" charset="0"/>
                <a:ea typeface="Calibri" pitchFamily="34" charset="-122"/>
                <a:cs typeface="Calibri" pitchFamily="34" charset="-120"/>
              </a:rPr>
              <a:t>✅  After (TypeScript)</a:t>
            </a:r>
            <a:endParaRPr lang="en-US" sz="1466" kern="1200" dirty="0">
              <a:solidFill>
                <a:prstClr val="black"/>
              </a:solidFill>
              <a:latin typeface="Calibri" panose="020F0502020204030204"/>
              <a:ea typeface="+mn-ea"/>
              <a:cs typeface="+mn-cs"/>
            </a:endParaRPr>
          </a:p>
        </p:txBody>
      </p:sp>
      <p:sp>
        <p:nvSpPr>
          <p:cNvPr id="10" name="Shape 8"/>
          <p:cNvSpPr/>
          <p:nvPr/>
        </p:nvSpPr>
        <p:spPr>
          <a:xfrm>
            <a:off x="6277244" y="1768272"/>
            <a:ext cx="5606860" cy="4753642"/>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6460077" y="1890161"/>
            <a:ext cx="5338705" cy="4534243"/>
          </a:xfrm>
          <a:prstGeom prst="rect">
            <a:avLst/>
          </a:prstGeom>
          <a:noFill/>
          <a:ln/>
        </p:spPr>
        <p:txBody>
          <a:bodyPr wrap="square" lIns="0" tIns="0" rIns="0" bIns="0" rtlCol="0" anchor="t"/>
          <a:lstStyle/>
          <a:p>
            <a:pPr defTabSz="1218895">
              <a:buClrTx/>
            </a:pPr>
            <a:r>
              <a:rPr lang="en-US" sz="1200" kern="1200" dirty="0">
                <a:solidFill>
                  <a:srgbClr val="94A3B8"/>
                </a:solidFill>
                <a:latin typeface="Consolas" pitchFamily="34" charset="0"/>
                <a:ea typeface="Consolas" pitchFamily="34" charset="-122"/>
                <a:cs typeface="Consolas" pitchFamily="34" charset="-120"/>
              </a:rPr>
              <a:t>// utils/payload-transformer.ts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interface ODataResponse&lt;T&gt;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value?: 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'@odata.context'?: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'@odata.count'?:  number;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type EntityRecord = Record&lt;string, unknown&gt;;</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export function flattenODataResponse&lt;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T extends EntityRecord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&gt;(response: ODataResponse&lt;T&gt;): EntityRecord[]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if (!response?.value) return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response.value.map(mapEntity);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function mapEntity(entity: EntityRecord)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 EntityRecord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Object.fromEntries(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Object.entries(entity)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.filter(([k]) =&gt; !k.startsWith('@'))</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p:txBody>
      </p:sp>
      <p:sp>
        <p:nvSpPr>
          <p:cNvPr id="12" name="Shape 10"/>
          <p:cNvSpPr/>
          <p:nvPr/>
        </p:nvSpPr>
        <p:spPr>
          <a:xfrm>
            <a:off x="487552" y="6607236"/>
            <a:ext cx="2803430" cy="182832"/>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Text 11"/>
          <p:cNvSpPr/>
          <p:nvPr/>
        </p:nvSpPr>
        <p:spPr>
          <a:xfrm>
            <a:off x="511930" y="6607236"/>
            <a:ext cx="2754674" cy="182832"/>
          </a:xfrm>
          <a:prstGeom prst="rect">
            <a:avLst/>
          </a:prstGeom>
          <a:noFill/>
          <a:ln/>
        </p:spPr>
        <p:txBody>
          <a:bodyPr wrap="square" lIns="0" tIns="0" rIns="0" bIns="0" rtlCol="0" anchor="ctr"/>
          <a:lstStyle/>
          <a:p>
            <a:pPr algn="ctr" defTabSz="1218895">
              <a:buClrTx/>
            </a:pPr>
            <a:r>
              <a:rPr lang="en-US" sz="866" b="1" kern="1200" dirty="0">
                <a:solidFill>
                  <a:srgbClr val="FFFFFF"/>
                </a:solidFill>
                <a:latin typeface="Consolas" pitchFamily="34" charset="0"/>
                <a:ea typeface="Consolas" pitchFamily="34" charset="-122"/>
                <a:cs typeface="Consolas" pitchFamily="34" charset="-120"/>
              </a:rPr>
              <a:t>ODataResponse&lt;T&gt;</a:t>
            </a:r>
            <a:endParaRPr lang="en-US" sz="866" kern="1200" dirty="0">
              <a:solidFill>
                <a:prstClr val="black"/>
              </a:solidFill>
              <a:latin typeface="Calibri" panose="020F0502020204030204"/>
              <a:ea typeface="+mn-ea"/>
              <a:cs typeface="+mn-cs"/>
            </a:endParaRPr>
          </a:p>
        </p:txBody>
      </p:sp>
      <p:sp>
        <p:nvSpPr>
          <p:cNvPr id="14" name="Text 12"/>
          <p:cNvSpPr/>
          <p:nvPr/>
        </p:nvSpPr>
        <p:spPr>
          <a:xfrm>
            <a:off x="511930" y="6790069"/>
            <a:ext cx="2754674" cy="79227"/>
          </a:xfrm>
          <a:prstGeom prst="rect">
            <a:avLst/>
          </a:prstGeom>
          <a:noFill/>
          <a:ln/>
        </p:spPr>
        <p:txBody>
          <a:bodyPr wrap="square" lIns="0" tIns="0" rIns="0" bIns="0" rtlCol="0" anchor="ctr"/>
          <a:lstStyle/>
          <a:p>
            <a:pPr defTabSz="1218895">
              <a:buClrTx/>
            </a:pPr>
            <a:r>
              <a:rPr lang="en-US" sz="2399" kern="1200" dirty="0">
                <a:solidFill>
                  <a:srgbClr val="334155"/>
                </a:solidFill>
                <a:latin typeface="Calibri" pitchFamily="34" charset="0"/>
                <a:ea typeface="Calibri" pitchFamily="34" charset="-122"/>
                <a:cs typeface="Calibri" pitchFamily="34" charset="-120"/>
              </a:rPr>
              <a:t>Generic — value array typed by T</a:t>
            </a:r>
            <a:endParaRPr lang="en-US" sz="2399" kern="1200" dirty="0">
              <a:solidFill>
                <a:prstClr val="black"/>
              </a:solidFill>
              <a:latin typeface="Calibri" panose="020F0502020204030204"/>
              <a:ea typeface="+mn-ea"/>
              <a:cs typeface="+mn-cs"/>
            </a:endParaRPr>
          </a:p>
        </p:txBody>
      </p:sp>
      <p:sp>
        <p:nvSpPr>
          <p:cNvPr id="15" name="Shape 13"/>
          <p:cNvSpPr/>
          <p:nvPr/>
        </p:nvSpPr>
        <p:spPr>
          <a:xfrm>
            <a:off x="3437248" y="6607236"/>
            <a:ext cx="2803430" cy="182832"/>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3461626" y="6607236"/>
            <a:ext cx="2754674" cy="182832"/>
          </a:xfrm>
          <a:prstGeom prst="rect">
            <a:avLst/>
          </a:prstGeom>
          <a:noFill/>
          <a:ln/>
        </p:spPr>
        <p:txBody>
          <a:bodyPr wrap="square" lIns="0" tIns="0" rIns="0" bIns="0" rtlCol="0" anchor="ctr"/>
          <a:lstStyle/>
          <a:p>
            <a:pPr algn="ctr" defTabSz="1218895">
              <a:buClrTx/>
            </a:pPr>
            <a:r>
              <a:rPr lang="en-US" sz="866" b="1" kern="1200" dirty="0">
                <a:solidFill>
                  <a:srgbClr val="FFFFFF"/>
                </a:solidFill>
                <a:latin typeface="Consolas" pitchFamily="34" charset="0"/>
                <a:ea typeface="Consolas" pitchFamily="34" charset="-122"/>
                <a:cs typeface="Consolas" pitchFamily="34" charset="-120"/>
              </a:rPr>
              <a:t>EntityRecord</a:t>
            </a:r>
            <a:endParaRPr lang="en-US" sz="866" kern="1200" dirty="0">
              <a:solidFill>
                <a:prstClr val="black"/>
              </a:solidFill>
              <a:latin typeface="Calibri" panose="020F0502020204030204"/>
              <a:ea typeface="+mn-ea"/>
              <a:cs typeface="+mn-cs"/>
            </a:endParaRPr>
          </a:p>
        </p:txBody>
      </p:sp>
      <p:sp>
        <p:nvSpPr>
          <p:cNvPr id="17" name="Text 15"/>
          <p:cNvSpPr/>
          <p:nvPr/>
        </p:nvSpPr>
        <p:spPr>
          <a:xfrm>
            <a:off x="3461626" y="6790069"/>
            <a:ext cx="2754674" cy="79227"/>
          </a:xfrm>
          <a:prstGeom prst="rect">
            <a:avLst/>
          </a:prstGeom>
          <a:noFill/>
          <a:ln/>
        </p:spPr>
        <p:txBody>
          <a:bodyPr wrap="square" lIns="0" tIns="0" rIns="0" bIns="0" rtlCol="0" anchor="ctr"/>
          <a:lstStyle/>
          <a:p>
            <a:pPr defTabSz="1218895">
              <a:buClrTx/>
            </a:pPr>
            <a:r>
              <a:rPr lang="en-US" sz="2399" kern="1200" dirty="0">
                <a:solidFill>
                  <a:srgbClr val="334155"/>
                </a:solidFill>
                <a:latin typeface="Calibri" pitchFamily="34" charset="0"/>
                <a:ea typeface="Calibri" pitchFamily="34" charset="-122"/>
                <a:cs typeface="Calibri" pitchFamily="34" charset="-120"/>
              </a:rPr>
              <a:t>Record&lt;string, unknown&gt; alias</a:t>
            </a:r>
            <a:endParaRPr lang="en-US" sz="2399" kern="1200" dirty="0">
              <a:solidFill>
                <a:prstClr val="black"/>
              </a:solidFill>
              <a:latin typeface="Calibri" panose="020F0502020204030204"/>
              <a:ea typeface="+mn-ea"/>
              <a:cs typeface="+mn-cs"/>
            </a:endParaRPr>
          </a:p>
        </p:txBody>
      </p:sp>
      <p:sp>
        <p:nvSpPr>
          <p:cNvPr id="18" name="Shape 16"/>
          <p:cNvSpPr/>
          <p:nvPr/>
        </p:nvSpPr>
        <p:spPr>
          <a:xfrm>
            <a:off x="6386944" y="6607236"/>
            <a:ext cx="2803430" cy="182832"/>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Text 17"/>
          <p:cNvSpPr/>
          <p:nvPr/>
        </p:nvSpPr>
        <p:spPr>
          <a:xfrm>
            <a:off x="6411322" y="6607236"/>
            <a:ext cx="2754674" cy="182832"/>
          </a:xfrm>
          <a:prstGeom prst="rect">
            <a:avLst/>
          </a:prstGeom>
          <a:noFill/>
          <a:ln/>
        </p:spPr>
        <p:txBody>
          <a:bodyPr wrap="square" lIns="0" tIns="0" rIns="0" bIns="0" rtlCol="0" anchor="ctr"/>
          <a:lstStyle/>
          <a:p>
            <a:pPr algn="ctr" defTabSz="1218895">
              <a:buClrTx/>
            </a:pPr>
            <a:r>
              <a:rPr lang="en-US" sz="866" b="1" kern="1200" dirty="0">
                <a:solidFill>
                  <a:srgbClr val="FFFFFF"/>
                </a:solidFill>
                <a:latin typeface="Consolas" pitchFamily="34" charset="0"/>
                <a:ea typeface="Consolas" pitchFamily="34" charset="-122"/>
                <a:cs typeface="Consolas" pitchFamily="34" charset="-120"/>
              </a:rPr>
              <a:t>flattenODataResponse&lt;T extends EntityRecord&gt;</a:t>
            </a:r>
            <a:endParaRPr lang="en-US" sz="866" kern="1200" dirty="0">
              <a:solidFill>
                <a:prstClr val="black"/>
              </a:solidFill>
              <a:latin typeface="Calibri" panose="020F0502020204030204"/>
              <a:ea typeface="+mn-ea"/>
              <a:cs typeface="+mn-cs"/>
            </a:endParaRPr>
          </a:p>
        </p:txBody>
      </p:sp>
      <p:sp>
        <p:nvSpPr>
          <p:cNvPr id="20" name="Text 18"/>
          <p:cNvSpPr/>
          <p:nvPr/>
        </p:nvSpPr>
        <p:spPr>
          <a:xfrm>
            <a:off x="6411322" y="6790069"/>
            <a:ext cx="2754674" cy="79227"/>
          </a:xfrm>
          <a:prstGeom prst="rect">
            <a:avLst/>
          </a:prstGeom>
          <a:noFill/>
          <a:ln/>
        </p:spPr>
        <p:txBody>
          <a:bodyPr wrap="square" lIns="0" tIns="0" rIns="0" bIns="0" rtlCol="0" anchor="ctr"/>
          <a:lstStyle/>
          <a:p>
            <a:pPr defTabSz="1218895">
              <a:buClrTx/>
            </a:pPr>
            <a:r>
              <a:rPr lang="en-US" sz="2399" kern="1200" dirty="0">
                <a:solidFill>
                  <a:srgbClr val="334155"/>
                </a:solidFill>
                <a:latin typeface="Calibri" pitchFamily="34" charset="0"/>
                <a:ea typeface="Calibri" pitchFamily="34" charset="-122"/>
                <a:cs typeface="Calibri" pitchFamily="34" charset="-120"/>
              </a:rPr>
              <a:t>Constrained generic, explicit return</a:t>
            </a:r>
            <a:endParaRPr lang="en-US" sz="2399" kern="1200" dirty="0">
              <a:solidFill>
                <a:prstClr val="black"/>
              </a:solidFill>
              <a:latin typeface="Calibri" panose="020F0502020204030204"/>
              <a:ea typeface="+mn-ea"/>
              <a:cs typeface="+mn-cs"/>
            </a:endParaRPr>
          </a:p>
        </p:txBody>
      </p:sp>
      <p:sp>
        <p:nvSpPr>
          <p:cNvPr id="21" name="Shape 19"/>
          <p:cNvSpPr/>
          <p:nvPr/>
        </p:nvSpPr>
        <p:spPr>
          <a:xfrm>
            <a:off x="9336639" y="6607236"/>
            <a:ext cx="2803430" cy="182832"/>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2" name="Text 20"/>
          <p:cNvSpPr/>
          <p:nvPr/>
        </p:nvSpPr>
        <p:spPr>
          <a:xfrm>
            <a:off x="9361017" y="6607236"/>
            <a:ext cx="2754674" cy="182832"/>
          </a:xfrm>
          <a:prstGeom prst="rect">
            <a:avLst/>
          </a:prstGeom>
          <a:noFill/>
          <a:ln/>
        </p:spPr>
        <p:txBody>
          <a:bodyPr wrap="square" lIns="0" tIns="0" rIns="0" bIns="0" rtlCol="0" anchor="ctr"/>
          <a:lstStyle/>
          <a:p>
            <a:pPr algn="ctr" defTabSz="1218895">
              <a:buClrTx/>
            </a:pPr>
            <a:r>
              <a:rPr lang="en-US" sz="866" b="1" kern="1200" dirty="0">
                <a:solidFill>
                  <a:srgbClr val="FFFFFF"/>
                </a:solidFill>
                <a:latin typeface="Consolas" pitchFamily="34" charset="0"/>
                <a:ea typeface="Consolas" pitchFamily="34" charset="-122"/>
                <a:cs typeface="Consolas" pitchFamily="34" charset="-120"/>
              </a:rPr>
              <a:t>response?.value</a:t>
            </a:r>
            <a:endParaRPr lang="en-US" sz="866" kern="1200" dirty="0">
              <a:solidFill>
                <a:prstClr val="black"/>
              </a:solidFill>
              <a:latin typeface="Calibri" panose="020F0502020204030204"/>
              <a:ea typeface="+mn-ea"/>
              <a:cs typeface="+mn-cs"/>
            </a:endParaRPr>
          </a:p>
        </p:txBody>
      </p:sp>
      <p:sp>
        <p:nvSpPr>
          <p:cNvPr id="23" name="Text 21"/>
          <p:cNvSpPr/>
          <p:nvPr/>
        </p:nvSpPr>
        <p:spPr>
          <a:xfrm>
            <a:off x="9361017" y="6790069"/>
            <a:ext cx="2754674" cy="79227"/>
          </a:xfrm>
          <a:prstGeom prst="rect">
            <a:avLst/>
          </a:prstGeom>
          <a:noFill/>
          <a:ln/>
        </p:spPr>
        <p:txBody>
          <a:bodyPr wrap="square" lIns="0" tIns="0" rIns="0" bIns="0" rtlCol="0" anchor="ctr"/>
          <a:lstStyle/>
          <a:p>
            <a:pPr defTabSz="1218895">
              <a:buClrTx/>
            </a:pPr>
            <a:r>
              <a:rPr lang="en-US" sz="2399" kern="1200" dirty="0">
                <a:solidFill>
                  <a:srgbClr val="334155"/>
                </a:solidFill>
                <a:latin typeface="Calibri" pitchFamily="34" charset="0"/>
                <a:ea typeface="Calibri" pitchFamily="34" charset="-122"/>
                <a:cs typeface="Calibri" pitchFamily="34" charset="-120"/>
              </a:rPr>
              <a:t>Optional chaining — strictNullChecks guard</a:t>
            </a:r>
            <a:endParaRPr lang="en-US" sz="2399" kern="1200" dirty="0">
              <a:solidFill>
                <a:prstClr val="black"/>
              </a:solidFill>
              <a:latin typeface="Calibri" panose="020F0502020204030204"/>
              <a:ea typeface="+mn-ea"/>
              <a:cs typeface="+mn-cs"/>
            </a:endParaRPr>
          </a:p>
        </p:txBody>
      </p:sp>
      <p:pic>
        <p:nvPicPr>
          <p:cNvPr id="24" name="Google Shape;497;p1">
            <a:extLst>
              <a:ext uri="{FF2B5EF4-FFF2-40B4-BE49-F238E27FC236}">
                <a16:creationId xmlns:a16="http://schemas.microsoft.com/office/drawing/2014/main" id="{7AAE0F54-F670-B66B-D884-A0682185E9CD}"/>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4a  </a:t>
            </a:r>
            <a:r>
              <a:rPr lang="en-US" sz="3333" b="1" kern="1200" dirty="0">
                <a:solidFill>
                  <a:srgbClr val="FFFFFF"/>
                </a:solidFill>
                <a:latin typeface="Calibri" pitchFamily="34" charset="0"/>
                <a:ea typeface="Calibri" pitchFamily="34" charset="-122"/>
                <a:cs typeface="Calibri" pitchFamily="34" charset="-120"/>
              </a:rPr>
              <a:t>srv/CatalogService.js → .ts — Concept &amp; CDS Types</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Handler Migration · understanding the CDS type system before writing code</a:t>
            </a:r>
            <a:endParaRPr lang="en-US" kern="1200" dirty="0">
              <a:solidFill>
                <a:prstClr val="black"/>
              </a:solidFill>
              <a:latin typeface="Calibri" panose="020F0502020204030204"/>
              <a:ea typeface="+mn-ea"/>
              <a:cs typeface="+mn-cs"/>
            </a:endParaRPr>
          </a:p>
        </p:txBody>
      </p:sp>
      <p:sp>
        <p:nvSpPr>
          <p:cNvPr id="6" name="Text 4"/>
          <p:cNvSpPr/>
          <p:nvPr/>
        </p:nvSpPr>
        <p:spPr>
          <a:xfrm>
            <a:off x="487553" y="1402608"/>
            <a:ext cx="11213719" cy="341287"/>
          </a:xfrm>
          <a:prstGeom prst="rect">
            <a:avLst/>
          </a:prstGeom>
          <a:noFill/>
          <a:ln/>
        </p:spPr>
        <p:txBody>
          <a:bodyPr wrap="square" lIns="0" tIns="0" rIns="0" bIns="0" rtlCol="0" anchor="ctr"/>
          <a:lstStyle/>
          <a:p>
            <a:pPr defTabSz="1218895">
              <a:buClrTx/>
            </a:pPr>
            <a:r>
              <a:rPr lang="en-US" sz="1600" b="1" kern="1200" dirty="0">
                <a:solidFill>
                  <a:srgbClr val="0D1B2A"/>
                </a:solidFill>
                <a:latin typeface="Calibri" pitchFamily="34" charset="0"/>
                <a:ea typeface="Calibri" pitchFamily="34" charset="-122"/>
                <a:cs typeface="Calibri" pitchFamily="34" charset="-120"/>
              </a:rPr>
              <a:t>CDS Type Hierarchy (from @cap-js/cds-types)</a:t>
            </a:r>
            <a:endParaRPr lang="en-US" sz="1600" kern="1200" dirty="0">
              <a:solidFill>
                <a:prstClr val="black"/>
              </a:solidFill>
              <a:latin typeface="Calibri" panose="020F0502020204030204"/>
              <a:ea typeface="+mn-ea"/>
              <a:cs typeface="+mn-cs"/>
            </a:endParaRPr>
          </a:p>
        </p:txBody>
      </p:sp>
      <p:sp>
        <p:nvSpPr>
          <p:cNvPr id="7" name="Shape 5"/>
          <p:cNvSpPr/>
          <p:nvPr/>
        </p:nvSpPr>
        <p:spPr>
          <a:xfrm>
            <a:off x="4387977" y="1829217"/>
            <a:ext cx="3412871" cy="633819"/>
          </a:xfrm>
          <a:prstGeom prst="rect">
            <a:avLst/>
          </a:prstGeom>
          <a:solidFill>
            <a:srgbClr val="0D1B2A"/>
          </a:solidFill>
          <a:ln w="12700">
            <a:solidFill>
              <a:srgbClr val="0D1B2A"/>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4387977" y="1829217"/>
            <a:ext cx="3412871" cy="633819"/>
          </a:xfrm>
          <a:prstGeom prst="rect">
            <a:avLst/>
          </a:prstGeom>
          <a:noFill/>
          <a:ln/>
        </p:spPr>
        <p:txBody>
          <a:bodyPr wrap="square" lIns="0" tIns="0" rIns="0" bIns="0" rtlCol="0" anchor="ctr"/>
          <a:lstStyle/>
          <a:p>
            <a:pPr algn="ctr" defTabSz="1218895">
              <a:buClrTx/>
            </a:pPr>
            <a:r>
              <a:rPr lang="en-US" sz="1200" b="1" kern="1200" dirty="0">
                <a:solidFill>
                  <a:srgbClr val="FFFFFF"/>
                </a:solidFill>
                <a:latin typeface="Consolas" pitchFamily="34" charset="0"/>
                <a:ea typeface="Consolas" pitchFamily="34" charset="-122"/>
                <a:cs typeface="Consolas" pitchFamily="34" charset="-120"/>
              </a:rPr>
              <a:t>cds.Service</a:t>
            </a:r>
            <a:endParaRPr lang="en-US" sz="1200" kern="1200" dirty="0">
              <a:solidFill>
                <a:prstClr val="black"/>
              </a:solidFill>
              <a:latin typeface="Calibri" panose="020F0502020204030204"/>
              <a:ea typeface="+mn-ea"/>
              <a:cs typeface="+mn-cs"/>
            </a:endParaRPr>
          </a:p>
        </p:txBody>
      </p:sp>
      <p:sp>
        <p:nvSpPr>
          <p:cNvPr id="9" name="Shape 7"/>
          <p:cNvSpPr/>
          <p:nvPr/>
        </p:nvSpPr>
        <p:spPr>
          <a:xfrm>
            <a:off x="2437765" y="3048099"/>
            <a:ext cx="3412871" cy="633819"/>
          </a:xfrm>
          <a:prstGeom prst="rect">
            <a:avLst/>
          </a:prstGeom>
          <a:solidFill>
            <a:srgbClr val="D97706"/>
          </a:solidFill>
          <a:ln w="12700">
            <a:solidFill>
              <a:srgbClr val="D97706"/>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2437765" y="3048099"/>
            <a:ext cx="3412871" cy="633819"/>
          </a:xfrm>
          <a:prstGeom prst="rect">
            <a:avLst/>
          </a:prstGeom>
          <a:noFill/>
          <a:ln/>
        </p:spPr>
        <p:txBody>
          <a:bodyPr wrap="square" lIns="0" tIns="0" rIns="0" bIns="0" rtlCol="0" anchor="ctr"/>
          <a:lstStyle/>
          <a:p>
            <a:pPr algn="ctr" defTabSz="1218895">
              <a:buClrTx/>
            </a:pPr>
            <a:r>
              <a:rPr lang="en-US" sz="1200" b="1" kern="1200" dirty="0">
                <a:solidFill>
                  <a:srgbClr val="FFFFFF"/>
                </a:solidFill>
                <a:latin typeface="Consolas" pitchFamily="34" charset="0"/>
                <a:ea typeface="Consolas" pitchFamily="34" charset="-122"/>
                <a:cs typeface="Consolas" pitchFamily="34" charset="-120"/>
              </a:rPr>
              <a:t>cds.ApplicationService</a:t>
            </a:r>
            <a:endParaRPr lang="en-US" sz="1200" kern="1200" dirty="0">
              <a:solidFill>
                <a:prstClr val="black"/>
              </a:solidFill>
              <a:latin typeface="Calibri" panose="020F0502020204030204"/>
              <a:ea typeface="+mn-ea"/>
              <a:cs typeface="+mn-cs"/>
            </a:endParaRPr>
          </a:p>
        </p:txBody>
      </p:sp>
      <p:sp>
        <p:nvSpPr>
          <p:cNvPr id="11" name="Shape 9"/>
          <p:cNvSpPr/>
          <p:nvPr/>
        </p:nvSpPr>
        <p:spPr>
          <a:xfrm>
            <a:off x="6460077" y="3048099"/>
            <a:ext cx="3412871" cy="633819"/>
          </a:xfrm>
          <a:prstGeom prst="rect">
            <a:avLst/>
          </a:prstGeom>
          <a:solidFill>
            <a:srgbClr val="1D4ED8"/>
          </a:solidFill>
          <a:ln w="12700">
            <a:solidFill>
              <a:srgbClr val="1D4ED8"/>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2" name="Text 10"/>
          <p:cNvSpPr/>
          <p:nvPr/>
        </p:nvSpPr>
        <p:spPr>
          <a:xfrm>
            <a:off x="6460077" y="3048099"/>
            <a:ext cx="3412871" cy="633819"/>
          </a:xfrm>
          <a:prstGeom prst="rect">
            <a:avLst/>
          </a:prstGeom>
          <a:noFill/>
          <a:ln/>
        </p:spPr>
        <p:txBody>
          <a:bodyPr wrap="square" lIns="0" tIns="0" rIns="0" bIns="0" rtlCol="0" anchor="ctr"/>
          <a:lstStyle/>
          <a:p>
            <a:pPr algn="ctr" defTabSz="1218895">
              <a:buClrTx/>
            </a:pPr>
            <a:r>
              <a:rPr lang="en-US" sz="1200" b="1" kern="1200" dirty="0">
                <a:solidFill>
                  <a:srgbClr val="FFFFFF"/>
                </a:solidFill>
                <a:latin typeface="Consolas" pitchFamily="34" charset="0"/>
                <a:ea typeface="Consolas" pitchFamily="34" charset="-122"/>
                <a:cs typeface="Consolas" pitchFamily="34" charset="-120"/>
              </a:rPr>
              <a:t>cds.RemoteService</a:t>
            </a:r>
            <a:endParaRPr lang="en-US" sz="1200" kern="1200" dirty="0">
              <a:solidFill>
                <a:prstClr val="black"/>
              </a:solidFill>
              <a:latin typeface="Calibri" panose="020F0502020204030204"/>
              <a:ea typeface="+mn-ea"/>
              <a:cs typeface="+mn-cs"/>
            </a:endParaRPr>
          </a:p>
        </p:txBody>
      </p:sp>
      <p:sp>
        <p:nvSpPr>
          <p:cNvPr id="13" name="Shape 11"/>
          <p:cNvSpPr/>
          <p:nvPr/>
        </p:nvSpPr>
        <p:spPr>
          <a:xfrm>
            <a:off x="609441" y="4266982"/>
            <a:ext cx="3412871" cy="633819"/>
          </a:xfrm>
          <a:prstGeom prst="rect">
            <a:avLst/>
          </a:prstGeom>
          <a:solidFill>
            <a:srgbClr val="065F46"/>
          </a:solidFill>
          <a:ln w="12700">
            <a:solidFill>
              <a:srgbClr val="065F46"/>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609441" y="4266982"/>
            <a:ext cx="3412871" cy="633819"/>
          </a:xfrm>
          <a:prstGeom prst="rect">
            <a:avLst/>
          </a:prstGeom>
          <a:noFill/>
          <a:ln/>
        </p:spPr>
        <p:txBody>
          <a:bodyPr wrap="square" lIns="0" tIns="0" rIns="0" bIns="0" rtlCol="0" anchor="ctr"/>
          <a:lstStyle/>
          <a:p>
            <a:pPr algn="ctr" defTabSz="1218895">
              <a:buClrTx/>
            </a:pPr>
            <a:r>
              <a:rPr lang="en-US" sz="1200" b="1" kern="1200" dirty="0">
                <a:solidFill>
                  <a:srgbClr val="FFFFFF"/>
                </a:solidFill>
                <a:latin typeface="Consolas" pitchFamily="34" charset="0"/>
                <a:ea typeface="Consolas" pitchFamily="34" charset="-122"/>
                <a:cs typeface="Consolas" pitchFamily="34" charset="-120"/>
              </a:rPr>
              <a:t>Your CatalogService extends</a:t>
            </a:r>
            <a:endParaRPr lang="en-US" sz="1200" kern="1200" dirty="0">
              <a:solidFill>
                <a:prstClr val="black"/>
              </a:solidFill>
              <a:latin typeface="Calibri" panose="020F0502020204030204"/>
              <a:ea typeface="+mn-ea"/>
              <a:cs typeface="+mn-cs"/>
            </a:endParaRPr>
          </a:p>
        </p:txBody>
      </p:sp>
      <p:sp>
        <p:nvSpPr>
          <p:cNvPr id="15" name="Shape 13"/>
          <p:cNvSpPr/>
          <p:nvPr/>
        </p:nvSpPr>
        <p:spPr>
          <a:xfrm>
            <a:off x="4387977" y="4266982"/>
            <a:ext cx="3412871" cy="633819"/>
          </a:xfrm>
          <a:prstGeom prst="rect">
            <a:avLst/>
          </a:prstGeom>
          <a:solidFill>
            <a:srgbClr val="0070F2"/>
          </a:solidFill>
          <a:ln w="12700">
            <a:solidFill>
              <a:srgbClr val="0070F2"/>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4387977" y="4266982"/>
            <a:ext cx="3412871" cy="633819"/>
          </a:xfrm>
          <a:prstGeom prst="rect">
            <a:avLst/>
          </a:prstGeom>
          <a:noFill/>
          <a:ln/>
        </p:spPr>
        <p:txBody>
          <a:bodyPr wrap="square" lIns="0" tIns="0" rIns="0" bIns="0" rtlCol="0" anchor="ctr"/>
          <a:lstStyle/>
          <a:p>
            <a:pPr algn="ctr" defTabSz="1218895">
              <a:buClrTx/>
            </a:pPr>
            <a:r>
              <a:rPr lang="en-US" sz="1200" b="1" kern="1200" dirty="0">
                <a:solidFill>
                  <a:srgbClr val="FFFFFF"/>
                </a:solidFill>
                <a:latin typeface="Consolas" pitchFamily="34" charset="0"/>
                <a:ea typeface="Consolas" pitchFamily="34" charset="-122"/>
                <a:cs typeface="Consolas" pitchFamily="34" charset="-120"/>
              </a:rPr>
              <a:t>cds.Request&lt;Data&gt;</a:t>
            </a:r>
            <a:endParaRPr lang="en-US" sz="1200" kern="1200" dirty="0">
              <a:solidFill>
                <a:prstClr val="black"/>
              </a:solidFill>
              <a:latin typeface="Calibri" panose="020F0502020204030204"/>
              <a:ea typeface="+mn-ea"/>
              <a:cs typeface="+mn-cs"/>
            </a:endParaRPr>
          </a:p>
        </p:txBody>
      </p:sp>
      <p:sp>
        <p:nvSpPr>
          <p:cNvPr id="17" name="Shape 15"/>
          <p:cNvSpPr/>
          <p:nvPr/>
        </p:nvSpPr>
        <p:spPr>
          <a:xfrm>
            <a:off x="8166512" y="4266982"/>
            <a:ext cx="3412871" cy="633819"/>
          </a:xfrm>
          <a:prstGeom prst="rect">
            <a:avLst/>
          </a:prstGeom>
          <a:solidFill>
            <a:srgbClr val="7C3AED"/>
          </a:solidFill>
          <a:ln w="12700">
            <a:solidFill>
              <a:srgbClr val="7C3AED"/>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8" name="Text 16"/>
          <p:cNvSpPr/>
          <p:nvPr/>
        </p:nvSpPr>
        <p:spPr>
          <a:xfrm>
            <a:off x="8166512" y="4266982"/>
            <a:ext cx="3412871" cy="633819"/>
          </a:xfrm>
          <a:prstGeom prst="rect">
            <a:avLst/>
          </a:prstGeom>
          <a:noFill/>
          <a:ln/>
        </p:spPr>
        <p:txBody>
          <a:bodyPr wrap="square" lIns="0" tIns="0" rIns="0" bIns="0" rtlCol="0" anchor="ctr"/>
          <a:lstStyle/>
          <a:p>
            <a:pPr algn="ctr" defTabSz="1218895">
              <a:buClrTx/>
            </a:pPr>
            <a:r>
              <a:rPr lang="en-US" sz="1200" b="1" kern="1200" dirty="0">
                <a:solidFill>
                  <a:srgbClr val="FFFFFF"/>
                </a:solidFill>
                <a:latin typeface="Consolas" pitchFamily="34" charset="0"/>
                <a:ea typeface="Consolas" pitchFamily="34" charset="-122"/>
                <a:cs typeface="Consolas" pitchFamily="34" charset="-120"/>
              </a:rPr>
              <a:t>cds.connect.to()</a:t>
            </a:r>
            <a:endParaRPr lang="en-US" sz="1200" kern="1200" dirty="0">
              <a:solidFill>
                <a:prstClr val="black"/>
              </a:solidFill>
              <a:latin typeface="Calibri" panose="020F0502020204030204"/>
              <a:ea typeface="+mn-ea"/>
              <a:cs typeface="+mn-cs"/>
            </a:endParaRPr>
          </a:p>
        </p:txBody>
      </p:sp>
      <p:sp>
        <p:nvSpPr>
          <p:cNvPr id="19" name="Shape 17"/>
          <p:cNvSpPr/>
          <p:nvPr/>
        </p:nvSpPr>
        <p:spPr>
          <a:xfrm>
            <a:off x="6094412" y="2463035"/>
            <a:ext cx="0" cy="585064"/>
          </a:xfrm>
          <a:prstGeom prst="line">
            <a:avLst/>
          </a:prstGeom>
          <a:noFill/>
          <a:ln w="12700">
            <a:solidFill>
              <a:srgbClr val="94A3B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Shape 18"/>
          <p:cNvSpPr/>
          <p:nvPr/>
        </p:nvSpPr>
        <p:spPr>
          <a:xfrm>
            <a:off x="6094412" y="2463035"/>
            <a:ext cx="2072100" cy="585064"/>
          </a:xfrm>
          <a:prstGeom prst="line">
            <a:avLst/>
          </a:prstGeom>
          <a:noFill/>
          <a:ln w="12700">
            <a:solidFill>
              <a:srgbClr val="94A3B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1" name="Shape 19"/>
          <p:cNvSpPr/>
          <p:nvPr/>
        </p:nvSpPr>
        <p:spPr>
          <a:xfrm>
            <a:off x="4144200" y="3681918"/>
            <a:ext cx="0" cy="585064"/>
          </a:xfrm>
          <a:prstGeom prst="line">
            <a:avLst/>
          </a:prstGeom>
          <a:noFill/>
          <a:ln w="12700">
            <a:solidFill>
              <a:srgbClr val="94A3B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2" name="Shape 20"/>
          <p:cNvSpPr/>
          <p:nvPr/>
        </p:nvSpPr>
        <p:spPr>
          <a:xfrm>
            <a:off x="6094412" y="3681918"/>
            <a:ext cx="0" cy="585064"/>
          </a:xfrm>
          <a:prstGeom prst="line">
            <a:avLst/>
          </a:prstGeom>
          <a:noFill/>
          <a:ln w="12700">
            <a:solidFill>
              <a:srgbClr val="94A3B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Shape 21"/>
          <p:cNvSpPr/>
          <p:nvPr/>
        </p:nvSpPr>
        <p:spPr>
          <a:xfrm>
            <a:off x="487552" y="5059255"/>
            <a:ext cx="3778536" cy="1584547"/>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4" name="Shape 22"/>
          <p:cNvSpPr/>
          <p:nvPr/>
        </p:nvSpPr>
        <p:spPr>
          <a:xfrm>
            <a:off x="487552" y="5059255"/>
            <a:ext cx="85322" cy="1584547"/>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5" name="Text 23"/>
          <p:cNvSpPr/>
          <p:nvPr/>
        </p:nvSpPr>
        <p:spPr>
          <a:xfrm>
            <a:off x="694763" y="5095822"/>
            <a:ext cx="3473815" cy="341287"/>
          </a:xfrm>
          <a:prstGeom prst="rect">
            <a:avLst/>
          </a:prstGeom>
          <a:noFill/>
          <a:ln/>
        </p:spPr>
        <p:txBody>
          <a:bodyPr wrap="square" lIns="0" tIns="0" rIns="0" bIns="0" rtlCol="0" anchor="ctr"/>
          <a:lstStyle/>
          <a:p>
            <a:pPr defTabSz="1218895">
              <a:buClrTx/>
            </a:pPr>
            <a:r>
              <a:rPr lang="en-US" sz="1333" b="1" kern="1200" dirty="0">
                <a:solidFill>
                  <a:srgbClr val="D97706"/>
                </a:solidFill>
                <a:latin typeface="Consolas" pitchFamily="34" charset="0"/>
                <a:ea typeface="Consolas" pitchFamily="34" charset="-122"/>
                <a:cs typeface="Consolas" pitchFamily="34" charset="-120"/>
              </a:rPr>
              <a:t>cds.ApplicationService</a:t>
            </a:r>
            <a:endParaRPr lang="en-US" sz="1333" kern="1200" dirty="0">
              <a:solidFill>
                <a:prstClr val="black"/>
              </a:solidFill>
              <a:latin typeface="Calibri" panose="020F0502020204030204"/>
              <a:ea typeface="+mn-ea"/>
              <a:cs typeface="+mn-cs"/>
            </a:endParaRPr>
          </a:p>
        </p:txBody>
      </p:sp>
      <p:sp>
        <p:nvSpPr>
          <p:cNvPr id="26" name="Text 24"/>
          <p:cNvSpPr/>
          <p:nvPr/>
        </p:nvSpPr>
        <p:spPr>
          <a:xfrm>
            <a:off x="694763" y="5461486"/>
            <a:ext cx="3473815" cy="1145750"/>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The base class for all CAP service implementations. Your CatalogService MUST extend this. Provides this.on(), this.before(), this.after(), this.send().</a:t>
            </a:r>
            <a:endParaRPr lang="en-US" sz="1133" kern="1200" dirty="0">
              <a:solidFill>
                <a:prstClr val="black"/>
              </a:solidFill>
              <a:latin typeface="Calibri" panose="020F0502020204030204"/>
              <a:ea typeface="+mn-ea"/>
              <a:cs typeface="+mn-cs"/>
            </a:endParaRPr>
          </a:p>
        </p:txBody>
      </p:sp>
      <p:sp>
        <p:nvSpPr>
          <p:cNvPr id="27" name="Shape 25"/>
          <p:cNvSpPr/>
          <p:nvPr/>
        </p:nvSpPr>
        <p:spPr>
          <a:xfrm>
            <a:off x="4448921" y="5059255"/>
            <a:ext cx="3778536" cy="1584547"/>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8" name="Shape 26"/>
          <p:cNvSpPr/>
          <p:nvPr/>
        </p:nvSpPr>
        <p:spPr>
          <a:xfrm>
            <a:off x="4448921" y="5059255"/>
            <a:ext cx="85322" cy="1584547"/>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9" name="Text 27"/>
          <p:cNvSpPr/>
          <p:nvPr/>
        </p:nvSpPr>
        <p:spPr>
          <a:xfrm>
            <a:off x="4656131" y="5095822"/>
            <a:ext cx="3473815" cy="341287"/>
          </a:xfrm>
          <a:prstGeom prst="rect">
            <a:avLst/>
          </a:prstGeom>
          <a:noFill/>
          <a:ln/>
        </p:spPr>
        <p:txBody>
          <a:bodyPr wrap="square" lIns="0" tIns="0" rIns="0" bIns="0" rtlCol="0" anchor="ctr"/>
          <a:lstStyle/>
          <a:p>
            <a:pPr defTabSz="1218895">
              <a:buClrTx/>
            </a:pPr>
            <a:r>
              <a:rPr lang="en-US" sz="1333" b="1" kern="1200" dirty="0">
                <a:solidFill>
                  <a:srgbClr val="0070F2"/>
                </a:solidFill>
                <a:latin typeface="Consolas" pitchFamily="34" charset="0"/>
                <a:ea typeface="Consolas" pitchFamily="34" charset="-122"/>
                <a:cs typeface="Consolas" pitchFamily="34" charset="-120"/>
              </a:rPr>
              <a:t>cds.Request&lt;Data&gt;</a:t>
            </a:r>
            <a:endParaRPr lang="en-US" sz="1333" kern="1200" dirty="0">
              <a:solidFill>
                <a:prstClr val="black"/>
              </a:solidFill>
              <a:latin typeface="Calibri" panose="020F0502020204030204"/>
              <a:ea typeface="+mn-ea"/>
              <a:cs typeface="+mn-cs"/>
            </a:endParaRPr>
          </a:p>
        </p:txBody>
      </p:sp>
      <p:sp>
        <p:nvSpPr>
          <p:cNvPr id="30" name="Text 28"/>
          <p:cNvSpPr/>
          <p:nvPr/>
        </p:nvSpPr>
        <p:spPr>
          <a:xfrm>
            <a:off x="4656131" y="5461486"/>
            <a:ext cx="3473815" cy="1145750"/>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Generic type for every incoming request. Data is the shape of req.data. Also carries req.user, req.locale, req.params — all typed.</a:t>
            </a:r>
            <a:endParaRPr lang="en-US" sz="1133" kern="1200" dirty="0">
              <a:solidFill>
                <a:prstClr val="black"/>
              </a:solidFill>
              <a:latin typeface="Calibri" panose="020F0502020204030204"/>
              <a:ea typeface="+mn-ea"/>
              <a:cs typeface="+mn-cs"/>
            </a:endParaRPr>
          </a:p>
        </p:txBody>
      </p:sp>
      <p:sp>
        <p:nvSpPr>
          <p:cNvPr id="31" name="Shape 29"/>
          <p:cNvSpPr/>
          <p:nvPr/>
        </p:nvSpPr>
        <p:spPr>
          <a:xfrm>
            <a:off x="8410289" y="5059255"/>
            <a:ext cx="3778536" cy="1584547"/>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2" name="Shape 30"/>
          <p:cNvSpPr/>
          <p:nvPr/>
        </p:nvSpPr>
        <p:spPr>
          <a:xfrm>
            <a:off x="8410289" y="5059255"/>
            <a:ext cx="85322" cy="1584547"/>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3" name="Text 31"/>
          <p:cNvSpPr/>
          <p:nvPr/>
        </p:nvSpPr>
        <p:spPr>
          <a:xfrm>
            <a:off x="8617499" y="5095822"/>
            <a:ext cx="3473815" cy="341287"/>
          </a:xfrm>
          <a:prstGeom prst="rect">
            <a:avLst/>
          </a:prstGeom>
          <a:noFill/>
          <a:ln/>
        </p:spPr>
        <p:txBody>
          <a:bodyPr wrap="square" lIns="0" tIns="0" rIns="0" bIns="0" rtlCol="0" anchor="ctr"/>
          <a:lstStyle/>
          <a:p>
            <a:pPr defTabSz="1218895">
              <a:buClrTx/>
            </a:pPr>
            <a:r>
              <a:rPr lang="en-US" sz="1333" b="1" kern="1200" dirty="0">
                <a:solidFill>
                  <a:srgbClr val="7C3AED"/>
                </a:solidFill>
                <a:latin typeface="Consolas" pitchFamily="34" charset="0"/>
                <a:ea typeface="Consolas" pitchFamily="34" charset="-122"/>
                <a:cs typeface="Consolas" pitchFamily="34" charset="-120"/>
              </a:rPr>
              <a:t>cds.connect.to()</a:t>
            </a:r>
            <a:endParaRPr lang="en-US" sz="1333" kern="1200" dirty="0">
              <a:solidFill>
                <a:prstClr val="black"/>
              </a:solidFill>
              <a:latin typeface="Calibri" panose="020F0502020204030204"/>
              <a:ea typeface="+mn-ea"/>
              <a:cs typeface="+mn-cs"/>
            </a:endParaRPr>
          </a:p>
        </p:txBody>
      </p:sp>
      <p:sp>
        <p:nvSpPr>
          <p:cNvPr id="34" name="Text 32"/>
          <p:cNvSpPr/>
          <p:nvPr/>
        </p:nvSpPr>
        <p:spPr>
          <a:xfrm>
            <a:off x="8617499" y="5461486"/>
            <a:ext cx="3473815" cy="1145750"/>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Returns Promise&lt;cds.Service&gt;. Use with await and assign to a typed variable. Strict null checks require null-guards before calling methods on it.</a:t>
            </a:r>
            <a:endParaRPr lang="en-US" sz="1133" kern="1200" dirty="0">
              <a:solidFill>
                <a:prstClr val="black"/>
              </a:solidFill>
              <a:latin typeface="Calibri" panose="020F0502020204030204"/>
              <a:ea typeface="+mn-ea"/>
              <a:cs typeface="+mn-cs"/>
            </a:endParaRPr>
          </a:p>
        </p:txBody>
      </p:sp>
      <p:pic>
        <p:nvPicPr>
          <p:cNvPr id="35" name="Google Shape;497;p1">
            <a:extLst>
              <a:ext uri="{FF2B5EF4-FFF2-40B4-BE49-F238E27FC236}">
                <a16:creationId xmlns:a16="http://schemas.microsoft.com/office/drawing/2014/main" id="{312872BE-52F1-20B0-4497-E4FA88735F8B}"/>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4b  </a:t>
            </a:r>
            <a:r>
              <a:rPr lang="en-US" sz="3333" b="1" kern="1200" dirty="0">
                <a:solidFill>
                  <a:srgbClr val="FFFFFF"/>
                </a:solidFill>
                <a:latin typeface="Calibri" pitchFamily="34" charset="0"/>
                <a:ea typeface="Calibri" pitchFamily="34" charset="-122"/>
                <a:cs typeface="Calibri" pitchFamily="34" charset="-120"/>
              </a:rPr>
              <a:t>CatalogService.js → .ts — Full Before/After</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Code Migration · adding CDS types to a typical CRUD service handler</a:t>
            </a:r>
            <a:endParaRPr lang="en-US" kern="1200" dirty="0">
              <a:solidFill>
                <a:prstClr val="black"/>
              </a:solidFill>
              <a:latin typeface="Calibri" panose="020F0502020204030204"/>
              <a:ea typeface="+mn-ea"/>
              <a:cs typeface="+mn-cs"/>
            </a:endParaRPr>
          </a:p>
        </p:txBody>
      </p:sp>
      <p:sp>
        <p:nvSpPr>
          <p:cNvPr id="6" name="Text 4"/>
          <p:cNvSpPr/>
          <p:nvPr/>
        </p:nvSpPr>
        <p:spPr>
          <a:xfrm>
            <a:off x="487553" y="1402608"/>
            <a:ext cx="5484971" cy="341287"/>
          </a:xfrm>
          <a:prstGeom prst="rect">
            <a:avLst/>
          </a:prstGeom>
          <a:noFill/>
          <a:ln/>
        </p:spPr>
        <p:txBody>
          <a:bodyPr wrap="square" lIns="0" tIns="0" rIns="0" bIns="0" rtlCol="0" anchor="ctr"/>
          <a:lstStyle/>
          <a:p>
            <a:pPr defTabSz="1218895">
              <a:buClrTx/>
            </a:pPr>
            <a:r>
              <a:rPr lang="en-US" sz="1466" b="1" kern="1200" dirty="0">
                <a:solidFill>
                  <a:srgbClr val="B91C1C"/>
                </a:solidFill>
                <a:latin typeface="Calibri" pitchFamily="34" charset="0"/>
                <a:ea typeface="Calibri" pitchFamily="34" charset="-122"/>
                <a:cs typeface="Calibri" pitchFamily="34" charset="-120"/>
              </a:rPr>
              <a:t>❌  Before (CatalogService.js)</a:t>
            </a:r>
            <a:endParaRPr lang="en-US" sz="1466" kern="1200" dirty="0">
              <a:solidFill>
                <a:prstClr val="black"/>
              </a:solidFill>
              <a:latin typeface="Calibri" panose="020F0502020204030204"/>
              <a:ea typeface="+mn-ea"/>
              <a:cs typeface="+mn-cs"/>
            </a:endParaRPr>
          </a:p>
        </p:txBody>
      </p:sp>
      <p:sp>
        <p:nvSpPr>
          <p:cNvPr id="7" name="Shape 5"/>
          <p:cNvSpPr/>
          <p:nvPr/>
        </p:nvSpPr>
        <p:spPr>
          <a:xfrm>
            <a:off x="487553" y="1768273"/>
            <a:ext cx="5484971" cy="4875530"/>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70385" y="1890161"/>
            <a:ext cx="5216817" cy="4656131"/>
          </a:xfrm>
          <a:prstGeom prst="rect">
            <a:avLst/>
          </a:prstGeom>
          <a:noFill/>
          <a:ln/>
        </p:spPr>
        <p:txBody>
          <a:bodyPr wrap="square" lIns="0" tIns="0" rIns="0" bIns="0" rtlCol="0" anchor="t"/>
          <a:lstStyle/>
          <a:p>
            <a:pPr defTabSz="1218895">
              <a:buClrTx/>
            </a:pPr>
            <a:r>
              <a:rPr lang="en-US" sz="1200" kern="1200" dirty="0">
                <a:solidFill>
                  <a:srgbClr val="818CF8"/>
                </a:solidFill>
                <a:latin typeface="Consolas" pitchFamily="34" charset="0"/>
                <a:ea typeface="Consolas" pitchFamily="34" charset="-122"/>
                <a:cs typeface="Consolas" pitchFamily="34" charset="-120"/>
              </a:rPr>
              <a:t>const cds = require('@sap/cds');</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module.exports = class CatalogService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extends cds.ApplicationService {</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init()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4A3B8"/>
                </a:solidFill>
                <a:latin typeface="Consolas" pitchFamily="34" charset="0"/>
                <a:ea typeface="Consolas" pitchFamily="34" charset="-122"/>
                <a:cs typeface="Consolas" pitchFamily="34" charset="-120"/>
              </a:rPr>
              <a:t>    // no types — all implicit any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this.on('READ', 'Books', req =&gt;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this.books(req);</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this.on('CREATE','Orders', req =&gt;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this.createOrder(req);</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super.init();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books(req)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4A3B8"/>
                </a:solidFill>
                <a:latin typeface="Consolas" pitchFamily="34" charset="0"/>
                <a:ea typeface="Consolas" pitchFamily="34" charset="-122"/>
                <a:cs typeface="Consolas" pitchFamily="34" charset="-120"/>
              </a:rPr>
              <a:t>    const { ID } = req.data;  // any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SELECT.from('Books')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.where({ ID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createOrder(req)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4A3B8"/>
                </a:solidFill>
                <a:latin typeface="Consolas" pitchFamily="34" charset="0"/>
                <a:ea typeface="Consolas" pitchFamily="34" charset="-122"/>
                <a:cs typeface="Consolas" pitchFamily="34" charset="-120"/>
              </a:rPr>
              <a:t>    const order = req.data;  // any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INSERT.into('Orders').entries(order);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p:txBody>
      </p:sp>
      <p:sp>
        <p:nvSpPr>
          <p:cNvPr id="9" name="Text 7"/>
          <p:cNvSpPr/>
          <p:nvPr/>
        </p:nvSpPr>
        <p:spPr>
          <a:xfrm>
            <a:off x="6277244" y="1402608"/>
            <a:ext cx="5606860" cy="341287"/>
          </a:xfrm>
          <a:prstGeom prst="rect">
            <a:avLst/>
          </a:prstGeom>
          <a:noFill/>
          <a:ln/>
        </p:spPr>
        <p:txBody>
          <a:bodyPr wrap="square" lIns="0" tIns="0" rIns="0" bIns="0" rtlCol="0" anchor="ctr"/>
          <a:lstStyle/>
          <a:p>
            <a:pPr defTabSz="1218895">
              <a:buClrTx/>
            </a:pPr>
            <a:r>
              <a:rPr lang="en-US" sz="1466" b="1" kern="1200" dirty="0">
                <a:solidFill>
                  <a:srgbClr val="10B981"/>
                </a:solidFill>
                <a:latin typeface="Calibri" pitchFamily="34" charset="0"/>
                <a:ea typeface="Calibri" pitchFamily="34" charset="-122"/>
                <a:cs typeface="Calibri" pitchFamily="34" charset="-120"/>
              </a:rPr>
              <a:t>✅  After (CatalogService.ts)</a:t>
            </a:r>
            <a:endParaRPr lang="en-US" sz="1466" kern="1200" dirty="0">
              <a:solidFill>
                <a:prstClr val="black"/>
              </a:solidFill>
              <a:latin typeface="Calibri" panose="020F0502020204030204"/>
              <a:ea typeface="+mn-ea"/>
              <a:cs typeface="+mn-cs"/>
            </a:endParaRPr>
          </a:p>
        </p:txBody>
      </p:sp>
      <p:sp>
        <p:nvSpPr>
          <p:cNvPr id="10" name="Shape 8"/>
          <p:cNvSpPr/>
          <p:nvPr/>
        </p:nvSpPr>
        <p:spPr>
          <a:xfrm>
            <a:off x="6277244" y="1768273"/>
            <a:ext cx="5606860" cy="4875530"/>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6460077" y="1890161"/>
            <a:ext cx="5338705" cy="4656131"/>
          </a:xfrm>
          <a:prstGeom prst="rect">
            <a:avLst/>
          </a:prstGeom>
          <a:noFill/>
          <a:ln/>
        </p:spPr>
        <p:txBody>
          <a:bodyPr wrap="square" lIns="0" tIns="0" rIns="0" bIns="0" rtlCol="0" anchor="t"/>
          <a:lstStyle/>
          <a:p>
            <a:pPr defTabSz="1218895">
              <a:buClrTx/>
            </a:pPr>
            <a:r>
              <a:rPr lang="en-US" sz="1200" kern="1200" dirty="0">
                <a:solidFill>
                  <a:srgbClr val="818CF8"/>
                </a:solidFill>
                <a:latin typeface="Consolas" pitchFamily="34" charset="0"/>
                <a:ea typeface="Consolas" pitchFamily="34" charset="-122"/>
                <a:cs typeface="Consolas" pitchFamily="34" charset="-120"/>
              </a:rPr>
              <a:t>import cds from '@sap/cds';</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4A3B8"/>
                </a:solidFill>
                <a:latin typeface="Consolas" pitchFamily="34" charset="0"/>
                <a:ea typeface="Consolas" pitchFamily="34" charset="-122"/>
                <a:cs typeface="Consolas" pitchFamily="34" charset="-120"/>
              </a:rPr>
              <a:t>// CDS-generated entity interfaces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interface Book  { ID: string; title: string;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interface Order { ID: string; book_ID: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amount: number; }</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export default class CatalogService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extends cds.ApplicationService {</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init(): Promise&lt;void&gt;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this.on('READ','Books',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(req: cds.Request) =&gt; this.books(req));</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this.on('CREATE','Orders',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(req: cds.Request) =&gt; this.createOrder(req));</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super.init();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books(req: cds.Request): Promise&lt;Book[]&gt;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const { ID } = req.data as { ID: string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SELECT.from('Books').where({ ID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createOrder(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req: cds.Request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 Promise&lt;Order&gt;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const order = req.data as Order;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INSERT.into('Orders').entries(order);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p:txBody>
      </p:sp>
      <p:pic>
        <p:nvPicPr>
          <p:cNvPr id="12" name="Google Shape;497;p1">
            <a:extLst>
              <a:ext uri="{FF2B5EF4-FFF2-40B4-BE49-F238E27FC236}">
                <a16:creationId xmlns:a16="http://schemas.microsoft.com/office/drawing/2014/main" id="{48C27DE6-9E27-F4A0-9426-6FD3CDF62EE7}"/>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4c  </a:t>
            </a:r>
            <a:r>
              <a:rPr lang="en-US" sz="3333" b="1" kern="1200" dirty="0">
                <a:solidFill>
                  <a:srgbClr val="FFFFFF"/>
                </a:solidFill>
                <a:latin typeface="Calibri" pitchFamily="34" charset="0"/>
                <a:ea typeface="Calibri" pitchFamily="34" charset="-122"/>
                <a:cs typeface="Calibri" pitchFamily="34" charset="-120"/>
              </a:rPr>
              <a:t>srv/CDSService.js → .ts — Generic Handler Pattern</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Generic Migration · typed this.on/before/after with reusable handler registration</a:t>
            </a:r>
            <a:endParaRPr lang="en-US" kern="1200" dirty="0">
              <a:solidFill>
                <a:prstClr val="black"/>
              </a:solidFill>
              <a:latin typeface="Calibri" panose="020F0502020204030204"/>
              <a:ea typeface="+mn-ea"/>
              <a:cs typeface="+mn-cs"/>
            </a:endParaRPr>
          </a:p>
        </p:txBody>
      </p:sp>
      <p:sp>
        <p:nvSpPr>
          <p:cNvPr id="6" name="Shape 4"/>
          <p:cNvSpPr/>
          <p:nvPr/>
        </p:nvSpPr>
        <p:spPr>
          <a:xfrm>
            <a:off x="487553" y="1402608"/>
            <a:ext cx="11213719" cy="670385"/>
          </a:xfrm>
          <a:prstGeom prst="rect">
            <a:avLst/>
          </a:prstGeom>
          <a:solidFill>
            <a:srgbClr val="FFF7ED"/>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658196" y="1439174"/>
            <a:ext cx="10969943" cy="609441"/>
          </a:xfrm>
          <a:prstGeom prst="rect">
            <a:avLst/>
          </a:prstGeom>
          <a:noFill/>
          <a:ln/>
        </p:spPr>
        <p:txBody>
          <a:bodyPr wrap="square" lIns="0" tIns="0" rIns="0" bIns="0" rtlCol="0" anchor="ctr"/>
          <a:lstStyle/>
          <a:p>
            <a:pPr defTabSz="1218895">
              <a:buClrTx/>
            </a:pPr>
            <a:r>
              <a:rPr lang="en-US" b="1" kern="1200" dirty="0">
                <a:solidFill>
                  <a:srgbClr val="D97706"/>
                </a:solidFill>
                <a:latin typeface="Calibri" pitchFamily="34" charset="0"/>
                <a:ea typeface="Calibri" pitchFamily="34" charset="-122"/>
                <a:cs typeface="Calibri" pitchFamily="34" charset="-120"/>
              </a:rPr>
              <a:t>Pattern: </a:t>
            </a:r>
            <a:r>
              <a:rPr lang="en-US" kern="1200" dirty="0">
                <a:solidFill>
                  <a:srgbClr val="334155"/>
                </a:solidFill>
                <a:latin typeface="Calibri" pitchFamily="34" charset="0"/>
                <a:ea typeface="Calibri" pitchFamily="34" charset="-122"/>
                <a:cs typeface="Calibri" pitchFamily="34" charset="-120"/>
              </a:rPr>
              <a:t>CDSService.js is a generic bootstrap file that registers handlers for multiple entities. The migration challenge is typing the handler callbacks — specifically the </a:t>
            </a:r>
            <a:r>
              <a:rPr lang="en-US" b="1" kern="1200" dirty="0">
                <a:solidFill>
                  <a:srgbClr val="0070F2"/>
                </a:solidFill>
                <a:latin typeface="Calibri" pitchFamily="34" charset="0"/>
                <a:ea typeface="Calibri" pitchFamily="34" charset="-122"/>
                <a:cs typeface="Calibri" pitchFamily="34" charset="-120"/>
              </a:rPr>
              <a:t>req: cds.Request</a:t>
            </a:r>
            <a:r>
              <a:rPr lang="en-US" kern="1200" dirty="0">
                <a:solidFill>
                  <a:srgbClr val="334155"/>
                </a:solidFill>
                <a:latin typeface="Calibri" pitchFamily="34" charset="0"/>
                <a:ea typeface="Calibri" pitchFamily="34" charset="-122"/>
                <a:cs typeface="Calibri" pitchFamily="34" charset="-120"/>
              </a:rPr>
              <a:t> parameter and return types for each entity operation.</a:t>
            </a:r>
            <a:endParaRPr lang="en-US" kern="1200" dirty="0">
              <a:solidFill>
                <a:prstClr val="black"/>
              </a:solidFill>
              <a:latin typeface="Calibri" panose="020F0502020204030204"/>
              <a:ea typeface="+mn-ea"/>
              <a:cs typeface="+mn-cs"/>
            </a:endParaRPr>
          </a:p>
        </p:txBody>
      </p:sp>
      <p:sp>
        <p:nvSpPr>
          <p:cNvPr id="8" name="Text 6"/>
          <p:cNvSpPr/>
          <p:nvPr/>
        </p:nvSpPr>
        <p:spPr>
          <a:xfrm>
            <a:off x="487553" y="2194882"/>
            <a:ext cx="5484971" cy="341287"/>
          </a:xfrm>
          <a:prstGeom prst="rect">
            <a:avLst/>
          </a:prstGeom>
          <a:noFill/>
          <a:ln/>
        </p:spPr>
        <p:txBody>
          <a:bodyPr wrap="square" lIns="0" tIns="0" rIns="0" bIns="0" rtlCol="0" anchor="ctr"/>
          <a:lstStyle/>
          <a:p>
            <a:pPr defTabSz="1218895">
              <a:buClrTx/>
            </a:pPr>
            <a:r>
              <a:rPr lang="en-US" sz="1466" b="1" kern="1200" dirty="0">
                <a:solidFill>
                  <a:srgbClr val="B91C1C"/>
                </a:solidFill>
                <a:latin typeface="Calibri" pitchFamily="34" charset="0"/>
                <a:ea typeface="Calibri" pitchFamily="34" charset="-122"/>
                <a:cs typeface="Calibri" pitchFamily="34" charset="-120"/>
              </a:rPr>
              <a:t>❌  Before (CDSService.js — generic handler)</a:t>
            </a:r>
            <a:endParaRPr lang="en-US" sz="1466" kern="1200" dirty="0">
              <a:solidFill>
                <a:prstClr val="black"/>
              </a:solidFill>
              <a:latin typeface="Calibri" panose="020F0502020204030204"/>
              <a:ea typeface="+mn-ea"/>
              <a:cs typeface="+mn-cs"/>
            </a:endParaRPr>
          </a:p>
        </p:txBody>
      </p:sp>
      <p:sp>
        <p:nvSpPr>
          <p:cNvPr id="9" name="Shape 7"/>
          <p:cNvSpPr/>
          <p:nvPr/>
        </p:nvSpPr>
        <p:spPr>
          <a:xfrm>
            <a:off x="487553" y="2560546"/>
            <a:ext cx="5484971" cy="4083256"/>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670385" y="2682434"/>
            <a:ext cx="5216817" cy="3863858"/>
          </a:xfrm>
          <a:prstGeom prst="rect">
            <a:avLst/>
          </a:prstGeom>
          <a:noFill/>
          <a:ln/>
        </p:spPr>
        <p:txBody>
          <a:bodyPr wrap="square" lIns="0" tIns="0" rIns="0" bIns="0" rtlCol="0" anchor="t"/>
          <a:lstStyle/>
          <a:p>
            <a:pPr defTabSz="1218895">
              <a:buClrTx/>
            </a:pPr>
            <a:r>
              <a:rPr lang="en-US" sz="1200" kern="1200" dirty="0">
                <a:solidFill>
                  <a:srgbClr val="818CF8"/>
                </a:solidFill>
                <a:latin typeface="Consolas" pitchFamily="34" charset="0"/>
                <a:ea typeface="Consolas" pitchFamily="34" charset="-122"/>
                <a:cs typeface="Consolas" pitchFamily="34" charset="-120"/>
              </a:rPr>
              <a:t>const cds = require('@sap/cds');</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4A3B8"/>
                </a:solidFill>
                <a:latin typeface="Consolas" pitchFamily="34" charset="0"/>
                <a:ea typeface="Consolas" pitchFamily="34" charset="-122"/>
                <a:cs typeface="Consolas" pitchFamily="34" charset="-120"/>
              </a:rPr>
              <a:t>// Generic handler — no type info</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module.exports = class CDSService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extends cds.ApplicationService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init()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4A3B8"/>
                </a:solidFill>
                <a:latin typeface="Consolas" pitchFamily="34" charset="0"/>
                <a:ea typeface="Consolas" pitchFamily="34" charset="-122"/>
                <a:cs typeface="Consolas" pitchFamily="34" charset="-120"/>
              </a:rPr>
              <a:t>    // this.before — no req type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this.before('*', '*', req =&gt;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if (!req.user.is('authenticated'))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req.reject(403,'Unauthorized');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this.after('READ', '*', (data, req) =&gt;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4A3B8"/>
                </a:solidFill>
                <a:latin typeface="Consolas" pitchFamily="34" charset="0"/>
                <a:ea typeface="Consolas" pitchFamily="34" charset="-122"/>
                <a:cs typeface="Consolas" pitchFamily="34" charset="-120"/>
              </a:rPr>
              <a:t>      // data is any — no safety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console.log(data.length);</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super.init();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p:txBody>
      </p:sp>
      <p:sp>
        <p:nvSpPr>
          <p:cNvPr id="11" name="Text 9"/>
          <p:cNvSpPr/>
          <p:nvPr/>
        </p:nvSpPr>
        <p:spPr>
          <a:xfrm>
            <a:off x="6277244" y="2194882"/>
            <a:ext cx="5606860" cy="341287"/>
          </a:xfrm>
          <a:prstGeom prst="rect">
            <a:avLst/>
          </a:prstGeom>
          <a:noFill/>
          <a:ln/>
        </p:spPr>
        <p:txBody>
          <a:bodyPr wrap="square" lIns="0" tIns="0" rIns="0" bIns="0" rtlCol="0" anchor="ctr"/>
          <a:lstStyle/>
          <a:p>
            <a:pPr defTabSz="1218895">
              <a:buClrTx/>
            </a:pPr>
            <a:r>
              <a:rPr lang="en-US" sz="1466" b="1" kern="1200" dirty="0">
                <a:solidFill>
                  <a:srgbClr val="10B981"/>
                </a:solidFill>
                <a:latin typeface="Calibri" pitchFamily="34" charset="0"/>
                <a:ea typeface="Calibri" pitchFamily="34" charset="-122"/>
                <a:cs typeface="Calibri" pitchFamily="34" charset="-120"/>
              </a:rPr>
              <a:t>✅  After (CDSService.ts — fully typed)</a:t>
            </a:r>
            <a:endParaRPr lang="en-US" sz="1466" kern="1200" dirty="0">
              <a:solidFill>
                <a:prstClr val="black"/>
              </a:solidFill>
              <a:latin typeface="Calibri" panose="020F0502020204030204"/>
              <a:ea typeface="+mn-ea"/>
              <a:cs typeface="+mn-cs"/>
            </a:endParaRPr>
          </a:p>
        </p:txBody>
      </p:sp>
      <p:sp>
        <p:nvSpPr>
          <p:cNvPr id="12" name="Shape 10"/>
          <p:cNvSpPr/>
          <p:nvPr/>
        </p:nvSpPr>
        <p:spPr>
          <a:xfrm>
            <a:off x="6277244" y="2560546"/>
            <a:ext cx="5606860" cy="4083256"/>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Text 11"/>
          <p:cNvSpPr/>
          <p:nvPr/>
        </p:nvSpPr>
        <p:spPr>
          <a:xfrm>
            <a:off x="6460077" y="2682434"/>
            <a:ext cx="5338705" cy="3863858"/>
          </a:xfrm>
          <a:prstGeom prst="rect">
            <a:avLst/>
          </a:prstGeom>
          <a:noFill/>
          <a:ln/>
        </p:spPr>
        <p:txBody>
          <a:bodyPr wrap="square" lIns="0" tIns="0" rIns="0" bIns="0" rtlCol="0" anchor="t"/>
          <a:lstStyle/>
          <a:p>
            <a:pPr defTabSz="1218895">
              <a:buClrTx/>
            </a:pPr>
            <a:r>
              <a:rPr lang="en-US" sz="1200" kern="1200" dirty="0">
                <a:solidFill>
                  <a:srgbClr val="818CF8"/>
                </a:solidFill>
                <a:latin typeface="Consolas" pitchFamily="34" charset="0"/>
                <a:ea typeface="Consolas" pitchFamily="34" charset="-122"/>
                <a:cs typeface="Consolas" pitchFamily="34" charset="-120"/>
              </a:rPr>
              <a:t>import cds from '@sap/cds';</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type Handler&lt;D=unknown&gt; =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req: cds.Request&lt;D&gt;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=&gt; Promise&lt;void&gt; | void;</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export default class CDSService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extends cds.ApplicationService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init(): Promise&lt;void&gt; {</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4A3B8"/>
                </a:solidFill>
                <a:latin typeface="Consolas" pitchFamily="34" charset="0"/>
                <a:ea typeface="Consolas" pitchFamily="34" charset="-122"/>
                <a:cs typeface="Consolas" pitchFamily="34" charset="-120"/>
              </a:rPr>
              <a:t>    // before: req is cds.Request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this.before('*','*',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(req: cds.Request): void =&gt;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if (!req.user?.is('authenticated'))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req.reject(403,'Unauthorized');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4A3B8"/>
                </a:solidFill>
                <a:latin typeface="Consolas" pitchFamily="34" charset="0"/>
                <a:ea typeface="Consolas" pitchFamily="34" charset="-122"/>
                <a:cs typeface="Consolas" pitchFamily="34" charset="-120"/>
              </a:rPr>
              <a:t>    // after: data is typed array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this.after('READ','*',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(data: unknown[], req: cds.Request) =&gt;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console.log(data.length); // safe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super.init();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p:txBody>
      </p:sp>
      <p:sp>
        <p:nvSpPr>
          <p:cNvPr id="14" name="Shape 12"/>
          <p:cNvSpPr/>
          <p:nvPr/>
        </p:nvSpPr>
        <p:spPr>
          <a:xfrm>
            <a:off x="487552" y="6729124"/>
            <a:ext cx="3778536" cy="73133"/>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5" name="Text 13"/>
          <p:cNvSpPr/>
          <p:nvPr/>
        </p:nvSpPr>
        <p:spPr>
          <a:xfrm>
            <a:off x="487552" y="6765691"/>
            <a:ext cx="3778536" cy="79227"/>
          </a:xfrm>
          <a:prstGeom prst="rect">
            <a:avLst/>
          </a:prstGeom>
          <a:noFill/>
          <a:ln/>
        </p:spPr>
        <p:txBody>
          <a:bodyPr wrap="square" lIns="0" tIns="0" rIns="0" bIns="0" rtlCol="0" anchor="ctr"/>
          <a:lstStyle/>
          <a:p>
            <a:pPr defTabSz="1218895">
              <a:buClrTx/>
            </a:pPr>
            <a:r>
              <a:rPr lang="en-US" sz="2399" b="1" kern="1200" dirty="0">
                <a:solidFill>
                  <a:srgbClr val="D97706"/>
                </a:solidFill>
                <a:latin typeface="Calibri" pitchFamily="34" charset="0"/>
                <a:ea typeface="Calibri" pitchFamily="34" charset="-122"/>
                <a:cs typeface="Calibri" pitchFamily="34" charset="-120"/>
              </a:rPr>
              <a:t>Handler&lt;D&gt;  </a:t>
            </a:r>
            <a:r>
              <a:rPr lang="en-US" sz="2399" kern="1200" dirty="0">
                <a:solidFill>
                  <a:srgbClr val="334155"/>
                </a:solidFill>
                <a:latin typeface="Calibri" pitchFamily="34" charset="0"/>
                <a:ea typeface="Calibri" pitchFamily="34" charset="-122"/>
                <a:cs typeface="Calibri" pitchFamily="34" charset="-120"/>
              </a:rPr>
              <a:t>Reusable typed callback alias — avoids repeating cds.Request&lt;D&gt; everywhere</a:t>
            </a:r>
            <a:endParaRPr lang="en-US" sz="2399" kern="1200" dirty="0">
              <a:solidFill>
                <a:prstClr val="black"/>
              </a:solidFill>
              <a:latin typeface="Calibri" panose="020F0502020204030204"/>
              <a:ea typeface="+mn-ea"/>
              <a:cs typeface="+mn-cs"/>
            </a:endParaRPr>
          </a:p>
        </p:txBody>
      </p:sp>
      <p:sp>
        <p:nvSpPr>
          <p:cNvPr id="16" name="Shape 14"/>
          <p:cNvSpPr/>
          <p:nvPr/>
        </p:nvSpPr>
        <p:spPr>
          <a:xfrm>
            <a:off x="4485487" y="6729124"/>
            <a:ext cx="3778536" cy="73133"/>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7" name="Text 15"/>
          <p:cNvSpPr/>
          <p:nvPr/>
        </p:nvSpPr>
        <p:spPr>
          <a:xfrm>
            <a:off x="4485487" y="6765691"/>
            <a:ext cx="3778536" cy="79227"/>
          </a:xfrm>
          <a:prstGeom prst="rect">
            <a:avLst/>
          </a:prstGeom>
          <a:noFill/>
          <a:ln/>
        </p:spPr>
        <p:txBody>
          <a:bodyPr wrap="square" lIns="0" tIns="0" rIns="0" bIns="0" rtlCol="0" anchor="ctr"/>
          <a:lstStyle/>
          <a:p>
            <a:pPr defTabSz="1218895">
              <a:buClrTx/>
            </a:pPr>
            <a:r>
              <a:rPr lang="en-US" sz="2399" b="1" kern="1200" dirty="0">
                <a:solidFill>
                  <a:srgbClr val="D97706"/>
                </a:solidFill>
                <a:latin typeface="Calibri" pitchFamily="34" charset="0"/>
                <a:ea typeface="Calibri" pitchFamily="34" charset="-122"/>
                <a:cs typeface="Calibri" pitchFamily="34" charset="-120"/>
              </a:rPr>
              <a:t>this.before()  </a:t>
            </a:r>
            <a:r>
              <a:rPr lang="en-US" sz="2399" kern="1200" dirty="0">
                <a:solidFill>
                  <a:srgbClr val="334155"/>
                </a:solidFill>
                <a:latin typeface="Calibri" pitchFamily="34" charset="0"/>
                <a:ea typeface="Calibri" pitchFamily="34" charset="-122"/>
                <a:cs typeface="Calibri" pitchFamily="34" charset="-120"/>
              </a:rPr>
              <a:t>Typed as (event, entity, callback) — callback always gets cds.Request</a:t>
            </a:r>
            <a:endParaRPr lang="en-US" sz="2399" kern="1200" dirty="0">
              <a:solidFill>
                <a:prstClr val="black"/>
              </a:solidFill>
              <a:latin typeface="Calibri" panose="020F0502020204030204"/>
              <a:ea typeface="+mn-ea"/>
              <a:cs typeface="+mn-cs"/>
            </a:endParaRPr>
          </a:p>
        </p:txBody>
      </p:sp>
      <p:sp>
        <p:nvSpPr>
          <p:cNvPr id="18" name="Shape 16"/>
          <p:cNvSpPr/>
          <p:nvPr/>
        </p:nvSpPr>
        <p:spPr>
          <a:xfrm>
            <a:off x="8483422" y="6729124"/>
            <a:ext cx="3778536" cy="73133"/>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Text 17"/>
          <p:cNvSpPr/>
          <p:nvPr/>
        </p:nvSpPr>
        <p:spPr>
          <a:xfrm>
            <a:off x="8483422" y="6765691"/>
            <a:ext cx="3778536" cy="79227"/>
          </a:xfrm>
          <a:prstGeom prst="rect">
            <a:avLst/>
          </a:prstGeom>
          <a:noFill/>
          <a:ln/>
        </p:spPr>
        <p:txBody>
          <a:bodyPr wrap="square" lIns="0" tIns="0" rIns="0" bIns="0" rtlCol="0" anchor="ctr"/>
          <a:lstStyle/>
          <a:p>
            <a:pPr defTabSz="1218895">
              <a:buClrTx/>
            </a:pPr>
            <a:r>
              <a:rPr lang="en-US" sz="2399" b="1" kern="1200" dirty="0">
                <a:solidFill>
                  <a:srgbClr val="D97706"/>
                </a:solidFill>
                <a:latin typeface="Calibri" pitchFamily="34" charset="0"/>
                <a:ea typeface="Calibri" pitchFamily="34" charset="-122"/>
                <a:cs typeface="Calibri" pitchFamily="34" charset="-120"/>
              </a:rPr>
              <a:t>req.user?.is()  </a:t>
            </a:r>
            <a:r>
              <a:rPr lang="en-US" sz="2399" kern="1200" dirty="0">
                <a:solidFill>
                  <a:srgbClr val="334155"/>
                </a:solidFill>
                <a:latin typeface="Calibri" pitchFamily="34" charset="0"/>
                <a:ea typeface="Calibri" pitchFamily="34" charset="-122"/>
                <a:cs typeface="Calibri" pitchFamily="34" charset="-120"/>
              </a:rPr>
              <a:t>Optional chain required in strict mode — req.user can be null for anonymous requests</a:t>
            </a:r>
            <a:endParaRPr lang="en-US" sz="2399" kern="1200" dirty="0">
              <a:solidFill>
                <a:prstClr val="black"/>
              </a:solidFill>
              <a:latin typeface="Calibri" panose="020F0502020204030204"/>
              <a:ea typeface="+mn-ea"/>
              <a:cs typeface="+mn-cs"/>
            </a:endParaRPr>
          </a:p>
        </p:txBody>
      </p:sp>
      <p:sp>
        <p:nvSpPr>
          <p:cNvPr id="20" name="Shape 18"/>
          <p:cNvSpPr/>
          <p:nvPr/>
        </p:nvSpPr>
        <p:spPr>
          <a:xfrm>
            <a:off x="487553" y="6631614"/>
            <a:ext cx="11213719" cy="304721"/>
          </a:xfrm>
          <a:prstGeom prst="rect">
            <a:avLst/>
          </a:prstGeom>
          <a:solidFill>
            <a:srgbClr val="FFF7ED"/>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1" name="Text 19"/>
          <p:cNvSpPr/>
          <p:nvPr/>
        </p:nvSpPr>
        <p:spPr>
          <a:xfrm>
            <a:off x="609441" y="6655991"/>
            <a:ext cx="10969943" cy="268154"/>
          </a:xfrm>
          <a:prstGeom prst="rect">
            <a:avLst/>
          </a:prstGeom>
          <a:noFill/>
          <a:ln/>
        </p:spPr>
        <p:txBody>
          <a:bodyPr wrap="square" lIns="0" tIns="0" rIns="0" bIns="0" rtlCol="0" anchor="ctr"/>
          <a:lstStyle/>
          <a:p>
            <a:pPr defTabSz="1218895">
              <a:buClrTx/>
            </a:pPr>
            <a:r>
              <a:rPr lang="en-US" sz="1200" kern="1200" dirty="0">
                <a:solidFill>
                  <a:srgbClr val="334155"/>
                </a:solidFill>
                <a:latin typeface="Calibri" pitchFamily="34" charset="0"/>
                <a:ea typeface="Calibri" pitchFamily="34" charset="-122"/>
                <a:cs typeface="Calibri" pitchFamily="34" charset="-120"/>
              </a:rPr>
              <a:t>💡  Key difference: this.before receives cds.Request; this.after receives (data, req) where data is the returned array. Both must be explicitly typed.</a:t>
            </a:r>
            <a:endParaRPr lang="en-US" sz="1200" kern="1200" dirty="0">
              <a:solidFill>
                <a:prstClr val="black"/>
              </a:solidFill>
              <a:latin typeface="Calibri" panose="020F0502020204030204"/>
              <a:ea typeface="+mn-ea"/>
              <a:cs typeface="+mn-cs"/>
            </a:endParaRPr>
          </a:p>
        </p:txBody>
      </p:sp>
      <p:pic>
        <p:nvPicPr>
          <p:cNvPr id="22" name="Google Shape;497;p1">
            <a:extLst>
              <a:ext uri="{FF2B5EF4-FFF2-40B4-BE49-F238E27FC236}">
                <a16:creationId xmlns:a16="http://schemas.microsoft.com/office/drawing/2014/main" id="{E4D60F2C-8315-586A-0CA4-4C554C81BCEA}"/>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59669"/>
          </a:solidFill>
          <a:ln w="12700">
            <a:solidFill>
              <a:srgbClr val="059669"/>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5  </a:t>
            </a:r>
            <a:r>
              <a:rPr lang="en-US" sz="3333" b="1" kern="1200" dirty="0">
                <a:solidFill>
                  <a:srgbClr val="FFFFFF"/>
                </a:solidFill>
                <a:latin typeface="Calibri" pitchFamily="34" charset="0"/>
                <a:ea typeface="Calibri" pitchFamily="34" charset="-122"/>
                <a:cs typeface="Calibri" pitchFamily="34" charset="-120"/>
              </a:rPr>
              <a:t>Diagnose &amp; Fix Common CAP Migration Type Errors</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Diagnostics · real error codes you will see when migrating CAP handlers</a:t>
            </a:r>
            <a:endParaRPr lang="en-US" kern="1200" dirty="0">
              <a:solidFill>
                <a:prstClr val="black"/>
              </a:solidFill>
              <a:latin typeface="Calibri" panose="020F0502020204030204"/>
              <a:ea typeface="+mn-ea"/>
              <a:cs typeface="+mn-cs"/>
            </a:endParaRPr>
          </a:p>
        </p:txBody>
      </p:sp>
      <p:sp>
        <p:nvSpPr>
          <p:cNvPr id="6" name="Shape 4"/>
          <p:cNvSpPr/>
          <p:nvPr/>
        </p:nvSpPr>
        <p:spPr>
          <a:xfrm>
            <a:off x="426608" y="1402608"/>
            <a:ext cx="5728748" cy="1706436"/>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Shape 5"/>
          <p:cNvSpPr/>
          <p:nvPr/>
        </p:nvSpPr>
        <p:spPr>
          <a:xfrm>
            <a:off x="426608" y="1402608"/>
            <a:ext cx="1243260" cy="438798"/>
          </a:xfrm>
          <a:prstGeom prst="rect">
            <a:avLst/>
          </a:prstGeom>
          <a:solidFill>
            <a:srgbClr val="B91C1C"/>
          </a:solidFill>
          <a:ln w="12700">
            <a:solidFill>
              <a:srgbClr val="B91C1C"/>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426608" y="1402608"/>
            <a:ext cx="1243260" cy="438798"/>
          </a:xfrm>
          <a:prstGeom prst="rect">
            <a:avLst/>
          </a:prstGeom>
          <a:noFill/>
          <a:ln/>
        </p:spPr>
        <p:txBody>
          <a:bodyPr wrap="square" lIns="0" tIns="0" rIns="0" bIns="0" rtlCol="0" anchor="ctr"/>
          <a:lstStyle/>
          <a:p>
            <a:pPr algn="ctr" defTabSz="1218895">
              <a:buClrTx/>
            </a:pPr>
            <a:r>
              <a:rPr lang="en-US" b="1" kern="1200" dirty="0">
                <a:solidFill>
                  <a:srgbClr val="FFFFFF"/>
                </a:solidFill>
                <a:latin typeface="Consolas" pitchFamily="34" charset="0"/>
                <a:ea typeface="Consolas" pitchFamily="34" charset="-122"/>
                <a:cs typeface="Consolas" pitchFamily="34" charset="-120"/>
              </a:rPr>
              <a:t>TS7006</a:t>
            </a:r>
            <a:endParaRPr lang="en-US" kern="1200" dirty="0">
              <a:solidFill>
                <a:prstClr val="black"/>
              </a:solidFill>
              <a:latin typeface="Calibri" panose="020F0502020204030204"/>
              <a:ea typeface="+mn-ea"/>
              <a:cs typeface="+mn-cs"/>
            </a:endParaRPr>
          </a:p>
        </p:txBody>
      </p:sp>
      <p:sp>
        <p:nvSpPr>
          <p:cNvPr id="9" name="Text 7"/>
          <p:cNvSpPr/>
          <p:nvPr/>
        </p:nvSpPr>
        <p:spPr>
          <a:xfrm>
            <a:off x="1791757" y="1463552"/>
            <a:ext cx="4241711" cy="341287"/>
          </a:xfrm>
          <a:prstGeom prst="rect">
            <a:avLst/>
          </a:prstGeom>
          <a:noFill/>
          <a:ln/>
        </p:spPr>
        <p:txBody>
          <a:bodyPr wrap="square" lIns="0" tIns="0" rIns="0" bIns="0" rtlCol="0" anchor="ctr"/>
          <a:lstStyle/>
          <a:p>
            <a:pPr defTabSz="1218895">
              <a:buClrTx/>
            </a:pPr>
            <a:r>
              <a:rPr lang="en-US" sz="1333" b="1" kern="1200" dirty="0">
                <a:solidFill>
                  <a:srgbClr val="0D1B2A"/>
                </a:solidFill>
                <a:latin typeface="Calibri" pitchFamily="34" charset="0"/>
                <a:ea typeface="Calibri" pitchFamily="34" charset="-122"/>
                <a:cs typeface="Calibri" pitchFamily="34" charset="-120"/>
              </a:rPr>
              <a:t>Parameter implicitly has an 'any' type</a:t>
            </a:r>
            <a:endParaRPr lang="en-US" sz="1333" kern="1200" dirty="0">
              <a:solidFill>
                <a:prstClr val="black"/>
              </a:solidFill>
              <a:latin typeface="Calibri" panose="020F0502020204030204"/>
              <a:ea typeface="+mn-ea"/>
              <a:cs typeface="+mn-cs"/>
            </a:endParaRPr>
          </a:p>
        </p:txBody>
      </p:sp>
      <p:sp>
        <p:nvSpPr>
          <p:cNvPr id="10" name="Text 8"/>
          <p:cNvSpPr/>
          <p:nvPr/>
        </p:nvSpPr>
        <p:spPr>
          <a:xfrm>
            <a:off x="572874" y="1890161"/>
            <a:ext cx="5460594" cy="292532"/>
          </a:xfrm>
          <a:prstGeom prst="rect">
            <a:avLst/>
          </a:prstGeom>
          <a:noFill/>
          <a:ln/>
        </p:spPr>
        <p:txBody>
          <a:bodyPr wrap="square" lIns="0" tIns="0" rIns="0" bIns="0" rtlCol="0" anchor="ctr"/>
          <a:lstStyle/>
          <a:p>
            <a:pPr defTabSz="1218895">
              <a:buClrTx/>
            </a:pPr>
            <a:r>
              <a:rPr lang="en-US" sz="1133" kern="1200" dirty="0">
                <a:solidFill>
                  <a:srgbClr val="991B1B"/>
                </a:solidFill>
                <a:latin typeface="Consolas" pitchFamily="34" charset="0"/>
                <a:ea typeface="Consolas" pitchFamily="34" charset="-122"/>
                <a:cs typeface="Consolas" pitchFamily="34" charset="-120"/>
              </a:rPr>
              <a:t>❌  async books(req) { ... }</a:t>
            </a:r>
            <a:endParaRPr lang="en-US" sz="1133" kern="1200" dirty="0">
              <a:solidFill>
                <a:prstClr val="black"/>
              </a:solidFill>
              <a:latin typeface="Calibri" panose="020F0502020204030204"/>
              <a:ea typeface="+mn-ea"/>
              <a:cs typeface="+mn-cs"/>
            </a:endParaRPr>
          </a:p>
        </p:txBody>
      </p:sp>
      <p:sp>
        <p:nvSpPr>
          <p:cNvPr id="11" name="Text 9"/>
          <p:cNvSpPr/>
          <p:nvPr/>
        </p:nvSpPr>
        <p:spPr>
          <a:xfrm>
            <a:off x="572874" y="2207070"/>
            <a:ext cx="5460594" cy="414420"/>
          </a:xfrm>
          <a:prstGeom prst="rect">
            <a:avLst/>
          </a:prstGeom>
          <a:noFill/>
          <a:ln/>
        </p:spPr>
        <p:txBody>
          <a:bodyPr wrap="square" lIns="0" tIns="0" rIns="0" bIns="0" rtlCol="0" anchor="ctr"/>
          <a:lstStyle/>
          <a:p>
            <a:pPr defTabSz="1218895">
              <a:buClrTx/>
            </a:pPr>
            <a:r>
              <a:rPr lang="en-US" sz="1133" kern="1200" dirty="0">
                <a:solidFill>
                  <a:srgbClr val="065F46"/>
                </a:solidFill>
                <a:latin typeface="Consolas" pitchFamily="34" charset="0"/>
                <a:ea typeface="Consolas" pitchFamily="34" charset="-122"/>
                <a:cs typeface="Consolas" pitchFamily="34" charset="-120"/>
              </a:rPr>
              <a:t>✅  async books(req: cds.Request): Promise&lt;Book[]&gt; { ... }</a:t>
            </a:r>
            <a:endParaRPr lang="en-US" sz="1133" kern="1200" dirty="0">
              <a:solidFill>
                <a:prstClr val="black"/>
              </a:solidFill>
              <a:latin typeface="Calibri" panose="020F0502020204030204"/>
              <a:ea typeface="+mn-ea"/>
              <a:cs typeface="+mn-cs"/>
            </a:endParaRPr>
          </a:p>
        </p:txBody>
      </p:sp>
      <p:sp>
        <p:nvSpPr>
          <p:cNvPr id="12" name="Shape 10"/>
          <p:cNvSpPr/>
          <p:nvPr/>
        </p:nvSpPr>
        <p:spPr>
          <a:xfrm>
            <a:off x="6423510" y="1402608"/>
            <a:ext cx="5728748" cy="1706436"/>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Shape 11"/>
          <p:cNvSpPr/>
          <p:nvPr/>
        </p:nvSpPr>
        <p:spPr>
          <a:xfrm>
            <a:off x="6423510" y="1402608"/>
            <a:ext cx="1243260" cy="438798"/>
          </a:xfrm>
          <a:prstGeom prst="rect">
            <a:avLst/>
          </a:prstGeom>
          <a:solidFill>
            <a:srgbClr val="B91C1C"/>
          </a:solidFill>
          <a:ln w="12700">
            <a:solidFill>
              <a:srgbClr val="B91C1C"/>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6423510" y="1402608"/>
            <a:ext cx="1243260" cy="438798"/>
          </a:xfrm>
          <a:prstGeom prst="rect">
            <a:avLst/>
          </a:prstGeom>
          <a:noFill/>
          <a:ln/>
        </p:spPr>
        <p:txBody>
          <a:bodyPr wrap="square" lIns="0" tIns="0" rIns="0" bIns="0" rtlCol="0" anchor="ctr"/>
          <a:lstStyle/>
          <a:p>
            <a:pPr algn="ctr" defTabSz="1218895">
              <a:buClrTx/>
            </a:pPr>
            <a:r>
              <a:rPr lang="en-US" b="1" kern="1200" dirty="0">
                <a:solidFill>
                  <a:srgbClr val="FFFFFF"/>
                </a:solidFill>
                <a:latin typeface="Consolas" pitchFamily="34" charset="0"/>
                <a:ea typeface="Consolas" pitchFamily="34" charset="-122"/>
                <a:cs typeface="Consolas" pitchFamily="34" charset="-120"/>
              </a:rPr>
              <a:t>TS2339</a:t>
            </a:r>
            <a:endParaRPr lang="en-US" kern="1200" dirty="0">
              <a:solidFill>
                <a:prstClr val="black"/>
              </a:solidFill>
              <a:latin typeface="Calibri" panose="020F0502020204030204"/>
              <a:ea typeface="+mn-ea"/>
              <a:cs typeface="+mn-cs"/>
            </a:endParaRPr>
          </a:p>
        </p:txBody>
      </p:sp>
      <p:sp>
        <p:nvSpPr>
          <p:cNvPr id="15" name="Text 13"/>
          <p:cNvSpPr/>
          <p:nvPr/>
        </p:nvSpPr>
        <p:spPr>
          <a:xfrm>
            <a:off x="7788659" y="1463552"/>
            <a:ext cx="4241711" cy="341287"/>
          </a:xfrm>
          <a:prstGeom prst="rect">
            <a:avLst/>
          </a:prstGeom>
          <a:noFill/>
          <a:ln/>
        </p:spPr>
        <p:txBody>
          <a:bodyPr wrap="square" lIns="0" tIns="0" rIns="0" bIns="0" rtlCol="0" anchor="ctr"/>
          <a:lstStyle/>
          <a:p>
            <a:pPr defTabSz="1218895">
              <a:buClrTx/>
            </a:pPr>
            <a:r>
              <a:rPr lang="en-US" sz="1333" b="1" kern="1200" dirty="0">
                <a:solidFill>
                  <a:srgbClr val="0D1B2A"/>
                </a:solidFill>
                <a:latin typeface="Calibri" pitchFamily="34" charset="0"/>
                <a:ea typeface="Calibri" pitchFamily="34" charset="-122"/>
                <a:cs typeface="Calibri" pitchFamily="34" charset="-120"/>
              </a:rPr>
              <a:t>Property 'data' does not exist on type 'never'</a:t>
            </a:r>
            <a:endParaRPr lang="en-US" sz="1333" kern="1200" dirty="0">
              <a:solidFill>
                <a:prstClr val="black"/>
              </a:solidFill>
              <a:latin typeface="Calibri" panose="020F0502020204030204"/>
              <a:ea typeface="+mn-ea"/>
              <a:cs typeface="+mn-cs"/>
            </a:endParaRPr>
          </a:p>
        </p:txBody>
      </p:sp>
      <p:sp>
        <p:nvSpPr>
          <p:cNvPr id="16" name="Text 14"/>
          <p:cNvSpPr/>
          <p:nvPr/>
        </p:nvSpPr>
        <p:spPr>
          <a:xfrm>
            <a:off x="6569776" y="1890161"/>
            <a:ext cx="5460594" cy="292532"/>
          </a:xfrm>
          <a:prstGeom prst="rect">
            <a:avLst/>
          </a:prstGeom>
          <a:noFill/>
          <a:ln/>
        </p:spPr>
        <p:txBody>
          <a:bodyPr wrap="square" lIns="0" tIns="0" rIns="0" bIns="0" rtlCol="0" anchor="ctr"/>
          <a:lstStyle/>
          <a:p>
            <a:pPr defTabSz="1218895">
              <a:buClrTx/>
            </a:pPr>
            <a:r>
              <a:rPr lang="en-US" sz="1133" kern="1200" dirty="0">
                <a:solidFill>
                  <a:srgbClr val="991B1B"/>
                </a:solidFill>
                <a:latin typeface="Consolas" pitchFamily="34" charset="0"/>
                <a:ea typeface="Consolas" pitchFamily="34" charset="-122"/>
                <a:cs typeface="Consolas" pitchFamily="34" charset="-120"/>
              </a:rPr>
              <a:t>❌  this.on('READ','Books', req =&gt; { req.data })</a:t>
            </a:r>
            <a:endParaRPr lang="en-US" sz="1133" kern="1200" dirty="0">
              <a:solidFill>
                <a:prstClr val="black"/>
              </a:solidFill>
              <a:latin typeface="Calibri" panose="020F0502020204030204"/>
              <a:ea typeface="+mn-ea"/>
              <a:cs typeface="+mn-cs"/>
            </a:endParaRPr>
          </a:p>
        </p:txBody>
      </p:sp>
      <p:sp>
        <p:nvSpPr>
          <p:cNvPr id="17" name="Text 15"/>
          <p:cNvSpPr/>
          <p:nvPr/>
        </p:nvSpPr>
        <p:spPr>
          <a:xfrm>
            <a:off x="6569776" y="2207070"/>
            <a:ext cx="5460594" cy="414420"/>
          </a:xfrm>
          <a:prstGeom prst="rect">
            <a:avLst/>
          </a:prstGeom>
          <a:noFill/>
          <a:ln/>
        </p:spPr>
        <p:txBody>
          <a:bodyPr wrap="square" lIns="0" tIns="0" rIns="0" bIns="0" rtlCol="0" anchor="ctr"/>
          <a:lstStyle/>
          <a:p>
            <a:pPr defTabSz="1218895">
              <a:buClrTx/>
            </a:pPr>
            <a:r>
              <a:rPr lang="en-US" sz="1133" kern="1200" dirty="0">
                <a:solidFill>
                  <a:srgbClr val="065F46"/>
                </a:solidFill>
                <a:latin typeface="Consolas" pitchFamily="34" charset="0"/>
                <a:ea typeface="Consolas" pitchFamily="34" charset="-122"/>
                <a:cs typeface="Consolas" pitchFamily="34" charset="-120"/>
              </a:rPr>
              <a:t>✅  this.on('READ','Books', (req: cds.Request) =&gt; { req.data })</a:t>
            </a:r>
            <a:endParaRPr lang="en-US" sz="1133" kern="1200" dirty="0">
              <a:solidFill>
                <a:prstClr val="black"/>
              </a:solidFill>
              <a:latin typeface="Calibri" panose="020F0502020204030204"/>
              <a:ea typeface="+mn-ea"/>
              <a:cs typeface="+mn-cs"/>
            </a:endParaRPr>
          </a:p>
        </p:txBody>
      </p:sp>
      <p:sp>
        <p:nvSpPr>
          <p:cNvPr id="18" name="Shape 16"/>
          <p:cNvSpPr/>
          <p:nvPr/>
        </p:nvSpPr>
        <p:spPr>
          <a:xfrm>
            <a:off x="426608" y="3194365"/>
            <a:ext cx="5728748" cy="1706436"/>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Shape 17"/>
          <p:cNvSpPr/>
          <p:nvPr/>
        </p:nvSpPr>
        <p:spPr>
          <a:xfrm>
            <a:off x="426608" y="3194365"/>
            <a:ext cx="1243260" cy="438798"/>
          </a:xfrm>
          <a:prstGeom prst="rect">
            <a:avLst/>
          </a:prstGeom>
          <a:solidFill>
            <a:srgbClr val="B91C1C"/>
          </a:solidFill>
          <a:ln w="12700">
            <a:solidFill>
              <a:srgbClr val="B91C1C"/>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Text 18"/>
          <p:cNvSpPr/>
          <p:nvPr/>
        </p:nvSpPr>
        <p:spPr>
          <a:xfrm>
            <a:off x="426608" y="3194365"/>
            <a:ext cx="1243260" cy="438798"/>
          </a:xfrm>
          <a:prstGeom prst="rect">
            <a:avLst/>
          </a:prstGeom>
          <a:noFill/>
          <a:ln/>
        </p:spPr>
        <p:txBody>
          <a:bodyPr wrap="square" lIns="0" tIns="0" rIns="0" bIns="0" rtlCol="0" anchor="ctr"/>
          <a:lstStyle/>
          <a:p>
            <a:pPr algn="ctr" defTabSz="1218895">
              <a:buClrTx/>
            </a:pPr>
            <a:r>
              <a:rPr lang="en-US" b="1" kern="1200" dirty="0">
                <a:solidFill>
                  <a:srgbClr val="FFFFFF"/>
                </a:solidFill>
                <a:latin typeface="Consolas" pitchFamily="34" charset="0"/>
                <a:ea typeface="Consolas" pitchFamily="34" charset="-122"/>
                <a:cs typeface="Consolas" pitchFamily="34" charset="-120"/>
              </a:rPr>
              <a:t>TS2532</a:t>
            </a:r>
            <a:endParaRPr lang="en-US" kern="1200" dirty="0">
              <a:solidFill>
                <a:prstClr val="black"/>
              </a:solidFill>
              <a:latin typeface="Calibri" panose="020F0502020204030204"/>
              <a:ea typeface="+mn-ea"/>
              <a:cs typeface="+mn-cs"/>
            </a:endParaRPr>
          </a:p>
        </p:txBody>
      </p:sp>
      <p:sp>
        <p:nvSpPr>
          <p:cNvPr id="21" name="Text 19"/>
          <p:cNvSpPr/>
          <p:nvPr/>
        </p:nvSpPr>
        <p:spPr>
          <a:xfrm>
            <a:off x="1791757" y="3255309"/>
            <a:ext cx="4241711" cy="341287"/>
          </a:xfrm>
          <a:prstGeom prst="rect">
            <a:avLst/>
          </a:prstGeom>
          <a:noFill/>
          <a:ln/>
        </p:spPr>
        <p:txBody>
          <a:bodyPr wrap="square" lIns="0" tIns="0" rIns="0" bIns="0" rtlCol="0" anchor="ctr"/>
          <a:lstStyle/>
          <a:p>
            <a:pPr defTabSz="1218895">
              <a:buClrTx/>
            </a:pPr>
            <a:r>
              <a:rPr lang="en-US" sz="1333" b="1" kern="1200" dirty="0">
                <a:solidFill>
                  <a:srgbClr val="0D1B2A"/>
                </a:solidFill>
                <a:latin typeface="Calibri" pitchFamily="34" charset="0"/>
                <a:ea typeface="Calibri" pitchFamily="34" charset="-122"/>
                <a:cs typeface="Calibri" pitchFamily="34" charset="-120"/>
              </a:rPr>
              <a:t>Object is possibly 'undefined'</a:t>
            </a:r>
            <a:endParaRPr lang="en-US" sz="1333" kern="1200" dirty="0">
              <a:solidFill>
                <a:prstClr val="black"/>
              </a:solidFill>
              <a:latin typeface="Calibri" panose="020F0502020204030204"/>
              <a:ea typeface="+mn-ea"/>
              <a:cs typeface="+mn-cs"/>
            </a:endParaRPr>
          </a:p>
        </p:txBody>
      </p:sp>
      <p:sp>
        <p:nvSpPr>
          <p:cNvPr id="22" name="Text 20"/>
          <p:cNvSpPr/>
          <p:nvPr/>
        </p:nvSpPr>
        <p:spPr>
          <a:xfrm>
            <a:off x="572874" y="3681918"/>
            <a:ext cx="5460594" cy="292532"/>
          </a:xfrm>
          <a:prstGeom prst="rect">
            <a:avLst/>
          </a:prstGeom>
          <a:noFill/>
          <a:ln/>
        </p:spPr>
        <p:txBody>
          <a:bodyPr wrap="square" lIns="0" tIns="0" rIns="0" bIns="0" rtlCol="0" anchor="ctr"/>
          <a:lstStyle/>
          <a:p>
            <a:pPr defTabSz="1218895">
              <a:buClrTx/>
            </a:pPr>
            <a:r>
              <a:rPr lang="en-US" sz="1133" kern="1200" dirty="0">
                <a:solidFill>
                  <a:srgbClr val="991B1B"/>
                </a:solidFill>
                <a:latin typeface="Consolas" pitchFamily="34" charset="0"/>
                <a:ea typeface="Consolas" pitchFamily="34" charset="-122"/>
                <a:cs typeface="Consolas" pitchFamily="34" charset="-120"/>
              </a:rPr>
              <a:t>❌  const { ID } = req.data;  // data may be undefined</a:t>
            </a:r>
            <a:endParaRPr lang="en-US" sz="1133" kern="1200" dirty="0">
              <a:solidFill>
                <a:prstClr val="black"/>
              </a:solidFill>
              <a:latin typeface="Calibri" panose="020F0502020204030204"/>
              <a:ea typeface="+mn-ea"/>
              <a:cs typeface="+mn-cs"/>
            </a:endParaRPr>
          </a:p>
        </p:txBody>
      </p:sp>
      <p:sp>
        <p:nvSpPr>
          <p:cNvPr id="23" name="Text 21"/>
          <p:cNvSpPr/>
          <p:nvPr/>
        </p:nvSpPr>
        <p:spPr>
          <a:xfrm>
            <a:off x="572874" y="3998828"/>
            <a:ext cx="5460594" cy="414420"/>
          </a:xfrm>
          <a:prstGeom prst="rect">
            <a:avLst/>
          </a:prstGeom>
          <a:noFill/>
          <a:ln/>
        </p:spPr>
        <p:txBody>
          <a:bodyPr wrap="square" lIns="0" tIns="0" rIns="0" bIns="0" rtlCol="0" anchor="ctr"/>
          <a:lstStyle/>
          <a:p>
            <a:pPr defTabSz="1218895">
              <a:buClrTx/>
            </a:pPr>
            <a:r>
              <a:rPr lang="en-US" sz="1133" kern="1200" dirty="0">
                <a:solidFill>
                  <a:srgbClr val="065F46"/>
                </a:solidFill>
                <a:latin typeface="Consolas" pitchFamily="34" charset="0"/>
                <a:ea typeface="Consolas" pitchFamily="34" charset="-122"/>
                <a:cs typeface="Consolas" pitchFamily="34" charset="-120"/>
              </a:rPr>
              <a:t>✅  const { ID } = (req.data ?? {}) as { ID: string };</a:t>
            </a:r>
            <a:endParaRPr lang="en-US" sz="1133" kern="1200" dirty="0">
              <a:solidFill>
                <a:prstClr val="black"/>
              </a:solidFill>
              <a:latin typeface="Calibri" panose="020F0502020204030204"/>
              <a:ea typeface="+mn-ea"/>
              <a:cs typeface="+mn-cs"/>
            </a:endParaRPr>
          </a:p>
        </p:txBody>
      </p:sp>
      <p:sp>
        <p:nvSpPr>
          <p:cNvPr id="24" name="Shape 22"/>
          <p:cNvSpPr/>
          <p:nvPr/>
        </p:nvSpPr>
        <p:spPr>
          <a:xfrm>
            <a:off x="6423510" y="3194365"/>
            <a:ext cx="5728748" cy="1706436"/>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5" name="Shape 23"/>
          <p:cNvSpPr/>
          <p:nvPr/>
        </p:nvSpPr>
        <p:spPr>
          <a:xfrm>
            <a:off x="6423510" y="3194365"/>
            <a:ext cx="1243260" cy="438798"/>
          </a:xfrm>
          <a:prstGeom prst="rect">
            <a:avLst/>
          </a:prstGeom>
          <a:solidFill>
            <a:srgbClr val="B91C1C"/>
          </a:solidFill>
          <a:ln w="12700">
            <a:solidFill>
              <a:srgbClr val="B91C1C"/>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6" name="Text 24"/>
          <p:cNvSpPr/>
          <p:nvPr/>
        </p:nvSpPr>
        <p:spPr>
          <a:xfrm>
            <a:off x="6423510" y="3194365"/>
            <a:ext cx="1243260" cy="438798"/>
          </a:xfrm>
          <a:prstGeom prst="rect">
            <a:avLst/>
          </a:prstGeom>
          <a:noFill/>
          <a:ln/>
        </p:spPr>
        <p:txBody>
          <a:bodyPr wrap="square" lIns="0" tIns="0" rIns="0" bIns="0" rtlCol="0" anchor="ctr"/>
          <a:lstStyle/>
          <a:p>
            <a:pPr algn="ctr" defTabSz="1218895">
              <a:buClrTx/>
            </a:pPr>
            <a:r>
              <a:rPr lang="en-US" b="1" kern="1200" dirty="0">
                <a:solidFill>
                  <a:srgbClr val="FFFFFF"/>
                </a:solidFill>
                <a:latin typeface="Consolas" pitchFamily="34" charset="0"/>
                <a:ea typeface="Consolas" pitchFamily="34" charset="-122"/>
                <a:cs typeface="Consolas" pitchFamily="34" charset="-120"/>
              </a:rPr>
              <a:t>TS2345</a:t>
            </a:r>
            <a:endParaRPr lang="en-US" kern="1200" dirty="0">
              <a:solidFill>
                <a:prstClr val="black"/>
              </a:solidFill>
              <a:latin typeface="Calibri" panose="020F0502020204030204"/>
              <a:ea typeface="+mn-ea"/>
              <a:cs typeface="+mn-cs"/>
            </a:endParaRPr>
          </a:p>
        </p:txBody>
      </p:sp>
      <p:sp>
        <p:nvSpPr>
          <p:cNvPr id="27" name="Text 25"/>
          <p:cNvSpPr/>
          <p:nvPr/>
        </p:nvSpPr>
        <p:spPr>
          <a:xfrm>
            <a:off x="7788659" y="3255309"/>
            <a:ext cx="4241711" cy="341287"/>
          </a:xfrm>
          <a:prstGeom prst="rect">
            <a:avLst/>
          </a:prstGeom>
          <a:noFill/>
          <a:ln/>
        </p:spPr>
        <p:txBody>
          <a:bodyPr wrap="square" lIns="0" tIns="0" rIns="0" bIns="0" rtlCol="0" anchor="ctr"/>
          <a:lstStyle/>
          <a:p>
            <a:pPr defTabSz="1218895">
              <a:buClrTx/>
            </a:pPr>
            <a:r>
              <a:rPr lang="en-US" sz="1333" b="1" kern="1200" dirty="0">
                <a:solidFill>
                  <a:srgbClr val="0D1B2A"/>
                </a:solidFill>
                <a:latin typeface="Calibri" pitchFamily="34" charset="0"/>
                <a:ea typeface="Calibri" pitchFamily="34" charset="-122"/>
                <a:cs typeface="Calibri" pitchFamily="34" charset="-120"/>
              </a:rPr>
              <a:t>Argument of type 'any' not assignable to 'Book'</a:t>
            </a:r>
            <a:endParaRPr lang="en-US" sz="1333" kern="1200" dirty="0">
              <a:solidFill>
                <a:prstClr val="black"/>
              </a:solidFill>
              <a:latin typeface="Calibri" panose="020F0502020204030204"/>
              <a:ea typeface="+mn-ea"/>
              <a:cs typeface="+mn-cs"/>
            </a:endParaRPr>
          </a:p>
        </p:txBody>
      </p:sp>
      <p:sp>
        <p:nvSpPr>
          <p:cNvPr id="28" name="Text 26"/>
          <p:cNvSpPr/>
          <p:nvPr/>
        </p:nvSpPr>
        <p:spPr>
          <a:xfrm>
            <a:off x="6569776" y="3681918"/>
            <a:ext cx="5460594" cy="292532"/>
          </a:xfrm>
          <a:prstGeom prst="rect">
            <a:avLst/>
          </a:prstGeom>
          <a:noFill/>
          <a:ln/>
        </p:spPr>
        <p:txBody>
          <a:bodyPr wrap="square" lIns="0" tIns="0" rIns="0" bIns="0" rtlCol="0" anchor="ctr"/>
          <a:lstStyle/>
          <a:p>
            <a:pPr defTabSz="1218895">
              <a:buClrTx/>
            </a:pPr>
            <a:r>
              <a:rPr lang="en-US" sz="1133" kern="1200" dirty="0">
                <a:solidFill>
                  <a:srgbClr val="991B1B"/>
                </a:solidFill>
                <a:latin typeface="Consolas" pitchFamily="34" charset="0"/>
                <a:ea typeface="Consolas" pitchFamily="34" charset="-122"/>
                <a:cs typeface="Consolas" pitchFamily="34" charset="-120"/>
              </a:rPr>
              <a:t>❌  return INSERT.into('Books').entries(req.data);</a:t>
            </a:r>
            <a:endParaRPr lang="en-US" sz="1133" kern="1200" dirty="0">
              <a:solidFill>
                <a:prstClr val="black"/>
              </a:solidFill>
              <a:latin typeface="Calibri" panose="020F0502020204030204"/>
              <a:ea typeface="+mn-ea"/>
              <a:cs typeface="+mn-cs"/>
            </a:endParaRPr>
          </a:p>
        </p:txBody>
      </p:sp>
      <p:sp>
        <p:nvSpPr>
          <p:cNvPr id="29" name="Text 27"/>
          <p:cNvSpPr/>
          <p:nvPr/>
        </p:nvSpPr>
        <p:spPr>
          <a:xfrm>
            <a:off x="6569776" y="3998828"/>
            <a:ext cx="5460594" cy="414420"/>
          </a:xfrm>
          <a:prstGeom prst="rect">
            <a:avLst/>
          </a:prstGeom>
          <a:noFill/>
          <a:ln/>
        </p:spPr>
        <p:txBody>
          <a:bodyPr wrap="square" lIns="0" tIns="0" rIns="0" bIns="0" rtlCol="0" anchor="ctr"/>
          <a:lstStyle/>
          <a:p>
            <a:pPr defTabSz="1218895">
              <a:buClrTx/>
            </a:pPr>
            <a:r>
              <a:rPr lang="en-US" sz="1133" kern="1200" dirty="0">
                <a:solidFill>
                  <a:srgbClr val="065F46"/>
                </a:solidFill>
                <a:latin typeface="Consolas" pitchFamily="34" charset="0"/>
                <a:ea typeface="Consolas" pitchFamily="34" charset="-122"/>
                <a:cs typeface="Consolas" pitchFamily="34" charset="-120"/>
              </a:rPr>
              <a:t>✅  return INSERT.into('Books').entries(req.data as Book);</a:t>
            </a:r>
            <a:endParaRPr lang="en-US" sz="1133" kern="1200" dirty="0">
              <a:solidFill>
                <a:prstClr val="black"/>
              </a:solidFill>
              <a:latin typeface="Calibri" panose="020F0502020204030204"/>
              <a:ea typeface="+mn-ea"/>
              <a:cs typeface="+mn-cs"/>
            </a:endParaRPr>
          </a:p>
        </p:txBody>
      </p:sp>
      <p:sp>
        <p:nvSpPr>
          <p:cNvPr id="30" name="Shape 28"/>
          <p:cNvSpPr/>
          <p:nvPr/>
        </p:nvSpPr>
        <p:spPr>
          <a:xfrm>
            <a:off x="426608" y="4986122"/>
            <a:ext cx="5728748" cy="1706436"/>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1" name="Shape 29"/>
          <p:cNvSpPr/>
          <p:nvPr/>
        </p:nvSpPr>
        <p:spPr>
          <a:xfrm>
            <a:off x="426608" y="4986122"/>
            <a:ext cx="1243260" cy="438798"/>
          </a:xfrm>
          <a:prstGeom prst="rect">
            <a:avLst/>
          </a:prstGeom>
          <a:solidFill>
            <a:srgbClr val="B91C1C"/>
          </a:solidFill>
          <a:ln w="12700">
            <a:solidFill>
              <a:srgbClr val="B91C1C"/>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2" name="Text 30"/>
          <p:cNvSpPr/>
          <p:nvPr/>
        </p:nvSpPr>
        <p:spPr>
          <a:xfrm>
            <a:off x="426608" y="4986122"/>
            <a:ext cx="1243260" cy="438798"/>
          </a:xfrm>
          <a:prstGeom prst="rect">
            <a:avLst/>
          </a:prstGeom>
          <a:noFill/>
          <a:ln/>
        </p:spPr>
        <p:txBody>
          <a:bodyPr wrap="square" lIns="0" tIns="0" rIns="0" bIns="0" rtlCol="0" anchor="ctr"/>
          <a:lstStyle/>
          <a:p>
            <a:pPr algn="ctr" defTabSz="1218895">
              <a:buClrTx/>
            </a:pPr>
            <a:r>
              <a:rPr lang="en-US" b="1" kern="1200" dirty="0">
                <a:solidFill>
                  <a:srgbClr val="FFFFFF"/>
                </a:solidFill>
                <a:latin typeface="Consolas" pitchFamily="34" charset="0"/>
                <a:ea typeface="Consolas" pitchFamily="34" charset="-122"/>
                <a:cs typeface="Consolas" pitchFamily="34" charset="-120"/>
              </a:rPr>
              <a:t>TS2304</a:t>
            </a:r>
            <a:endParaRPr lang="en-US" kern="1200" dirty="0">
              <a:solidFill>
                <a:prstClr val="black"/>
              </a:solidFill>
              <a:latin typeface="Calibri" panose="020F0502020204030204"/>
              <a:ea typeface="+mn-ea"/>
              <a:cs typeface="+mn-cs"/>
            </a:endParaRPr>
          </a:p>
        </p:txBody>
      </p:sp>
      <p:sp>
        <p:nvSpPr>
          <p:cNvPr id="33" name="Text 31"/>
          <p:cNvSpPr/>
          <p:nvPr/>
        </p:nvSpPr>
        <p:spPr>
          <a:xfrm>
            <a:off x="1791757" y="5047067"/>
            <a:ext cx="4241711" cy="341287"/>
          </a:xfrm>
          <a:prstGeom prst="rect">
            <a:avLst/>
          </a:prstGeom>
          <a:noFill/>
          <a:ln/>
        </p:spPr>
        <p:txBody>
          <a:bodyPr wrap="square" lIns="0" tIns="0" rIns="0" bIns="0" rtlCol="0" anchor="ctr"/>
          <a:lstStyle/>
          <a:p>
            <a:pPr defTabSz="1218895">
              <a:buClrTx/>
            </a:pPr>
            <a:r>
              <a:rPr lang="en-US" sz="1333" b="1" kern="1200" dirty="0">
                <a:solidFill>
                  <a:srgbClr val="0D1B2A"/>
                </a:solidFill>
                <a:latin typeface="Calibri" pitchFamily="34" charset="0"/>
                <a:ea typeface="Calibri" pitchFamily="34" charset="-122"/>
                <a:cs typeface="Calibri" pitchFamily="34" charset="-120"/>
              </a:rPr>
              <a:t>Cannot find name 'SELECT' / 'INSERT'</a:t>
            </a:r>
            <a:endParaRPr lang="en-US" sz="1333" kern="1200" dirty="0">
              <a:solidFill>
                <a:prstClr val="black"/>
              </a:solidFill>
              <a:latin typeface="Calibri" panose="020F0502020204030204"/>
              <a:ea typeface="+mn-ea"/>
              <a:cs typeface="+mn-cs"/>
            </a:endParaRPr>
          </a:p>
        </p:txBody>
      </p:sp>
      <p:sp>
        <p:nvSpPr>
          <p:cNvPr id="34" name="Text 32"/>
          <p:cNvSpPr/>
          <p:nvPr/>
        </p:nvSpPr>
        <p:spPr>
          <a:xfrm>
            <a:off x="572874" y="5473675"/>
            <a:ext cx="5460594" cy="292532"/>
          </a:xfrm>
          <a:prstGeom prst="rect">
            <a:avLst/>
          </a:prstGeom>
          <a:noFill/>
          <a:ln/>
        </p:spPr>
        <p:txBody>
          <a:bodyPr wrap="square" lIns="0" tIns="0" rIns="0" bIns="0" rtlCol="0" anchor="ctr"/>
          <a:lstStyle/>
          <a:p>
            <a:pPr defTabSz="1218895">
              <a:buClrTx/>
            </a:pPr>
            <a:r>
              <a:rPr lang="en-US" sz="1133" kern="1200" dirty="0">
                <a:solidFill>
                  <a:srgbClr val="991B1B"/>
                </a:solidFill>
                <a:latin typeface="Consolas" pitchFamily="34" charset="0"/>
                <a:ea typeface="Consolas" pitchFamily="34" charset="-122"/>
                <a:cs typeface="Consolas" pitchFamily="34" charset="-120"/>
              </a:rPr>
              <a:t>❌  // No global CQL types — CAP's SELECT is global</a:t>
            </a:r>
            <a:endParaRPr lang="en-US" sz="1133" kern="1200" dirty="0">
              <a:solidFill>
                <a:prstClr val="black"/>
              </a:solidFill>
              <a:latin typeface="Calibri" panose="020F0502020204030204"/>
              <a:ea typeface="+mn-ea"/>
              <a:cs typeface="+mn-cs"/>
            </a:endParaRPr>
          </a:p>
        </p:txBody>
      </p:sp>
      <p:sp>
        <p:nvSpPr>
          <p:cNvPr id="35" name="Text 33"/>
          <p:cNvSpPr/>
          <p:nvPr/>
        </p:nvSpPr>
        <p:spPr>
          <a:xfrm>
            <a:off x="572874" y="5790585"/>
            <a:ext cx="5460594" cy="414420"/>
          </a:xfrm>
          <a:prstGeom prst="rect">
            <a:avLst/>
          </a:prstGeom>
          <a:noFill/>
          <a:ln/>
        </p:spPr>
        <p:txBody>
          <a:bodyPr wrap="square" lIns="0" tIns="0" rIns="0" bIns="0" rtlCol="0" anchor="ctr"/>
          <a:lstStyle/>
          <a:p>
            <a:pPr defTabSz="1218895">
              <a:buClrTx/>
            </a:pPr>
            <a:r>
              <a:rPr lang="en-US" sz="1133" kern="1200" dirty="0">
                <a:solidFill>
                  <a:srgbClr val="065F46"/>
                </a:solidFill>
                <a:latin typeface="Consolas" pitchFamily="34" charset="0"/>
                <a:ea typeface="Consolas" pitchFamily="34" charset="-122"/>
                <a:cs typeface="Consolas" pitchFamily="34" charset="-120"/>
              </a:rPr>
              <a:t>✅  Add "@cap-js/cds-types" to tsconfig types array</a:t>
            </a:r>
            <a:endParaRPr lang="en-US" sz="1133" kern="1200" dirty="0">
              <a:solidFill>
                <a:prstClr val="black"/>
              </a:solidFill>
              <a:latin typeface="Calibri" panose="020F0502020204030204"/>
              <a:ea typeface="+mn-ea"/>
              <a:cs typeface="+mn-cs"/>
            </a:endParaRPr>
          </a:p>
        </p:txBody>
      </p:sp>
      <p:sp>
        <p:nvSpPr>
          <p:cNvPr id="36" name="Shape 34"/>
          <p:cNvSpPr/>
          <p:nvPr/>
        </p:nvSpPr>
        <p:spPr>
          <a:xfrm>
            <a:off x="6423510" y="4986122"/>
            <a:ext cx="5728748" cy="1706436"/>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7" name="Shape 35"/>
          <p:cNvSpPr/>
          <p:nvPr/>
        </p:nvSpPr>
        <p:spPr>
          <a:xfrm>
            <a:off x="6423510" y="4986122"/>
            <a:ext cx="1243260" cy="438798"/>
          </a:xfrm>
          <a:prstGeom prst="rect">
            <a:avLst/>
          </a:prstGeom>
          <a:solidFill>
            <a:srgbClr val="B91C1C"/>
          </a:solidFill>
          <a:ln w="12700">
            <a:solidFill>
              <a:srgbClr val="B91C1C"/>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8" name="Text 36"/>
          <p:cNvSpPr/>
          <p:nvPr/>
        </p:nvSpPr>
        <p:spPr>
          <a:xfrm>
            <a:off x="6423510" y="4986122"/>
            <a:ext cx="1243260" cy="438798"/>
          </a:xfrm>
          <a:prstGeom prst="rect">
            <a:avLst/>
          </a:prstGeom>
          <a:noFill/>
          <a:ln/>
        </p:spPr>
        <p:txBody>
          <a:bodyPr wrap="square" lIns="0" tIns="0" rIns="0" bIns="0" rtlCol="0" anchor="ctr"/>
          <a:lstStyle/>
          <a:p>
            <a:pPr algn="ctr" defTabSz="1218895">
              <a:buClrTx/>
            </a:pPr>
            <a:r>
              <a:rPr lang="en-US" b="1" kern="1200" dirty="0">
                <a:solidFill>
                  <a:srgbClr val="FFFFFF"/>
                </a:solidFill>
                <a:latin typeface="Consolas" pitchFamily="34" charset="0"/>
                <a:ea typeface="Consolas" pitchFamily="34" charset="-122"/>
                <a:cs typeface="Consolas" pitchFamily="34" charset="-120"/>
              </a:rPr>
              <a:t>TS2554</a:t>
            </a:r>
            <a:endParaRPr lang="en-US" kern="1200" dirty="0">
              <a:solidFill>
                <a:prstClr val="black"/>
              </a:solidFill>
              <a:latin typeface="Calibri" panose="020F0502020204030204"/>
              <a:ea typeface="+mn-ea"/>
              <a:cs typeface="+mn-cs"/>
            </a:endParaRPr>
          </a:p>
        </p:txBody>
      </p:sp>
      <p:sp>
        <p:nvSpPr>
          <p:cNvPr id="39" name="Text 37"/>
          <p:cNvSpPr/>
          <p:nvPr/>
        </p:nvSpPr>
        <p:spPr>
          <a:xfrm>
            <a:off x="7788659" y="5047067"/>
            <a:ext cx="4241711" cy="341287"/>
          </a:xfrm>
          <a:prstGeom prst="rect">
            <a:avLst/>
          </a:prstGeom>
          <a:noFill/>
          <a:ln/>
        </p:spPr>
        <p:txBody>
          <a:bodyPr wrap="square" lIns="0" tIns="0" rIns="0" bIns="0" rtlCol="0" anchor="ctr"/>
          <a:lstStyle/>
          <a:p>
            <a:pPr defTabSz="1218895">
              <a:buClrTx/>
            </a:pPr>
            <a:r>
              <a:rPr lang="en-US" sz="1333" b="1" kern="1200" dirty="0">
                <a:solidFill>
                  <a:srgbClr val="0D1B2A"/>
                </a:solidFill>
                <a:latin typeface="Calibri" pitchFamily="34" charset="0"/>
                <a:ea typeface="Calibri" pitchFamily="34" charset="-122"/>
                <a:cs typeface="Calibri" pitchFamily="34" charset="-120"/>
              </a:rPr>
              <a:t>Expected 2 arguments but got 1</a:t>
            </a:r>
            <a:endParaRPr lang="en-US" sz="1333" kern="1200" dirty="0">
              <a:solidFill>
                <a:prstClr val="black"/>
              </a:solidFill>
              <a:latin typeface="Calibri" panose="020F0502020204030204"/>
              <a:ea typeface="+mn-ea"/>
              <a:cs typeface="+mn-cs"/>
            </a:endParaRPr>
          </a:p>
        </p:txBody>
      </p:sp>
      <p:sp>
        <p:nvSpPr>
          <p:cNvPr id="40" name="Text 38"/>
          <p:cNvSpPr/>
          <p:nvPr/>
        </p:nvSpPr>
        <p:spPr>
          <a:xfrm>
            <a:off x="6569776" y="5473675"/>
            <a:ext cx="5460594" cy="292532"/>
          </a:xfrm>
          <a:prstGeom prst="rect">
            <a:avLst/>
          </a:prstGeom>
          <a:noFill/>
          <a:ln/>
        </p:spPr>
        <p:txBody>
          <a:bodyPr wrap="square" lIns="0" tIns="0" rIns="0" bIns="0" rtlCol="0" anchor="ctr"/>
          <a:lstStyle/>
          <a:p>
            <a:pPr defTabSz="1218895">
              <a:buClrTx/>
            </a:pPr>
            <a:r>
              <a:rPr lang="en-US" sz="1133" kern="1200" dirty="0">
                <a:solidFill>
                  <a:srgbClr val="991B1B"/>
                </a:solidFill>
                <a:latin typeface="Consolas" pitchFamily="34" charset="0"/>
                <a:ea typeface="Consolas" pitchFamily="34" charset="-122"/>
                <a:cs typeface="Consolas" pitchFamily="34" charset="-120"/>
              </a:rPr>
              <a:t>❌  await cds.connect.to('destination');</a:t>
            </a:r>
            <a:endParaRPr lang="en-US" sz="1133" kern="1200" dirty="0">
              <a:solidFill>
                <a:prstClr val="black"/>
              </a:solidFill>
              <a:latin typeface="Calibri" panose="020F0502020204030204"/>
              <a:ea typeface="+mn-ea"/>
              <a:cs typeface="+mn-cs"/>
            </a:endParaRPr>
          </a:p>
        </p:txBody>
      </p:sp>
      <p:sp>
        <p:nvSpPr>
          <p:cNvPr id="41" name="Text 39"/>
          <p:cNvSpPr/>
          <p:nvPr/>
        </p:nvSpPr>
        <p:spPr>
          <a:xfrm>
            <a:off x="6569776" y="5790585"/>
            <a:ext cx="5460594" cy="414420"/>
          </a:xfrm>
          <a:prstGeom prst="rect">
            <a:avLst/>
          </a:prstGeom>
          <a:noFill/>
          <a:ln/>
        </p:spPr>
        <p:txBody>
          <a:bodyPr wrap="square" lIns="0" tIns="0" rIns="0" bIns="0" rtlCol="0" anchor="ctr"/>
          <a:lstStyle/>
          <a:p>
            <a:pPr defTabSz="1218895">
              <a:buClrTx/>
            </a:pPr>
            <a:r>
              <a:rPr lang="en-US" sz="1133" kern="1200" dirty="0">
                <a:solidFill>
                  <a:srgbClr val="065F46"/>
                </a:solidFill>
                <a:latin typeface="Consolas" pitchFamily="34" charset="0"/>
                <a:ea typeface="Consolas" pitchFamily="34" charset="-122"/>
                <a:cs typeface="Consolas" pitchFamily="34" charset="-120"/>
              </a:rPr>
              <a:t>✅  const svc: cds.Service = await cds.connect.to('destination');</a:t>
            </a:r>
            <a:endParaRPr lang="en-US" sz="1133" kern="1200" dirty="0">
              <a:solidFill>
                <a:prstClr val="black"/>
              </a:solidFill>
              <a:latin typeface="Calibri" panose="020F0502020204030204"/>
              <a:ea typeface="+mn-ea"/>
              <a:cs typeface="+mn-cs"/>
            </a:endParaRPr>
          </a:p>
        </p:txBody>
      </p:sp>
      <p:pic>
        <p:nvPicPr>
          <p:cNvPr id="42" name="Google Shape;497;p1">
            <a:extLst>
              <a:ext uri="{FF2B5EF4-FFF2-40B4-BE49-F238E27FC236}">
                <a16:creationId xmlns:a16="http://schemas.microsoft.com/office/drawing/2014/main" id="{EF05902A-12B2-BE9A-6D5A-113677690D1B}"/>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DC2626"/>
          </a:solidFill>
          <a:ln w="12700">
            <a:solidFill>
              <a:srgbClr val="DC262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6a  </a:t>
            </a:r>
            <a:r>
              <a:rPr lang="en-US" sz="3333" b="1" kern="1200" dirty="0">
                <a:solidFill>
                  <a:srgbClr val="FFFFFF"/>
                </a:solidFill>
                <a:latin typeface="Calibri" pitchFamily="34" charset="0"/>
                <a:ea typeface="Calibri" pitchFamily="34" charset="-122"/>
                <a:cs typeface="Calibri" pitchFamily="34" charset="-120"/>
              </a:rPr>
              <a:t>Branded Types for Entity Keys — The Problem</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Concept · why plain 'string' IDs are dangerous in BTP services</a:t>
            </a:r>
            <a:endParaRPr lang="en-US" kern="1200" dirty="0">
              <a:solidFill>
                <a:prstClr val="black"/>
              </a:solidFill>
              <a:latin typeface="Calibri" panose="020F0502020204030204"/>
              <a:ea typeface="+mn-ea"/>
              <a:cs typeface="+mn-cs"/>
            </a:endParaRPr>
          </a:p>
        </p:txBody>
      </p:sp>
      <p:sp>
        <p:nvSpPr>
          <p:cNvPr id="6" name="Shape 4"/>
          <p:cNvSpPr/>
          <p:nvPr/>
        </p:nvSpPr>
        <p:spPr>
          <a:xfrm>
            <a:off x="487553" y="1402608"/>
            <a:ext cx="11213719" cy="828840"/>
          </a:xfrm>
          <a:prstGeom prst="rect">
            <a:avLst/>
          </a:prstGeom>
          <a:solidFill>
            <a:srgbClr val="FEF2F2"/>
          </a:solidFill>
          <a:ln w="12700">
            <a:solidFill>
              <a:srgbClr val="DC262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670385" y="1439174"/>
            <a:ext cx="10969943" cy="755707"/>
          </a:xfrm>
          <a:prstGeom prst="rect">
            <a:avLst/>
          </a:prstGeom>
          <a:noFill/>
          <a:ln/>
        </p:spPr>
        <p:txBody>
          <a:bodyPr wrap="square" lIns="0" tIns="0" rIns="0" bIns="0" rtlCol="0" anchor="ctr"/>
          <a:lstStyle/>
          <a:p>
            <a:pPr defTabSz="1218895">
              <a:buClrTx/>
            </a:pPr>
            <a:r>
              <a:rPr lang="en-US" sz="1533" b="1" kern="1200" dirty="0">
                <a:solidFill>
                  <a:srgbClr val="DC2626"/>
                </a:solidFill>
                <a:latin typeface="Calibri" pitchFamily="34" charset="0"/>
                <a:ea typeface="Calibri" pitchFamily="34" charset="-122"/>
                <a:cs typeface="Calibri" pitchFamily="34" charset="-120"/>
              </a:rPr>
              <a:t>Problem: </a:t>
            </a:r>
            <a:r>
              <a:rPr lang="en-US" sz="1533" kern="1200" dirty="0">
                <a:solidFill>
                  <a:srgbClr val="334155"/>
                </a:solidFill>
                <a:latin typeface="Calibri" pitchFamily="34" charset="0"/>
                <a:ea typeface="Calibri" pitchFamily="34" charset="-122"/>
                <a:cs typeface="Calibri" pitchFamily="34" charset="-120"/>
              </a:rPr>
              <a:t>In a BTP service with multiple entity types (Books, Orders, Customers), every primary key is typed as </a:t>
            </a:r>
            <a:r>
              <a:rPr lang="en-US" sz="1533" b="1" kern="1200" dirty="0">
                <a:solidFill>
                  <a:srgbClr val="DC2626"/>
                </a:solidFill>
                <a:latin typeface="Consolas" pitchFamily="34" charset="0"/>
                <a:ea typeface="Consolas" pitchFamily="34" charset="-122"/>
                <a:cs typeface="Consolas" pitchFamily="34" charset="-120"/>
              </a:rPr>
              <a:t>string</a:t>
            </a:r>
            <a:r>
              <a:rPr lang="en-US" sz="1533" kern="1200" dirty="0">
                <a:solidFill>
                  <a:srgbClr val="334155"/>
                </a:solidFill>
                <a:latin typeface="Calibri" pitchFamily="34" charset="0"/>
                <a:ea typeface="Calibri" pitchFamily="34" charset="-122"/>
                <a:cs typeface="Calibri" pitchFamily="34" charset="-120"/>
              </a:rPr>
              <a:t>. TypeScript will not stop you from passing a BookId where an OrderId is expected — both are just strings. This silently corrupts data.</a:t>
            </a:r>
            <a:endParaRPr lang="en-US" sz="1533" kern="1200" dirty="0">
              <a:solidFill>
                <a:prstClr val="black"/>
              </a:solidFill>
              <a:latin typeface="Calibri" panose="020F0502020204030204"/>
              <a:ea typeface="+mn-ea"/>
              <a:cs typeface="+mn-cs"/>
            </a:endParaRPr>
          </a:p>
        </p:txBody>
      </p:sp>
      <p:sp>
        <p:nvSpPr>
          <p:cNvPr id="8" name="Text 6"/>
          <p:cNvSpPr/>
          <p:nvPr/>
        </p:nvSpPr>
        <p:spPr>
          <a:xfrm>
            <a:off x="487553" y="2353336"/>
            <a:ext cx="5484971" cy="341287"/>
          </a:xfrm>
          <a:prstGeom prst="rect">
            <a:avLst/>
          </a:prstGeom>
          <a:noFill/>
          <a:ln/>
        </p:spPr>
        <p:txBody>
          <a:bodyPr wrap="square" lIns="0" tIns="0" rIns="0" bIns="0" rtlCol="0" anchor="ctr"/>
          <a:lstStyle/>
          <a:p>
            <a:pPr defTabSz="1218895">
              <a:buClrTx/>
            </a:pPr>
            <a:r>
              <a:rPr lang="en-US" sz="1466" b="1" kern="1200" dirty="0">
                <a:solidFill>
                  <a:srgbClr val="B91C1C"/>
                </a:solidFill>
                <a:latin typeface="Calibri" pitchFamily="34" charset="0"/>
                <a:ea typeface="Calibri" pitchFamily="34" charset="-122"/>
                <a:cs typeface="Calibri" pitchFamily="34" charset="-120"/>
              </a:rPr>
              <a:t>The Bug — TypeScript doesn't catch this:</a:t>
            </a:r>
            <a:endParaRPr lang="en-US" sz="1466" kern="1200" dirty="0">
              <a:solidFill>
                <a:prstClr val="black"/>
              </a:solidFill>
              <a:latin typeface="Calibri" panose="020F0502020204030204"/>
              <a:ea typeface="+mn-ea"/>
              <a:cs typeface="+mn-cs"/>
            </a:endParaRPr>
          </a:p>
        </p:txBody>
      </p:sp>
      <p:sp>
        <p:nvSpPr>
          <p:cNvPr id="9" name="Shape 7"/>
          <p:cNvSpPr/>
          <p:nvPr/>
        </p:nvSpPr>
        <p:spPr>
          <a:xfrm>
            <a:off x="487553" y="2719001"/>
            <a:ext cx="5484971" cy="2559653"/>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670385" y="2840889"/>
            <a:ext cx="5216817" cy="2340254"/>
          </a:xfrm>
          <a:prstGeom prst="rect">
            <a:avLst/>
          </a:prstGeom>
          <a:noFill/>
          <a:ln/>
        </p:spPr>
        <p:txBody>
          <a:bodyPr wrap="square" lIns="0" tIns="0" rIns="0" bIns="0" rtlCol="0" anchor="t"/>
          <a:lstStyle/>
          <a:p>
            <a:pPr defTabSz="1218895">
              <a:buClrTx/>
            </a:pPr>
            <a:r>
              <a:rPr lang="en-US" sz="1266" kern="1200" dirty="0">
                <a:solidFill>
                  <a:srgbClr val="94A3B8"/>
                </a:solidFill>
                <a:latin typeface="Consolas" pitchFamily="34" charset="0"/>
                <a:ea typeface="Consolas" pitchFamily="34" charset="-122"/>
                <a:cs typeface="Consolas" pitchFamily="34" charset="-120"/>
              </a:rPr>
              <a:t>// All IDs are just 'string'</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async function getOrder(orderId: string)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return SELECT.from('Orders')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.where({ ID: orderId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const bookId = '4a7b-...'; // Book's ID</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await getOrder(bookId);</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 No error! Wrong ID — silent bug</a:t>
            </a:r>
            <a:endParaRPr lang="en-US" sz="1266" kern="1200" dirty="0">
              <a:solidFill>
                <a:prstClr val="black"/>
              </a:solidFill>
              <a:latin typeface="Calibri" panose="020F0502020204030204"/>
              <a:ea typeface="+mn-ea"/>
              <a:cs typeface="+mn-cs"/>
            </a:endParaRPr>
          </a:p>
        </p:txBody>
      </p:sp>
      <p:sp>
        <p:nvSpPr>
          <p:cNvPr id="11" name="Text 9"/>
          <p:cNvSpPr/>
          <p:nvPr/>
        </p:nvSpPr>
        <p:spPr>
          <a:xfrm>
            <a:off x="6277244" y="2353336"/>
            <a:ext cx="5606860" cy="341287"/>
          </a:xfrm>
          <a:prstGeom prst="rect">
            <a:avLst/>
          </a:prstGeom>
          <a:noFill/>
          <a:ln/>
        </p:spPr>
        <p:txBody>
          <a:bodyPr wrap="square" lIns="0" tIns="0" rIns="0" bIns="0" rtlCol="0" anchor="ctr"/>
          <a:lstStyle/>
          <a:p>
            <a:pPr defTabSz="1218895">
              <a:buClrTx/>
            </a:pPr>
            <a:r>
              <a:rPr lang="en-US" sz="1466" b="1" kern="1200" dirty="0">
                <a:solidFill>
                  <a:srgbClr val="10B981"/>
                </a:solidFill>
                <a:latin typeface="Calibri" pitchFamily="34" charset="0"/>
                <a:ea typeface="Calibri" pitchFamily="34" charset="-122"/>
                <a:cs typeface="Calibri" pitchFamily="34" charset="-120"/>
              </a:rPr>
              <a:t>With Branded Types — caught at compile time:</a:t>
            </a:r>
            <a:endParaRPr lang="en-US" sz="1466" kern="1200" dirty="0">
              <a:solidFill>
                <a:prstClr val="black"/>
              </a:solidFill>
              <a:latin typeface="Calibri" panose="020F0502020204030204"/>
              <a:ea typeface="+mn-ea"/>
              <a:cs typeface="+mn-cs"/>
            </a:endParaRPr>
          </a:p>
        </p:txBody>
      </p:sp>
      <p:sp>
        <p:nvSpPr>
          <p:cNvPr id="12" name="Shape 10"/>
          <p:cNvSpPr/>
          <p:nvPr/>
        </p:nvSpPr>
        <p:spPr>
          <a:xfrm>
            <a:off x="6277244" y="2719001"/>
            <a:ext cx="5606860" cy="2559653"/>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Text 11"/>
          <p:cNvSpPr/>
          <p:nvPr/>
        </p:nvSpPr>
        <p:spPr>
          <a:xfrm>
            <a:off x="6460077" y="2840889"/>
            <a:ext cx="5338705" cy="2340254"/>
          </a:xfrm>
          <a:prstGeom prst="rect">
            <a:avLst/>
          </a:prstGeom>
          <a:noFill/>
          <a:ln/>
        </p:spPr>
        <p:txBody>
          <a:bodyPr wrap="square" lIns="0" tIns="0" rIns="0" bIns="0" rtlCol="0" anchor="t"/>
          <a:lstStyle/>
          <a:p>
            <a:pPr defTabSz="1218895">
              <a:buClrTx/>
            </a:pPr>
            <a:r>
              <a:rPr lang="en-US" sz="1266" kern="1200" dirty="0">
                <a:solidFill>
                  <a:srgbClr val="94A3B8"/>
                </a:solidFill>
                <a:latin typeface="Consolas" pitchFamily="34" charset="0"/>
                <a:ea typeface="Consolas" pitchFamily="34" charset="-122"/>
                <a:cs typeface="Consolas" pitchFamily="34" charset="-120"/>
              </a:rPr>
              <a:t>// OrderId and BookId are distinct types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async function getOrder(id: OrderId)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return SELECT.from('Orders')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.where({ ID: id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const bookId = '4a7b-...' as BookId;</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await getOrder(bookId);</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 ERROR: BookId not assignable to OrderId!</a:t>
            </a:r>
            <a:endParaRPr lang="en-US" sz="1266" kern="1200" dirty="0">
              <a:solidFill>
                <a:prstClr val="black"/>
              </a:solidFill>
              <a:latin typeface="Calibri" panose="020F0502020204030204"/>
              <a:ea typeface="+mn-ea"/>
              <a:cs typeface="+mn-cs"/>
            </a:endParaRPr>
          </a:p>
        </p:txBody>
      </p:sp>
      <p:sp>
        <p:nvSpPr>
          <p:cNvPr id="14" name="Shape 12"/>
          <p:cNvSpPr/>
          <p:nvPr/>
        </p:nvSpPr>
        <p:spPr>
          <a:xfrm>
            <a:off x="487552" y="5388353"/>
            <a:ext cx="3778536" cy="1340771"/>
          </a:xfrm>
          <a:prstGeom prst="rect">
            <a:avLst/>
          </a:prstGeom>
          <a:solidFill>
            <a:srgbClr val="FFF5F5"/>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5" name="Shape 13"/>
          <p:cNvSpPr/>
          <p:nvPr/>
        </p:nvSpPr>
        <p:spPr>
          <a:xfrm>
            <a:off x="487552" y="5388353"/>
            <a:ext cx="85322" cy="1340771"/>
          </a:xfrm>
          <a:prstGeom prst="rect">
            <a:avLst/>
          </a:prstGeom>
          <a:solidFill>
            <a:srgbClr val="DC2626"/>
          </a:solidFill>
          <a:ln w="12700">
            <a:solidFill>
              <a:srgbClr val="DC262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694762" y="5437109"/>
            <a:ext cx="3486004" cy="341287"/>
          </a:xfrm>
          <a:prstGeom prst="rect">
            <a:avLst/>
          </a:prstGeom>
          <a:noFill/>
          <a:ln/>
        </p:spPr>
        <p:txBody>
          <a:bodyPr wrap="square" lIns="0" tIns="0" rIns="0" bIns="0" rtlCol="0" anchor="ctr"/>
          <a:lstStyle/>
          <a:p>
            <a:pPr defTabSz="1218895">
              <a:buClrTx/>
            </a:pPr>
            <a:r>
              <a:rPr lang="en-US" sz="1333" b="1" kern="1200" dirty="0">
                <a:solidFill>
                  <a:srgbClr val="DC2626"/>
                </a:solidFill>
                <a:latin typeface="Calibri" pitchFamily="34" charset="0"/>
                <a:ea typeface="Calibri" pitchFamily="34" charset="-122"/>
                <a:cs typeface="Calibri" pitchFamily="34" charset="-120"/>
              </a:rPr>
              <a:t>What is a branded type?</a:t>
            </a:r>
            <a:endParaRPr lang="en-US" sz="1333" kern="1200" dirty="0">
              <a:solidFill>
                <a:prstClr val="black"/>
              </a:solidFill>
              <a:latin typeface="Calibri" panose="020F0502020204030204"/>
              <a:ea typeface="+mn-ea"/>
              <a:cs typeface="+mn-cs"/>
            </a:endParaRPr>
          </a:p>
        </p:txBody>
      </p:sp>
      <p:sp>
        <p:nvSpPr>
          <p:cNvPr id="17" name="Text 15"/>
          <p:cNvSpPr/>
          <p:nvPr/>
        </p:nvSpPr>
        <p:spPr>
          <a:xfrm>
            <a:off x="694762" y="5802774"/>
            <a:ext cx="3486004" cy="877595"/>
          </a:xfrm>
          <a:prstGeom prst="rect">
            <a:avLst/>
          </a:prstGeom>
          <a:noFill/>
          <a:ln/>
        </p:spPr>
        <p:txBody>
          <a:bodyPr wrap="square" lIns="0" tIns="0" rIns="0" bIns="0" rtlCol="0" anchor="ctr"/>
          <a:lstStyle/>
          <a:p>
            <a:pPr defTabSz="1218895">
              <a:buClrTx/>
            </a:pPr>
            <a:r>
              <a:rPr lang="en-US" sz="1200" kern="1200" dirty="0">
                <a:solidFill>
                  <a:srgbClr val="334155"/>
                </a:solidFill>
                <a:latin typeface="Calibri" pitchFamily="34" charset="0"/>
                <a:ea typeface="Calibri" pitchFamily="34" charset="-122"/>
                <a:cs typeface="Calibri" pitchFamily="34" charset="-120"/>
              </a:rPr>
              <a:t>A branded (opaque) type is a string (or number) with a phantom type tag that makes it structurally distinct from other strings — even though at runtime they are identical.</a:t>
            </a:r>
            <a:endParaRPr lang="en-US" sz="1200" kern="1200" dirty="0">
              <a:solidFill>
                <a:prstClr val="black"/>
              </a:solidFill>
              <a:latin typeface="Calibri" panose="020F0502020204030204"/>
              <a:ea typeface="+mn-ea"/>
              <a:cs typeface="+mn-cs"/>
            </a:endParaRPr>
          </a:p>
        </p:txBody>
      </p:sp>
      <p:sp>
        <p:nvSpPr>
          <p:cNvPr id="18" name="Shape 16"/>
          <p:cNvSpPr/>
          <p:nvPr/>
        </p:nvSpPr>
        <p:spPr>
          <a:xfrm>
            <a:off x="4485487" y="5388353"/>
            <a:ext cx="3778536" cy="1340771"/>
          </a:xfrm>
          <a:prstGeom prst="rect">
            <a:avLst/>
          </a:prstGeom>
          <a:solidFill>
            <a:srgbClr val="FFF5F5"/>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Shape 17"/>
          <p:cNvSpPr/>
          <p:nvPr/>
        </p:nvSpPr>
        <p:spPr>
          <a:xfrm>
            <a:off x="4485487" y="5388353"/>
            <a:ext cx="85322" cy="1340771"/>
          </a:xfrm>
          <a:prstGeom prst="rect">
            <a:avLst/>
          </a:prstGeom>
          <a:solidFill>
            <a:srgbClr val="DC2626"/>
          </a:solidFill>
          <a:ln w="12700">
            <a:solidFill>
              <a:srgbClr val="DC262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Text 18"/>
          <p:cNvSpPr/>
          <p:nvPr/>
        </p:nvSpPr>
        <p:spPr>
          <a:xfrm>
            <a:off x="4692697" y="5437109"/>
            <a:ext cx="3486004" cy="341287"/>
          </a:xfrm>
          <a:prstGeom prst="rect">
            <a:avLst/>
          </a:prstGeom>
          <a:noFill/>
          <a:ln/>
        </p:spPr>
        <p:txBody>
          <a:bodyPr wrap="square" lIns="0" tIns="0" rIns="0" bIns="0" rtlCol="0" anchor="ctr"/>
          <a:lstStyle/>
          <a:p>
            <a:pPr defTabSz="1218895">
              <a:buClrTx/>
            </a:pPr>
            <a:r>
              <a:rPr lang="en-US" sz="1333" b="1" kern="1200" dirty="0">
                <a:solidFill>
                  <a:srgbClr val="DC2626"/>
                </a:solidFill>
                <a:latin typeface="Calibri" pitchFamily="34" charset="0"/>
                <a:ea typeface="Calibri" pitchFamily="34" charset="-122"/>
                <a:cs typeface="Calibri" pitchFamily="34" charset="-120"/>
              </a:rPr>
              <a:t>Zero runtime cost</a:t>
            </a:r>
            <a:endParaRPr lang="en-US" sz="1333" kern="1200" dirty="0">
              <a:solidFill>
                <a:prstClr val="black"/>
              </a:solidFill>
              <a:latin typeface="Calibri" panose="020F0502020204030204"/>
              <a:ea typeface="+mn-ea"/>
              <a:cs typeface="+mn-cs"/>
            </a:endParaRPr>
          </a:p>
        </p:txBody>
      </p:sp>
      <p:sp>
        <p:nvSpPr>
          <p:cNvPr id="21" name="Text 19"/>
          <p:cNvSpPr/>
          <p:nvPr/>
        </p:nvSpPr>
        <p:spPr>
          <a:xfrm>
            <a:off x="4692697" y="5802774"/>
            <a:ext cx="3486004" cy="877595"/>
          </a:xfrm>
          <a:prstGeom prst="rect">
            <a:avLst/>
          </a:prstGeom>
          <a:noFill/>
          <a:ln/>
        </p:spPr>
        <p:txBody>
          <a:bodyPr wrap="square" lIns="0" tIns="0" rIns="0" bIns="0" rtlCol="0" anchor="ctr"/>
          <a:lstStyle/>
          <a:p>
            <a:pPr defTabSz="1218895">
              <a:buClrTx/>
            </a:pPr>
            <a:r>
              <a:rPr lang="en-US" sz="1200" kern="1200" dirty="0">
                <a:solidFill>
                  <a:srgbClr val="334155"/>
                </a:solidFill>
                <a:latin typeface="Calibri" pitchFamily="34" charset="0"/>
                <a:ea typeface="Calibri" pitchFamily="34" charset="-122"/>
                <a:cs typeface="Calibri" pitchFamily="34" charset="-120"/>
              </a:rPr>
              <a:t>Branded types are purely a compile-time construct. After tsc runs, the generated JS has no trace of them — no wrappers, no classes, no overhead.</a:t>
            </a:r>
            <a:endParaRPr lang="en-US" sz="1200" kern="1200" dirty="0">
              <a:solidFill>
                <a:prstClr val="black"/>
              </a:solidFill>
              <a:latin typeface="Calibri" panose="020F0502020204030204"/>
              <a:ea typeface="+mn-ea"/>
              <a:cs typeface="+mn-cs"/>
            </a:endParaRPr>
          </a:p>
        </p:txBody>
      </p:sp>
      <p:sp>
        <p:nvSpPr>
          <p:cNvPr id="22" name="Shape 20"/>
          <p:cNvSpPr/>
          <p:nvPr/>
        </p:nvSpPr>
        <p:spPr>
          <a:xfrm>
            <a:off x="8483422" y="5388353"/>
            <a:ext cx="3778536" cy="1340771"/>
          </a:xfrm>
          <a:prstGeom prst="rect">
            <a:avLst/>
          </a:prstGeom>
          <a:solidFill>
            <a:srgbClr val="FFF5F5"/>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Shape 21"/>
          <p:cNvSpPr/>
          <p:nvPr/>
        </p:nvSpPr>
        <p:spPr>
          <a:xfrm>
            <a:off x="8483422" y="5388353"/>
            <a:ext cx="85322" cy="1340771"/>
          </a:xfrm>
          <a:prstGeom prst="rect">
            <a:avLst/>
          </a:prstGeom>
          <a:solidFill>
            <a:srgbClr val="DC2626"/>
          </a:solidFill>
          <a:ln w="12700">
            <a:solidFill>
              <a:srgbClr val="DC262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4" name="Text 22"/>
          <p:cNvSpPr/>
          <p:nvPr/>
        </p:nvSpPr>
        <p:spPr>
          <a:xfrm>
            <a:off x="8690632" y="5437109"/>
            <a:ext cx="3486004" cy="341287"/>
          </a:xfrm>
          <a:prstGeom prst="rect">
            <a:avLst/>
          </a:prstGeom>
          <a:noFill/>
          <a:ln/>
        </p:spPr>
        <p:txBody>
          <a:bodyPr wrap="square" lIns="0" tIns="0" rIns="0" bIns="0" rtlCol="0" anchor="ctr"/>
          <a:lstStyle/>
          <a:p>
            <a:pPr defTabSz="1218895">
              <a:buClrTx/>
            </a:pPr>
            <a:r>
              <a:rPr lang="en-US" sz="1333" b="1" kern="1200" dirty="0">
                <a:solidFill>
                  <a:srgbClr val="DC2626"/>
                </a:solidFill>
                <a:latin typeface="Calibri" pitchFamily="34" charset="0"/>
                <a:ea typeface="Calibri" pitchFamily="34" charset="-122"/>
                <a:cs typeface="Calibri" pitchFamily="34" charset="-120"/>
              </a:rPr>
              <a:t>BTP use cases</a:t>
            </a:r>
            <a:endParaRPr lang="en-US" sz="1333" kern="1200" dirty="0">
              <a:solidFill>
                <a:prstClr val="black"/>
              </a:solidFill>
              <a:latin typeface="Calibri" panose="020F0502020204030204"/>
              <a:ea typeface="+mn-ea"/>
              <a:cs typeface="+mn-cs"/>
            </a:endParaRPr>
          </a:p>
        </p:txBody>
      </p:sp>
      <p:sp>
        <p:nvSpPr>
          <p:cNvPr id="25" name="Text 23"/>
          <p:cNvSpPr/>
          <p:nvPr/>
        </p:nvSpPr>
        <p:spPr>
          <a:xfrm>
            <a:off x="8690632" y="5802774"/>
            <a:ext cx="3486004" cy="877595"/>
          </a:xfrm>
          <a:prstGeom prst="rect">
            <a:avLst/>
          </a:prstGeom>
          <a:noFill/>
          <a:ln/>
        </p:spPr>
        <p:txBody>
          <a:bodyPr wrap="square" lIns="0" tIns="0" rIns="0" bIns="0" rtlCol="0" anchor="ctr"/>
          <a:lstStyle/>
          <a:p>
            <a:pPr defTabSz="1218895">
              <a:buClrTx/>
            </a:pPr>
            <a:r>
              <a:rPr lang="en-US" sz="1200" kern="1200" dirty="0">
                <a:solidFill>
                  <a:srgbClr val="334155"/>
                </a:solidFill>
                <a:latin typeface="Calibri" pitchFamily="34" charset="0"/>
                <a:ea typeface="Calibri" pitchFamily="34" charset="-122"/>
                <a:cs typeface="Calibri" pitchFamily="34" charset="-120"/>
              </a:rPr>
              <a:t>Entity IDs (BookId, OrderId, CustomerId), GUID keys, UUID fields, correlation IDs, tenant IDs — any string that should not be freely interchangeable.</a:t>
            </a:r>
            <a:endParaRPr lang="en-US" sz="1200" kern="1200" dirty="0">
              <a:solidFill>
                <a:prstClr val="black"/>
              </a:solidFill>
              <a:latin typeface="Calibri" panose="020F0502020204030204"/>
              <a:ea typeface="+mn-ea"/>
              <a:cs typeface="+mn-cs"/>
            </a:endParaRPr>
          </a:p>
        </p:txBody>
      </p:sp>
      <p:pic>
        <p:nvPicPr>
          <p:cNvPr id="26" name="Google Shape;497;p1">
            <a:extLst>
              <a:ext uri="{FF2B5EF4-FFF2-40B4-BE49-F238E27FC236}">
                <a16:creationId xmlns:a16="http://schemas.microsoft.com/office/drawing/2014/main" id="{928B38E6-68A2-1B04-1FAC-E3A6D3731517}"/>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DC2626"/>
          </a:solidFill>
          <a:ln w="12700">
            <a:solidFill>
              <a:srgbClr val="DC262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6b  </a:t>
            </a:r>
            <a:r>
              <a:rPr lang="en-US" sz="3333" b="1" kern="1200" dirty="0">
                <a:solidFill>
                  <a:srgbClr val="FFFFFF"/>
                </a:solidFill>
                <a:latin typeface="Calibri" pitchFamily="34" charset="0"/>
                <a:ea typeface="Calibri" pitchFamily="34" charset="-122"/>
                <a:cs typeface="Calibri" pitchFamily="34" charset="-120"/>
              </a:rPr>
              <a:t>Branded Types — Implementation &amp; Usage in CAP</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Code · three patterns from simple brand to type-safe factory function</a:t>
            </a:r>
            <a:endParaRPr lang="en-US" kern="1200" dirty="0">
              <a:solidFill>
                <a:prstClr val="black"/>
              </a:solidFill>
              <a:latin typeface="Calibri" panose="020F0502020204030204"/>
              <a:ea typeface="+mn-ea"/>
              <a:cs typeface="+mn-cs"/>
            </a:endParaRPr>
          </a:p>
        </p:txBody>
      </p:sp>
      <p:sp>
        <p:nvSpPr>
          <p:cNvPr id="6" name="Text 4"/>
          <p:cNvSpPr/>
          <p:nvPr/>
        </p:nvSpPr>
        <p:spPr>
          <a:xfrm>
            <a:off x="487553" y="1402608"/>
            <a:ext cx="5484971"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Pattern 1 — Declare in entity-keys.ts</a:t>
            </a:r>
            <a:endParaRPr lang="en-US" sz="1466" kern="1200" dirty="0">
              <a:solidFill>
                <a:prstClr val="black"/>
              </a:solidFill>
              <a:latin typeface="Calibri" panose="020F0502020204030204"/>
              <a:ea typeface="+mn-ea"/>
              <a:cs typeface="+mn-cs"/>
            </a:endParaRPr>
          </a:p>
        </p:txBody>
      </p:sp>
      <p:sp>
        <p:nvSpPr>
          <p:cNvPr id="7" name="Shape 5"/>
          <p:cNvSpPr/>
          <p:nvPr/>
        </p:nvSpPr>
        <p:spPr>
          <a:xfrm>
            <a:off x="487553" y="1768273"/>
            <a:ext cx="5484971" cy="2900940"/>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70385" y="1890161"/>
            <a:ext cx="5216817" cy="2681542"/>
          </a:xfrm>
          <a:prstGeom prst="rect">
            <a:avLst/>
          </a:prstGeom>
          <a:noFill/>
          <a:ln/>
        </p:spPr>
        <p:txBody>
          <a:bodyPr wrap="square" lIns="0" tIns="0" rIns="0" bIns="0" rtlCol="0" anchor="t"/>
          <a:lstStyle/>
          <a:p>
            <a:pPr defTabSz="1218895">
              <a:buClrTx/>
            </a:pPr>
            <a:r>
              <a:rPr lang="en-US" sz="1266" kern="1200" dirty="0">
                <a:solidFill>
                  <a:srgbClr val="94A3B8"/>
                </a:solidFill>
                <a:latin typeface="Consolas" pitchFamily="34" charset="0"/>
                <a:ea typeface="Consolas" pitchFamily="34" charset="-122"/>
                <a:cs typeface="Consolas" pitchFamily="34" charset="-120"/>
              </a:rPr>
              <a:t>// entity-keys.ts — single source of truth</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The __brand trick: phantom field never set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declare const __brand: unique symbol;</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type Brand&lt;B, T&gt; = T &amp; { [__brand]: B };</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One line per entity key type</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export type BookId     = Brand&lt;'BookId',     string&gt;;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export type OrderId    = Brand&lt;'OrderId',    string&gt;;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export type CustomerId = Brand&lt;'CustomerId', string&gt;;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Type-safe cast factory</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export const asBookId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  (s: string): BookId =&gt; s as BookId;</a:t>
            </a:r>
            <a:endParaRPr lang="en-US" sz="1266" kern="1200" dirty="0">
              <a:solidFill>
                <a:prstClr val="black"/>
              </a:solidFill>
              <a:latin typeface="Calibri" panose="020F0502020204030204"/>
              <a:ea typeface="+mn-ea"/>
              <a:cs typeface="+mn-cs"/>
            </a:endParaRPr>
          </a:p>
        </p:txBody>
      </p:sp>
      <p:sp>
        <p:nvSpPr>
          <p:cNvPr id="9" name="Text 7"/>
          <p:cNvSpPr/>
          <p:nvPr/>
        </p:nvSpPr>
        <p:spPr>
          <a:xfrm>
            <a:off x="6277244" y="1402608"/>
            <a:ext cx="5606860"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Pattern 2 — Use in Entity Interfaces</a:t>
            </a:r>
            <a:endParaRPr lang="en-US" sz="1466" kern="1200" dirty="0">
              <a:solidFill>
                <a:prstClr val="black"/>
              </a:solidFill>
              <a:latin typeface="Calibri" panose="020F0502020204030204"/>
              <a:ea typeface="+mn-ea"/>
              <a:cs typeface="+mn-cs"/>
            </a:endParaRPr>
          </a:p>
        </p:txBody>
      </p:sp>
      <p:sp>
        <p:nvSpPr>
          <p:cNvPr id="10" name="Shape 8"/>
          <p:cNvSpPr/>
          <p:nvPr/>
        </p:nvSpPr>
        <p:spPr>
          <a:xfrm>
            <a:off x="6277244" y="1768273"/>
            <a:ext cx="5606860" cy="2900940"/>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6460077" y="1890161"/>
            <a:ext cx="5338705" cy="2681542"/>
          </a:xfrm>
          <a:prstGeom prst="rect">
            <a:avLst/>
          </a:prstGeom>
          <a:noFill/>
          <a:ln/>
        </p:spPr>
        <p:txBody>
          <a:bodyPr wrap="square" lIns="0" tIns="0" rIns="0" bIns="0" rtlCol="0" anchor="t"/>
          <a:lstStyle/>
          <a:p>
            <a:pPr defTabSz="1218895">
              <a:buClrTx/>
            </a:pPr>
            <a:r>
              <a:rPr lang="en-US" sz="1266" kern="1200" dirty="0">
                <a:solidFill>
                  <a:srgbClr val="818CF8"/>
                </a:solidFill>
                <a:latin typeface="Consolas" pitchFamily="34" charset="0"/>
                <a:ea typeface="Consolas" pitchFamily="34" charset="-122"/>
                <a:cs typeface="Consolas" pitchFamily="34" charset="-120"/>
              </a:rPr>
              <a:t>import { BookId, OrderId } from './entity-keys';</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interface Book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ID:    BookId;      // branded, not string</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title: string;</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stock: number;</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interface Order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ID:      OrderId;   // distinct from BookId!</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book_ID: BookId;    // references Book</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amount:  number;</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p:txBody>
      </p:sp>
      <p:sp>
        <p:nvSpPr>
          <p:cNvPr id="12" name="Text 10"/>
          <p:cNvSpPr/>
          <p:nvPr/>
        </p:nvSpPr>
        <p:spPr>
          <a:xfrm>
            <a:off x="487553" y="4778912"/>
            <a:ext cx="5484971"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Pattern 3 — Type-Safe Handler Usage</a:t>
            </a:r>
            <a:endParaRPr lang="en-US" sz="1466" kern="1200" dirty="0">
              <a:solidFill>
                <a:prstClr val="black"/>
              </a:solidFill>
              <a:latin typeface="Calibri" panose="020F0502020204030204"/>
              <a:ea typeface="+mn-ea"/>
              <a:cs typeface="+mn-cs"/>
            </a:endParaRPr>
          </a:p>
        </p:txBody>
      </p:sp>
      <p:sp>
        <p:nvSpPr>
          <p:cNvPr id="13" name="Shape 11"/>
          <p:cNvSpPr/>
          <p:nvPr/>
        </p:nvSpPr>
        <p:spPr>
          <a:xfrm>
            <a:off x="487553" y="5144577"/>
            <a:ext cx="5484971" cy="1487037"/>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670385" y="5266465"/>
            <a:ext cx="5216817" cy="1267638"/>
          </a:xfrm>
          <a:prstGeom prst="rect">
            <a:avLst/>
          </a:prstGeom>
          <a:noFill/>
          <a:ln/>
        </p:spPr>
        <p:txBody>
          <a:bodyPr wrap="square" lIns="0" tIns="0" rIns="0" bIns="0" rtlCol="0" anchor="t"/>
          <a:lstStyle/>
          <a:p>
            <a:pPr defTabSz="1218895">
              <a:buClrTx/>
            </a:pPr>
            <a:r>
              <a:rPr lang="en-US" sz="1266" kern="1200" dirty="0">
                <a:solidFill>
                  <a:srgbClr val="818CF8"/>
                </a:solidFill>
                <a:latin typeface="Consolas" pitchFamily="34" charset="0"/>
                <a:ea typeface="Consolas" pitchFamily="34" charset="-122"/>
                <a:cs typeface="Consolas" pitchFamily="34" charset="-120"/>
              </a:rPr>
              <a:t>async findBook(id: BookId): Promise&lt;Book|null&gt;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return SELECT.one.from('Books').where({ID:id});</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Reading from req.data — cast once at boundary</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const id = asBookId(req.data.ID as string);</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const book = await findBook(id); // ✅ typed</a:t>
            </a:r>
            <a:endParaRPr lang="en-US" sz="1266" kern="1200" dirty="0">
              <a:solidFill>
                <a:prstClr val="black"/>
              </a:solidFill>
              <a:latin typeface="Calibri" panose="020F0502020204030204"/>
              <a:ea typeface="+mn-ea"/>
              <a:cs typeface="+mn-cs"/>
            </a:endParaRPr>
          </a:p>
        </p:txBody>
      </p:sp>
      <p:sp>
        <p:nvSpPr>
          <p:cNvPr id="15" name="Text 13"/>
          <p:cNvSpPr/>
          <p:nvPr/>
        </p:nvSpPr>
        <p:spPr>
          <a:xfrm>
            <a:off x="6277244" y="4778912"/>
            <a:ext cx="5606860"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Compiler catches wrong ID:</a:t>
            </a:r>
            <a:endParaRPr lang="en-US" sz="1466" kern="1200" dirty="0">
              <a:solidFill>
                <a:prstClr val="black"/>
              </a:solidFill>
              <a:latin typeface="Calibri" panose="020F0502020204030204"/>
              <a:ea typeface="+mn-ea"/>
              <a:cs typeface="+mn-cs"/>
            </a:endParaRPr>
          </a:p>
        </p:txBody>
      </p:sp>
      <p:sp>
        <p:nvSpPr>
          <p:cNvPr id="16" name="Shape 14"/>
          <p:cNvSpPr/>
          <p:nvPr/>
        </p:nvSpPr>
        <p:spPr>
          <a:xfrm>
            <a:off x="6277244" y="5144577"/>
            <a:ext cx="5606860" cy="1487037"/>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7" name="Text 15"/>
          <p:cNvSpPr/>
          <p:nvPr/>
        </p:nvSpPr>
        <p:spPr>
          <a:xfrm>
            <a:off x="6460077" y="5266465"/>
            <a:ext cx="5338705" cy="1267638"/>
          </a:xfrm>
          <a:prstGeom prst="rect">
            <a:avLst/>
          </a:prstGeom>
          <a:noFill/>
          <a:ln/>
        </p:spPr>
        <p:txBody>
          <a:bodyPr wrap="square" lIns="0" tIns="0" rIns="0" bIns="0" rtlCol="0" anchor="t"/>
          <a:lstStyle/>
          <a:p>
            <a:pPr defTabSz="1218895">
              <a:buClrTx/>
            </a:pPr>
            <a:r>
              <a:rPr lang="en-US" sz="1266" kern="1200" dirty="0">
                <a:solidFill>
                  <a:srgbClr val="F9A8D4"/>
                </a:solidFill>
                <a:latin typeface="Consolas" pitchFamily="34" charset="0"/>
                <a:ea typeface="Consolas" pitchFamily="34" charset="-122"/>
                <a:cs typeface="Consolas" pitchFamily="34" charset="-120"/>
              </a:rPr>
              <a:t>const orderId = '...' as OrderId;</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await findBook(orderId);</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TS2345: Argument of type 'OrderId' is not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assignable to parameter of type 'BookId'.</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 Bug caught at compile time, not runtime!</a:t>
            </a:r>
            <a:endParaRPr lang="en-US" sz="1266" kern="1200" dirty="0">
              <a:solidFill>
                <a:prstClr val="black"/>
              </a:solidFill>
              <a:latin typeface="Calibri" panose="020F0502020204030204"/>
              <a:ea typeface="+mn-ea"/>
              <a:cs typeface="+mn-cs"/>
            </a:endParaRPr>
          </a:p>
        </p:txBody>
      </p:sp>
      <p:pic>
        <p:nvPicPr>
          <p:cNvPr id="18" name="Google Shape;497;p1">
            <a:extLst>
              <a:ext uri="{FF2B5EF4-FFF2-40B4-BE49-F238E27FC236}">
                <a16:creationId xmlns:a16="http://schemas.microsoft.com/office/drawing/2014/main" id="{235F35F1-964F-6C20-1EA4-33D1DBD8B1FE}"/>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1D4ED8"/>
          </a:solidFill>
          <a:ln w="12700">
            <a:solidFill>
              <a:srgbClr val="1D4ED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7a  </a:t>
            </a:r>
            <a:r>
              <a:rPr lang="en-US" sz="3333" b="1" kern="1200" dirty="0">
                <a:solidFill>
                  <a:srgbClr val="FFFFFF"/>
                </a:solidFill>
                <a:latin typeface="Calibri" pitchFamily="34" charset="0"/>
                <a:ea typeface="Calibri" pitchFamily="34" charset="-122"/>
                <a:cs typeface="Calibri" pitchFamily="34" charset="-120"/>
              </a:rPr>
              <a:t>Strict Null-Safe Service Calls — The Problem</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Concept · where null/undefined sneaks into CAP service code and how to guard it</a:t>
            </a:r>
            <a:endParaRPr lang="en-US" kern="1200" dirty="0">
              <a:solidFill>
                <a:prstClr val="black"/>
              </a:solidFill>
              <a:latin typeface="Calibri" panose="020F0502020204030204"/>
              <a:ea typeface="+mn-ea"/>
              <a:cs typeface="+mn-cs"/>
            </a:endParaRPr>
          </a:p>
        </p:txBody>
      </p:sp>
      <p:sp>
        <p:nvSpPr>
          <p:cNvPr id="6" name="Shape 4"/>
          <p:cNvSpPr/>
          <p:nvPr/>
        </p:nvSpPr>
        <p:spPr>
          <a:xfrm>
            <a:off x="487553" y="1402608"/>
            <a:ext cx="11213719" cy="792274"/>
          </a:xfrm>
          <a:prstGeom prst="rect">
            <a:avLst/>
          </a:prstGeom>
          <a:solidFill>
            <a:srgbClr val="EFF6FF"/>
          </a:solidFill>
          <a:ln w="12700">
            <a:solidFill>
              <a:srgbClr val="1D4ED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670385" y="1439174"/>
            <a:ext cx="10969943" cy="731330"/>
          </a:xfrm>
          <a:prstGeom prst="rect">
            <a:avLst/>
          </a:prstGeom>
          <a:noFill/>
          <a:ln/>
        </p:spPr>
        <p:txBody>
          <a:bodyPr wrap="square" lIns="0" tIns="0" rIns="0" bIns="0" rtlCol="0" anchor="ctr"/>
          <a:lstStyle/>
          <a:p>
            <a:pPr defTabSz="1218895">
              <a:buClrTx/>
            </a:pPr>
            <a:r>
              <a:rPr lang="en-US" sz="1533" b="1" kern="1200" dirty="0">
                <a:solidFill>
                  <a:srgbClr val="1D4ED8"/>
                </a:solidFill>
                <a:latin typeface="Calibri" pitchFamily="34" charset="0"/>
                <a:ea typeface="Calibri" pitchFamily="34" charset="-122"/>
                <a:cs typeface="Calibri" pitchFamily="34" charset="-120"/>
              </a:rPr>
              <a:t>Problem: </a:t>
            </a:r>
            <a:r>
              <a:rPr lang="en-US" sz="1533" kern="1200" dirty="0">
                <a:solidFill>
                  <a:srgbClr val="334155"/>
                </a:solidFill>
                <a:latin typeface="Calibri" pitchFamily="34" charset="0"/>
                <a:ea typeface="Calibri" pitchFamily="34" charset="-122"/>
                <a:cs typeface="Calibri" pitchFamily="34" charset="-120"/>
              </a:rPr>
              <a:t>strictNullChecks forces you to acknowledge that cds.connect.to() can fail, req.data can be null, and query results can be null or undefined. In plain JS all of these are silently ignored. With strict: true, every one must be guarded before use.</a:t>
            </a:r>
            <a:endParaRPr lang="en-US" sz="1533" kern="1200" dirty="0">
              <a:solidFill>
                <a:prstClr val="black"/>
              </a:solidFill>
              <a:latin typeface="Calibri" panose="020F0502020204030204"/>
              <a:ea typeface="+mn-ea"/>
              <a:cs typeface="+mn-cs"/>
            </a:endParaRPr>
          </a:p>
        </p:txBody>
      </p:sp>
      <p:sp>
        <p:nvSpPr>
          <p:cNvPr id="8" name="Text 6"/>
          <p:cNvSpPr/>
          <p:nvPr/>
        </p:nvSpPr>
        <p:spPr>
          <a:xfrm>
            <a:off x="487553" y="2316770"/>
            <a:ext cx="11213719" cy="341287"/>
          </a:xfrm>
          <a:prstGeom prst="rect">
            <a:avLst/>
          </a:prstGeom>
          <a:noFill/>
          <a:ln/>
        </p:spPr>
        <p:txBody>
          <a:bodyPr wrap="square" lIns="0" tIns="0" rIns="0" bIns="0" rtlCol="0" anchor="ctr"/>
          <a:lstStyle/>
          <a:p>
            <a:pPr defTabSz="1218895">
              <a:buClrTx/>
            </a:pPr>
            <a:r>
              <a:rPr lang="en-US" sz="1600" b="1" kern="1200" dirty="0">
                <a:solidFill>
                  <a:srgbClr val="0D1B2A"/>
                </a:solidFill>
                <a:latin typeface="Calibri" pitchFamily="34" charset="0"/>
                <a:ea typeface="Calibri" pitchFamily="34" charset="-122"/>
                <a:cs typeface="Calibri" pitchFamily="34" charset="-120"/>
              </a:rPr>
              <a:t>Four Null Risk Zones in a CAP Service</a:t>
            </a:r>
            <a:endParaRPr lang="en-US" sz="1600" kern="1200" dirty="0">
              <a:solidFill>
                <a:prstClr val="black"/>
              </a:solidFill>
              <a:latin typeface="Calibri" panose="020F0502020204030204"/>
              <a:ea typeface="+mn-ea"/>
              <a:cs typeface="+mn-cs"/>
            </a:endParaRPr>
          </a:p>
        </p:txBody>
      </p:sp>
      <p:sp>
        <p:nvSpPr>
          <p:cNvPr id="9" name="Shape 7"/>
          <p:cNvSpPr/>
          <p:nvPr/>
        </p:nvSpPr>
        <p:spPr>
          <a:xfrm>
            <a:off x="487552" y="2706812"/>
            <a:ext cx="5606860" cy="1803946"/>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Shape 8"/>
          <p:cNvSpPr/>
          <p:nvPr/>
        </p:nvSpPr>
        <p:spPr>
          <a:xfrm>
            <a:off x="487552" y="2706812"/>
            <a:ext cx="5606860" cy="390042"/>
          </a:xfrm>
          <a:prstGeom prst="rect">
            <a:avLst/>
          </a:prstGeom>
          <a:solidFill>
            <a:srgbClr val="1D4ED8"/>
          </a:solidFill>
          <a:ln w="12700">
            <a:solidFill>
              <a:srgbClr val="1D4ED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609441" y="2706812"/>
            <a:ext cx="5484971" cy="390042"/>
          </a:xfrm>
          <a:prstGeom prst="rect">
            <a:avLst/>
          </a:prstGeom>
          <a:noFill/>
          <a:ln/>
        </p:spPr>
        <p:txBody>
          <a:bodyPr wrap="square" lIns="0" tIns="0" rIns="0" bIns="0" rtlCol="0" anchor="ctr"/>
          <a:lstStyle/>
          <a:p>
            <a:pPr defTabSz="1218895">
              <a:buClrTx/>
            </a:pPr>
            <a:r>
              <a:rPr lang="en-US" b="1" kern="1200" dirty="0">
                <a:solidFill>
                  <a:srgbClr val="FFFFFF"/>
                </a:solidFill>
                <a:latin typeface="Calibri" pitchFamily="34" charset="0"/>
                <a:ea typeface="Calibri" pitchFamily="34" charset="-122"/>
                <a:cs typeface="Calibri" pitchFamily="34" charset="-120"/>
              </a:rPr>
              <a:t>Zone 1 — cds.connect()</a:t>
            </a:r>
            <a:endParaRPr lang="en-US" kern="1200" dirty="0">
              <a:solidFill>
                <a:prstClr val="black"/>
              </a:solidFill>
              <a:latin typeface="Calibri" panose="020F0502020204030204"/>
              <a:ea typeface="+mn-ea"/>
              <a:cs typeface="+mn-cs"/>
            </a:endParaRPr>
          </a:p>
        </p:txBody>
      </p:sp>
      <p:sp>
        <p:nvSpPr>
          <p:cNvPr id="12" name="Text 10"/>
          <p:cNvSpPr/>
          <p:nvPr/>
        </p:nvSpPr>
        <p:spPr>
          <a:xfrm>
            <a:off x="609441" y="3145610"/>
            <a:ext cx="5387461" cy="536308"/>
          </a:xfrm>
          <a:prstGeom prst="rect">
            <a:avLst/>
          </a:prstGeom>
          <a:noFill/>
          <a:ln/>
        </p:spPr>
        <p:txBody>
          <a:bodyPr wrap="square" lIns="0" tIns="0" rIns="0" bIns="0" rtlCol="0" anchor="ctr"/>
          <a:lstStyle/>
          <a:p>
            <a:pPr defTabSz="1218895">
              <a:buClrTx/>
            </a:pPr>
            <a:r>
              <a:rPr lang="en-US" sz="1133" kern="1200" dirty="0">
                <a:solidFill>
                  <a:srgbClr val="991B1B"/>
                </a:solidFill>
                <a:latin typeface="Consolas" pitchFamily="34" charset="0"/>
                <a:ea typeface="Consolas" pitchFamily="34" charset="-122"/>
                <a:cs typeface="Consolas" pitchFamily="34" charset="-120"/>
              </a:rPr>
              <a:t>❌  const svc = await cds.connect.to('dest');</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991B1B"/>
                </a:solidFill>
                <a:latin typeface="Consolas" pitchFamily="34" charset="0"/>
                <a:ea typeface="Consolas" pitchFamily="34" charset="-122"/>
                <a:cs typeface="Consolas" pitchFamily="34" charset="-120"/>
              </a:rPr>
              <a:t>svc.run(query); // svc could be null!</a:t>
            </a:r>
            <a:endParaRPr lang="en-US" sz="1133" kern="1200" dirty="0">
              <a:solidFill>
                <a:prstClr val="black"/>
              </a:solidFill>
              <a:latin typeface="Calibri" panose="020F0502020204030204"/>
              <a:ea typeface="+mn-ea"/>
              <a:cs typeface="+mn-cs"/>
            </a:endParaRPr>
          </a:p>
        </p:txBody>
      </p:sp>
      <p:sp>
        <p:nvSpPr>
          <p:cNvPr id="13" name="Shape 11"/>
          <p:cNvSpPr/>
          <p:nvPr/>
        </p:nvSpPr>
        <p:spPr>
          <a:xfrm>
            <a:off x="487552" y="3706296"/>
            <a:ext cx="5606860" cy="12189"/>
          </a:xfrm>
          <a:prstGeom prst="rect">
            <a:avLst/>
          </a:prstGeom>
          <a:solidFill>
            <a:srgbClr val="E2E8F0"/>
          </a:solidFill>
          <a:ln w="12700">
            <a:solidFill>
              <a:srgbClr val="E2E8F0"/>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609441" y="3755051"/>
            <a:ext cx="5387461" cy="670385"/>
          </a:xfrm>
          <a:prstGeom prst="rect">
            <a:avLst/>
          </a:prstGeom>
          <a:noFill/>
          <a:ln/>
        </p:spPr>
        <p:txBody>
          <a:bodyPr wrap="square" lIns="0" tIns="0" rIns="0" bIns="0" rtlCol="0" anchor="ctr"/>
          <a:lstStyle/>
          <a:p>
            <a:pPr defTabSz="1218895">
              <a:buClrTx/>
            </a:pPr>
            <a:r>
              <a:rPr lang="en-US" sz="1133" kern="1200" dirty="0">
                <a:solidFill>
                  <a:srgbClr val="065F46"/>
                </a:solidFill>
                <a:latin typeface="Consolas" pitchFamily="34" charset="0"/>
                <a:ea typeface="Consolas" pitchFamily="34" charset="-122"/>
                <a:cs typeface="Consolas" pitchFamily="34" charset="-120"/>
              </a:rPr>
              <a:t>✅  const svc = await cds.connect.to('dest');</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065F46"/>
                </a:solidFill>
                <a:latin typeface="Consolas" pitchFamily="34" charset="0"/>
                <a:ea typeface="Consolas" pitchFamily="34" charset="-122"/>
                <a:cs typeface="Consolas" pitchFamily="34" charset="-120"/>
              </a:rPr>
              <a:t>if (!svc) throw new Error('No service');</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065F46"/>
                </a:solidFill>
                <a:latin typeface="Consolas" pitchFamily="34" charset="0"/>
                <a:ea typeface="Consolas" pitchFamily="34" charset="-122"/>
                <a:cs typeface="Consolas" pitchFamily="34" charset="-120"/>
              </a:rPr>
              <a:t>svc.run(query); // ✅ safe</a:t>
            </a:r>
            <a:endParaRPr lang="en-US" sz="1133" kern="1200" dirty="0">
              <a:solidFill>
                <a:prstClr val="black"/>
              </a:solidFill>
              <a:latin typeface="Calibri" panose="020F0502020204030204"/>
              <a:ea typeface="+mn-ea"/>
              <a:cs typeface="+mn-cs"/>
            </a:endParaRPr>
          </a:p>
        </p:txBody>
      </p:sp>
      <p:sp>
        <p:nvSpPr>
          <p:cNvPr id="15" name="Shape 13"/>
          <p:cNvSpPr/>
          <p:nvPr/>
        </p:nvSpPr>
        <p:spPr>
          <a:xfrm>
            <a:off x="6240678" y="2706812"/>
            <a:ext cx="5606860" cy="1803946"/>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Shape 14"/>
          <p:cNvSpPr/>
          <p:nvPr/>
        </p:nvSpPr>
        <p:spPr>
          <a:xfrm>
            <a:off x="6240678" y="2706812"/>
            <a:ext cx="5606860" cy="390042"/>
          </a:xfrm>
          <a:prstGeom prst="rect">
            <a:avLst/>
          </a:prstGeom>
          <a:solidFill>
            <a:srgbClr val="DC2626"/>
          </a:solidFill>
          <a:ln w="12700">
            <a:solidFill>
              <a:srgbClr val="DC262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7" name="Text 15"/>
          <p:cNvSpPr/>
          <p:nvPr/>
        </p:nvSpPr>
        <p:spPr>
          <a:xfrm>
            <a:off x="6362566" y="2706812"/>
            <a:ext cx="5484971" cy="390042"/>
          </a:xfrm>
          <a:prstGeom prst="rect">
            <a:avLst/>
          </a:prstGeom>
          <a:noFill/>
          <a:ln/>
        </p:spPr>
        <p:txBody>
          <a:bodyPr wrap="square" lIns="0" tIns="0" rIns="0" bIns="0" rtlCol="0" anchor="ctr"/>
          <a:lstStyle/>
          <a:p>
            <a:pPr defTabSz="1218895">
              <a:buClrTx/>
            </a:pPr>
            <a:r>
              <a:rPr lang="en-US" b="1" kern="1200" dirty="0">
                <a:solidFill>
                  <a:srgbClr val="FFFFFF"/>
                </a:solidFill>
                <a:latin typeface="Calibri" pitchFamily="34" charset="0"/>
                <a:ea typeface="Calibri" pitchFamily="34" charset="-122"/>
                <a:cs typeface="Calibri" pitchFamily="34" charset="-120"/>
              </a:rPr>
              <a:t>Zone 2 — req.data</a:t>
            </a:r>
            <a:endParaRPr lang="en-US" kern="1200" dirty="0">
              <a:solidFill>
                <a:prstClr val="black"/>
              </a:solidFill>
              <a:latin typeface="Calibri" panose="020F0502020204030204"/>
              <a:ea typeface="+mn-ea"/>
              <a:cs typeface="+mn-cs"/>
            </a:endParaRPr>
          </a:p>
        </p:txBody>
      </p:sp>
      <p:sp>
        <p:nvSpPr>
          <p:cNvPr id="18" name="Text 16"/>
          <p:cNvSpPr/>
          <p:nvPr/>
        </p:nvSpPr>
        <p:spPr>
          <a:xfrm>
            <a:off x="6362566" y="3145610"/>
            <a:ext cx="5387461" cy="536308"/>
          </a:xfrm>
          <a:prstGeom prst="rect">
            <a:avLst/>
          </a:prstGeom>
          <a:noFill/>
          <a:ln/>
        </p:spPr>
        <p:txBody>
          <a:bodyPr wrap="square" lIns="0" tIns="0" rIns="0" bIns="0" rtlCol="0" anchor="ctr"/>
          <a:lstStyle/>
          <a:p>
            <a:pPr defTabSz="1218895">
              <a:buClrTx/>
            </a:pPr>
            <a:r>
              <a:rPr lang="en-US" sz="1133" kern="1200" dirty="0">
                <a:solidFill>
                  <a:srgbClr val="991B1B"/>
                </a:solidFill>
                <a:latin typeface="Consolas" pitchFamily="34" charset="0"/>
                <a:ea typeface="Consolas" pitchFamily="34" charset="-122"/>
                <a:cs typeface="Consolas" pitchFamily="34" charset="-120"/>
              </a:rPr>
              <a:t>❌  const { bookId } = req.data;</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991B1B"/>
                </a:solidFill>
                <a:latin typeface="Consolas" pitchFamily="34" charset="0"/>
                <a:ea typeface="Consolas" pitchFamily="34" charset="-122"/>
                <a:cs typeface="Consolas" pitchFamily="34" charset="-120"/>
              </a:rPr>
              <a:t>// TS2532: req.data possibly undefined</a:t>
            </a:r>
            <a:endParaRPr lang="en-US" sz="1133" kern="1200" dirty="0">
              <a:solidFill>
                <a:prstClr val="black"/>
              </a:solidFill>
              <a:latin typeface="Calibri" panose="020F0502020204030204"/>
              <a:ea typeface="+mn-ea"/>
              <a:cs typeface="+mn-cs"/>
            </a:endParaRPr>
          </a:p>
        </p:txBody>
      </p:sp>
      <p:sp>
        <p:nvSpPr>
          <p:cNvPr id="19" name="Shape 17"/>
          <p:cNvSpPr/>
          <p:nvPr/>
        </p:nvSpPr>
        <p:spPr>
          <a:xfrm>
            <a:off x="6240678" y="3706296"/>
            <a:ext cx="5606860" cy="12189"/>
          </a:xfrm>
          <a:prstGeom prst="rect">
            <a:avLst/>
          </a:prstGeom>
          <a:solidFill>
            <a:srgbClr val="E2E8F0"/>
          </a:solidFill>
          <a:ln w="12700">
            <a:solidFill>
              <a:srgbClr val="E2E8F0"/>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Text 18"/>
          <p:cNvSpPr/>
          <p:nvPr/>
        </p:nvSpPr>
        <p:spPr>
          <a:xfrm>
            <a:off x="6362566" y="3755051"/>
            <a:ext cx="5387461" cy="670385"/>
          </a:xfrm>
          <a:prstGeom prst="rect">
            <a:avLst/>
          </a:prstGeom>
          <a:noFill/>
          <a:ln/>
        </p:spPr>
        <p:txBody>
          <a:bodyPr wrap="square" lIns="0" tIns="0" rIns="0" bIns="0" rtlCol="0" anchor="ctr"/>
          <a:lstStyle/>
          <a:p>
            <a:pPr defTabSz="1218895">
              <a:buClrTx/>
            </a:pPr>
            <a:r>
              <a:rPr lang="en-US" sz="1133" kern="1200" dirty="0">
                <a:solidFill>
                  <a:srgbClr val="065F46"/>
                </a:solidFill>
                <a:latin typeface="Consolas" pitchFamily="34" charset="0"/>
                <a:ea typeface="Consolas" pitchFamily="34" charset="-122"/>
                <a:cs typeface="Consolas" pitchFamily="34" charset="-120"/>
              </a:rPr>
              <a:t>✅  if (!req.data) return req.reject(400,'No data');</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065F46"/>
                </a:solidFill>
                <a:latin typeface="Consolas" pitchFamily="34" charset="0"/>
                <a:ea typeface="Consolas" pitchFamily="34" charset="-122"/>
                <a:cs typeface="Consolas" pitchFamily="34" charset="-120"/>
              </a:rPr>
              <a:t>const { bookId } = req.data as CreateOrder;</a:t>
            </a:r>
            <a:endParaRPr lang="en-US" sz="1133" kern="1200" dirty="0">
              <a:solidFill>
                <a:prstClr val="black"/>
              </a:solidFill>
              <a:latin typeface="Calibri" panose="020F0502020204030204"/>
              <a:ea typeface="+mn-ea"/>
              <a:cs typeface="+mn-cs"/>
            </a:endParaRPr>
          </a:p>
        </p:txBody>
      </p:sp>
      <p:sp>
        <p:nvSpPr>
          <p:cNvPr id="21" name="Shape 19"/>
          <p:cNvSpPr/>
          <p:nvPr/>
        </p:nvSpPr>
        <p:spPr>
          <a:xfrm>
            <a:off x="487552" y="4657024"/>
            <a:ext cx="5606860" cy="1803946"/>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2" name="Shape 20"/>
          <p:cNvSpPr/>
          <p:nvPr/>
        </p:nvSpPr>
        <p:spPr>
          <a:xfrm>
            <a:off x="487552" y="4657024"/>
            <a:ext cx="5606860" cy="390042"/>
          </a:xfrm>
          <a:prstGeom prst="rect">
            <a:avLst/>
          </a:prstGeom>
          <a:solidFill>
            <a:srgbClr val="065F46"/>
          </a:solidFill>
          <a:ln w="12700">
            <a:solidFill>
              <a:srgbClr val="065F4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Text 21"/>
          <p:cNvSpPr/>
          <p:nvPr/>
        </p:nvSpPr>
        <p:spPr>
          <a:xfrm>
            <a:off x="609441" y="4657024"/>
            <a:ext cx="5484971" cy="390042"/>
          </a:xfrm>
          <a:prstGeom prst="rect">
            <a:avLst/>
          </a:prstGeom>
          <a:noFill/>
          <a:ln/>
        </p:spPr>
        <p:txBody>
          <a:bodyPr wrap="square" lIns="0" tIns="0" rIns="0" bIns="0" rtlCol="0" anchor="ctr"/>
          <a:lstStyle/>
          <a:p>
            <a:pPr defTabSz="1218895">
              <a:buClrTx/>
            </a:pPr>
            <a:r>
              <a:rPr lang="en-US" b="1" kern="1200" dirty="0">
                <a:solidFill>
                  <a:srgbClr val="FFFFFF"/>
                </a:solidFill>
                <a:latin typeface="Calibri" pitchFamily="34" charset="0"/>
                <a:ea typeface="Calibri" pitchFamily="34" charset="-122"/>
                <a:cs typeface="Calibri" pitchFamily="34" charset="-120"/>
              </a:rPr>
              <a:t>Zone 3 — SELECT results</a:t>
            </a:r>
            <a:endParaRPr lang="en-US" kern="1200" dirty="0">
              <a:solidFill>
                <a:prstClr val="black"/>
              </a:solidFill>
              <a:latin typeface="Calibri" panose="020F0502020204030204"/>
              <a:ea typeface="+mn-ea"/>
              <a:cs typeface="+mn-cs"/>
            </a:endParaRPr>
          </a:p>
        </p:txBody>
      </p:sp>
      <p:sp>
        <p:nvSpPr>
          <p:cNvPr id="24" name="Text 22"/>
          <p:cNvSpPr/>
          <p:nvPr/>
        </p:nvSpPr>
        <p:spPr>
          <a:xfrm>
            <a:off x="609441" y="5095822"/>
            <a:ext cx="5387461" cy="536308"/>
          </a:xfrm>
          <a:prstGeom prst="rect">
            <a:avLst/>
          </a:prstGeom>
          <a:noFill/>
          <a:ln/>
        </p:spPr>
        <p:txBody>
          <a:bodyPr wrap="square" lIns="0" tIns="0" rIns="0" bIns="0" rtlCol="0" anchor="ctr"/>
          <a:lstStyle/>
          <a:p>
            <a:pPr defTabSz="1218895">
              <a:buClrTx/>
            </a:pPr>
            <a:r>
              <a:rPr lang="en-US" sz="1133" kern="1200" dirty="0">
                <a:solidFill>
                  <a:srgbClr val="991B1B"/>
                </a:solidFill>
                <a:latin typeface="Consolas" pitchFamily="34" charset="0"/>
                <a:ea typeface="Consolas" pitchFamily="34" charset="-122"/>
                <a:cs typeface="Consolas" pitchFamily="34" charset="-120"/>
              </a:rPr>
              <a:t>❌  const book = await SELECT.one.from('Books');</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991B1B"/>
                </a:solidFill>
                <a:latin typeface="Consolas" pitchFamily="34" charset="0"/>
                <a:ea typeface="Consolas" pitchFamily="34" charset="-122"/>
                <a:cs typeface="Consolas" pitchFamily="34" charset="-120"/>
              </a:rPr>
              <a:t>book.title; // TS2532: book possibly null</a:t>
            </a:r>
            <a:endParaRPr lang="en-US" sz="1133" kern="1200" dirty="0">
              <a:solidFill>
                <a:prstClr val="black"/>
              </a:solidFill>
              <a:latin typeface="Calibri" panose="020F0502020204030204"/>
              <a:ea typeface="+mn-ea"/>
              <a:cs typeface="+mn-cs"/>
            </a:endParaRPr>
          </a:p>
        </p:txBody>
      </p:sp>
      <p:sp>
        <p:nvSpPr>
          <p:cNvPr id="25" name="Shape 23"/>
          <p:cNvSpPr/>
          <p:nvPr/>
        </p:nvSpPr>
        <p:spPr>
          <a:xfrm>
            <a:off x="487552" y="5656508"/>
            <a:ext cx="5606860" cy="12189"/>
          </a:xfrm>
          <a:prstGeom prst="rect">
            <a:avLst/>
          </a:prstGeom>
          <a:solidFill>
            <a:srgbClr val="E2E8F0"/>
          </a:solidFill>
          <a:ln w="12700">
            <a:solidFill>
              <a:srgbClr val="E2E8F0"/>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6" name="Text 24"/>
          <p:cNvSpPr/>
          <p:nvPr/>
        </p:nvSpPr>
        <p:spPr>
          <a:xfrm>
            <a:off x="609441" y="5705263"/>
            <a:ext cx="5387461" cy="670385"/>
          </a:xfrm>
          <a:prstGeom prst="rect">
            <a:avLst/>
          </a:prstGeom>
          <a:noFill/>
          <a:ln/>
        </p:spPr>
        <p:txBody>
          <a:bodyPr wrap="square" lIns="0" tIns="0" rIns="0" bIns="0" rtlCol="0" anchor="ctr"/>
          <a:lstStyle/>
          <a:p>
            <a:pPr defTabSz="1218895">
              <a:buClrTx/>
            </a:pPr>
            <a:r>
              <a:rPr lang="en-US" sz="1133" kern="1200" dirty="0">
                <a:solidFill>
                  <a:srgbClr val="065F46"/>
                </a:solidFill>
                <a:latin typeface="Consolas" pitchFamily="34" charset="0"/>
                <a:ea typeface="Consolas" pitchFamily="34" charset="-122"/>
                <a:cs typeface="Consolas" pitchFamily="34" charset="-120"/>
              </a:rPr>
              <a:t>✅  const book = await SELECT.one.from('Books');</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065F46"/>
                </a:solidFill>
                <a:latin typeface="Consolas" pitchFamily="34" charset="0"/>
                <a:ea typeface="Consolas" pitchFamily="34" charset="-122"/>
                <a:cs typeface="Consolas" pitchFamily="34" charset="-120"/>
              </a:rPr>
              <a:t>if (!book) return req.reject(404,'Not found');</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065F46"/>
                </a:solidFill>
                <a:latin typeface="Consolas" pitchFamily="34" charset="0"/>
                <a:ea typeface="Consolas" pitchFamily="34" charset="-122"/>
                <a:cs typeface="Consolas" pitchFamily="34" charset="-120"/>
              </a:rPr>
              <a:t>book.title; // ✅ safe</a:t>
            </a:r>
            <a:endParaRPr lang="en-US" sz="1133" kern="1200" dirty="0">
              <a:solidFill>
                <a:prstClr val="black"/>
              </a:solidFill>
              <a:latin typeface="Calibri" panose="020F0502020204030204"/>
              <a:ea typeface="+mn-ea"/>
              <a:cs typeface="+mn-cs"/>
            </a:endParaRPr>
          </a:p>
        </p:txBody>
      </p:sp>
      <p:sp>
        <p:nvSpPr>
          <p:cNvPr id="27" name="Shape 25"/>
          <p:cNvSpPr/>
          <p:nvPr/>
        </p:nvSpPr>
        <p:spPr>
          <a:xfrm>
            <a:off x="6240678" y="4657024"/>
            <a:ext cx="5606860" cy="1803946"/>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8" name="Shape 26"/>
          <p:cNvSpPr/>
          <p:nvPr/>
        </p:nvSpPr>
        <p:spPr>
          <a:xfrm>
            <a:off x="6240678" y="4657024"/>
            <a:ext cx="5606860" cy="390042"/>
          </a:xfrm>
          <a:prstGeom prst="rect">
            <a:avLst/>
          </a:prstGeom>
          <a:solidFill>
            <a:srgbClr val="92400E"/>
          </a:solidFill>
          <a:ln w="12700">
            <a:solidFill>
              <a:srgbClr val="92400E"/>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9" name="Text 27"/>
          <p:cNvSpPr/>
          <p:nvPr/>
        </p:nvSpPr>
        <p:spPr>
          <a:xfrm>
            <a:off x="6362566" y="4657024"/>
            <a:ext cx="5484971" cy="390042"/>
          </a:xfrm>
          <a:prstGeom prst="rect">
            <a:avLst/>
          </a:prstGeom>
          <a:noFill/>
          <a:ln/>
        </p:spPr>
        <p:txBody>
          <a:bodyPr wrap="square" lIns="0" tIns="0" rIns="0" bIns="0" rtlCol="0" anchor="ctr"/>
          <a:lstStyle/>
          <a:p>
            <a:pPr defTabSz="1218895">
              <a:buClrTx/>
            </a:pPr>
            <a:r>
              <a:rPr lang="en-US" b="1" kern="1200" dirty="0">
                <a:solidFill>
                  <a:srgbClr val="FFFFFF"/>
                </a:solidFill>
                <a:latin typeface="Calibri" pitchFamily="34" charset="0"/>
                <a:ea typeface="Calibri" pitchFamily="34" charset="-122"/>
                <a:cs typeface="Calibri" pitchFamily="34" charset="-120"/>
              </a:rPr>
              <a:t>Zone 4 — req.user / req.locale</a:t>
            </a:r>
            <a:endParaRPr lang="en-US" kern="1200" dirty="0">
              <a:solidFill>
                <a:prstClr val="black"/>
              </a:solidFill>
              <a:latin typeface="Calibri" panose="020F0502020204030204"/>
              <a:ea typeface="+mn-ea"/>
              <a:cs typeface="+mn-cs"/>
            </a:endParaRPr>
          </a:p>
        </p:txBody>
      </p:sp>
      <p:sp>
        <p:nvSpPr>
          <p:cNvPr id="30" name="Text 28"/>
          <p:cNvSpPr/>
          <p:nvPr/>
        </p:nvSpPr>
        <p:spPr>
          <a:xfrm>
            <a:off x="6362566" y="5095822"/>
            <a:ext cx="5387461" cy="536308"/>
          </a:xfrm>
          <a:prstGeom prst="rect">
            <a:avLst/>
          </a:prstGeom>
          <a:noFill/>
          <a:ln/>
        </p:spPr>
        <p:txBody>
          <a:bodyPr wrap="square" lIns="0" tIns="0" rIns="0" bIns="0" rtlCol="0" anchor="ctr"/>
          <a:lstStyle/>
          <a:p>
            <a:pPr defTabSz="1218895">
              <a:buClrTx/>
            </a:pPr>
            <a:r>
              <a:rPr lang="en-US" sz="1133" kern="1200" dirty="0">
                <a:solidFill>
                  <a:srgbClr val="991B1B"/>
                </a:solidFill>
                <a:latin typeface="Consolas" pitchFamily="34" charset="0"/>
                <a:ea typeface="Consolas" pitchFamily="34" charset="-122"/>
                <a:cs typeface="Consolas" pitchFamily="34" charset="-120"/>
              </a:rPr>
              <a:t>❌  const tenant = req.user.tenant;</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991B1B"/>
                </a:solidFill>
                <a:latin typeface="Consolas" pitchFamily="34" charset="0"/>
                <a:ea typeface="Consolas" pitchFamily="34" charset="-122"/>
                <a:cs typeface="Consolas" pitchFamily="34" charset="-120"/>
              </a:rPr>
              <a:t>// TS2532: req.user possibly null</a:t>
            </a:r>
            <a:endParaRPr lang="en-US" sz="1133" kern="1200" dirty="0">
              <a:solidFill>
                <a:prstClr val="black"/>
              </a:solidFill>
              <a:latin typeface="Calibri" panose="020F0502020204030204"/>
              <a:ea typeface="+mn-ea"/>
              <a:cs typeface="+mn-cs"/>
            </a:endParaRPr>
          </a:p>
        </p:txBody>
      </p:sp>
      <p:sp>
        <p:nvSpPr>
          <p:cNvPr id="31" name="Shape 29"/>
          <p:cNvSpPr/>
          <p:nvPr/>
        </p:nvSpPr>
        <p:spPr>
          <a:xfrm>
            <a:off x="6240678" y="5656508"/>
            <a:ext cx="5606860" cy="12189"/>
          </a:xfrm>
          <a:prstGeom prst="rect">
            <a:avLst/>
          </a:prstGeom>
          <a:solidFill>
            <a:srgbClr val="E2E8F0"/>
          </a:solidFill>
          <a:ln w="12700">
            <a:solidFill>
              <a:srgbClr val="E2E8F0"/>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2" name="Text 30"/>
          <p:cNvSpPr/>
          <p:nvPr/>
        </p:nvSpPr>
        <p:spPr>
          <a:xfrm>
            <a:off x="6362566" y="5705263"/>
            <a:ext cx="5387461" cy="670385"/>
          </a:xfrm>
          <a:prstGeom prst="rect">
            <a:avLst/>
          </a:prstGeom>
          <a:noFill/>
          <a:ln/>
        </p:spPr>
        <p:txBody>
          <a:bodyPr wrap="square" lIns="0" tIns="0" rIns="0" bIns="0" rtlCol="0" anchor="ctr"/>
          <a:lstStyle/>
          <a:p>
            <a:pPr defTabSz="1218895">
              <a:buClrTx/>
            </a:pPr>
            <a:r>
              <a:rPr lang="en-US" sz="1133" kern="1200" dirty="0">
                <a:solidFill>
                  <a:srgbClr val="065F46"/>
                </a:solidFill>
                <a:latin typeface="Consolas" pitchFamily="34" charset="0"/>
                <a:ea typeface="Consolas" pitchFamily="34" charset="-122"/>
                <a:cs typeface="Consolas" pitchFamily="34" charset="-120"/>
              </a:rPr>
              <a:t>✅  const tenant = req.user?.tenant ?? 'default';</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065F46"/>
                </a:solidFill>
                <a:latin typeface="Consolas" pitchFamily="34" charset="0"/>
                <a:ea typeface="Consolas" pitchFamily="34" charset="-122"/>
                <a:cs typeface="Consolas" pitchFamily="34" charset="-120"/>
              </a:rPr>
              <a:t>// ✅ optional chain + nullish coalescing</a:t>
            </a:r>
            <a:endParaRPr lang="en-US" sz="1133" kern="1200" dirty="0">
              <a:solidFill>
                <a:prstClr val="black"/>
              </a:solidFill>
              <a:latin typeface="Calibri" panose="020F0502020204030204"/>
              <a:ea typeface="+mn-ea"/>
              <a:cs typeface="+mn-cs"/>
            </a:endParaRPr>
          </a:p>
        </p:txBody>
      </p:sp>
      <p:pic>
        <p:nvPicPr>
          <p:cNvPr id="33" name="Google Shape;497;p1">
            <a:extLst>
              <a:ext uri="{FF2B5EF4-FFF2-40B4-BE49-F238E27FC236}">
                <a16:creationId xmlns:a16="http://schemas.microsoft.com/office/drawing/2014/main" id="{74A35674-DB29-8B15-691D-46F87BD19ABB}"/>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1D4ED8"/>
          </a:solidFill>
          <a:ln w="12700">
            <a:solidFill>
              <a:srgbClr val="1D4ED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7b  </a:t>
            </a:r>
            <a:r>
              <a:rPr lang="en-US" sz="3333" b="1" kern="1200" dirty="0">
                <a:solidFill>
                  <a:srgbClr val="FFFFFF"/>
                </a:solidFill>
                <a:latin typeface="Calibri" pitchFamily="34" charset="0"/>
                <a:ea typeface="Calibri" pitchFamily="34" charset="-122"/>
                <a:cs typeface="Calibri" pitchFamily="34" charset="-120"/>
              </a:rPr>
              <a:t>Null-Safe Service Calls — Patterns &amp; Full Example</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Implementation · reusable guard helpers and a complete null-safe handler</a:t>
            </a:r>
            <a:endParaRPr lang="en-US" kern="1200" dirty="0">
              <a:solidFill>
                <a:prstClr val="black"/>
              </a:solidFill>
              <a:latin typeface="Calibri" panose="020F0502020204030204"/>
              <a:ea typeface="+mn-ea"/>
              <a:cs typeface="+mn-cs"/>
            </a:endParaRPr>
          </a:p>
        </p:txBody>
      </p:sp>
      <p:sp>
        <p:nvSpPr>
          <p:cNvPr id="6" name="Text 4"/>
          <p:cNvSpPr/>
          <p:nvPr/>
        </p:nvSpPr>
        <p:spPr>
          <a:xfrm>
            <a:off x="487553" y="1402608"/>
            <a:ext cx="5484971"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Reusable Guard Helpers</a:t>
            </a:r>
            <a:endParaRPr lang="en-US" sz="1466" kern="1200" dirty="0">
              <a:solidFill>
                <a:prstClr val="black"/>
              </a:solidFill>
              <a:latin typeface="Calibri" panose="020F0502020204030204"/>
              <a:ea typeface="+mn-ea"/>
              <a:cs typeface="+mn-cs"/>
            </a:endParaRPr>
          </a:p>
        </p:txBody>
      </p:sp>
      <p:sp>
        <p:nvSpPr>
          <p:cNvPr id="7" name="Shape 5"/>
          <p:cNvSpPr/>
          <p:nvPr/>
        </p:nvSpPr>
        <p:spPr>
          <a:xfrm>
            <a:off x="487553" y="1768272"/>
            <a:ext cx="5484971" cy="4753642"/>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70385" y="1890161"/>
            <a:ext cx="5216817" cy="4534243"/>
          </a:xfrm>
          <a:prstGeom prst="rect">
            <a:avLst/>
          </a:prstGeom>
          <a:noFill/>
          <a:ln/>
        </p:spPr>
        <p:txBody>
          <a:bodyPr wrap="square" lIns="0" tIns="0" rIns="0" bIns="0" rtlCol="0" anchor="t"/>
          <a:lstStyle/>
          <a:p>
            <a:pPr defTabSz="1218895">
              <a:buClrTx/>
            </a:pPr>
            <a:r>
              <a:rPr lang="en-US" sz="1173" kern="1200" dirty="0">
                <a:solidFill>
                  <a:srgbClr val="94A3B8"/>
                </a:solidFill>
                <a:latin typeface="Consolas" pitchFamily="34" charset="0"/>
                <a:ea typeface="Consolas" pitchFamily="34" charset="-122"/>
                <a:cs typeface="Consolas" pitchFamily="34" charset="-120"/>
              </a:rPr>
              <a:t>// utils/guards.ts</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import cds from '@sap/cds';</a:t>
            </a:r>
            <a:endParaRPr lang="en-US" sz="1173" kern="1200" dirty="0">
              <a:solidFill>
                <a:prstClr val="black"/>
              </a:solidFill>
              <a:latin typeface="Calibri" panose="020F0502020204030204"/>
              <a:ea typeface="+mn-ea"/>
              <a:cs typeface="+mn-cs"/>
            </a:endParaRPr>
          </a:p>
          <a:p>
            <a:pPr defTabSz="1218895">
              <a:buClrTx/>
            </a:pP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94A3B8"/>
                </a:solidFill>
                <a:latin typeface="Consolas" pitchFamily="34" charset="0"/>
                <a:ea typeface="Consolas" pitchFamily="34" charset="-122"/>
                <a:cs typeface="Consolas" pitchFamily="34" charset="-120"/>
              </a:rPr>
              <a:t>/** Assert service connected, throw if not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export function assertService(</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9A8D4"/>
                </a:solidFill>
                <a:latin typeface="Consolas" pitchFamily="34" charset="0"/>
                <a:ea typeface="Consolas" pitchFamily="34" charset="-122"/>
                <a:cs typeface="Consolas" pitchFamily="34" charset="-120"/>
              </a:rPr>
              <a:t>  svc: cds.Service | null | undefined,</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9A8D4"/>
                </a:solidFill>
                <a:latin typeface="Consolas" pitchFamily="34" charset="0"/>
                <a:ea typeface="Consolas" pitchFamily="34" charset="-122"/>
                <a:cs typeface="Consolas" pitchFamily="34" charset="-120"/>
              </a:rPr>
              <a:t>  name: string</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9A8D4"/>
                </a:solidFill>
                <a:latin typeface="Consolas" pitchFamily="34" charset="0"/>
                <a:ea typeface="Consolas" pitchFamily="34" charset="-122"/>
                <a:cs typeface="Consolas" pitchFamily="34" charset="-120"/>
              </a:rPr>
              <a:t>): asserts svc is cds.Service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if (!svc) throw new Error(</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`Service '${name}' not connected`);</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a:t>
            </a:r>
            <a:endParaRPr lang="en-US" sz="1173" kern="1200" dirty="0">
              <a:solidFill>
                <a:prstClr val="black"/>
              </a:solidFill>
              <a:latin typeface="Calibri" panose="020F0502020204030204"/>
              <a:ea typeface="+mn-ea"/>
              <a:cs typeface="+mn-cs"/>
            </a:endParaRPr>
          </a:p>
          <a:p>
            <a:pPr defTabSz="1218895">
              <a:buClrTx/>
            </a:pP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94A3B8"/>
                </a:solidFill>
                <a:latin typeface="Consolas" pitchFamily="34" charset="0"/>
                <a:ea typeface="Consolas" pitchFamily="34" charset="-122"/>
                <a:cs typeface="Consolas" pitchFamily="34" charset="-120"/>
              </a:rPr>
              <a:t>/** Assert req.data is defined &amp; cast it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export function requireData&lt;T&gt;(</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9A8D4"/>
                </a:solidFill>
                <a:latin typeface="Consolas" pitchFamily="34" charset="0"/>
                <a:ea typeface="Consolas" pitchFamily="34" charset="-122"/>
                <a:cs typeface="Consolas" pitchFamily="34" charset="-120"/>
              </a:rPr>
              <a:t>  req: cds.Request,</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9A8D4"/>
                </a:solidFill>
                <a:latin typeface="Consolas" pitchFamily="34" charset="0"/>
                <a:ea typeface="Consolas" pitchFamily="34" charset="-122"/>
                <a:cs typeface="Consolas" pitchFamily="34" charset="-120"/>
              </a:rPr>
              <a:t>  entity: string</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 T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if (!req.data) req.reject(</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400, `${entity} data required`);</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9A8D4"/>
                </a:solidFill>
                <a:latin typeface="Consolas" pitchFamily="34" charset="0"/>
                <a:ea typeface="Consolas" pitchFamily="34" charset="-122"/>
                <a:cs typeface="Consolas" pitchFamily="34" charset="-120"/>
              </a:rPr>
              <a:t>  return req.data as T;</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a:t>
            </a:r>
            <a:endParaRPr lang="en-US" sz="1173" kern="1200" dirty="0">
              <a:solidFill>
                <a:prstClr val="black"/>
              </a:solidFill>
              <a:latin typeface="Calibri" panose="020F0502020204030204"/>
              <a:ea typeface="+mn-ea"/>
              <a:cs typeface="+mn-cs"/>
            </a:endParaRPr>
          </a:p>
          <a:p>
            <a:pPr defTabSz="1218895">
              <a:buClrTx/>
            </a:pP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94A3B8"/>
                </a:solidFill>
                <a:latin typeface="Consolas" pitchFamily="34" charset="0"/>
                <a:ea typeface="Consolas" pitchFamily="34" charset="-122"/>
                <a:cs typeface="Consolas" pitchFamily="34" charset="-120"/>
              </a:rPr>
              <a:t>/** Assert SELECT result is not null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export function requireFound&lt;T&gt;(</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9A8D4"/>
                </a:solidFill>
                <a:latin typeface="Consolas" pitchFamily="34" charset="0"/>
                <a:ea typeface="Consolas" pitchFamily="34" charset="-122"/>
                <a:cs typeface="Consolas" pitchFamily="34" charset="-120"/>
              </a:rPr>
              <a:t>  item: T | null | undefined,</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9A8D4"/>
                </a:solidFill>
                <a:latin typeface="Consolas" pitchFamily="34" charset="0"/>
                <a:ea typeface="Consolas" pitchFamily="34" charset="-122"/>
                <a:cs typeface="Consolas" pitchFamily="34" charset="-120"/>
              </a:rPr>
              <a:t>  id: string</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9A8D4"/>
                </a:solidFill>
                <a:latin typeface="Consolas" pitchFamily="34" charset="0"/>
                <a:ea typeface="Consolas" pitchFamily="34" charset="-122"/>
                <a:cs typeface="Consolas" pitchFamily="34" charset="-120"/>
              </a:rPr>
              <a:t>): asserts item is T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if (!item) throw Object.assign(</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new Error(`Not found: ${id}`),</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 status: 404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a:t>
            </a:r>
            <a:endParaRPr lang="en-US" sz="1173" kern="1200" dirty="0">
              <a:solidFill>
                <a:prstClr val="black"/>
              </a:solidFill>
              <a:latin typeface="Calibri" panose="020F0502020204030204"/>
              <a:ea typeface="+mn-ea"/>
              <a:cs typeface="+mn-cs"/>
            </a:endParaRPr>
          </a:p>
        </p:txBody>
      </p:sp>
      <p:sp>
        <p:nvSpPr>
          <p:cNvPr id="9" name="Text 7"/>
          <p:cNvSpPr/>
          <p:nvPr/>
        </p:nvSpPr>
        <p:spPr>
          <a:xfrm>
            <a:off x="6277244" y="1402608"/>
            <a:ext cx="5606860"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Complete Null-Safe Handler</a:t>
            </a:r>
            <a:endParaRPr lang="en-US" sz="1466" kern="1200" dirty="0">
              <a:solidFill>
                <a:prstClr val="black"/>
              </a:solidFill>
              <a:latin typeface="Calibri" panose="020F0502020204030204"/>
              <a:ea typeface="+mn-ea"/>
              <a:cs typeface="+mn-cs"/>
            </a:endParaRPr>
          </a:p>
        </p:txBody>
      </p:sp>
      <p:sp>
        <p:nvSpPr>
          <p:cNvPr id="10" name="Shape 8"/>
          <p:cNvSpPr/>
          <p:nvPr/>
        </p:nvSpPr>
        <p:spPr>
          <a:xfrm>
            <a:off x="6277244" y="1768272"/>
            <a:ext cx="5606860" cy="4753642"/>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6460077" y="1890161"/>
            <a:ext cx="5338705" cy="4534243"/>
          </a:xfrm>
          <a:prstGeom prst="rect">
            <a:avLst/>
          </a:prstGeom>
          <a:noFill/>
          <a:ln/>
        </p:spPr>
        <p:txBody>
          <a:bodyPr wrap="square" lIns="0" tIns="0" rIns="0" bIns="0" rtlCol="0" anchor="t"/>
          <a:lstStyle/>
          <a:p>
            <a:pPr defTabSz="1218895">
              <a:buClrTx/>
            </a:pPr>
            <a:r>
              <a:rPr lang="en-US" sz="1173" kern="1200" dirty="0">
                <a:solidFill>
                  <a:srgbClr val="818CF8"/>
                </a:solidFill>
                <a:latin typeface="Consolas" pitchFamily="34" charset="0"/>
                <a:ea typeface="Consolas" pitchFamily="34" charset="-122"/>
                <a:cs typeface="Consolas" pitchFamily="34" charset="-120"/>
              </a:rPr>
              <a:t>import cds from '@sap/cds';</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import {assertService,requireData,</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        requireFound} from './guards';</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import type { Order, BookId } from './types';</a:t>
            </a:r>
            <a:endParaRPr lang="en-US" sz="1173" kern="1200" dirty="0">
              <a:solidFill>
                <a:prstClr val="black"/>
              </a:solidFill>
              <a:latin typeface="Calibri" panose="020F0502020204030204"/>
              <a:ea typeface="+mn-ea"/>
              <a:cs typeface="+mn-cs"/>
            </a:endParaRPr>
          </a:p>
          <a:p>
            <a:pPr defTabSz="1218895">
              <a:buClrTx/>
            </a:pP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export default class OrderService</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9A8D4"/>
                </a:solidFill>
                <a:latin typeface="Consolas" pitchFamily="34" charset="0"/>
                <a:ea typeface="Consolas" pitchFamily="34" charset="-122"/>
                <a:cs typeface="Consolas" pitchFamily="34" charset="-120"/>
              </a:rPr>
              <a:t>  extends cds.ApplicationService {</a:t>
            </a:r>
            <a:endParaRPr lang="en-US" sz="1173" kern="1200" dirty="0">
              <a:solidFill>
                <a:prstClr val="black"/>
              </a:solidFill>
              <a:latin typeface="Calibri" panose="020F0502020204030204"/>
              <a:ea typeface="+mn-ea"/>
              <a:cs typeface="+mn-cs"/>
            </a:endParaRPr>
          </a:p>
          <a:p>
            <a:pPr defTabSz="1218895">
              <a:buClrTx/>
            </a:pP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9A8D4"/>
                </a:solidFill>
                <a:latin typeface="Consolas" pitchFamily="34" charset="0"/>
                <a:ea typeface="Consolas" pitchFamily="34" charset="-122"/>
                <a:cs typeface="Consolas" pitchFamily="34" charset="-120"/>
              </a:rPr>
              <a:t>  private bookSvc!: cds.Service;</a:t>
            </a:r>
            <a:endParaRPr lang="en-US" sz="1173" kern="1200" dirty="0">
              <a:solidFill>
                <a:prstClr val="black"/>
              </a:solidFill>
              <a:latin typeface="Calibri" panose="020F0502020204030204"/>
              <a:ea typeface="+mn-ea"/>
              <a:cs typeface="+mn-cs"/>
            </a:endParaRPr>
          </a:p>
          <a:p>
            <a:pPr defTabSz="1218895">
              <a:buClrTx/>
            </a:pP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  async init(): Promise&lt;void&gt;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94A3B8"/>
                </a:solidFill>
                <a:latin typeface="Consolas" pitchFamily="34" charset="0"/>
                <a:ea typeface="Consolas" pitchFamily="34" charset="-122"/>
                <a:cs typeface="Consolas" pitchFamily="34" charset="-120"/>
              </a:rPr>
              <a:t>    // Zone 1: guard connect()</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const svc = await cds.connect.to('Books');</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4ADE80"/>
                </a:solidFill>
                <a:latin typeface="Consolas" pitchFamily="34" charset="0"/>
                <a:ea typeface="Consolas" pitchFamily="34" charset="-122"/>
                <a:cs typeface="Consolas" pitchFamily="34" charset="-120"/>
              </a:rPr>
              <a:t>    assertService(svc, 'Books');</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this.bookSvc = svc;</a:t>
            </a:r>
            <a:endParaRPr lang="en-US" sz="1173" kern="1200" dirty="0">
              <a:solidFill>
                <a:prstClr val="black"/>
              </a:solidFill>
              <a:latin typeface="Calibri" panose="020F0502020204030204"/>
              <a:ea typeface="+mn-ea"/>
              <a:cs typeface="+mn-cs"/>
            </a:endParaRPr>
          </a:p>
          <a:p>
            <a:pPr defTabSz="1218895">
              <a:buClrTx/>
            </a:pP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this.on('CREATE','Orders',</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req =&gt; this.onCreate(req));</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return super.init();</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a:t>
            </a:r>
            <a:endParaRPr lang="en-US" sz="1173" kern="1200" dirty="0">
              <a:solidFill>
                <a:prstClr val="black"/>
              </a:solidFill>
              <a:latin typeface="Calibri" panose="020F0502020204030204"/>
              <a:ea typeface="+mn-ea"/>
              <a:cs typeface="+mn-cs"/>
            </a:endParaRPr>
          </a:p>
          <a:p>
            <a:pPr defTabSz="1218895">
              <a:buClrTx/>
            </a:pP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  async onCreate(req: cds.Request): Promise&lt;Order&gt;{</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94A3B8"/>
                </a:solidFill>
                <a:latin typeface="Consolas" pitchFamily="34" charset="0"/>
                <a:ea typeface="Consolas" pitchFamily="34" charset="-122"/>
                <a:cs typeface="Consolas" pitchFamily="34" charset="-120"/>
              </a:rPr>
              <a:t>    // Zone 2: guard req.data</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4ADE80"/>
                </a:solidFill>
                <a:latin typeface="Consolas" pitchFamily="34" charset="0"/>
                <a:ea typeface="Consolas" pitchFamily="34" charset="-122"/>
                <a:cs typeface="Consolas" pitchFamily="34" charset="-120"/>
              </a:rPr>
              <a:t>    const data = requireData&lt;Order&gt;(req,'Order');</a:t>
            </a:r>
            <a:endParaRPr lang="en-US" sz="1173" kern="1200" dirty="0">
              <a:solidFill>
                <a:prstClr val="black"/>
              </a:solidFill>
              <a:latin typeface="Calibri" panose="020F0502020204030204"/>
              <a:ea typeface="+mn-ea"/>
              <a:cs typeface="+mn-cs"/>
            </a:endParaRPr>
          </a:p>
          <a:p>
            <a:pPr defTabSz="1218895">
              <a:buClrTx/>
            </a:pP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94A3B8"/>
                </a:solidFill>
                <a:latin typeface="Consolas" pitchFamily="34" charset="0"/>
                <a:ea typeface="Consolas" pitchFamily="34" charset="-122"/>
                <a:cs typeface="Consolas" pitchFamily="34" charset="-120"/>
              </a:rPr>
              <a:t>    // Zone 3: guard SELECT result</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const book = await SELECT.one</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.from('Books').where({ID: data.book_ID});</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4ADE80"/>
                </a:solidFill>
                <a:latin typeface="Consolas" pitchFamily="34" charset="0"/>
                <a:ea typeface="Consolas" pitchFamily="34" charset="-122"/>
                <a:cs typeface="Consolas" pitchFamily="34" charset="-120"/>
              </a:rPr>
              <a:t>    requireFound(book, data.book_ID);</a:t>
            </a:r>
            <a:endParaRPr lang="en-US" sz="1173" kern="1200" dirty="0">
              <a:solidFill>
                <a:prstClr val="black"/>
              </a:solidFill>
              <a:latin typeface="Calibri" panose="020F0502020204030204"/>
              <a:ea typeface="+mn-ea"/>
              <a:cs typeface="+mn-cs"/>
            </a:endParaRPr>
          </a:p>
          <a:p>
            <a:pPr defTabSz="1218895">
              <a:buClrTx/>
            </a:pP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return INSERT.into('Orders').entries(data);</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a:t>
            </a:r>
            <a:endParaRPr lang="en-US" sz="1173" kern="1200" dirty="0">
              <a:solidFill>
                <a:prstClr val="black"/>
              </a:solidFill>
              <a:latin typeface="Calibri" panose="020F0502020204030204"/>
              <a:ea typeface="+mn-ea"/>
              <a:cs typeface="+mn-cs"/>
            </a:endParaRPr>
          </a:p>
        </p:txBody>
      </p:sp>
      <p:pic>
        <p:nvPicPr>
          <p:cNvPr id="12" name="Google Shape;497;p1">
            <a:extLst>
              <a:ext uri="{FF2B5EF4-FFF2-40B4-BE49-F238E27FC236}">
                <a16:creationId xmlns:a16="http://schemas.microsoft.com/office/drawing/2014/main" id="{F3D0944A-7CC4-DF0A-01F6-116381DE8260}"/>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59669"/>
          </a:solidFill>
          <a:ln w="12700">
            <a:solidFill>
              <a:srgbClr val="059669"/>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8  </a:t>
            </a:r>
            <a:r>
              <a:rPr lang="en-US" sz="3333" b="1" kern="1200" dirty="0">
                <a:solidFill>
                  <a:srgbClr val="FFFFFF"/>
                </a:solidFill>
                <a:latin typeface="Calibri" pitchFamily="34" charset="0"/>
                <a:ea typeface="Calibri" pitchFamily="34" charset="-122"/>
                <a:cs typeface="Calibri" pitchFamily="34" charset="-120"/>
              </a:rPr>
              <a:t>Verify: tsc --noEmit  +  Jest Test Suite</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Final verification · compilation clean + all existing tests pass unchanged</a:t>
            </a:r>
            <a:endParaRPr lang="en-US" kern="1200" dirty="0">
              <a:solidFill>
                <a:prstClr val="black"/>
              </a:solidFill>
              <a:latin typeface="Calibri" panose="020F0502020204030204"/>
              <a:ea typeface="+mn-ea"/>
              <a:cs typeface="+mn-cs"/>
            </a:endParaRPr>
          </a:p>
        </p:txBody>
      </p:sp>
      <p:sp>
        <p:nvSpPr>
          <p:cNvPr id="6" name="Text 4"/>
          <p:cNvSpPr/>
          <p:nvPr/>
        </p:nvSpPr>
        <p:spPr>
          <a:xfrm>
            <a:off x="487553" y="1402608"/>
            <a:ext cx="5484971"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Step 1 — Type Check All Files</a:t>
            </a:r>
            <a:endParaRPr lang="en-US" sz="1466" kern="1200" dirty="0">
              <a:solidFill>
                <a:prstClr val="black"/>
              </a:solidFill>
              <a:latin typeface="Calibri" panose="020F0502020204030204"/>
              <a:ea typeface="+mn-ea"/>
              <a:cs typeface="+mn-cs"/>
            </a:endParaRPr>
          </a:p>
        </p:txBody>
      </p:sp>
      <p:sp>
        <p:nvSpPr>
          <p:cNvPr id="7" name="Shape 5"/>
          <p:cNvSpPr/>
          <p:nvPr/>
        </p:nvSpPr>
        <p:spPr>
          <a:xfrm>
            <a:off x="487553" y="1768273"/>
            <a:ext cx="5484971" cy="2011156"/>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70385" y="1890161"/>
            <a:ext cx="5216817" cy="1791757"/>
          </a:xfrm>
          <a:prstGeom prst="rect">
            <a:avLst/>
          </a:prstGeom>
          <a:noFill/>
          <a:ln/>
        </p:spPr>
        <p:txBody>
          <a:bodyPr wrap="square" lIns="0" tIns="0" rIns="0" bIns="0" rtlCol="0" anchor="t"/>
          <a:lstStyle/>
          <a:p>
            <a:pPr defTabSz="1218895">
              <a:buClrTx/>
            </a:pPr>
            <a:r>
              <a:rPr lang="en-US" sz="1266" kern="1200" dirty="0">
                <a:solidFill>
                  <a:srgbClr val="94A3B8"/>
                </a:solidFill>
                <a:latin typeface="Consolas" pitchFamily="34" charset="0"/>
                <a:ea typeface="Consolas" pitchFamily="34" charset="-122"/>
                <a:cs typeface="Consolas" pitchFamily="34" charset="-120"/>
              </a:rPr>
              <a:t># Type-check every .ts file in the project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npx tsc --noEmit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SUCCESS: no output, exit code 0</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FAILURE: errors listed with file:line:col</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Strict check on a single file:</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npx tsc --noEmit --strict srv/CatalogService.ts</a:t>
            </a:r>
            <a:endParaRPr lang="en-US" sz="1266" kern="1200" dirty="0">
              <a:solidFill>
                <a:prstClr val="black"/>
              </a:solidFill>
              <a:latin typeface="Calibri" panose="020F0502020204030204"/>
              <a:ea typeface="+mn-ea"/>
              <a:cs typeface="+mn-cs"/>
            </a:endParaRPr>
          </a:p>
        </p:txBody>
      </p:sp>
      <p:sp>
        <p:nvSpPr>
          <p:cNvPr id="9" name="Text 7"/>
          <p:cNvSpPr/>
          <p:nvPr/>
        </p:nvSpPr>
        <p:spPr>
          <a:xfrm>
            <a:off x="487553" y="3876939"/>
            <a:ext cx="5484971"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Step 2 — jest.config.js for ts-jest</a:t>
            </a:r>
            <a:endParaRPr lang="en-US" sz="1466" kern="1200" dirty="0">
              <a:solidFill>
                <a:prstClr val="black"/>
              </a:solidFill>
              <a:latin typeface="Calibri" panose="020F0502020204030204"/>
              <a:ea typeface="+mn-ea"/>
              <a:cs typeface="+mn-cs"/>
            </a:endParaRPr>
          </a:p>
        </p:txBody>
      </p:sp>
      <p:sp>
        <p:nvSpPr>
          <p:cNvPr id="10" name="Shape 8"/>
          <p:cNvSpPr/>
          <p:nvPr/>
        </p:nvSpPr>
        <p:spPr>
          <a:xfrm>
            <a:off x="487553" y="4242604"/>
            <a:ext cx="5484971" cy="2462143"/>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670385" y="4364492"/>
            <a:ext cx="5216817" cy="2242744"/>
          </a:xfrm>
          <a:prstGeom prst="rect">
            <a:avLst/>
          </a:prstGeom>
          <a:noFill/>
          <a:ln/>
        </p:spPr>
        <p:txBody>
          <a:bodyPr wrap="square" lIns="0" tIns="0" rIns="0" bIns="0" rtlCol="0" anchor="t"/>
          <a:lstStyle/>
          <a:p>
            <a:pPr defTabSz="1218895">
              <a:buClrTx/>
            </a:pPr>
            <a:r>
              <a:rPr lang="en-US" sz="1266" kern="1200" dirty="0">
                <a:solidFill>
                  <a:srgbClr val="94A3B8"/>
                </a:solidFill>
                <a:latin typeface="Consolas" pitchFamily="34" charset="0"/>
                <a:ea typeface="Consolas" pitchFamily="34" charset="-122"/>
                <a:cs typeface="Consolas" pitchFamily="34" charset="-120"/>
              </a:rPr>
              <a:t>// jest.config.js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module.exports =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preset: 'ts-jest',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testEnvironment: 'node',</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globals: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'ts-jest':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tsconfig: './tsconfig.json',</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testMatch: ['**/test/**/*.test.{ts,js}'],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p:txBody>
      </p:sp>
      <p:sp>
        <p:nvSpPr>
          <p:cNvPr id="12" name="Text 10"/>
          <p:cNvSpPr/>
          <p:nvPr/>
        </p:nvSpPr>
        <p:spPr>
          <a:xfrm>
            <a:off x="6277244" y="1402608"/>
            <a:ext cx="5606860" cy="341287"/>
          </a:xfrm>
          <a:prstGeom prst="rect">
            <a:avLst/>
          </a:prstGeom>
          <a:noFill/>
          <a:ln/>
        </p:spPr>
        <p:txBody>
          <a:bodyPr wrap="square" lIns="0" tIns="0" rIns="0" bIns="0" rtlCol="0" anchor="ctr"/>
          <a:lstStyle/>
          <a:p>
            <a:pPr defTabSz="1218895">
              <a:buClrTx/>
            </a:pPr>
            <a:r>
              <a:rPr lang="en-US" sz="1466" b="1" kern="1200" dirty="0">
                <a:solidFill>
                  <a:srgbClr val="10B981"/>
                </a:solidFill>
                <a:latin typeface="Calibri" pitchFamily="34" charset="0"/>
                <a:ea typeface="Calibri" pitchFamily="34" charset="-122"/>
                <a:cs typeface="Calibri" pitchFamily="34" charset="-120"/>
              </a:rPr>
              <a:t>Expected Output — All Green ✅</a:t>
            </a:r>
            <a:endParaRPr lang="en-US" sz="1466" kern="1200" dirty="0">
              <a:solidFill>
                <a:prstClr val="black"/>
              </a:solidFill>
              <a:latin typeface="Calibri" panose="020F0502020204030204"/>
              <a:ea typeface="+mn-ea"/>
              <a:cs typeface="+mn-cs"/>
            </a:endParaRPr>
          </a:p>
        </p:txBody>
      </p:sp>
      <p:sp>
        <p:nvSpPr>
          <p:cNvPr id="13" name="Shape 11"/>
          <p:cNvSpPr/>
          <p:nvPr/>
        </p:nvSpPr>
        <p:spPr>
          <a:xfrm>
            <a:off x="6277244" y="1768273"/>
            <a:ext cx="5606860" cy="3534759"/>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6460077" y="1890161"/>
            <a:ext cx="5338705" cy="3315360"/>
          </a:xfrm>
          <a:prstGeom prst="rect">
            <a:avLst/>
          </a:prstGeom>
          <a:noFill/>
          <a:ln/>
        </p:spPr>
        <p:txBody>
          <a:bodyPr wrap="square" lIns="0" tIns="0" rIns="0" bIns="0" rtlCol="0" anchor="t"/>
          <a:lstStyle/>
          <a:p>
            <a:pPr defTabSz="1218895">
              <a:buClrTx/>
            </a:pPr>
            <a:r>
              <a:rPr lang="en-US" sz="1266" kern="1200" dirty="0">
                <a:solidFill>
                  <a:srgbClr val="94A3B8"/>
                </a:solidFill>
                <a:latin typeface="Consolas" pitchFamily="34" charset="0"/>
                <a:ea typeface="Consolas" pitchFamily="34" charset="-122"/>
                <a:cs typeface="Consolas" pitchFamily="34" charset="-120"/>
              </a:rPr>
              <a:t>$ npm run build  # tsc --noEmit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(no output — success!)</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npm test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PASS  test/utils.test.js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payload-transformer</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 flattens response.value array (3ms)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 strips @odata metadata keys (1ms)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 returns [] for empty response (1ms)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error-mapper</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 maps 404 to NOT_FOUND (2ms)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 maps 400 to VALIDATION (1ms)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 extracts innererror details (1ms)</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Tests: 6 passed, 6 total</a:t>
            </a:r>
            <a:endParaRPr lang="en-US" sz="1266" kern="1200" dirty="0">
              <a:solidFill>
                <a:prstClr val="black"/>
              </a:solidFill>
              <a:latin typeface="Calibri" panose="020F0502020204030204"/>
              <a:ea typeface="+mn-ea"/>
              <a:cs typeface="+mn-cs"/>
            </a:endParaRPr>
          </a:p>
        </p:txBody>
      </p:sp>
      <p:sp>
        <p:nvSpPr>
          <p:cNvPr id="15" name="Shape 13"/>
          <p:cNvSpPr/>
          <p:nvPr/>
        </p:nvSpPr>
        <p:spPr>
          <a:xfrm>
            <a:off x="6277244" y="5388354"/>
            <a:ext cx="5606860" cy="1316393"/>
          </a:xfrm>
          <a:prstGeom prst="rect">
            <a:avLst/>
          </a:prstGeom>
          <a:solidFill>
            <a:srgbClr val="ECFDF5"/>
          </a:solidFill>
          <a:ln w="12700">
            <a:solidFill>
              <a:srgbClr val="6EE7B7"/>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6435699" y="5437109"/>
            <a:ext cx="5241195" cy="316909"/>
          </a:xfrm>
          <a:prstGeom prst="rect">
            <a:avLst/>
          </a:prstGeom>
          <a:noFill/>
          <a:ln/>
        </p:spPr>
        <p:txBody>
          <a:bodyPr wrap="square" lIns="0" tIns="0" rIns="0" bIns="0" rtlCol="0" anchor="ctr"/>
          <a:lstStyle/>
          <a:p>
            <a:pPr defTabSz="1218895">
              <a:buClrTx/>
            </a:pPr>
            <a:r>
              <a:rPr lang="en-US" b="1" kern="1200" dirty="0">
                <a:solidFill>
                  <a:srgbClr val="065F46"/>
                </a:solidFill>
                <a:latin typeface="Calibri" pitchFamily="34" charset="0"/>
                <a:ea typeface="Calibri" pitchFamily="34" charset="-122"/>
                <a:cs typeface="Calibri" pitchFamily="34" charset="-120"/>
              </a:rPr>
              <a:t>Done-Done Checklist</a:t>
            </a:r>
            <a:endParaRPr lang="en-US" kern="1200" dirty="0">
              <a:solidFill>
                <a:prstClr val="black"/>
              </a:solidFill>
              <a:latin typeface="Calibri" panose="020F0502020204030204"/>
              <a:ea typeface="+mn-ea"/>
              <a:cs typeface="+mn-cs"/>
            </a:endParaRPr>
          </a:p>
        </p:txBody>
      </p:sp>
      <p:sp>
        <p:nvSpPr>
          <p:cNvPr id="17" name="Text 15"/>
          <p:cNvSpPr/>
          <p:nvPr/>
        </p:nvSpPr>
        <p:spPr>
          <a:xfrm>
            <a:off x="6435699" y="5790585"/>
            <a:ext cx="2742486" cy="292532"/>
          </a:xfrm>
          <a:prstGeom prst="rect">
            <a:avLst/>
          </a:prstGeom>
          <a:noFill/>
          <a:ln/>
        </p:spPr>
        <p:txBody>
          <a:bodyPr wrap="square" lIns="0" tIns="0" rIns="0" bIns="0" rtlCol="0" anchor="ctr"/>
          <a:lstStyle/>
          <a:p>
            <a:pPr defTabSz="1218895">
              <a:buClrTx/>
            </a:pPr>
            <a:r>
              <a:rPr lang="en-US" sz="1133" kern="1200" dirty="0">
                <a:solidFill>
                  <a:srgbClr val="065F46"/>
                </a:solidFill>
                <a:latin typeface="Calibri" pitchFamily="34" charset="0"/>
                <a:ea typeface="Calibri" pitchFamily="34" charset="-122"/>
                <a:cs typeface="Calibri" pitchFamily="34" charset="-120"/>
              </a:rPr>
              <a:t>✅  tsc --noEmit exits with code 0</a:t>
            </a:r>
            <a:endParaRPr lang="en-US" sz="1133" kern="1200" dirty="0">
              <a:solidFill>
                <a:prstClr val="black"/>
              </a:solidFill>
              <a:latin typeface="Calibri" panose="020F0502020204030204"/>
              <a:ea typeface="+mn-ea"/>
              <a:cs typeface="+mn-cs"/>
            </a:endParaRPr>
          </a:p>
        </p:txBody>
      </p:sp>
      <p:sp>
        <p:nvSpPr>
          <p:cNvPr id="18" name="Text 16"/>
          <p:cNvSpPr/>
          <p:nvPr/>
        </p:nvSpPr>
        <p:spPr>
          <a:xfrm>
            <a:off x="9239129" y="5790585"/>
            <a:ext cx="2742486" cy="292532"/>
          </a:xfrm>
          <a:prstGeom prst="rect">
            <a:avLst/>
          </a:prstGeom>
          <a:noFill/>
          <a:ln/>
        </p:spPr>
        <p:txBody>
          <a:bodyPr wrap="square" lIns="0" tIns="0" rIns="0" bIns="0" rtlCol="0" anchor="ctr"/>
          <a:lstStyle/>
          <a:p>
            <a:pPr defTabSz="1218895">
              <a:buClrTx/>
            </a:pPr>
            <a:r>
              <a:rPr lang="en-US" sz="1133" kern="1200" dirty="0">
                <a:solidFill>
                  <a:srgbClr val="065F46"/>
                </a:solidFill>
                <a:latin typeface="Calibri" pitchFamily="34" charset="0"/>
                <a:ea typeface="Calibri" pitchFamily="34" charset="-122"/>
                <a:cs typeface="Calibri" pitchFamily="34" charset="-120"/>
              </a:rPr>
              <a:t>✅  No @ts-ignore anywhere</a:t>
            </a:r>
            <a:endParaRPr lang="en-US" sz="1133" kern="1200" dirty="0">
              <a:solidFill>
                <a:prstClr val="black"/>
              </a:solidFill>
              <a:latin typeface="Calibri" panose="020F0502020204030204"/>
              <a:ea typeface="+mn-ea"/>
              <a:cs typeface="+mn-cs"/>
            </a:endParaRPr>
          </a:p>
        </p:txBody>
      </p:sp>
      <p:sp>
        <p:nvSpPr>
          <p:cNvPr id="19" name="Text 17"/>
          <p:cNvSpPr/>
          <p:nvPr/>
        </p:nvSpPr>
        <p:spPr>
          <a:xfrm>
            <a:off x="6435699" y="6083117"/>
            <a:ext cx="2742486" cy="292532"/>
          </a:xfrm>
          <a:prstGeom prst="rect">
            <a:avLst/>
          </a:prstGeom>
          <a:noFill/>
          <a:ln/>
        </p:spPr>
        <p:txBody>
          <a:bodyPr wrap="square" lIns="0" tIns="0" rIns="0" bIns="0" rtlCol="0" anchor="ctr"/>
          <a:lstStyle/>
          <a:p>
            <a:pPr defTabSz="1218895">
              <a:buClrTx/>
            </a:pPr>
            <a:r>
              <a:rPr lang="en-US" sz="1133" kern="1200" dirty="0">
                <a:solidFill>
                  <a:srgbClr val="065F46"/>
                </a:solidFill>
                <a:latin typeface="Calibri" pitchFamily="34" charset="0"/>
                <a:ea typeface="Calibri" pitchFamily="34" charset="-122"/>
                <a:cs typeface="Calibri" pitchFamily="34" charset="-120"/>
              </a:rPr>
              <a:t>✅  All 6 Jest tests pass unchanged</a:t>
            </a:r>
            <a:endParaRPr lang="en-US" sz="1133" kern="1200" dirty="0">
              <a:solidFill>
                <a:prstClr val="black"/>
              </a:solidFill>
              <a:latin typeface="Calibri" panose="020F0502020204030204"/>
              <a:ea typeface="+mn-ea"/>
              <a:cs typeface="+mn-cs"/>
            </a:endParaRPr>
          </a:p>
        </p:txBody>
      </p:sp>
      <p:sp>
        <p:nvSpPr>
          <p:cNvPr id="20" name="Text 18"/>
          <p:cNvSpPr/>
          <p:nvPr/>
        </p:nvSpPr>
        <p:spPr>
          <a:xfrm>
            <a:off x="9239129" y="6083117"/>
            <a:ext cx="2742486" cy="292532"/>
          </a:xfrm>
          <a:prstGeom prst="rect">
            <a:avLst/>
          </a:prstGeom>
          <a:noFill/>
          <a:ln/>
        </p:spPr>
        <p:txBody>
          <a:bodyPr wrap="square" lIns="0" tIns="0" rIns="0" bIns="0" rtlCol="0" anchor="ctr"/>
          <a:lstStyle/>
          <a:p>
            <a:pPr defTabSz="1218895">
              <a:buClrTx/>
            </a:pPr>
            <a:r>
              <a:rPr lang="en-US" sz="1133" kern="1200" dirty="0">
                <a:solidFill>
                  <a:srgbClr val="065F46"/>
                </a:solidFill>
                <a:latin typeface="Calibri" pitchFamily="34" charset="0"/>
                <a:ea typeface="Calibri" pitchFamily="34" charset="-122"/>
                <a:cs typeface="Calibri" pitchFamily="34" charset="-120"/>
              </a:rPr>
              <a:t>✅  No business logic modified</a:t>
            </a:r>
            <a:endParaRPr lang="en-US" sz="1133" kern="1200" dirty="0">
              <a:solidFill>
                <a:prstClr val="black"/>
              </a:solidFill>
              <a:latin typeface="Calibri" panose="020F0502020204030204"/>
              <a:ea typeface="+mn-ea"/>
              <a:cs typeface="+mn-cs"/>
            </a:endParaRPr>
          </a:p>
        </p:txBody>
      </p:sp>
      <p:sp>
        <p:nvSpPr>
          <p:cNvPr id="21" name="Text 19"/>
          <p:cNvSpPr/>
          <p:nvPr/>
        </p:nvSpPr>
        <p:spPr>
          <a:xfrm>
            <a:off x="6435699" y="6375648"/>
            <a:ext cx="2742486" cy="292532"/>
          </a:xfrm>
          <a:prstGeom prst="rect">
            <a:avLst/>
          </a:prstGeom>
          <a:noFill/>
          <a:ln/>
        </p:spPr>
        <p:txBody>
          <a:bodyPr wrap="square" lIns="0" tIns="0" rIns="0" bIns="0" rtlCol="0" anchor="ctr"/>
          <a:lstStyle/>
          <a:p>
            <a:pPr defTabSz="1218895">
              <a:buClrTx/>
            </a:pPr>
            <a:r>
              <a:rPr lang="en-US" sz="1133" kern="1200" dirty="0">
                <a:solidFill>
                  <a:srgbClr val="065F46"/>
                </a:solidFill>
                <a:latin typeface="Calibri" pitchFamily="34" charset="0"/>
                <a:ea typeface="Calibri" pitchFamily="34" charset="-122"/>
                <a:cs typeface="Calibri" pitchFamily="34" charset="-120"/>
              </a:rPr>
              <a:t>✅  No as any workarounds</a:t>
            </a:r>
            <a:endParaRPr lang="en-US" sz="1133" kern="1200" dirty="0">
              <a:solidFill>
                <a:prstClr val="black"/>
              </a:solidFill>
              <a:latin typeface="Calibri" panose="020F0502020204030204"/>
              <a:ea typeface="+mn-ea"/>
              <a:cs typeface="+mn-cs"/>
            </a:endParaRPr>
          </a:p>
        </p:txBody>
      </p:sp>
      <p:sp>
        <p:nvSpPr>
          <p:cNvPr id="22" name="Text 20"/>
          <p:cNvSpPr/>
          <p:nvPr/>
        </p:nvSpPr>
        <p:spPr>
          <a:xfrm>
            <a:off x="9239129" y="6375648"/>
            <a:ext cx="2742486" cy="292532"/>
          </a:xfrm>
          <a:prstGeom prst="rect">
            <a:avLst/>
          </a:prstGeom>
          <a:noFill/>
          <a:ln/>
        </p:spPr>
        <p:txBody>
          <a:bodyPr wrap="square" lIns="0" tIns="0" rIns="0" bIns="0" rtlCol="0" anchor="ctr"/>
          <a:lstStyle/>
          <a:p>
            <a:pPr defTabSz="1218895">
              <a:buClrTx/>
            </a:pPr>
            <a:r>
              <a:rPr lang="en-US" sz="1133" kern="1200" dirty="0">
                <a:solidFill>
                  <a:srgbClr val="065F46"/>
                </a:solidFill>
                <a:latin typeface="Calibri" pitchFamily="34" charset="0"/>
                <a:ea typeface="Calibri" pitchFamily="34" charset="-122"/>
                <a:cs typeface="Calibri" pitchFamily="34" charset="-120"/>
              </a:rPr>
              <a:t>✅  Branded types applied to all IDs</a:t>
            </a:r>
            <a:endParaRPr lang="en-US" sz="1133" kern="1200" dirty="0">
              <a:solidFill>
                <a:prstClr val="black"/>
              </a:solidFill>
              <a:latin typeface="Calibri" panose="020F0502020204030204"/>
              <a:ea typeface="+mn-ea"/>
              <a:cs typeface="+mn-cs"/>
            </a:endParaRPr>
          </a:p>
        </p:txBody>
      </p:sp>
      <p:pic>
        <p:nvPicPr>
          <p:cNvPr id="23" name="Google Shape;497;p1">
            <a:extLst>
              <a:ext uri="{FF2B5EF4-FFF2-40B4-BE49-F238E27FC236}">
                <a16:creationId xmlns:a16="http://schemas.microsoft.com/office/drawing/2014/main" id="{9D1DBDE7-DC13-EBDD-21C1-F3516415E39C}"/>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FFFFF"/>
                </a:solidFill>
                <a:latin typeface="Calibri" pitchFamily="34" charset="0"/>
                <a:ea typeface="Calibri" pitchFamily="34" charset="-122"/>
                <a:cs typeface="Calibri" pitchFamily="34" charset="-120"/>
              </a:rPr>
              <a:t>Quick Reference — Complete Migration Cheat Sheet</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Reference · all patterns, commands, and gotchas in one slide</a:t>
            </a:r>
            <a:endParaRPr lang="en-US" kern="1200" dirty="0">
              <a:solidFill>
                <a:prstClr val="black"/>
              </a:solidFill>
              <a:latin typeface="Calibri" panose="020F0502020204030204"/>
              <a:ea typeface="+mn-ea"/>
              <a:cs typeface="+mn-cs"/>
            </a:endParaRPr>
          </a:p>
        </p:txBody>
      </p:sp>
      <p:graphicFrame>
        <p:nvGraphicFramePr>
          <p:cNvPr id="18" name="Table 0"/>
          <p:cNvGraphicFramePr>
            <a:graphicFrameLocks noGrp="1"/>
          </p:cNvGraphicFramePr>
          <p:nvPr/>
        </p:nvGraphicFramePr>
        <p:xfrm>
          <a:off x="426609" y="1402608"/>
          <a:ext cx="11335608" cy="5241192"/>
        </p:xfrm>
        <a:graphic>
          <a:graphicData uri="http://schemas.openxmlformats.org/drawingml/2006/table">
            <a:tbl>
              <a:tblPr/>
              <a:tblGrid>
                <a:gridCol w="3778536">
                  <a:extLst>
                    <a:ext uri="{9D8B030D-6E8A-4147-A177-3AD203B41FA5}">
                      <a16:colId xmlns:a16="http://schemas.microsoft.com/office/drawing/2014/main" val="20000"/>
                    </a:ext>
                  </a:extLst>
                </a:gridCol>
                <a:gridCol w="4144201">
                  <a:extLst>
                    <a:ext uri="{9D8B030D-6E8A-4147-A177-3AD203B41FA5}">
                      <a16:colId xmlns:a16="http://schemas.microsoft.com/office/drawing/2014/main" val="20001"/>
                    </a:ext>
                  </a:extLst>
                </a:gridCol>
                <a:gridCol w="3412871">
                  <a:extLst>
                    <a:ext uri="{9D8B030D-6E8A-4147-A177-3AD203B41FA5}">
                      <a16:colId xmlns:a16="http://schemas.microsoft.com/office/drawing/2014/main" val="20002"/>
                    </a:ext>
                  </a:extLst>
                </a:gridCol>
              </a:tblGrid>
              <a:tr h="436766">
                <a:tc>
                  <a:txBody>
                    <a:bodyPr/>
                    <a:lstStyle/>
                    <a:p>
                      <a:pPr marL="0" indent="0" algn="l">
                        <a:buNone/>
                      </a:pPr>
                      <a:r>
                        <a:rPr lang="en-US" sz="1400" b="1" dirty="0">
                          <a:solidFill>
                            <a:srgbClr val="FFFFFF"/>
                          </a:solidFill>
                          <a:latin typeface="Consolas" pitchFamily="34" charset="0"/>
                          <a:ea typeface="Consolas" pitchFamily="34" charset="-122"/>
                          <a:cs typeface="Consolas" pitchFamily="34" charset="-120"/>
                        </a:rPr>
                        <a:t>JS Pattern / Issue</a:t>
                      </a:r>
                      <a:endParaRPr lang="en-US" sz="14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tc>
                  <a:txBody>
                    <a:bodyPr/>
                    <a:lstStyle/>
                    <a:p>
                      <a:pPr marL="0" indent="0" algn="l">
                        <a:buNone/>
                      </a:pPr>
                      <a:r>
                        <a:rPr lang="en-US" sz="1400" b="1" dirty="0">
                          <a:solidFill>
                            <a:srgbClr val="FFFFFF"/>
                          </a:solidFill>
                          <a:latin typeface="Consolas" pitchFamily="34" charset="0"/>
                          <a:ea typeface="Consolas" pitchFamily="34" charset="-122"/>
                          <a:cs typeface="Consolas" pitchFamily="34" charset="-120"/>
                        </a:rPr>
                        <a:t>TypeScript Fix</a:t>
                      </a:r>
                      <a:endParaRPr lang="en-US" sz="14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436766">
                <a:tc>
                  <a:txBody>
                    <a:bodyPr/>
                    <a:lstStyle/>
                    <a:p>
                      <a:pPr marL="0" indent="0" algn="l">
                        <a:buNone/>
                      </a:pPr>
                      <a:r>
                        <a:rPr lang="en-US" sz="1200" dirty="0">
                          <a:solidFill>
                            <a:srgbClr val="7C2D12"/>
                          </a:solidFill>
                          <a:latin typeface="Consolas" pitchFamily="34" charset="0"/>
                          <a:ea typeface="Consolas" pitchFamily="34" charset="-122"/>
                          <a:cs typeface="Consolas" pitchFamily="34" charset="-120"/>
                        </a:rPr>
                        <a:t>function f(x) {}</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65F46"/>
                          </a:solidFill>
                          <a:latin typeface="Consolas" pitchFamily="34" charset="0"/>
                          <a:ea typeface="Consolas" pitchFamily="34" charset="-122"/>
                          <a:cs typeface="Consolas" pitchFamily="34" charset="-120"/>
                        </a:rPr>
                        <a:t>function f(x: T): R {}</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5"/>
                          </a:solidFill>
                          <a:latin typeface="Calibri" pitchFamily="34" charset="0"/>
                          <a:ea typeface="Calibri" pitchFamily="34" charset="-122"/>
                          <a:cs typeface="Calibri" pitchFamily="34" charset="-120"/>
                        </a:rPr>
                        <a:t>noImplicitAny requires types</a:t>
                      </a:r>
                      <a:endParaRPr lang="en-US" sz="12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6766">
                <a:tc>
                  <a:txBody>
                    <a:bodyPr/>
                    <a:lstStyle/>
                    <a:p>
                      <a:pPr marL="0" indent="0" algn="l">
                        <a:buNone/>
                      </a:pPr>
                      <a:r>
                        <a:rPr lang="en-US" sz="1200" dirty="0">
                          <a:solidFill>
                            <a:srgbClr val="7C2D12"/>
                          </a:solidFill>
                          <a:latin typeface="Consolas" pitchFamily="34" charset="0"/>
                          <a:ea typeface="Consolas" pitchFamily="34" charset="-122"/>
                          <a:cs typeface="Consolas" pitchFamily="34" charset="-120"/>
                        </a:rPr>
                        <a:t>this.on('READ','Bks', req =&gt; {})</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l">
                        <a:buNone/>
                      </a:pPr>
                      <a:r>
                        <a:rPr lang="en-US" sz="1200" dirty="0">
                          <a:solidFill>
                            <a:srgbClr val="065F46"/>
                          </a:solidFill>
                          <a:latin typeface="Consolas" pitchFamily="34" charset="0"/>
                          <a:ea typeface="Consolas" pitchFamily="34" charset="-122"/>
                          <a:cs typeface="Consolas" pitchFamily="34" charset="-120"/>
                        </a:rPr>
                        <a:t>this.on('READ','Bks',(req:cds.Request)=&gt;{})</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l">
                        <a:buNone/>
                      </a:pPr>
                      <a:r>
                        <a:rPr lang="en-US" sz="1200" dirty="0">
                          <a:solidFill>
                            <a:srgbClr val="334155"/>
                          </a:solidFill>
                          <a:latin typeface="Calibri" pitchFamily="34" charset="0"/>
                          <a:ea typeface="Calibri" pitchFamily="34" charset="-122"/>
                          <a:cs typeface="Calibri" pitchFamily="34" charset="-120"/>
                        </a:rPr>
                        <a:t>req must be typed for req.data access</a:t>
                      </a:r>
                      <a:endParaRPr lang="en-US" sz="12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extLst>
                  <a:ext uri="{0D108BD9-81ED-4DB2-BD59-A6C34878D82A}">
                    <a16:rowId xmlns:a16="http://schemas.microsoft.com/office/drawing/2014/main" val="10002"/>
                  </a:ext>
                </a:extLst>
              </a:tr>
              <a:tr h="436766">
                <a:tc>
                  <a:txBody>
                    <a:bodyPr/>
                    <a:lstStyle/>
                    <a:p>
                      <a:pPr marL="0" indent="0" algn="l">
                        <a:buNone/>
                      </a:pPr>
                      <a:r>
                        <a:rPr lang="en-US" sz="1200" dirty="0">
                          <a:solidFill>
                            <a:srgbClr val="7C2D12"/>
                          </a:solidFill>
                          <a:latin typeface="Consolas" pitchFamily="34" charset="0"/>
                          <a:ea typeface="Consolas" pitchFamily="34" charset="-122"/>
                          <a:cs typeface="Consolas" pitchFamily="34" charset="-120"/>
                        </a:rPr>
                        <a:t>req.data.bookId</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65F46"/>
                          </a:solidFill>
                          <a:latin typeface="Consolas" pitchFamily="34" charset="0"/>
                          <a:ea typeface="Consolas" pitchFamily="34" charset="-122"/>
                          <a:cs typeface="Consolas" pitchFamily="34" charset="-120"/>
                        </a:rPr>
                        <a:t>(req.data as CreateOrder).bookId</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5"/>
                          </a:solidFill>
                          <a:latin typeface="Calibri" pitchFamily="34" charset="0"/>
                          <a:ea typeface="Calibri" pitchFamily="34" charset="-122"/>
                          <a:cs typeface="Calibri" pitchFamily="34" charset="-120"/>
                        </a:rPr>
                        <a:t>req.data is unknown in strict mode</a:t>
                      </a:r>
                      <a:endParaRPr lang="en-US" sz="12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6766">
                <a:tc>
                  <a:txBody>
                    <a:bodyPr/>
                    <a:lstStyle/>
                    <a:p>
                      <a:pPr marL="0" indent="0" algn="l">
                        <a:buNone/>
                      </a:pPr>
                      <a:r>
                        <a:rPr lang="en-US" sz="1200" dirty="0">
                          <a:solidFill>
                            <a:srgbClr val="7C2D12"/>
                          </a:solidFill>
                          <a:latin typeface="Consolas" pitchFamily="34" charset="0"/>
                          <a:ea typeface="Consolas" pitchFamily="34" charset="-122"/>
                          <a:cs typeface="Consolas" pitchFamily="34" charset="-120"/>
                        </a:rPr>
                        <a:t>response.value.map()</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l">
                        <a:buNone/>
                      </a:pPr>
                      <a:r>
                        <a:rPr lang="en-US" sz="1200" dirty="0">
                          <a:solidFill>
                            <a:srgbClr val="065F46"/>
                          </a:solidFill>
                          <a:latin typeface="Consolas" pitchFamily="34" charset="0"/>
                          <a:ea typeface="Consolas" pitchFamily="34" charset="-122"/>
                          <a:cs typeface="Consolas" pitchFamily="34" charset="-120"/>
                        </a:rPr>
                        <a:t>response?.value?.map()</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l">
                        <a:buNone/>
                      </a:pPr>
                      <a:r>
                        <a:rPr lang="en-US" sz="1200" dirty="0">
                          <a:solidFill>
                            <a:srgbClr val="334155"/>
                          </a:solidFill>
                          <a:latin typeface="Calibri" pitchFamily="34" charset="0"/>
                          <a:ea typeface="Calibri" pitchFamily="34" charset="-122"/>
                          <a:cs typeface="Calibri" pitchFamily="34" charset="-120"/>
                        </a:rPr>
                        <a:t>strictNullChecks: value may be undefined</a:t>
                      </a:r>
                      <a:endParaRPr lang="en-US" sz="12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extLst>
                  <a:ext uri="{0D108BD9-81ED-4DB2-BD59-A6C34878D82A}">
                    <a16:rowId xmlns:a16="http://schemas.microsoft.com/office/drawing/2014/main" val="10004"/>
                  </a:ext>
                </a:extLst>
              </a:tr>
              <a:tr h="436766">
                <a:tc>
                  <a:txBody>
                    <a:bodyPr/>
                    <a:lstStyle/>
                    <a:p>
                      <a:pPr marL="0" indent="0" algn="l">
                        <a:buNone/>
                      </a:pPr>
                      <a:r>
                        <a:rPr lang="en-US" sz="1200" dirty="0">
                          <a:solidFill>
                            <a:srgbClr val="7C2D12"/>
                          </a:solidFill>
                          <a:latin typeface="Consolas" pitchFamily="34" charset="0"/>
                          <a:ea typeface="Consolas" pitchFamily="34" charset="-122"/>
                          <a:cs typeface="Consolas" pitchFamily="34" charset="-120"/>
                        </a:rPr>
                        <a:t>|| []</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65F46"/>
                          </a:solidFill>
                          <a:latin typeface="Consolas" pitchFamily="34" charset="0"/>
                          <a:ea typeface="Consolas" pitchFamily="34" charset="-122"/>
                          <a:cs typeface="Consolas" pitchFamily="34" charset="-120"/>
                        </a:rPr>
                        <a:t>?? []</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5"/>
                          </a:solidFill>
                          <a:latin typeface="Calibri" pitchFamily="34" charset="0"/>
                          <a:ea typeface="Calibri" pitchFamily="34" charset="-122"/>
                          <a:cs typeface="Calibri" pitchFamily="34" charset="-120"/>
                        </a:rPr>
                        <a:t>?? only falls back for null/undefined</a:t>
                      </a:r>
                      <a:endParaRPr lang="en-US" sz="12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6766">
                <a:tc>
                  <a:txBody>
                    <a:bodyPr/>
                    <a:lstStyle/>
                    <a:p>
                      <a:pPr marL="0" indent="0" algn="l">
                        <a:buNone/>
                      </a:pPr>
                      <a:r>
                        <a:rPr lang="en-US" sz="1200" dirty="0">
                          <a:solidFill>
                            <a:srgbClr val="7C2D12"/>
                          </a:solidFill>
                          <a:latin typeface="Consolas" pitchFamily="34" charset="0"/>
                          <a:ea typeface="Consolas" pitchFamily="34" charset="-122"/>
                          <a:cs typeface="Consolas" pitchFamily="34" charset="-120"/>
                        </a:rPr>
                        <a:t>const id: string</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l">
                        <a:buNone/>
                      </a:pPr>
                      <a:r>
                        <a:rPr lang="en-US" sz="1200" dirty="0">
                          <a:solidFill>
                            <a:srgbClr val="065F46"/>
                          </a:solidFill>
                          <a:latin typeface="Consolas" pitchFamily="34" charset="0"/>
                          <a:ea typeface="Consolas" pitchFamily="34" charset="-122"/>
                          <a:cs typeface="Consolas" pitchFamily="34" charset="-120"/>
                        </a:rPr>
                        <a:t>const id: BookId</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l">
                        <a:buNone/>
                      </a:pPr>
                      <a:r>
                        <a:rPr lang="en-US" sz="1200" dirty="0">
                          <a:solidFill>
                            <a:srgbClr val="334155"/>
                          </a:solidFill>
                          <a:latin typeface="Calibri" pitchFamily="34" charset="0"/>
                          <a:ea typeface="Calibri" pitchFamily="34" charset="-122"/>
                          <a:cs typeface="Calibri" pitchFamily="34" charset="-120"/>
                        </a:rPr>
                        <a:t>Branded types prevent ID mix-ups</a:t>
                      </a:r>
                      <a:endParaRPr lang="en-US" sz="12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extLst>
                  <a:ext uri="{0D108BD9-81ED-4DB2-BD59-A6C34878D82A}">
                    <a16:rowId xmlns:a16="http://schemas.microsoft.com/office/drawing/2014/main" val="10006"/>
                  </a:ext>
                </a:extLst>
              </a:tr>
              <a:tr h="436766">
                <a:tc>
                  <a:txBody>
                    <a:bodyPr/>
                    <a:lstStyle/>
                    <a:p>
                      <a:pPr marL="0" indent="0" algn="l">
                        <a:buNone/>
                      </a:pPr>
                      <a:r>
                        <a:rPr lang="en-US" sz="1200" dirty="0">
                          <a:solidFill>
                            <a:srgbClr val="7C2D12"/>
                          </a:solidFill>
                          <a:latin typeface="Consolas" pitchFamily="34" charset="0"/>
                          <a:ea typeface="Consolas" pitchFamily="34" charset="-122"/>
                          <a:cs typeface="Consolas" pitchFamily="34" charset="-120"/>
                        </a:rPr>
                        <a:t>await cds.connect.to('x')</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65F46"/>
                          </a:solidFill>
                          <a:latin typeface="Consolas" pitchFamily="34" charset="0"/>
                          <a:ea typeface="Consolas" pitchFamily="34" charset="-122"/>
                          <a:cs typeface="Consolas" pitchFamily="34" charset="-120"/>
                        </a:rPr>
                        <a:t>assertService(await cds.connect.to('x'))</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5"/>
                          </a:solidFill>
                          <a:latin typeface="Calibri" pitchFamily="34" charset="0"/>
                          <a:ea typeface="Calibri" pitchFamily="34" charset="-122"/>
                          <a:cs typeface="Calibri" pitchFamily="34" charset="-120"/>
                        </a:rPr>
                        <a:t>connect can return null/undefined</a:t>
                      </a:r>
                      <a:endParaRPr lang="en-US" sz="12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36766">
                <a:tc>
                  <a:txBody>
                    <a:bodyPr/>
                    <a:lstStyle/>
                    <a:p>
                      <a:pPr marL="0" indent="0" algn="l">
                        <a:buNone/>
                      </a:pPr>
                      <a:r>
                        <a:rPr lang="en-US" sz="1200" dirty="0">
                          <a:solidFill>
                            <a:srgbClr val="7C2D12"/>
                          </a:solidFill>
                          <a:latin typeface="Consolas" pitchFamily="34" charset="0"/>
                          <a:ea typeface="Consolas" pitchFamily="34" charset="-122"/>
                          <a:cs typeface="Consolas" pitchFamily="34" charset="-120"/>
                        </a:rPr>
                        <a:t>SELECT.one.from(...) → use directly</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l">
                        <a:buNone/>
                      </a:pPr>
                      <a:r>
                        <a:rPr lang="en-US" sz="1200" dirty="0">
                          <a:solidFill>
                            <a:srgbClr val="065F46"/>
                          </a:solidFill>
                          <a:latin typeface="Consolas" pitchFamily="34" charset="0"/>
                          <a:ea typeface="Consolas" pitchFamily="34" charset="-122"/>
                          <a:cs typeface="Consolas" pitchFamily="34" charset="-120"/>
                        </a:rPr>
                        <a:t>if(!result) req.reject(404,...)</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l">
                        <a:buNone/>
                      </a:pPr>
                      <a:r>
                        <a:rPr lang="en-US" sz="1200" dirty="0">
                          <a:solidFill>
                            <a:srgbClr val="334155"/>
                          </a:solidFill>
                          <a:latin typeface="Calibri" pitchFamily="34" charset="0"/>
                          <a:ea typeface="Calibri" pitchFamily="34" charset="-122"/>
                          <a:cs typeface="Calibri" pitchFamily="34" charset="-120"/>
                        </a:rPr>
                        <a:t>SELECT.one can return null</a:t>
                      </a:r>
                      <a:endParaRPr lang="en-US" sz="12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extLst>
                  <a:ext uri="{0D108BD9-81ED-4DB2-BD59-A6C34878D82A}">
                    <a16:rowId xmlns:a16="http://schemas.microsoft.com/office/drawing/2014/main" val="10008"/>
                  </a:ext>
                </a:extLst>
              </a:tr>
              <a:tr h="436766">
                <a:tc>
                  <a:txBody>
                    <a:bodyPr/>
                    <a:lstStyle/>
                    <a:p>
                      <a:pPr marL="0" indent="0" algn="l">
                        <a:buNone/>
                      </a:pPr>
                      <a:r>
                        <a:rPr lang="en-US" sz="1200" dirty="0">
                          <a:solidFill>
                            <a:srgbClr val="7C2D12"/>
                          </a:solidFill>
                          <a:latin typeface="Consolas" pitchFamily="34" charset="0"/>
                          <a:ea typeface="Consolas" pitchFamily="34" charset="-122"/>
                          <a:cs typeface="Consolas" pitchFamily="34" charset="-120"/>
                        </a:rPr>
                        <a:t>module.exports = class {}</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65F46"/>
                          </a:solidFill>
                          <a:latin typeface="Consolas" pitchFamily="34" charset="0"/>
                          <a:ea typeface="Consolas" pitchFamily="34" charset="-122"/>
                          <a:cs typeface="Consolas" pitchFamily="34" charset="-120"/>
                        </a:rPr>
                        <a:t>export default class {}</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5"/>
                          </a:solidFill>
                          <a:latin typeface="Calibri" pitchFamily="34" charset="0"/>
                          <a:ea typeface="Calibri" pitchFamily="34" charset="-122"/>
                          <a:cs typeface="Calibri" pitchFamily="34" charset="-120"/>
                        </a:rPr>
                        <a:t>ES module exports for typed imports</a:t>
                      </a:r>
                      <a:endParaRPr lang="en-US" sz="12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36766">
                <a:tc>
                  <a:txBody>
                    <a:bodyPr/>
                    <a:lstStyle/>
                    <a:p>
                      <a:pPr marL="0" indent="0" algn="l">
                        <a:buNone/>
                      </a:pPr>
                      <a:r>
                        <a:rPr lang="en-US" sz="1200" dirty="0">
                          <a:solidFill>
                            <a:srgbClr val="7C2D12"/>
                          </a:solidFill>
                          <a:latin typeface="Consolas" pitchFamily="34" charset="0"/>
                          <a:ea typeface="Consolas" pitchFamily="34" charset="-122"/>
                          <a:cs typeface="Consolas" pitchFamily="34" charset="-120"/>
                        </a:rPr>
                        <a:t>require('@sap/cds')</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l">
                        <a:buNone/>
                      </a:pPr>
                      <a:r>
                        <a:rPr lang="en-US" sz="1200" dirty="0">
                          <a:solidFill>
                            <a:srgbClr val="065F46"/>
                          </a:solidFill>
                          <a:latin typeface="Consolas" pitchFamily="34" charset="0"/>
                          <a:ea typeface="Consolas" pitchFamily="34" charset="-122"/>
                          <a:cs typeface="Consolas" pitchFamily="34" charset="-120"/>
                        </a:rPr>
                        <a:t>import cds from '@sap/cds'</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l">
                        <a:buNone/>
                      </a:pPr>
                      <a:r>
                        <a:rPr lang="en-US" sz="1200" dirty="0">
                          <a:solidFill>
                            <a:srgbClr val="334155"/>
                          </a:solidFill>
                          <a:latin typeface="Calibri" pitchFamily="34" charset="0"/>
                          <a:ea typeface="Calibri" pitchFamily="34" charset="-122"/>
                          <a:cs typeface="Calibri" pitchFamily="34" charset="-120"/>
                        </a:rPr>
                        <a:t>Typed import uses @cap-js/cds-types</a:t>
                      </a:r>
                      <a:endParaRPr lang="en-US" sz="12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extLst>
                  <a:ext uri="{0D108BD9-81ED-4DB2-BD59-A6C34878D82A}">
                    <a16:rowId xmlns:a16="http://schemas.microsoft.com/office/drawing/2014/main" val="10010"/>
                  </a:ext>
                </a:extLst>
              </a:tr>
              <a:tr h="436766">
                <a:tc>
                  <a:txBody>
                    <a:bodyPr/>
                    <a:lstStyle/>
                    <a:p>
                      <a:pPr marL="0" indent="0" algn="l">
                        <a:buNone/>
                      </a:pPr>
                      <a:r>
                        <a:rPr lang="en-US" sz="1200" dirty="0">
                          <a:solidFill>
                            <a:srgbClr val="7C2D12"/>
                          </a:solidFill>
                          <a:latin typeface="Consolas" pitchFamily="34" charset="0"/>
                          <a:ea typeface="Consolas" pitchFamily="34" charset="-122"/>
                          <a:cs typeface="Consolas" pitchFamily="34" charset="-120"/>
                        </a:rPr>
                        <a:t>// @ts-ignore</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65F46"/>
                          </a:solidFill>
                          <a:latin typeface="Consolas" pitchFamily="34" charset="0"/>
                          <a:ea typeface="Consolas" pitchFamily="34" charset="-122"/>
                          <a:cs typeface="Consolas" pitchFamily="34" charset="-120"/>
                        </a:rPr>
                        <a:t>Fix the actual type!</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5"/>
                          </a:solidFill>
                          <a:latin typeface="Calibri" pitchFamily="34" charset="0"/>
                          <a:ea typeface="Calibri" pitchFamily="34" charset="-122"/>
                          <a:cs typeface="Calibri" pitchFamily="34" charset="-120"/>
                        </a:rPr>
                        <a:t>@ts-ignore hides real bugs</a:t>
                      </a:r>
                      <a:endParaRPr lang="en-US" sz="12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7" name="Shape 4"/>
          <p:cNvSpPr/>
          <p:nvPr/>
        </p:nvSpPr>
        <p:spPr>
          <a:xfrm>
            <a:off x="426609" y="6729125"/>
            <a:ext cx="11335607" cy="48755"/>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Shape 5"/>
          <p:cNvSpPr/>
          <p:nvPr/>
        </p:nvSpPr>
        <p:spPr>
          <a:xfrm>
            <a:off x="487553" y="6777879"/>
            <a:ext cx="11213719" cy="304721"/>
          </a:xfrm>
          <a:prstGeom prst="rect">
            <a:avLst/>
          </a:prstGeom>
          <a:solidFill>
            <a:srgbClr val="EFF6FF"/>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9" name="Text 6"/>
          <p:cNvSpPr/>
          <p:nvPr/>
        </p:nvSpPr>
        <p:spPr>
          <a:xfrm>
            <a:off x="609441" y="6802257"/>
            <a:ext cx="10969943" cy="268154"/>
          </a:xfrm>
          <a:prstGeom prst="rect">
            <a:avLst/>
          </a:prstGeom>
          <a:noFill/>
          <a:ln/>
        </p:spPr>
        <p:txBody>
          <a:bodyPr wrap="square" lIns="0" tIns="0" rIns="0" bIns="0" rtlCol="0" anchor="ctr"/>
          <a:lstStyle/>
          <a:p>
            <a:pPr defTabSz="1218895">
              <a:buClrTx/>
            </a:pPr>
            <a:r>
              <a:rPr lang="en-US" sz="1200" kern="1200" dirty="0">
                <a:solidFill>
                  <a:srgbClr val="334155"/>
                </a:solidFill>
                <a:latin typeface="Calibri" pitchFamily="34" charset="0"/>
                <a:ea typeface="Calibri" pitchFamily="34" charset="-122"/>
                <a:cs typeface="Calibri" pitchFamily="34" charset="-120"/>
              </a:rPr>
              <a:t>📌  Never use // @ts-ignore or as any to silence errors — fix the root cause to get the full benefit of TypeScript.</a:t>
            </a:r>
            <a:endParaRPr lang="en-US" sz="1200" kern="1200" dirty="0">
              <a:solidFill>
                <a:prstClr val="black"/>
              </a:solidFill>
              <a:latin typeface="Calibri" panose="020F0502020204030204"/>
              <a:ea typeface="+mn-ea"/>
              <a:cs typeface="+mn-cs"/>
            </a:endParaRPr>
          </a:p>
        </p:txBody>
      </p:sp>
      <p:pic>
        <p:nvPicPr>
          <p:cNvPr id="6" name="Google Shape;497;p1">
            <a:extLst>
              <a:ext uri="{FF2B5EF4-FFF2-40B4-BE49-F238E27FC236}">
                <a16:creationId xmlns:a16="http://schemas.microsoft.com/office/drawing/2014/main" id="{D1F276A5-9E90-FFD0-F7AC-4C7CE86A4577}"/>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7557071" y="244669"/>
            <a:ext cx="4875530" cy="6338189"/>
          </a:xfrm>
          <a:prstGeom prst="rect">
            <a:avLst/>
          </a:prstGeom>
          <a:noFill/>
          <a:ln/>
        </p:spPr>
        <p:txBody>
          <a:bodyPr wrap="square" lIns="0" tIns="0" rIns="0" bIns="0" rtlCol="0" anchor="ctr"/>
          <a:lstStyle/>
          <a:p>
            <a:pPr defTabSz="1218895">
              <a:buClrTx/>
            </a:pPr>
            <a:r>
              <a:rPr lang="en-US" sz="26660" b="1" kern="1200" dirty="0">
                <a:solidFill>
                  <a:srgbClr val="1B6CA8">
                    <a:alpha val="12000"/>
                  </a:srgbClr>
                </a:solidFill>
                <a:latin typeface="Consolas" pitchFamily="34" charset="0"/>
                <a:ea typeface="Consolas" pitchFamily="34" charset="-122"/>
                <a:cs typeface="Consolas" pitchFamily="34" charset="-120"/>
              </a:rPr>
              <a:t>{ }</a:t>
            </a:r>
            <a:endParaRPr lang="en-US" sz="26660" kern="1200" dirty="0">
              <a:solidFill>
                <a:prstClr val="black"/>
              </a:solidFill>
              <a:latin typeface="Calibri" panose="020F0502020204030204"/>
              <a:ea typeface="+mn-ea"/>
              <a:cs typeface="+mn-cs"/>
            </a:endParaRPr>
          </a:p>
        </p:txBody>
      </p:sp>
      <p:sp>
        <p:nvSpPr>
          <p:cNvPr id="3" name="Shape 1"/>
          <p:cNvSpPr/>
          <p:nvPr/>
        </p:nvSpPr>
        <p:spPr>
          <a:xfrm>
            <a:off x="-1" y="893"/>
            <a:ext cx="219399" cy="6856214"/>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609441" y="634712"/>
            <a:ext cx="9751060" cy="670385"/>
          </a:xfrm>
          <a:prstGeom prst="rect">
            <a:avLst/>
          </a:prstGeom>
          <a:noFill/>
          <a:ln/>
        </p:spPr>
        <p:txBody>
          <a:bodyPr wrap="square" lIns="0" tIns="0" rIns="0" bIns="0" rtlCol="0" anchor="ctr"/>
          <a:lstStyle/>
          <a:p>
            <a:pPr defTabSz="1218895">
              <a:buClrTx/>
            </a:pPr>
            <a:r>
              <a:rPr lang="en-US" sz="3999" b="1" kern="1200" dirty="0">
                <a:solidFill>
                  <a:srgbClr val="FFFFFF"/>
                </a:solidFill>
                <a:latin typeface="Calibri" pitchFamily="34" charset="0"/>
                <a:ea typeface="Calibri" pitchFamily="34" charset="-122"/>
                <a:cs typeface="Calibri" pitchFamily="34" charset="-120"/>
              </a:rPr>
              <a:t>Migration Complete 🎉</a:t>
            </a:r>
            <a:endParaRPr lang="en-US" sz="3999" kern="1200" dirty="0">
              <a:solidFill>
                <a:prstClr val="black"/>
              </a:solidFill>
              <a:latin typeface="Calibri" panose="020F0502020204030204"/>
              <a:ea typeface="+mn-ea"/>
              <a:cs typeface="+mn-cs"/>
            </a:endParaRPr>
          </a:p>
        </p:txBody>
      </p:sp>
      <p:sp>
        <p:nvSpPr>
          <p:cNvPr id="5" name="Text 3"/>
          <p:cNvSpPr/>
          <p:nvPr/>
        </p:nvSpPr>
        <p:spPr>
          <a:xfrm>
            <a:off x="609441" y="1390419"/>
            <a:ext cx="9141619" cy="585064"/>
          </a:xfrm>
          <a:prstGeom prst="rect">
            <a:avLst/>
          </a:prstGeom>
          <a:noFill/>
          <a:ln/>
        </p:spPr>
        <p:txBody>
          <a:bodyPr wrap="square" lIns="0" tIns="0" rIns="0" bIns="0" rtlCol="0" anchor="ctr"/>
          <a:lstStyle/>
          <a:p>
            <a:pPr defTabSz="1218895">
              <a:buClrTx/>
            </a:pPr>
            <a:r>
              <a:rPr lang="en-US" sz="1733" kern="1200" dirty="0">
                <a:solidFill>
                  <a:srgbClr val="2D9CDB"/>
                </a:solidFill>
                <a:latin typeface="Calibri" pitchFamily="34" charset="0"/>
                <a:ea typeface="Calibri" pitchFamily="34" charset="-122"/>
                <a:cs typeface="Calibri" pitchFamily="34" charset="-120"/>
              </a:rPr>
              <a:t>You now have a fully typed SAP BTP CAP project — from utilities to service handlers to entity keys.</a:t>
            </a:r>
            <a:endParaRPr lang="en-US" sz="1733" kern="1200" dirty="0">
              <a:solidFill>
                <a:prstClr val="black"/>
              </a:solidFill>
              <a:latin typeface="Calibri" panose="020F0502020204030204"/>
              <a:ea typeface="+mn-ea"/>
              <a:cs typeface="+mn-cs"/>
            </a:endParaRPr>
          </a:p>
        </p:txBody>
      </p:sp>
      <p:sp>
        <p:nvSpPr>
          <p:cNvPr id="6" name="Shape 4"/>
          <p:cNvSpPr/>
          <p:nvPr/>
        </p:nvSpPr>
        <p:spPr>
          <a:xfrm>
            <a:off x="609441" y="2133937"/>
            <a:ext cx="10726166" cy="682574"/>
          </a:xfrm>
          <a:prstGeom prst="rect">
            <a:avLst/>
          </a:prstGeom>
          <a:solidFill>
            <a:srgbClr val="0070F2">
              <a:alpha val="18000"/>
            </a:srgbClr>
          </a:solidFill>
          <a:ln w="12700">
            <a:solidFill>
              <a:srgbClr val="0070F2">
                <a:alpha val="45000"/>
              </a:srgbClr>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Shape 5"/>
          <p:cNvSpPr/>
          <p:nvPr/>
        </p:nvSpPr>
        <p:spPr>
          <a:xfrm>
            <a:off x="670385" y="2194882"/>
            <a:ext cx="536308" cy="536308"/>
          </a:xfrm>
          <a:prstGeom prst="ellipse">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694763" y="2219259"/>
            <a:ext cx="487553" cy="487553"/>
          </a:xfrm>
          <a:prstGeom prst="rect">
            <a:avLst/>
          </a:prstGeom>
        </p:spPr>
      </p:pic>
      <p:sp>
        <p:nvSpPr>
          <p:cNvPr id="9" name="Text 6"/>
          <p:cNvSpPr/>
          <p:nvPr/>
        </p:nvSpPr>
        <p:spPr>
          <a:xfrm>
            <a:off x="1365148" y="2194882"/>
            <a:ext cx="9872948" cy="536308"/>
          </a:xfrm>
          <a:prstGeom prst="rect">
            <a:avLst/>
          </a:prstGeom>
          <a:noFill/>
          <a:ln/>
        </p:spPr>
        <p:txBody>
          <a:bodyPr wrap="square" lIns="0" tIns="0" rIns="0" bIns="0" rtlCol="0" anchor="ctr"/>
          <a:lstStyle/>
          <a:p>
            <a:pPr defTabSz="1218895">
              <a:buClrTx/>
            </a:pPr>
            <a:r>
              <a:rPr lang="en-US" sz="1533" kern="1200" dirty="0">
                <a:solidFill>
                  <a:srgbClr val="FFFFFF"/>
                </a:solidFill>
                <a:latin typeface="Calibri" pitchFamily="34" charset="0"/>
                <a:ea typeface="Calibri" pitchFamily="34" charset="-122"/>
                <a:cs typeface="Calibri" pitchFamily="34" charset="-120"/>
              </a:rPr>
              <a:t>Dependencies installed: typescript, @cap-js/cds-types, ts-jest — tsconfig.json tuned for CAP</a:t>
            </a:r>
            <a:endParaRPr lang="en-US" sz="1533" kern="1200" dirty="0">
              <a:solidFill>
                <a:prstClr val="black"/>
              </a:solidFill>
              <a:latin typeface="Calibri" panose="020F0502020204030204"/>
              <a:ea typeface="+mn-ea"/>
              <a:cs typeface="+mn-cs"/>
            </a:endParaRPr>
          </a:p>
        </p:txBody>
      </p:sp>
      <p:sp>
        <p:nvSpPr>
          <p:cNvPr id="10" name="Shape 7"/>
          <p:cNvSpPr/>
          <p:nvPr/>
        </p:nvSpPr>
        <p:spPr>
          <a:xfrm>
            <a:off x="609441" y="2889645"/>
            <a:ext cx="10726166" cy="682574"/>
          </a:xfrm>
          <a:prstGeom prst="rect">
            <a:avLst/>
          </a:prstGeom>
          <a:solidFill>
            <a:srgbClr val="0D9488">
              <a:alpha val="18000"/>
            </a:srgbClr>
          </a:solidFill>
          <a:ln w="12700">
            <a:solidFill>
              <a:srgbClr val="0D9488">
                <a:alpha val="45000"/>
              </a:srgbClr>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Shape 8"/>
          <p:cNvSpPr/>
          <p:nvPr/>
        </p:nvSpPr>
        <p:spPr>
          <a:xfrm>
            <a:off x="670385" y="2950589"/>
            <a:ext cx="536308" cy="536308"/>
          </a:xfrm>
          <a:prstGeom prst="ellipse">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12" name="Image 1" descr="preencoded.png"/>
          <p:cNvPicPr>
            <a:picLocks noChangeAspect="1"/>
          </p:cNvPicPr>
          <p:nvPr/>
        </p:nvPicPr>
        <p:blipFill>
          <a:blip r:embed="rId4"/>
          <a:stretch>
            <a:fillRect/>
          </a:stretch>
        </p:blipFill>
        <p:spPr>
          <a:xfrm>
            <a:off x="694763" y="2974966"/>
            <a:ext cx="487553" cy="487553"/>
          </a:xfrm>
          <a:prstGeom prst="rect">
            <a:avLst/>
          </a:prstGeom>
        </p:spPr>
      </p:pic>
      <p:sp>
        <p:nvSpPr>
          <p:cNvPr id="13" name="Text 9"/>
          <p:cNvSpPr/>
          <p:nvPr/>
        </p:nvSpPr>
        <p:spPr>
          <a:xfrm>
            <a:off x="1365148" y="2950589"/>
            <a:ext cx="9872948" cy="536308"/>
          </a:xfrm>
          <a:prstGeom prst="rect">
            <a:avLst/>
          </a:prstGeom>
          <a:noFill/>
          <a:ln/>
        </p:spPr>
        <p:txBody>
          <a:bodyPr wrap="square" lIns="0" tIns="0" rIns="0" bIns="0" rtlCol="0" anchor="ctr"/>
          <a:lstStyle/>
          <a:p>
            <a:pPr defTabSz="1218895">
              <a:buClrTx/>
            </a:pPr>
            <a:r>
              <a:rPr lang="en-US" sz="1533" kern="1200" dirty="0">
                <a:solidFill>
                  <a:srgbClr val="FFFFFF"/>
                </a:solidFill>
                <a:latin typeface="Calibri" pitchFamily="34" charset="0"/>
                <a:ea typeface="Calibri" pitchFamily="34" charset="-122"/>
                <a:cs typeface="Calibri" pitchFamily="34" charset="-120"/>
              </a:rPr>
              <a:t>payload-transformer.ts &amp; error-mapper.ts: ODataResponse&lt;T&gt;, NormalisedError, union types</a:t>
            </a:r>
            <a:endParaRPr lang="en-US" sz="1533" kern="1200" dirty="0">
              <a:solidFill>
                <a:prstClr val="black"/>
              </a:solidFill>
              <a:latin typeface="Calibri" panose="020F0502020204030204"/>
              <a:ea typeface="+mn-ea"/>
              <a:cs typeface="+mn-cs"/>
            </a:endParaRPr>
          </a:p>
        </p:txBody>
      </p:sp>
      <p:sp>
        <p:nvSpPr>
          <p:cNvPr id="14" name="Shape 10"/>
          <p:cNvSpPr/>
          <p:nvPr/>
        </p:nvSpPr>
        <p:spPr>
          <a:xfrm>
            <a:off x="609441" y="3645352"/>
            <a:ext cx="10726166" cy="682574"/>
          </a:xfrm>
          <a:prstGeom prst="rect">
            <a:avLst/>
          </a:prstGeom>
          <a:solidFill>
            <a:srgbClr val="D97706">
              <a:alpha val="18000"/>
            </a:srgbClr>
          </a:solidFill>
          <a:ln w="12700">
            <a:solidFill>
              <a:srgbClr val="D97706">
                <a:alpha val="45000"/>
              </a:srgbClr>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5" name="Shape 11"/>
          <p:cNvSpPr/>
          <p:nvPr/>
        </p:nvSpPr>
        <p:spPr>
          <a:xfrm>
            <a:off x="670385" y="3706296"/>
            <a:ext cx="536308" cy="536308"/>
          </a:xfrm>
          <a:prstGeom prst="ellipse">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16" name="Image 2" descr="preencoded.png"/>
          <p:cNvPicPr>
            <a:picLocks noChangeAspect="1"/>
          </p:cNvPicPr>
          <p:nvPr/>
        </p:nvPicPr>
        <p:blipFill>
          <a:blip r:embed="rId5"/>
          <a:stretch>
            <a:fillRect/>
          </a:stretch>
        </p:blipFill>
        <p:spPr>
          <a:xfrm>
            <a:off x="694763" y="3730673"/>
            <a:ext cx="487553" cy="487553"/>
          </a:xfrm>
          <a:prstGeom prst="rect">
            <a:avLst/>
          </a:prstGeom>
        </p:spPr>
      </p:pic>
      <p:sp>
        <p:nvSpPr>
          <p:cNvPr id="17" name="Text 12"/>
          <p:cNvSpPr/>
          <p:nvPr/>
        </p:nvSpPr>
        <p:spPr>
          <a:xfrm>
            <a:off x="1365148" y="3706296"/>
            <a:ext cx="9872948" cy="536308"/>
          </a:xfrm>
          <a:prstGeom prst="rect">
            <a:avLst/>
          </a:prstGeom>
          <a:noFill/>
          <a:ln/>
        </p:spPr>
        <p:txBody>
          <a:bodyPr wrap="square" lIns="0" tIns="0" rIns="0" bIns="0" rtlCol="0" anchor="ctr"/>
          <a:lstStyle/>
          <a:p>
            <a:pPr defTabSz="1218895">
              <a:buClrTx/>
            </a:pPr>
            <a:r>
              <a:rPr lang="en-US" sz="1533" kern="1200" dirty="0">
                <a:solidFill>
                  <a:srgbClr val="FFFFFF"/>
                </a:solidFill>
                <a:latin typeface="Calibri" pitchFamily="34" charset="0"/>
                <a:ea typeface="Calibri" pitchFamily="34" charset="-122"/>
                <a:cs typeface="Calibri" pitchFamily="34" charset="-120"/>
              </a:rPr>
              <a:t>CatalogService.ts &amp; CDSService.ts: cds.Request types, typed this.on/before/after handlers</a:t>
            </a:r>
            <a:endParaRPr lang="en-US" sz="1533" kern="1200" dirty="0">
              <a:solidFill>
                <a:prstClr val="black"/>
              </a:solidFill>
              <a:latin typeface="Calibri" panose="020F0502020204030204"/>
              <a:ea typeface="+mn-ea"/>
              <a:cs typeface="+mn-cs"/>
            </a:endParaRPr>
          </a:p>
        </p:txBody>
      </p:sp>
      <p:sp>
        <p:nvSpPr>
          <p:cNvPr id="18" name="Shape 13"/>
          <p:cNvSpPr/>
          <p:nvPr/>
        </p:nvSpPr>
        <p:spPr>
          <a:xfrm>
            <a:off x="609441" y="4401059"/>
            <a:ext cx="10726166" cy="682574"/>
          </a:xfrm>
          <a:prstGeom prst="rect">
            <a:avLst/>
          </a:prstGeom>
          <a:solidFill>
            <a:srgbClr val="DC2626">
              <a:alpha val="18000"/>
            </a:srgbClr>
          </a:solidFill>
          <a:ln w="12700">
            <a:solidFill>
              <a:srgbClr val="DC2626">
                <a:alpha val="45000"/>
              </a:srgbClr>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Shape 14"/>
          <p:cNvSpPr/>
          <p:nvPr/>
        </p:nvSpPr>
        <p:spPr>
          <a:xfrm>
            <a:off x="670385" y="4462003"/>
            <a:ext cx="536308" cy="536308"/>
          </a:xfrm>
          <a:prstGeom prst="ellipse">
            <a:avLst/>
          </a:prstGeom>
          <a:solidFill>
            <a:srgbClr val="DC2626"/>
          </a:solidFill>
          <a:ln w="12700">
            <a:solidFill>
              <a:srgbClr val="DC262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20" name="Image 3" descr="preencoded.png"/>
          <p:cNvPicPr>
            <a:picLocks noChangeAspect="1"/>
          </p:cNvPicPr>
          <p:nvPr/>
        </p:nvPicPr>
        <p:blipFill>
          <a:blip r:embed="rId6"/>
          <a:stretch>
            <a:fillRect/>
          </a:stretch>
        </p:blipFill>
        <p:spPr>
          <a:xfrm>
            <a:off x="694763" y="4486381"/>
            <a:ext cx="487553" cy="487553"/>
          </a:xfrm>
          <a:prstGeom prst="rect">
            <a:avLst/>
          </a:prstGeom>
        </p:spPr>
      </p:pic>
      <p:sp>
        <p:nvSpPr>
          <p:cNvPr id="21" name="Text 15"/>
          <p:cNvSpPr/>
          <p:nvPr/>
        </p:nvSpPr>
        <p:spPr>
          <a:xfrm>
            <a:off x="1365148" y="4462003"/>
            <a:ext cx="9872948" cy="536308"/>
          </a:xfrm>
          <a:prstGeom prst="rect">
            <a:avLst/>
          </a:prstGeom>
          <a:noFill/>
          <a:ln/>
        </p:spPr>
        <p:txBody>
          <a:bodyPr wrap="square" lIns="0" tIns="0" rIns="0" bIns="0" rtlCol="0" anchor="ctr"/>
          <a:lstStyle/>
          <a:p>
            <a:pPr defTabSz="1218895">
              <a:buClrTx/>
            </a:pPr>
            <a:r>
              <a:rPr lang="en-US" sz="1533" kern="1200" dirty="0">
                <a:solidFill>
                  <a:srgbClr val="FFFFFF"/>
                </a:solidFill>
                <a:latin typeface="Calibri" pitchFamily="34" charset="0"/>
                <a:ea typeface="Calibri" pitchFamily="34" charset="-122"/>
                <a:cs typeface="Calibri" pitchFamily="34" charset="-120"/>
              </a:rPr>
              <a:t>Branded types: BookId, OrderId, CustomerId — ID mix-ups are compile-time errors</a:t>
            </a:r>
            <a:endParaRPr lang="en-US" sz="1533" kern="1200" dirty="0">
              <a:solidFill>
                <a:prstClr val="black"/>
              </a:solidFill>
              <a:latin typeface="Calibri" panose="020F0502020204030204"/>
              <a:ea typeface="+mn-ea"/>
              <a:cs typeface="+mn-cs"/>
            </a:endParaRPr>
          </a:p>
        </p:txBody>
      </p:sp>
      <p:sp>
        <p:nvSpPr>
          <p:cNvPr id="22" name="Shape 16"/>
          <p:cNvSpPr/>
          <p:nvPr/>
        </p:nvSpPr>
        <p:spPr>
          <a:xfrm>
            <a:off x="609441" y="5156766"/>
            <a:ext cx="10726166" cy="682574"/>
          </a:xfrm>
          <a:prstGeom prst="rect">
            <a:avLst/>
          </a:prstGeom>
          <a:solidFill>
            <a:srgbClr val="1D4ED8">
              <a:alpha val="18000"/>
            </a:srgbClr>
          </a:solidFill>
          <a:ln w="12700">
            <a:solidFill>
              <a:srgbClr val="1D4ED8">
                <a:alpha val="45000"/>
              </a:srgbClr>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Shape 17"/>
          <p:cNvSpPr/>
          <p:nvPr/>
        </p:nvSpPr>
        <p:spPr>
          <a:xfrm>
            <a:off x="670385" y="5217710"/>
            <a:ext cx="536308" cy="536308"/>
          </a:xfrm>
          <a:prstGeom prst="ellipse">
            <a:avLst/>
          </a:prstGeom>
          <a:solidFill>
            <a:srgbClr val="1D4ED8"/>
          </a:solidFill>
          <a:ln w="12700">
            <a:solidFill>
              <a:srgbClr val="1D4ED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24" name="Image 4" descr="preencoded.png"/>
          <p:cNvPicPr>
            <a:picLocks noChangeAspect="1"/>
          </p:cNvPicPr>
          <p:nvPr/>
        </p:nvPicPr>
        <p:blipFill>
          <a:blip r:embed="rId7"/>
          <a:stretch>
            <a:fillRect/>
          </a:stretch>
        </p:blipFill>
        <p:spPr>
          <a:xfrm>
            <a:off x="694763" y="5242088"/>
            <a:ext cx="487553" cy="487553"/>
          </a:xfrm>
          <a:prstGeom prst="rect">
            <a:avLst/>
          </a:prstGeom>
        </p:spPr>
      </p:pic>
      <p:sp>
        <p:nvSpPr>
          <p:cNvPr id="25" name="Text 18"/>
          <p:cNvSpPr/>
          <p:nvPr/>
        </p:nvSpPr>
        <p:spPr>
          <a:xfrm>
            <a:off x="1365148" y="5217710"/>
            <a:ext cx="9872948" cy="536308"/>
          </a:xfrm>
          <a:prstGeom prst="rect">
            <a:avLst/>
          </a:prstGeom>
          <a:noFill/>
          <a:ln/>
        </p:spPr>
        <p:txBody>
          <a:bodyPr wrap="square" lIns="0" tIns="0" rIns="0" bIns="0" rtlCol="0" anchor="ctr"/>
          <a:lstStyle/>
          <a:p>
            <a:pPr defTabSz="1218895">
              <a:buClrTx/>
            </a:pPr>
            <a:r>
              <a:rPr lang="en-US" sz="1533" kern="1200" dirty="0">
                <a:solidFill>
                  <a:srgbClr val="FFFFFF"/>
                </a:solidFill>
                <a:latin typeface="Calibri" pitchFamily="34" charset="0"/>
                <a:ea typeface="Calibri" pitchFamily="34" charset="-122"/>
                <a:cs typeface="Calibri" pitchFamily="34" charset="-120"/>
              </a:rPr>
              <a:t>Null-safe guards: assertService(), requireData(), requireFound() — all four risk zones covered</a:t>
            </a:r>
            <a:endParaRPr lang="en-US" sz="1533" kern="1200" dirty="0">
              <a:solidFill>
                <a:prstClr val="black"/>
              </a:solidFill>
              <a:latin typeface="Calibri" panose="020F0502020204030204"/>
              <a:ea typeface="+mn-ea"/>
              <a:cs typeface="+mn-cs"/>
            </a:endParaRPr>
          </a:p>
        </p:txBody>
      </p:sp>
      <p:sp>
        <p:nvSpPr>
          <p:cNvPr id="26" name="Shape 19"/>
          <p:cNvSpPr/>
          <p:nvPr/>
        </p:nvSpPr>
        <p:spPr>
          <a:xfrm>
            <a:off x="609441" y="5912473"/>
            <a:ext cx="10726166" cy="682574"/>
          </a:xfrm>
          <a:prstGeom prst="rect">
            <a:avLst/>
          </a:prstGeom>
          <a:solidFill>
            <a:srgbClr val="059669">
              <a:alpha val="18000"/>
            </a:srgbClr>
          </a:solidFill>
          <a:ln w="12700">
            <a:solidFill>
              <a:srgbClr val="059669">
                <a:alpha val="45000"/>
              </a:srgbClr>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7" name="Shape 20"/>
          <p:cNvSpPr/>
          <p:nvPr/>
        </p:nvSpPr>
        <p:spPr>
          <a:xfrm>
            <a:off x="670385" y="5973417"/>
            <a:ext cx="536308" cy="536308"/>
          </a:xfrm>
          <a:prstGeom prst="ellipse">
            <a:avLst/>
          </a:prstGeom>
          <a:solidFill>
            <a:srgbClr val="059669"/>
          </a:solidFill>
          <a:ln w="12700">
            <a:solidFill>
              <a:srgbClr val="059669"/>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28" name="Image 5" descr="preencoded.png"/>
          <p:cNvPicPr>
            <a:picLocks noChangeAspect="1"/>
          </p:cNvPicPr>
          <p:nvPr/>
        </p:nvPicPr>
        <p:blipFill>
          <a:blip r:embed="rId8"/>
          <a:stretch>
            <a:fillRect/>
          </a:stretch>
        </p:blipFill>
        <p:spPr>
          <a:xfrm>
            <a:off x="694763" y="5997795"/>
            <a:ext cx="487553" cy="487553"/>
          </a:xfrm>
          <a:prstGeom prst="rect">
            <a:avLst/>
          </a:prstGeom>
        </p:spPr>
      </p:pic>
      <p:sp>
        <p:nvSpPr>
          <p:cNvPr id="29" name="Text 21"/>
          <p:cNvSpPr/>
          <p:nvPr/>
        </p:nvSpPr>
        <p:spPr>
          <a:xfrm>
            <a:off x="1365148" y="5973417"/>
            <a:ext cx="9872948" cy="536308"/>
          </a:xfrm>
          <a:prstGeom prst="rect">
            <a:avLst/>
          </a:prstGeom>
          <a:noFill/>
          <a:ln/>
        </p:spPr>
        <p:txBody>
          <a:bodyPr wrap="square" lIns="0" tIns="0" rIns="0" bIns="0" rtlCol="0" anchor="ctr"/>
          <a:lstStyle/>
          <a:p>
            <a:pPr defTabSz="1218895">
              <a:buClrTx/>
            </a:pPr>
            <a:r>
              <a:rPr lang="en-US" sz="1533" kern="1200" dirty="0">
                <a:solidFill>
                  <a:srgbClr val="FFFFFF"/>
                </a:solidFill>
                <a:latin typeface="Calibri" pitchFamily="34" charset="0"/>
                <a:ea typeface="Calibri" pitchFamily="34" charset="-122"/>
                <a:cs typeface="Calibri" pitchFamily="34" charset="-120"/>
              </a:rPr>
              <a:t>tsc --noEmit exits 0  ·  All 6 Jest tests pass unchanged  ·  No @ts-ignore</a:t>
            </a:r>
            <a:endParaRPr lang="en-US" sz="1533" kern="1200" dirty="0">
              <a:solidFill>
                <a:prstClr val="black"/>
              </a:solidFill>
              <a:latin typeface="Calibri" panose="020F0502020204030204"/>
              <a:ea typeface="+mn-ea"/>
              <a:cs typeface="+mn-cs"/>
            </a:endParaRPr>
          </a:p>
        </p:txBody>
      </p:sp>
      <p:sp>
        <p:nvSpPr>
          <p:cNvPr id="30" name="Shape 22"/>
          <p:cNvSpPr/>
          <p:nvPr/>
        </p:nvSpPr>
        <p:spPr>
          <a:xfrm>
            <a:off x="609441" y="6521914"/>
            <a:ext cx="10969943" cy="268154"/>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1" name="Text 23"/>
          <p:cNvSpPr/>
          <p:nvPr/>
        </p:nvSpPr>
        <p:spPr>
          <a:xfrm>
            <a:off x="609441" y="6521914"/>
            <a:ext cx="10969943" cy="268154"/>
          </a:xfrm>
          <a:prstGeom prst="rect">
            <a:avLst/>
          </a:prstGeom>
          <a:noFill/>
          <a:ln/>
        </p:spPr>
        <p:txBody>
          <a:bodyPr wrap="square" lIns="0" tIns="0" rIns="0" bIns="0" rtlCol="0" anchor="ctr"/>
          <a:lstStyle/>
          <a:p>
            <a:pPr algn="ctr" defTabSz="1218895">
              <a:buClrTx/>
            </a:pPr>
            <a:r>
              <a:rPr lang="en-US" sz="1333" kern="1200" dirty="0">
                <a:solidFill>
                  <a:srgbClr val="FFFFFF"/>
                </a:solidFill>
                <a:latin typeface="Calibri" pitchFamily="34" charset="0"/>
                <a:ea typeface="Calibri" pitchFamily="34" charset="-122"/>
                <a:cs typeface="Calibri" pitchFamily="34" charset="-120"/>
              </a:rPr>
              <a:t>Next Module: Generics Workshop  |  Decorators  |  Utility Types  |  Conditional Types</a:t>
            </a:r>
            <a:endParaRPr lang="en-US" sz="1333" kern="1200" dirty="0">
              <a:solidFill>
                <a:prstClr val="black"/>
              </a:solidFill>
              <a:latin typeface="Calibri" panose="020F0502020204030204"/>
              <a:ea typeface="+mn-ea"/>
              <a:cs typeface="+mn-cs"/>
            </a:endParaRPr>
          </a:p>
        </p:txBody>
      </p:sp>
      <p:pic>
        <p:nvPicPr>
          <p:cNvPr id="32" name="Google Shape;497;p1">
            <a:extLst>
              <a:ext uri="{FF2B5EF4-FFF2-40B4-BE49-F238E27FC236}">
                <a16:creationId xmlns:a16="http://schemas.microsoft.com/office/drawing/2014/main" id="{10BF4CCF-38EA-BC72-532E-F5421EEBEF87}"/>
              </a:ext>
            </a:extLst>
          </p:cNvPr>
          <p:cNvPicPr preferRelativeResize="0"/>
          <p:nvPr/>
        </p:nvPicPr>
        <p:blipFill rotWithShape="1">
          <a:blip r:embed="rId9">
            <a:alphaModFix/>
          </a:blip>
          <a:srcRect/>
          <a:stretch/>
        </p:blipFill>
        <p:spPr>
          <a:xfrm>
            <a:off x="10503584" y="-58217"/>
            <a:ext cx="1733995" cy="165618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1" y="893"/>
            <a:ext cx="219399" cy="6856214"/>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Text 1"/>
          <p:cNvSpPr/>
          <p:nvPr/>
        </p:nvSpPr>
        <p:spPr>
          <a:xfrm>
            <a:off x="7069518" y="366558"/>
            <a:ext cx="5484971" cy="5484971"/>
          </a:xfrm>
          <a:prstGeom prst="rect">
            <a:avLst/>
          </a:prstGeom>
          <a:noFill/>
          <a:ln/>
        </p:spPr>
        <p:txBody>
          <a:bodyPr wrap="square" lIns="0" tIns="0" rIns="0" bIns="0" rtlCol="0" anchor="ctr"/>
          <a:lstStyle/>
          <a:p>
            <a:pPr defTabSz="1218895">
              <a:buClrTx/>
            </a:pPr>
            <a:r>
              <a:rPr lang="en-US" sz="26660" b="1" kern="1200" dirty="0">
                <a:solidFill>
                  <a:srgbClr val="818CF8">
                    <a:alpha val="14000"/>
                  </a:srgbClr>
                </a:solidFill>
                <a:latin typeface="Consolas" pitchFamily="34" charset="0"/>
                <a:ea typeface="Consolas" pitchFamily="34" charset="-122"/>
                <a:cs typeface="Consolas" pitchFamily="34" charset="-120"/>
              </a:rPr>
              <a:t>&lt;T&gt;</a:t>
            </a:r>
            <a:endParaRPr lang="en-US" sz="26660" kern="1200" dirty="0">
              <a:solidFill>
                <a:prstClr val="black"/>
              </a:solidFill>
              <a:latin typeface="Calibri" panose="020F0502020204030204"/>
              <a:ea typeface="+mn-ea"/>
              <a:cs typeface="+mn-cs"/>
            </a:endParaRPr>
          </a:p>
        </p:txBody>
      </p:sp>
      <p:sp>
        <p:nvSpPr>
          <p:cNvPr id="4" name="Text 2"/>
          <p:cNvSpPr/>
          <p:nvPr/>
        </p:nvSpPr>
        <p:spPr>
          <a:xfrm>
            <a:off x="609441" y="915055"/>
            <a:ext cx="10360501" cy="463175"/>
          </a:xfrm>
          <a:prstGeom prst="rect">
            <a:avLst/>
          </a:prstGeom>
          <a:noFill/>
          <a:ln/>
        </p:spPr>
        <p:txBody>
          <a:bodyPr wrap="square" lIns="0" tIns="0" rIns="0" bIns="0" rtlCol="0" anchor="ctr"/>
          <a:lstStyle/>
          <a:p>
            <a:pPr defTabSz="1218895">
              <a:buClrTx/>
            </a:pPr>
            <a:r>
              <a:rPr lang="en-US" sz="1600" i="1" kern="1200" dirty="0">
                <a:solidFill>
                  <a:srgbClr val="94A3B8"/>
                </a:solidFill>
                <a:latin typeface="Calibri" pitchFamily="34" charset="0"/>
                <a:ea typeface="Calibri" pitchFamily="34" charset="-122"/>
                <a:cs typeface="Calibri" pitchFamily="34" charset="-120"/>
              </a:rPr>
              <a:t>SAP BTP CAP  ·  TypeScript Workshop  ·  Module 2</a:t>
            </a:r>
            <a:endParaRPr lang="en-US" sz="1600" kern="1200" dirty="0">
              <a:solidFill>
                <a:prstClr val="black"/>
              </a:solidFill>
              <a:latin typeface="Calibri" panose="020F0502020204030204"/>
              <a:ea typeface="+mn-ea"/>
              <a:cs typeface="+mn-cs"/>
            </a:endParaRPr>
          </a:p>
        </p:txBody>
      </p:sp>
      <p:sp>
        <p:nvSpPr>
          <p:cNvPr id="5" name="Text 3"/>
          <p:cNvSpPr/>
          <p:nvPr/>
        </p:nvSpPr>
        <p:spPr>
          <a:xfrm>
            <a:off x="609441" y="1585440"/>
            <a:ext cx="9751060" cy="3047206"/>
          </a:xfrm>
          <a:prstGeom prst="rect">
            <a:avLst/>
          </a:prstGeom>
          <a:noFill/>
          <a:ln/>
        </p:spPr>
        <p:txBody>
          <a:bodyPr wrap="square" lIns="0" tIns="0" rIns="0" bIns="0" rtlCol="0" anchor="t"/>
          <a:lstStyle/>
          <a:p>
            <a:pPr defTabSz="1218895">
              <a:buClrTx/>
            </a:pPr>
            <a:r>
              <a:rPr lang="en-US" sz="5065" b="1" kern="1200" dirty="0">
                <a:solidFill>
                  <a:srgbClr val="FFFFFF"/>
                </a:solidFill>
                <a:latin typeface="Calibri" pitchFamily="34" charset="0"/>
                <a:ea typeface="Calibri" pitchFamily="34" charset="-122"/>
                <a:cs typeface="Calibri" pitchFamily="34" charset="-120"/>
              </a:rPr>
              <a:t>Generics, Decorators</a:t>
            </a:r>
            <a:endParaRPr lang="en-US" sz="5065" kern="1200" dirty="0">
              <a:solidFill>
                <a:prstClr val="black"/>
              </a:solidFill>
              <a:latin typeface="Calibri" panose="020F0502020204030204"/>
              <a:ea typeface="+mn-ea"/>
              <a:cs typeface="+mn-cs"/>
            </a:endParaRPr>
          </a:p>
          <a:p>
            <a:pPr defTabSz="1218895">
              <a:buClrTx/>
            </a:pPr>
            <a:r>
              <a:rPr lang="en-US" sz="5065" b="1" kern="1200" dirty="0">
                <a:solidFill>
                  <a:srgbClr val="FFFFFF"/>
                </a:solidFill>
                <a:latin typeface="Calibri" pitchFamily="34" charset="0"/>
                <a:ea typeface="Calibri" pitchFamily="34" charset="-122"/>
                <a:cs typeface="Calibri" pitchFamily="34" charset="-120"/>
              </a:rPr>
              <a:t>&amp; Utility Types</a:t>
            </a:r>
            <a:endParaRPr lang="en-US" sz="5065" kern="1200" dirty="0">
              <a:solidFill>
                <a:prstClr val="black"/>
              </a:solidFill>
              <a:latin typeface="Calibri" panose="020F0502020204030204"/>
              <a:ea typeface="+mn-ea"/>
              <a:cs typeface="+mn-cs"/>
            </a:endParaRPr>
          </a:p>
          <a:p>
            <a:pPr defTabSz="1218895">
              <a:buClrTx/>
            </a:pPr>
            <a:r>
              <a:rPr lang="en-US" sz="3732" kern="1200" dirty="0">
                <a:solidFill>
                  <a:srgbClr val="A78BFA"/>
                </a:solidFill>
                <a:latin typeface="Calibri" pitchFamily="34" charset="0"/>
                <a:ea typeface="Calibri" pitchFamily="34" charset="-122"/>
                <a:cs typeface="Calibri" pitchFamily="34" charset="-120"/>
              </a:rPr>
              <a:t>Workshop</a:t>
            </a:r>
            <a:endParaRPr lang="en-US" sz="5065" kern="1200" dirty="0">
              <a:solidFill>
                <a:prstClr val="black"/>
              </a:solidFill>
              <a:latin typeface="Calibri" panose="020F0502020204030204"/>
              <a:ea typeface="+mn-ea"/>
              <a:cs typeface="+mn-cs"/>
            </a:endParaRPr>
          </a:p>
        </p:txBody>
      </p:sp>
      <p:sp>
        <p:nvSpPr>
          <p:cNvPr id="6" name="Shape 4"/>
          <p:cNvSpPr/>
          <p:nvPr/>
        </p:nvSpPr>
        <p:spPr>
          <a:xfrm>
            <a:off x="609441" y="4998311"/>
            <a:ext cx="3534759" cy="877595"/>
          </a:xfrm>
          <a:prstGeom prst="rect">
            <a:avLst/>
          </a:prstGeom>
          <a:solidFill>
            <a:srgbClr val="7C3AED">
              <a:alpha val="85000"/>
            </a:srgbClr>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609441" y="5022689"/>
            <a:ext cx="3534759" cy="390042"/>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Exercise A</a:t>
            </a:r>
            <a:endParaRPr lang="en-US" sz="1733" kern="1200" dirty="0">
              <a:solidFill>
                <a:prstClr val="black"/>
              </a:solidFill>
              <a:latin typeface="Calibri" panose="020F0502020204030204"/>
              <a:ea typeface="+mn-ea"/>
              <a:cs typeface="+mn-cs"/>
            </a:endParaRPr>
          </a:p>
        </p:txBody>
      </p:sp>
      <p:sp>
        <p:nvSpPr>
          <p:cNvPr id="8" name="Text 6"/>
          <p:cNvSpPr/>
          <p:nvPr/>
        </p:nvSpPr>
        <p:spPr>
          <a:xfrm>
            <a:off x="609441" y="5388353"/>
            <a:ext cx="3534759" cy="438798"/>
          </a:xfrm>
          <a:prstGeom prst="rect">
            <a:avLst/>
          </a:prstGeom>
          <a:noFill/>
          <a:ln/>
        </p:spPr>
        <p:txBody>
          <a:bodyPr wrap="square" lIns="0" tIns="0" rIns="0" bIns="0" rtlCol="0" anchor="ctr"/>
          <a:lstStyle/>
          <a:p>
            <a:pPr algn="ctr" defTabSz="1218895">
              <a:buClrTx/>
            </a:pPr>
            <a:r>
              <a:rPr lang="en-US" sz="1466" kern="1200" dirty="0">
                <a:solidFill>
                  <a:srgbClr val="FFFFFF"/>
                </a:solidFill>
                <a:latin typeface="Consolas" pitchFamily="34" charset="0"/>
                <a:ea typeface="Consolas" pitchFamily="34" charset="-122"/>
                <a:cs typeface="Consolas" pitchFamily="34" charset="-120"/>
              </a:rPr>
              <a:t>Generics</a:t>
            </a:r>
            <a:endParaRPr lang="en-US" sz="1466" kern="1200" dirty="0">
              <a:solidFill>
                <a:prstClr val="black"/>
              </a:solidFill>
              <a:latin typeface="Calibri" panose="020F0502020204030204"/>
              <a:ea typeface="+mn-ea"/>
              <a:cs typeface="+mn-cs"/>
            </a:endParaRPr>
          </a:p>
        </p:txBody>
      </p:sp>
      <p:sp>
        <p:nvSpPr>
          <p:cNvPr id="9" name="Shape 7"/>
          <p:cNvSpPr/>
          <p:nvPr/>
        </p:nvSpPr>
        <p:spPr>
          <a:xfrm>
            <a:off x="4485487" y="4998311"/>
            <a:ext cx="3534759" cy="877595"/>
          </a:xfrm>
          <a:prstGeom prst="rect">
            <a:avLst/>
          </a:prstGeom>
          <a:solidFill>
            <a:srgbClr val="0D9488">
              <a:alpha val="85000"/>
            </a:srgbClr>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4485487" y="5022689"/>
            <a:ext cx="3534759" cy="390042"/>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Exercise B</a:t>
            </a:r>
            <a:endParaRPr lang="en-US" sz="1733" kern="1200" dirty="0">
              <a:solidFill>
                <a:prstClr val="black"/>
              </a:solidFill>
              <a:latin typeface="Calibri" panose="020F0502020204030204"/>
              <a:ea typeface="+mn-ea"/>
              <a:cs typeface="+mn-cs"/>
            </a:endParaRPr>
          </a:p>
        </p:txBody>
      </p:sp>
      <p:sp>
        <p:nvSpPr>
          <p:cNvPr id="11" name="Text 9"/>
          <p:cNvSpPr/>
          <p:nvPr/>
        </p:nvSpPr>
        <p:spPr>
          <a:xfrm>
            <a:off x="4485487" y="5388353"/>
            <a:ext cx="3534759" cy="438798"/>
          </a:xfrm>
          <a:prstGeom prst="rect">
            <a:avLst/>
          </a:prstGeom>
          <a:noFill/>
          <a:ln/>
        </p:spPr>
        <p:txBody>
          <a:bodyPr wrap="square" lIns="0" tIns="0" rIns="0" bIns="0" rtlCol="0" anchor="ctr"/>
          <a:lstStyle/>
          <a:p>
            <a:pPr algn="ctr" defTabSz="1218895">
              <a:buClrTx/>
            </a:pPr>
            <a:r>
              <a:rPr lang="en-US" sz="1466" kern="1200" dirty="0">
                <a:solidFill>
                  <a:srgbClr val="FFFFFF"/>
                </a:solidFill>
                <a:latin typeface="Consolas" pitchFamily="34" charset="0"/>
                <a:ea typeface="Consolas" pitchFamily="34" charset="-122"/>
                <a:cs typeface="Consolas" pitchFamily="34" charset="-120"/>
              </a:rPr>
              <a:t>Decorators</a:t>
            </a:r>
            <a:endParaRPr lang="en-US" sz="1466" kern="1200" dirty="0">
              <a:solidFill>
                <a:prstClr val="black"/>
              </a:solidFill>
              <a:latin typeface="Calibri" panose="020F0502020204030204"/>
              <a:ea typeface="+mn-ea"/>
              <a:cs typeface="+mn-cs"/>
            </a:endParaRPr>
          </a:p>
        </p:txBody>
      </p:sp>
      <p:sp>
        <p:nvSpPr>
          <p:cNvPr id="12" name="Shape 10"/>
          <p:cNvSpPr/>
          <p:nvPr/>
        </p:nvSpPr>
        <p:spPr>
          <a:xfrm>
            <a:off x="8361534" y="4998311"/>
            <a:ext cx="3534759" cy="877595"/>
          </a:xfrm>
          <a:prstGeom prst="rect">
            <a:avLst/>
          </a:prstGeom>
          <a:solidFill>
            <a:srgbClr val="D97706">
              <a:alpha val="85000"/>
            </a:srgbClr>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Text 11"/>
          <p:cNvSpPr/>
          <p:nvPr/>
        </p:nvSpPr>
        <p:spPr>
          <a:xfrm>
            <a:off x="8361534" y="5022689"/>
            <a:ext cx="3534759" cy="390042"/>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Exercise C</a:t>
            </a:r>
            <a:endParaRPr lang="en-US" sz="1733" kern="1200" dirty="0">
              <a:solidFill>
                <a:prstClr val="black"/>
              </a:solidFill>
              <a:latin typeface="Calibri" panose="020F0502020204030204"/>
              <a:ea typeface="+mn-ea"/>
              <a:cs typeface="+mn-cs"/>
            </a:endParaRPr>
          </a:p>
        </p:txBody>
      </p:sp>
      <p:sp>
        <p:nvSpPr>
          <p:cNvPr id="14" name="Text 12"/>
          <p:cNvSpPr/>
          <p:nvPr/>
        </p:nvSpPr>
        <p:spPr>
          <a:xfrm>
            <a:off x="8361534" y="5388353"/>
            <a:ext cx="3534759" cy="438798"/>
          </a:xfrm>
          <a:prstGeom prst="rect">
            <a:avLst/>
          </a:prstGeom>
          <a:noFill/>
          <a:ln/>
        </p:spPr>
        <p:txBody>
          <a:bodyPr wrap="square" lIns="0" tIns="0" rIns="0" bIns="0" rtlCol="0" anchor="ctr"/>
          <a:lstStyle/>
          <a:p>
            <a:pPr algn="ctr" defTabSz="1218895">
              <a:buClrTx/>
            </a:pPr>
            <a:r>
              <a:rPr lang="en-US" sz="1466" kern="1200" dirty="0">
                <a:solidFill>
                  <a:srgbClr val="FFFFFF"/>
                </a:solidFill>
                <a:latin typeface="Consolas" pitchFamily="34" charset="0"/>
                <a:ea typeface="Consolas" pitchFamily="34" charset="-122"/>
                <a:cs typeface="Consolas" pitchFamily="34" charset="-120"/>
              </a:rPr>
              <a:t>Utility Types</a:t>
            </a:r>
            <a:endParaRPr lang="en-US" sz="1466" kern="1200" dirty="0">
              <a:solidFill>
                <a:prstClr val="black"/>
              </a:solidFill>
              <a:latin typeface="Calibri" panose="020F0502020204030204"/>
              <a:ea typeface="+mn-ea"/>
              <a:cs typeface="+mn-cs"/>
            </a:endParaRPr>
          </a:p>
        </p:txBody>
      </p:sp>
      <p:sp>
        <p:nvSpPr>
          <p:cNvPr id="15" name="Shape 13"/>
          <p:cNvSpPr/>
          <p:nvPr/>
        </p:nvSpPr>
        <p:spPr>
          <a:xfrm>
            <a:off x="9507283" y="5973417"/>
            <a:ext cx="2437765" cy="755707"/>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9507283" y="5973417"/>
            <a:ext cx="2437765" cy="755707"/>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alibri" pitchFamily="34" charset="0"/>
                <a:ea typeface="Calibri" pitchFamily="34" charset="-122"/>
                <a:cs typeface="Calibri" pitchFamily="34" charset="-120"/>
              </a:rPr>
              <a:t>Hands-On Lab</a:t>
            </a:r>
            <a:endParaRPr lang="en-US" sz="1600" kern="1200" dirty="0">
              <a:solidFill>
                <a:prstClr val="black"/>
              </a:solidFill>
              <a:latin typeface="Calibri" panose="020F0502020204030204"/>
              <a:ea typeface="+mn-ea"/>
              <a:cs typeface="+mn-cs"/>
            </a:endParaRPr>
          </a:p>
        </p:txBody>
      </p:sp>
      <p:pic>
        <p:nvPicPr>
          <p:cNvPr id="17" name="Google Shape;497;p1">
            <a:extLst>
              <a:ext uri="{FF2B5EF4-FFF2-40B4-BE49-F238E27FC236}">
                <a16:creationId xmlns:a16="http://schemas.microsoft.com/office/drawing/2014/main" id="{53643AF3-7C42-1827-A511-4A8059FC4EAB}"/>
              </a:ext>
            </a:extLst>
          </p:cNvPr>
          <p:cNvPicPr preferRelativeResize="0"/>
          <p:nvPr/>
        </p:nvPicPr>
        <p:blipFill rotWithShape="1">
          <a:blip r:embed="rId3">
            <a:alphaModFix/>
          </a:blip>
          <a:srcRect/>
          <a:stretch/>
        </p:blipFill>
        <p:spPr>
          <a:xfrm>
            <a:off x="7348589" y="979768"/>
            <a:ext cx="3621353" cy="349974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Workshop Overview</a:t>
            </a:r>
            <a:endParaRPr lang="en-US" sz="3466" kern="1200" dirty="0">
              <a:solidFill>
                <a:prstClr val="black"/>
              </a:solidFill>
              <a:latin typeface="Calibri" panose="020F0502020204030204"/>
              <a:ea typeface="+mn-ea"/>
              <a:cs typeface="+mn-cs"/>
            </a:endParaRPr>
          </a:p>
        </p:txBody>
      </p:sp>
      <p:sp>
        <p:nvSpPr>
          <p:cNvPr id="5" name="Shape 3"/>
          <p:cNvSpPr/>
          <p:nvPr/>
        </p:nvSpPr>
        <p:spPr>
          <a:xfrm>
            <a:off x="426608" y="1402608"/>
            <a:ext cx="3656648" cy="633819"/>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6" name="Image 0" descr="preencoded.png"/>
          <p:cNvPicPr>
            <a:picLocks noChangeAspect="1"/>
          </p:cNvPicPr>
          <p:nvPr/>
        </p:nvPicPr>
        <p:blipFill>
          <a:blip r:embed="rId3"/>
          <a:stretch>
            <a:fillRect/>
          </a:stretch>
        </p:blipFill>
        <p:spPr>
          <a:xfrm>
            <a:off x="548496" y="1463552"/>
            <a:ext cx="438798" cy="438798"/>
          </a:xfrm>
          <a:prstGeom prst="rect">
            <a:avLst/>
          </a:prstGeom>
        </p:spPr>
      </p:pic>
      <p:sp>
        <p:nvSpPr>
          <p:cNvPr id="7" name="Text 4"/>
          <p:cNvSpPr/>
          <p:nvPr/>
        </p:nvSpPr>
        <p:spPr>
          <a:xfrm>
            <a:off x="1084805" y="1439174"/>
            <a:ext cx="2925318" cy="585064"/>
          </a:xfrm>
          <a:prstGeom prst="rect">
            <a:avLst/>
          </a:prstGeom>
          <a:noFill/>
          <a:ln/>
        </p:spPr>
        <p:txBody>
          <a:bodyPr wrap="square" lIns="0" tIns="0" rIns="0" bIns="0" rtlCol="0" anchor="ctr"/>
          <a:lstStyle/>
          <a:p>
            <a:pPr defTabSz="1218895">
              <a:buClrTx/>
            </a:pPr>
            <a:r>
              <a:rPr lang="en-US" sz="1600" b="1" kern="1200" dirty="0">
                <a:solidFill>
                  <a:srgbClr val="FFFFFF"/>
                </a:solidFill>
                <a:latin typeface="Calibri" pitchFamily="34" charset="0"/>
                <a:ea typeface="Calibri" pitchFamily="34" charset="-122"/>
                <a:cs typeface="Calibri" pitchFamily="34" charset="-120"/>
              </a:rPr>
              <a:t>A  — Generics</a:t>
            </a:r>
            <a:endParaRPr lang="en-US" sz="1600" kern="1200" dirty="0">
              <a:solidFill>
                <a:prstClr val="black"/>
              </a:solidFill>
              <a:latin typeface="Calibri" panose="020F0502020204030204"/>
              <a:ea typeface="+mn-ea"/>
              <a:cs typeface="+mn-cs"/>
            </a:endParaRPr>
          </a:p>
        </p:txBody>
      </p:sp>
      <p:sp>
        <p:nvSpPr>
          <p:cNvPr id="8" name="Shape 5"/>
          <p:cNvSpPr/>
          <p:nvPr/>
        </p:nvSpPr>
        <p:spPr>
          <a:xfrm>
            <a:off x="426608" y="2036427"/>
            <a:ext cx="3656648" cy="4534243"/>
          </a:xfrm>
          <a:prstGeom prst="rect">
            <a:avLst/>
          </a:prstGeom>
          <a:solidFill>
            <a:srgbClr val="EDE9FE"/>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9" name="Text 6"/>
          <p:cNvSpPr/>
          <p:nvPr/>
        </p:nvSpPr>
        <p:spPr>
          <a:xfrm>
            <a:off x="597252" y="2158315"/>
            <a:ext cx="3351927" cy="755707"/>
          </a:xfrm>
          <a:prstGeom prst="rect">
            <a:avLst/>
          </a:prstGeom>
          <a:noFill/>
          <a:ln/>
        </p:spPr>
        <p:txBody>
          <a:bodyPr wrap="square" lIns="0" tIns="0" rIns="0" bIns="0" rtlCol="0" anchor="ctr"/>
          <a:lstStyle/>
          <a:p>
            <a:pPr defTabSz="1218895">
              <a:buClrTx/>
            </a:pPr>
            <a:r>
              <a:rPr lang="en-US" b="1" kern="1200" dirty="0">
                <a:solidFill>
                  <a:srgbClr val="7C3AED"/>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What are generics &amp; why they exist</a:t>
            </a:r>
            <a:endParaRPr lang="en-US" kern="1200" dirty="0">
              <a:solidFill>
                <a:prstClr val="black"/>
              </a:solidFill>
              <a:latin typeface="Calibri" panose="020F0502020204030204"/>
              <a:ea typeface="+mn-ea"/>
              <a:cs typeface="+mn-cs"/>
            </a:endParaRPr>
          </a:p>
        </p:txBody>
      </p:sp>
      <p:sp>
        <p:nvSpPr>
          <p:cNvPr id="10" name="Text 7"/>
          <p:cNvSpPr/>
          <p:nvPr/>
        </p:nvSpPr>
        <p:spPr>
          <a:xfrm>
            <a:off x="597252" y="3011533"/>
            <a:ext cx="3351927" cy="755707"/>
          </a:xfrm>
          <a:prstGeom prst="rect">
            <a:avLst/>
          </a:prstGeom>
          <a:noFill/>
          <a:ln/>
        </p:spPr>
        <p:txBody>
          <a:bodyPr wrap="square" lIns="0" tIns="0" rIns="0" bIns="0" rtlCol="0" anchor="ctr"/>
          <a:lstStyle/>
          <a:p>
            <a:pPr defTabSz="1218895">
              <a:buClrTx/>
            </a:pPr>
            <a:r>
              <a:rPr lang="en-US" b="1" kern="1200" dirty="0">
                <a:solidFill>
                  <a:srgbClr val="7C3AED"/>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Type parameters: T, K, V</a:t>
            </a:r>
            <a:endParaRPr lang="en-US" kern="1200" dirty="0">
              <a:solidFill>
                <a:prstClr val="black"/>
              </a:solidFill>
              <a:latin typeface="Calibri" panose="020F0502020204030204"/>
              <a:ea typeface="+mn-ea"/>
              <a:cs typeface="+mn-cs"/>
            </a:endParaRPr>
          </a:p>
        </p:txBody>
      </p:sp>
      <p:sp>
        <p:nvSpPr>
          <p:cNvPr id="11" name="Text 8"/>
          <p:cNvSpPr/>
          <p:nvPr/>
        </p:nvSpPr>
        <p:spPr>
          <a:xfrm>
            <a:off x="597252" y="3864751"/>
            <a:ext cx="3351927" cy="755707"/>
          </a:xfrm>
          <a:prstGeom prst="rect">
            <a:avLst/>
          </a:prstGeom>
          <a:noFill/>
          <a:ln/>
        </p:spPr>
        <p:txBody>
          <a:bodyPr wrap="square" lIns="0" tIns="0" rIns="0" bIns="0" rtlCol="0" anchor="ctr"/>
          <a:lstStyle/>
          <a:p>
            <a:pPr defTabSz="1218895">
              <a:buClrTx/>
            </a:pPr>
            <a:r>
              <a:rPr lang="en-US" b="1" kern="1200" dirty="0">
                <a:solidFill>
                  <a:srgbClr val="7C3AED"/>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Generic constraints: extends</a:t>
            </a:r>
            <a:endParaRPr lang="en-US" kern="1200" dirty="0">
              <a:solidFill>
                <a:prstClr val="black"/>
              </a:solidFill>
              <a:latin typeface="Calibri" panose="020F0502020204030204"/>
              <a:ea typeface="+mn-ea"/>
              <a:cs typeface="+mn-cs"/>
            </a:endParaRPr>
          </a:p>
        </p:txBody>
      </p:sp>
      <p:sp>
        <p:nvSpPr>
          <p:cNvPr id="12" name="Text 9"/>
          <p:cNvSpPr/>
          <p:nvPr/>
        </p:nvSpPr>
        <p:spPr>
          <a:xfrm>
            <a:off x="597252" y="4717968"/>
            <a:ext cx="3351927" cy="755707"/>
          </a:xfrm>
          <a:prstGeom prst="rect">
            <a:avLst/>
          </a:prstGeom>
          <a:noFill/>
          <a:ln/>
        </p:spPr>
        <p:txBody>
          <a:bodyPr wrap="square" lIns="0" tIns="0" rIns="0" bIns="0" rtlCol="0" anchor="ctr"/>
          <a:lstStyle/>
          <a:p>
            <a:pPr defTabSz="1218895">
              <a:buClrTx/>
            </a:pPr>
            <a:r>
              <a:rPr lang="en-US" b="1" kern="1200" dirty="0">
                <a:solidFill>
                  <a:srgbClr val="7C3AED"/>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ConfigLoader&lt;T&gt; implementation</a:t>
            </a:r>
            <a:endParaRPr lang="en-US" kern="1200" dirty="0">
              <a:solidFill>
                <a:prstClr val="black"/>
              </a:solidFill>
              <a:latin typeface="Calibri" panose="020F0502020204030204"/>
              <a:ea typeface="+mn-ea"/>
              <a:cs typeface="+mn-cs"/>
            </a:endParaRPr>
          </a:p>
        </p:txBody>
      </p:sp>
      <p:sp>
        <p:nvSpPr>
          <p:cNvPr id="13" name="Text 10"/>
          <p:cNvSpPr/>
          <p:nvPr/>
        </p:nvSpPr>
        <p:spPr>
          <a:xfrm>
            <a:off x="597252" y="5571186"/>
            <a:ext cx="3351927" cy="755707"/>
          </a:xfrm>
          <a:prstGeom prst="rect">
            <a:avLst/>
          </a:prstGeom>
          <a:noFill/>
          <a:ln/>
        </p:spPr>
        <p:txBody>
          <a:bodyPr wrap="square" lIns="0" tIns="0" rIns="0" bIns="0" rtlCol="0" anchor="ctr"/>
          <a:lstStyle/>
          <a:p>
            <a:pPr defTabSz="1218895">
              <a:buClrTx/>
            </a:pPr>
            <a:r>
              <a:rPr lang="en-US" b="1" kern="1200" dirty="0">
                <a:solidFill>
                  <a:srgbClr val="7C3AED"/>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Testing two config shapes</a:t>
            </a:r>
            <a:endParaRPr lang="en-US" kern="1200" dirty="0">
              <a:solidFill>
                <a:prstClr val="black"/>
              </a:solidFill>
              <a:latin typeface="Calibri" panose="020F0502020204030204"/>
              <a:ea typeface="+mn-ea"/>
              <a:cs typeface="+mn-cs"/>
            </a:endParaRPr>
          </a:p>
        </p:txBody>
      </p:sp>
      <p:sp>
        <p:nvSpPr>
          <p:cNvPr id="14" name="Shape 11"/>
          <p:cNvSpPr/>
          <p:nvPr/>
        </p:nvSpPr>
        <p:spPr>
          <a:xfrm>
            <a:off x="4351410" y="1402608"/>
            <a:ext cx="3656648" cy="633819"/>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15" name="Image 1" descr="preencoded.png"/>
          <p:cNvPicPr>
            <a:picLocks noChangeAspect="1"/>
          </p:cNvPicPr>
          <p:nvPr/>
        </p:nvPicPr>
        <p:blipFill>
          <a:blip r:embed="rId4"/>
          <a:stretch>
            <a:fillRect/>
          </a:stretch>
        </p:blipFill>
        <p:spPr>
          <a:xfrm>
            <a:off x="4473298" y="1463552"/>
            <a:ext cx="438798" cy="438798"/>
          </a:xfrm>
          <a:prstGeom prst="rect">
            <a:avLst/>
          </a:prstGeom>
        </p:spPr>
      </p:pic>
      <p:sp>
        <p:nvSpPr>
          <p:cNvPr id="16" name="Text 12"/>
          <p:cNvSpPr/>
          <p:nvPr/>
        </p:nvSpPr>
        <p:spPr>
          <a:xfrm>
            <a:off x="5009607" y="1439174"/>
            <a:ext cx="2925318" cy="585064"/>
          </a:xfrm>
          <a:prstGeom prst="rect">
            <a:avLst/>
          </a:prstGeom>
          <a:noFill/>
          <a:ln/>
        </p:spPr>
        <p:txBody>
          <a:bodyPr wrap="square" lIns="0" tIns="0" rIns="0" bIns="0" rtlCol="0" anchor="ctr"/>
          <a:lstStyle/>
          <a:p>
            <a:pPr defTabSz="1218895">
              <a:buClrTx/>
            </a:pPr>
            <a:r>
              <a:rPr lang="en-US" sz="1600" b="1" kern="1200" dirty="0">
                <a:solidFill>
                  <a:srgbClr val="FFFFFF"/>
                </a:solidFill>
                <a:latin typeface="Calibri" pitchFamily="34" charset="0"/>
                <a:ea typeface="Calibri" pitchFamily="34" charset="-122"/>
                <a:cs typeface="Calibri" pitchFamily="34" charset="-120"/>
              </a:rPr>
              <a:t>B  — Decorators</a:t>
            </a:r>
            <a:endParaRPr lang="en-US" sz="1600" kern="1200" dirty="0">
              <a:solidFill>
                <a:prstClr val="black"/>
              </a:solidFill>
              <a:latin typeface="Calibri" panose="020F0502020204030204"/>
              <a:ea typeface="+mn-ea"/>
              <a:cs typeface="+mn-cs"/>
            </a:endParaRPr>
          </a:p>
        </p:txBody>
      </p:sp>
      <p:sp>
        <p:nvSpPr>
          <p:cNvPr id="17" name="Shape 13"/>
          <p:cNvSpPr/>
          <p:nvPr/>
        </p:nvSpPr>
        <p:spPr>
          <a:xfrm>
            <a:off x="4351410" y="2036427"/>
            <a:ext cx="3656648" cy="4534243"/>
          </a:xfrm>
          <a:prstGeom prst="rect">
            <a:avLst/>
          </a:prstGeom>
          <a:solidFill>
            <a:srgbClr val="CCFBF1"/>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8" name="Text 14"/>
          <p:cNvSpPr/>
          <p:nvPr/>
        </p:nvSpPr>
        <p:spPr>
          <a:xfrm>
            <a:off x="4522054" y="2158315"/>
            <a:ext cx="3351927" cy="755707"/>
          </a:xfrm>
          <a:prstGeom prst="rect">
            <a:avLst/>
          </a:prstGeom>
          <a:noFill/>
          <a:ln/>
        </p:spPr>
        <p:txBody>
          <a:bodyPr wrap="square" lIns="0" tIns="0" rIns="0" bIns="0" rtlCol="0" anchor="ctr"/>
          <a:lstStyle/>
          <a:p>
            <a:pPr defTabSz="1218895">
              <a:buClrTx/>
            </a:pPr>
            <a:r>
              <a:rPr lang="en-US" b="1" kern="1200" dirty="0">
                <a:solidFill>
                  <a:srgbClr val="0D9488"/>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What is a decorator?</a:t>
            </a:r>
            <a:endParaRPr lang="en-US" kern="1200" dirty="0">
              <a:solidFill>
                <a:prstClr val="black"/>
              </a:solidFill>
              <a:latin typeface="Calibri" panose="020F0502020204030204"/>
              <a:ea typeface="+mn-ea"/>
              <a:cs typeface="+mn-cs"/>
            </a:endParaRPr>
          </a:p>
        </p:txBody>
      </p:sp>
      <p:sp>
        <p:nvSpPr>
          <p:cNvPr id="19" name="Text 15"/>
          <p:cNvSpPr/>
          <p:nvPr/>
        </p:nvSpPr>
        <p:spPr>
          <a:xfrm>
            <a:off x="4522054" y="3011533"/>
            <a:ext cx="3351927" cy="755707"/>
          </a:xfrm>
          <a:prstGeom prst="rect">
            <a:avLst/>
          </a:prstGeom>
          <a:noFill/>
          <a:ln/>
        </p:spPr>
        <p:txBody>
          <a:bodyPr wrap="square" lIns="0" tIns="0" rIns="0" bIns="0" rtlCol="0" anchor="ctr"/>
          <a:lstStyle/>
          <a:p>
            <a:pPr defTabSz="1218895">
              <a:buClrTx/>
            </a:pPr>
            <a:r>
              <a:rPr lang="en-US" b="1" kern="1200" dirty="0">
                <a:solidFill>
                  <a:srgbClr val="0D9488"/>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How TS decorators work</a:t>
            </a:r>
            <a:endParaRPr lang="en-US" kern="1200" dirty="0">
              <a:solidFill>
                <a:prstClr val="black"/>
              </a:solidFill>
              <a:latin typeface="Calibri" panose="020F0502020204030204"/>
              <a:ea typeface="+mn-ea"/>
              <a:cs typeface="+mn-cs"/>
            </a:endParaRPr>
          </a:p>
        </p:txBody>
      </p:sp>
      <p:sp>
        <p:nvSpPr>
          <p:cNvPr id="20" name="Text 16"/>
          <p:cNvSpPr/>
          <p:nvPr/>
        </p:nvSpPr>
        <p:spPr>
          <a:xfrm>
            <a:off x="4522054" y="3864751"/>
            <a:ext cx="3351927" cy="755707"/>
          </a:xfrm>
          <a:prstGeom prst="rect">
            <a:avLst/>
          </a:prstGeom>
          <a:noFill/>
          <a:ln/>
        </p:spPr>
        <p:txBody>
          <a:bodyPr wrap="square" lIns="0" tIns="0" rIns="0" bIns="0" rtlCol="0" anchor="ctr"/>
          <a:lstStyle/>
          <a:p>
            <a:pPr defTabSz="1218895">
              <a:buClrTx/>
            </a:pPr>
            <a:r>
              <a:rPr lang="en-US" b="1" kern="1200" dirty="0">
                <a:solidFill>
                  <a:srgbClr val="0D9488"/>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Method decorator anatomy</a:t>
            </a:r>
            <a:endParaRPr lang="en-US" kern="1200" dirty="0">
              <a:solidFill>
                <a:prstClr val="black"/>
              </a:solidFill>
              <a:latin typeface="Calibri" panose="020F0502020204030204"/>
              <a:ea typeface="+mn-ea"/>
              <a:cs typeface="+mn-cs"/>
            </a:endParaRPr>
          </a:p>
        </p:txBody>
      </p:sp>
      <p:sp>
        <p:nvSpPr>
          <p:cNvPr id="21" name="Text 17"/>
          <p:cNvSpPr/>
          <p:nvPr/>
        </p:nvSpPr>
        <p:spPr>
          <a:xfrm>
            <a:off x="4522054" y="4717968"/>
            <a:ext cx="3351927" cy="755707"/>
          </a:xfrm>
          <a:prstGeom prst="rect">
            <a:avLst/>
          </a:prstGeom>
          <a:noFill/>
          <a:ln/>
        </p:spPr>
        <p:txBody>
          <a:bodyPr wrap="square" lIns="0" tIns="0" rIns="0" bIns="0" rtlCol="0" anchor="ctr"/>
          <a:lstStyle/>
          <a:p>
            <a:pPr defTabSz="1218895">
              <a:buClrTx/>
            </a:pPr>
            <a:r>
              <a:rPr lang="en-US" b="1" kern="1200" dirty="0">
                <a:solidFill>
                  <a:srgbClr val="0D9488"/>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@LogRequest implementation</a:t>
            </a:r>
            <a:endParaRPr lang="en-US" kern="1200" dirty="0">
              <a:solidFill>
                <a:prstClr val="black"/>
              </a:solidFill>
              <a:latin typeface="Calibri" panose="020F0502020204030204"/>
              <a:ea typeface="+mn-ea"/>
              <a:cs typeface="+mn-cs"/>
            </a:endParaRPr>
          </a:p>
        </p:txBody>
      </p:sp>
      <p:sp>
        <p:nvSpPr>
          <p:cNvPr id="22" name="Text 18"/>
          <p:cNvSpPr/>
          <p:nvPr/>
        </p:nvSpPr>
        <p:spPr>
          <a:xfrm>
            <a:off x="4522054" y="5571186"/>
            <a:ext cx="3351927" cy="755707"/>
          </a:xfrm>
          <a:prstGeom prst="rect">
            <a:avLst/>
          </a:prstGeom>
          <a:noFill/>
          <a:ln/>
        </p:spPr>
        <p:txBody>
          <a:bodyPr wrap="square" lIns="0" tIns="0" rIns="0" bIns="0" rtlCol="0" anchor="ctr"/>
          <a:lstStyle/>
          <a:p>
            <a:pPr defTabSz="1218895">
              <a:buClrTx/>
            </a:pPr>
            <a:r>
              <a:rPr lang="en-US" b="1" kern="1200" dirty="0">
                <a:solidFill>
                  <a:srgbClr val="0D9488"/>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Applying to CAP handler class</a:t>
            </a:r>
            <a:endParaRPr lang="en-US" kern="1200" dirty="0">
              <a:solidFill>
                <a:prstClr val="black"/>
              </a:solidFill>
              <a:latin typeface="Calibri" panose="020F0502020204030204"/>
              <a:ea typeface="+mn-ea"/>
              <a:cs typeface="+mn-cs"/>
            </a:endParaRPr>
          </a:p>
        </p:txBody>
      </p:sp>
      <p:sp>
        <p:nvSpPr>
          <p:cNvPr id="23" name="Shape 19"/>
          <p:cNvSpPr/>
          <p:nvPr/>
        </p:nvSpPr>
        <p:spPr>
          <a:xfrm>
            <a:off x="8276211" y="1402608"/>
            <a:ext cx="3656648" cy="633819"/>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24" name="Image 2" descr="preencoded.png"/>
          <p:cNvPicPr>
            <a:picLocks noChangeAspect="1"/>
          </p:cNvPicPr>
          <p:nvPr/>
        </p:nvPicPr>
        <p:blipFill>
          <a:blip r:embed="rId5"/>
          <a:stretch>
            <a:fillRect/>
          </a:stretch>
        </p:blipFill>
        <p:spPr>
          <a:xfrm>
            <a:off x="8398100" y="1463552"/>
            <a:ext cx="438798" cy="438798"/>
          </a:xfrm>
          <a:prstGeom prst="rect">
            <a:avLst/>
          </a:prstGeom>
        </p:spPr>
      </p:pic>
      <p:sp>
        <p:nvSpPr>
          <p:cNvPr id="25" name="Text 20"/>
          <p:cNvSpPr/>
          <p:nvPr/>
        </p:nvSpPr>
        <p:spPr>
          <a:xfrm>
            <a:off x="8934408" y="1439174"/>
            <a:ext cx="2925318" cy="585064"/>
          </a:xfrm>
          <a:prstGeom prst="rect">
            <a:avLst/>
          </a:prstGeom>
          <a:noFill/>
          <a:ln/>
        </p:spPr>
        <p:txBody>
          <a:bodyPr wrap="square" lIns="0" tIns="0" rIns="0" bIns="0" rtlCol="0" anchor="ctr"/>
          <a:lstStyle/>
          <a:p>
            <a:pPr defTabSz="1218895">
              <a:buClrTx/>
            </a:pPr>
            <a:r>
              <a:rPr lang="en-US" sz="1600" b="1" kern="1200" dirty="0">
                <a:solidFill>
                  <a:srgbClr val="FFFFFF"/>
                </a:solidFill>
                <a:latin typeface="Calibri" pitchFamily="34" charset="0"/>
                <a:ea typeface="Calibri" pitchFamily="34" charset="-122"/>
                <a:cs typeface="Calibri" pitchFamily="34" charset="-120"/>
              </a:rPr>
              <a:t>C  — Utility Types</a:t>
            </a:r>
            <a:endParaRPr lang="en-US" sz="1600" kern="1200" dirty="0">
              <a:solidFill>
                <a:prstClr val="black"/>
              </a:solidFill>
              <a:latin typeface="Calibri" panose="020F0502020204030204"/>
              <a:ea typeface="+mn-ea"/>
              <a:cs typeface="+mn-cs"/>
            </a:endParaRPr>
          </a:p>
        </p:txBody>
      </p:sp>
      <p:sp>
        <p:nvSpPr>
          <p:cNvPr id="26" name="Shape 21"/>
          <p:cNvSpPr/>
          <p:nvPr/>
        </p:nvSpPr>
        <p:spPr>
          <a:xfrm>
            <a:off x="8276211" y="2036427"/>
            <a:ext cx="3656648" cy="4534243"/>
          </a:xfrm>
          <a:prstGeom prst="rect">
            <a:avLst/>
          </a:prstGeom>
          <a:solidFill>
            <a:srgbClr val="FEF3C7"/>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7" name="Text 22"/>
          <p:cNvSpPr/>
          <p:nvPr/>
        </p:nvSpPr>
        <p:spPr>
          <a:xfrm>
            <a:off x="8446855" y="2158315"/>
            <a:ext cx="3351927" cy="755707"/>
          </a:xfrm>
          <a:prstGeom prst="rect">
            <a:avLst/>
          </a:prstGeom>
          <a:noFill/>
          <a:ln/>
        </p:spPr>
        <p:txBody>
          <a:bodyPr wrap="square" lIns="0" tIns="0" rIns="0" bIns="0" rtlCol="0" anchor="ctr"/>
          <a:lstStyle/>
          <a:p>
            <a:pPr defTabSz="1218895">
              <a:buClrTx/>
            </a:pPr>
            <a:r>
              <a:rPr lang="en-US" b="1" kern="1200" dirty="0">
                <a:solidFill>
                  <a:srgbClr val="D97706"/>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Built-in mapped types</a:t>
            </a:r>
            <a:endParaRPr lang="en-US" kern="1200" dirty="0">
              <a:solidFill>
                <a:prstClr val="black"/>
              </a:solidFill>
              <a:latin typeface="Calibri" panose="020F0502020204030204"/>
              <a:ea typeface="+mn-ea"/>
              <a:cs typeface="+mn-cs"/>
            </a:endParaRPr>
          </a:p>
        </p:txBody>
      </p:sp>
      <p:sp>
        <p:nvSpPr>
          <p:cNvPr id="28" name="Text 23"/>
          <p:cNvSpPr/>
          <p:nvPr/>
        </p:nvSpPr>
        <p:spPr>
          <a:xfrm>
            <a:off x="8446855" y="3011533"/>
            <a:ext cx="3351927" cy="755707"/>
          </a:xfrm>
          <a:prstGeom prst="rect">
            <a:avLst/>
          </a:prstGeom>
          <a:noFill/>
          <a:ln/>
        </p:spPr>
        <p:txBody>
          <a:bodyPr wrap="square" lIns="0" tIns="0" rIns="0" bIns="0" rtlCol="0" anchor="ctr"/>
          <a:lstStyle/>
          <a:p>
            <a:pPr defTabSz="1218895">
              <a:buClrTx/>
            </a:pPr>
            <a:r>
              <a:rPr lang="en-US" b="1" kern="1200" dirty="0">
                <a:solidFill>
                  <a:srgbClr val="D97706"/>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Readonly&lt;T&gt;, Partial&lt;T&gt;</a:t>
            </a:r>
            <a:endParaRPr lang="en-US" kern="1200" dirty="0">
              <a:solidFill>
                <a:prstClr val="black"/>
              </a:solidFill>
              <a:latin typeface="Calibri" panose="020F0502020204030204"/>
              <a:ea typeface="+mn-ea"/>
              <a:cs typeface="+mn-cs"/>
            </a:endParaRPr>
          </a:p>
        </p:txBody>
      </p:sp>
      <p:sp>
        <p:nvSpPr>
          <p:cNvPr id="29" name="Text 24"/>
          <p:cNvSpPr/>
          <p:nvPr/>
        </p:nvSpPr>
        <p:spPr>
          <a:xfrm>
            <a:off x="8446855" y="3864751"/>
            <a:ext cx="3351927" cy="755707"/>
          </a:xfrm>
          <a:prstGeom prst="rect">
            <a:avLst/>
          </a:prstGeom>
          <a:noFill/>
          <a:ln/>
        </p:spPr>
        <p:txBody>
          <a:bodyPr wrap="square" lIns="0" tIns="0" rIns="0" bIns="0" rtlCol="0" anchor="ctr"/>
          <a:lstStyle/>
          <a:p>
            <a:pPr defTabSz="1218895">
              <a:buClrTx/>
            </a:pPr>
            <a:r>
              <a:rPr lang="en-US" b="1" kern="1200" dirty="0">
                <a:solidFill>
                  <a:srgbClr val="D97706"/>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Omit&lt;T,K&gt;, Pick&lt;T,K&gt;</a:t>
            </a:r>
            <a:endParaRPr lang="en-US" kern="1200" dirty="0">
              <a:solidFill>
                <a:prstClr val="black"/>
              </a:solidFill>
              <a:latin typeface="Calibri" panose="020F0502020204030204"/>
              <a:ea typeface="+mn-ea"/>
              <a:cs typeface="+mn-cs"/>
            </a:endParaRPr>
          </a:p>
        </p:txBody>
      </p:sp>
      <p:sp>
        <p:nvSpPr>
          <p:cNvPr id="30" name="Text 25"/>
          <p:cNvSpPr/>
          <p:nvPr/>
        </p:nvSpPr>
        <p:spPr>
          <a:xfrm>
            <a:off x="8446855" y="4717968"/>
            <a:ext cx="3351927" cy="755707"/>
          </a:xfrm>
          <a:prstGeom prst="rect">
            <a:avLst/>
          </a:prstGeom>
          <a:noFill/>
          <a:ln/>
        </p:spPr>
        <p:txBody>
          <a:bodyPr wrap="square" lIns="0" tIns="0" rIns="0" bIns="0" rtlCol="0" anchor="ctr"/>
          <a:lstStyle/>
          <a:p>
            <a:pPr defTabSz="1218895">
              <a:buClrTx/>
            </a:pPr>
            <a:r>
              <a:rPr lang="en-US" b="1" kern="1200" dirty="0">
                <a:solidFill>
                  <a:srgbClr val="D97706"/>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Deriving BTP entity types</a:t>
            </a:r>
            <a:endParaRPr lang="en-US" kern="1200" dirty="0">
              <a:solidFill>
                <a:prstClr val="black"/>
              </a:solidFill>
              <a:latin typeface="Calibri" panose="020F0502020204030204"/>
              <a:ea typeface="+mn-ea"/>
              <a:cs typeface="+mn-cs"/>
            </a:endParaRPr>
          </a:p>
        </p:txBody>
      </p:sp>
      <p:sp>
        <p:nvSpPr>
          <p:cNvPr id="31" name="Text 26"/>
          <p:cNvSpPr/>
          <p:nvPr/>
        </p:nvSpPr>
        <p:spPr>
          <a:xfrm>
            <a:off x="8446855" y="5571186"/>
            <a:ext cx="3351927" cy="755707"/>
          </a:xfrm>
          <a:prstGeom prst="rect">
            <a:avLst/>
          </a:prstGeom>
          <a:noFill/>
          <a:ln/>
        </p:spPr>
        <p:txBody>
          <a:bodyPr wrap="square" lIns="0" tIns="0" rIns="0" bIns="0" rtlCol="0" anchor="ctr"/>
          <a:lstStyle/>
          <a:p>
            <a:pPr defTabSz="1218895">
              <a:buClrTx/>
            </a:pPr>
            <a:r>
              <a:rPr lang="en-US" b="1" kern="1200" dirty="0">
                <a:solidFill>
                  <a:srgbClr val="D97706"/>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Eliminating duplication</a:t>
            </a:r>
            <a:endParaRPr lang="en-US" kern="1200" dirty="0">
              <a:solidFill>
                <a:prstClr val="black"/>
              </a:solidFill>
              <a:latin typeface="Calibri" panose="020F0502020204030204"/>
              <a:ea typeface="+mn-ea"/>
              <a:cs typeface="+mn-cs"/>
            </a:endParaRPr>
          </a:p>
        </p:txBody>
      </p:sp>
      <p:pic>
        <p:nvPicPr>
          <p:cNvPr id="32" name="Google Shape;497;p1">
            <a:extLst>
              <a:ext uri="{FF2B5EF4-FFF2-40B4-BE49-F238E27FC236}">
                <a16:creationId xmlns:a16="http://schemas.microsoft.com/office/drawing/2014/main" id="{11790480-726A-7584-4476-F0E2D47AAB87}"/>
              </a:ext>
            </a:extLst>
          </p:cNvPr>
          <p:cNvPicPr preferRelativeResize="0"/>
          <p:nvPr/>
        </p:nvPicPr>
        <p:blipFill rotWithShape="1">
          <a:blip r:embed="rId6">
            <a:alphaModFix/>
          </a:blip>
          <a:srcRect/>
          <a:stretch/>
        </p:blipFill>
        <p:spPr>
          <a:xfrm>
            <a:off x="10503584" y="-58217"/>
            <a:ext cx="1733995" cy="165618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Exercise A — Generics: The Big Idea</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Concept  ·  Why generics exist &amp; what problem they solve</a:t>
            </a:r>
            <a:endParaRPr lang="en-US" sz="1466" kern="1200" dirty="0">
              <a:solidFill>
                <a:prstClr val="black"/>
              </a:solidFill>
              <a:latin typeface="Calibri" panose="020F0502020204030204"/>
              <a:ea typeface="+mn-ea"/>
              <a:cs typeface="+mn-cs"/>
            </a:endParaRPr>
          </a:p>
        </p:txBody>
      </p:sp>
      <p:sp>
        <p:nvSpPr>
          <p:cNvPr id="6" name="Shape 4"/>
          <p:cNvSpPr/>
          <p:nvPr/>
        </p:nvSpPr>
        <p:spPr>
          <a:xfrm>
            <a:off x="487553" y="1402608"/>
            <a:ext cx="11213719" cy="877595"/>
          </a:xfrm>
          <a:prstGeom prst="rect">
            <a:avLst/>
          </a:prstGeom>
          <a:solidFill>
            <a:srgbClr val="EDE9FE"/>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670385" y="1439175"/>
            <a:ext cx="10848054" cy="804462"/>
          </a:xfrm>
          <a:prstGeom prst="rect">
            <a:avLst/>
          </a:prstGeom>
          <a:noFill/>
          <a:ln/>
        </p:spPr>
        <p:txBody>
          <a:bodyPr wrap="square" lIns="0" tIns="0" rIns="0" bIns="0" rtlCol="0" anchor="ctr"/>
          <a:lstStyle/>
          <a:p>
            <a:pPr defTabSz="1218895">
              <a:buClrTx/>
            </a:pPr>
            <a:r>
              <a:rPr lang="en-US" sz="1600" b="1" kern="1200" dirty="0">
                <a:solidFill>
                  <a:srgbClr val="7C3AED"/>
                </a:solidFill>
                <a:latin typeface="Calibri" pitchFamily="34" charset="0"/>
                <a:ea typeface="Calibri" pitchFamily="34" charset="-122"/>
                <a:cs typeface="Calibri" pitchFamily="34" charset="-120"/>
              </a:rPr>
              <a:t>Problem: </a:t>
            </a:r>
            <a:r>
              <a:rPr lang="en-US" sz="1600" kern="1200" dirty="0">
                <a:solidFill>
                  <a:srgbClr val="334155"/>
                </a:solidFill>
                <a:latin typeface="Calibri" pitchFamily="34" charset="0"/>
                <a:ea typeface="Calibri" pitchFamily="34" charset="-122"/>
                <a:cs typeface="Calibri" pitchFamily="34" charset="-120"/>
              </a:rPr>
              <a:t>Without generics, reusable functions must accept </a:t>
            </a:r>
            <a:r>
              <a:rPr lang="en-US" sz="1600" b="1" kern="1200" dirty="0">
                <a:solidFill>
                  <a:srgbClr val="DC2626"/>
                </a:solidFill>
                <a:latin typeface="Calibri" pitchFamily="34" charset="0"/>
                <a:ea typeface="Calibri" pitchFamily="34" charset="-122"/>
                <a:cs typeface="Calibri" pitchFamily="34" charset="-120"/>
              </a:rPr>
              <a:t>any </a:t>
            </a:r>
            <a:r>
              <a:rPr lang="en-US" sz="1600" kern="1200" dirty="0">
                <a:solidFill>
                  <a:srgbClr val="334155"/>
                </a:solidFill>
                <a:latin typeface="Calibri" pitchFamily="34" charset="0"/>
                <a:ea typeface="Calibri" pitchFamily="34" charset="-122"/>
                <a:cs typeface="Calibri" pitchFamily="34" charset="-120"/>
              </a:rPr>
              <a:t>— losing all type safety. Generics let you write one function that works for </a:t>
            </a:r>
            <a:r>
              <a:rPr lang="en-US" sz="1600" b="1" kern="1200" dirty="0">
                <a:solidFill>
                  <a:srgbClr val="7C3AED"/>
                </a:solidFill>
                <a:latin typeface="Calibri" pitchFamily="34" charset="0"/>
                <a:ea typeface="Calibri" pitchFamily="34" charset="-122"/>
                <a:cs typeface="Calibri" pitchFamily="34" charset="-120"/>
              </a:rPr>
              <a:t>many types</a:t>
            </a:r>
            <a:r>
              <a:rPr lang="en-US" sz="1600" kern="1200" dirty="0">
                <a:solidFill>
                  <a:srgbClr val="334155"/>
                </a:solidFill>
                <a:latin typeface="Calibri" pitchFamily="34" charset="0"/>
                <a:ea typeface="Calibri" pitchFamily="34" charset="-122"/>
                <a:cs typeface="Calibri" pitchFamily="34" charset="-120"/>
              </a:rPr>
              <a:t> while preserving the compiler's ability to check correctness.</a:t>
            </a:r>
            <a:endParaRPr lang="en-US" sz="1600" kern="1200" dirty="0">
              <a:solidFill>
                <a:prstClr val="black"/>
              </a:solidFill>
              <a:latin typeface="Calibri" panose="020F0502020204030204"/>
              <a:ea typeface="+mn-ea"/>
              <a:cs typeface="+mn-cs"/>
            </a:endParaRPr>
          </a:p>
        </p:txBody>
      </p:sp>
      <p:sp>
        <p:nvSpPr>
          <p:cNvPr id="8" name="Text 6"/>
          <p:cNvSpPr/>
          <p:nvPr/>
        </p:nvSpPr>
        <p:spPr>
          <a:xfrm>
            <a:off x="487553" y="2414281"/>
            <a:ext cx="5484971" cy="390042"/>
          </a:xfrm>
          <a:prstGeom prst="rect">
            <a:avLst/>
          </a:prstGeom>
          <a:noFill/>
          <a:ln/>
        </p:spPr>
        <p:txBody>
          <a:bodyPr wrap="square" lIns="0" tIns="0" rIns="0" bIns="0" rtlCol="0" anchor="ctr"/>
          <a:lstStyle/>
          <a:p>
            <a:pPr defTabSz="1218895">
              <a:buClrTx/>
            </a:pPr>
            <a:r>
              <a:rPr lang="en-US" sz="1600" b="1" kern="1200" dirty="0">
                <a:solidFill>
                  <a:srgbClr val="B91C1C"/>
                </a:solidFill>
                <a:latin typeface="Calibri" pitchFamily="34" charset="0"/>
                <a:ea typeface="Calibri" pitchFamily="34" charset="-122"/>
                <a:cs typeface="Calibri" pitchFamily="34" charset="-120"/>
              </a:rPr>
              <a:t>❌  Without Generics</a:t>
            </a:r>
            <a:endParaRPr lang="en-US" sz="1600" kern="1200" dirty="0">
              <a:solidFill>
                <a:prstClr val="black"/>
              </a:solidFill>
              <a:latin typeface="Calibri" panose="020F0502020204030204"/>
              <a:ea typeface="+mn-ea"/>
              <a:cs typeface="+mn-cs"/>
            </a:endParaRPr>
          </a:p>
        </p:txBody>
      </p:sp>
      <p:sp>
        <p:nvSpPr>
          <p:cNvPr id="9" name="Shape 7"/>
          <p:cNvSpPr/>
          <p:nvPr/>
        </p:nvSpPr>
        <p:spPr>
          <a:xfrm>
            <a:off x="487553" y="2828700"/>
            <a:ext cx="5484971" cy="2011156"/>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670385" y="2950589"/>
            <a:ext cx="5216817" cy="1791757"/>
          </a:xfrm>
          <a:prstGeom prst="rect">
            <a:avLst/>
          </a:prstGeom>
          <a:noFill/>
          <a:ln/>
        </p:spPr>
        <p:txBody>
          <a:bodyPr wrap="square" lIns="0" tIns="0" rIns="0" bIns="0" rtlCol="0" anchor="t"/>
          <a:lstStyle/>
          <a:p>
            <a:pPr defTabSz="1218895">
              <a:buClrTx/>
            </a:pPr>
            <a:r>
              <a:rPr lang="en-US" sz="1266" kern="1200" dirty="0">
                <a:solidFill>
                  <a:srgbClr val="64748B"/>
                </a:solidFill>
                <a:latin typeface="Consolas" pitchFamily="34" charset="0"/>
                <a:ea typeface="Consolas" pitchFamily="34" charset="-122"/>
                <a:cs typeface="Consolas" pitchFamily="34" charset="-120"/>
              </a:rPr>
              <a:t>// Must use any — loses type info</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function getFirst(arr: any[]): any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return arr[0];</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const x = getFirst([1, 2, 3]);</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 x is 'any' — no autocomplete!</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x.toUpperCase(); // no error ❌</a:t>
            </a:r>
            <a:endParaRPr lang="en-US" sz="1266" kern="1200" dirty="0">
              <a:solidFill>
                <a:prstClr val="black"/>
              </a:solidFill>
              <a:latin typeface="Calibri" panose="020F0502020204030204"/>
              <a:ea typeface="+mn-ea"/>
              <a:cs typeface="+mn-cs"/>
            </a:endParaRPr>
          </a:p>
        </p:txBody>
      </p:sp>
      <p:sp>
        <p:nvSpPr>
          <p:cNvPr id="11" name="Text 9"/>
          <p:cNvSpPr/>
          <p:nvPr/>
        </p:nvSpPr>
        <p:spPr>
          <a:xfrm>
            <a:off x="6277244" y="2414281"/>
            <a:ext cx="5606860" cy="390042"/>
          </a:xfrm>
          <a:prstGeom prst="rect">
            <a:avLst/>
          </a:prstGeom>
          <a:noFill/>
          <a:ln/>
        </p:spPr>
        <p:txBody>
          <a:bodyPr wrap="square" lIns="0" tIns="0" rIns="0" bIns="0" rtlCol="0" anchor="ctr"/>
          <a:lstStyle/>
          <a:p>
            <a:pPr defTabSz="1218895">
              <a:buClrTx/>
            </a:pPr>
            <a:r>
              <a:rPr lang="en-US" sz="1600" b="1" kern="1200" dirty="0">
                <a:solidFill>
                  <a:srgbClr val="0D9488"/>
                </a:solidFill>
                <a:latin typeface="Calibri" pitchFamily="34" charset="0"/>
                <a:ea typeface="Calibri" pitchFamily="34" charset="-122"/>
                <a:cs typeface="Calibri" pitchFamily="34" charset="-120"/>
              </a:rPr>
              <a:t>✅  With Generics</a:t>
            </a:r>
            <a:endParaRPr lang="en-US" sz="1600" kern="1200" dirty="0">
              <a:solidFill>
                <a:prstClr val="black"/>
              </a:solidFill>
              <a:latin typeface="Calibri" panose="020F0502020204030204"/>
              <a:ea typeface="+mn-ea"/>
              <a:cs typeface="+mn-cs"/>
            </a:endParaRPr>
          </a:p>
        </p:txBody>
      </p:sp>
      <p:sp>
        <p:nvSpPr>
          <p:cNvPr id="12" name="Shape 10"/>
          <p:cNvSpPr/>
          <p:nvPr/>
        </p:nvSpPr>
        <p:spPr>
          <a:xfrm>
            <a:off x="6277244" y="2828700"/>
            <a:ext cx="5606860" cy="2011156"/>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Text 11"/>
          <p:cNvSpPr/>
          <p:nvPr/>
        </p:nvSpPr>
        <p:spPr>
          <a:xfrm>
            <a:off x="6460077" y="2950589"/>
            <a:ext cx="5338705" cy="1791757"/>
          </a:xfrm>
          <a:prstGeom prst="rect">
            <a:avLst/>
          </a:prstGeom>
          <a:noFill/>
          <a:ln/>
        </p:spPr>
        <p:txBody>
          <a:bodyPr wrap="square" lIns="0" tIns="0" rIns="0" bIns="0" rtlCol="0" anchor="t"/>
          <a:lstStyle/>
          <a:p>
            <a:pPr defTabSz="1218895">
              <a:buClrTx/>
            </a:pPr>
            <a:r>
              <a:rPr lang="en-US" sz="1266" kern="1200" dirty="0">
                <a:solidFill>
                  <a:srgbClr val="64748B"/>
                </a:solidFill>
                <a:latin typeface="Consolas" pitchFamily="34" charset="0"/>
                <a:ea typeface="Consolas" pitchFamily="34" charset="-122"/>
                <a:cs typeface="Consolas" pitchFamily="34" charset="-120"/>
              </a:rPr>
              <a:t>// T is inferred from the call site</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function getFirst&lt;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472B6"/>
                </a:solidFill>
                <a:latin typeface="Consolas" pitchFamily="34" charset="0"/>
                <a:ea typeface="Consolas" pitchFamily="34" charset="-122"/>
                <a:cs typeface="Consolas" pitchFamily="34" charset="-120"/>
              </a:rPr>
              <a:t>function getFirst&lt;T&gt;(arr: T[]): T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return arr[0];</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const x = getFirst([1, 2, 3]);</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x is 'number' — full type safety!</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x.toUpperCase(); // Error: number ✅</a:t>
            </a:r>
            <a:endParaRPr lang="en-US" sz="1266" kern="1200" dirty="0">
              <a:solidFill>
                <a:prstClr val="black"/>
              </a:solidFill>
              <a:latin typeface="Calibri" panose="020F0502020204030204"/>
              <a:ea typeface="+mn-ea"/>
              <a:cs typeface="+mn-cs"/>
            </a:endParaRPr>
          </a:p>
        </p:txBody>
      </p:sp>
      <p:sp>
        <p:nvSpPr>
          <p:cNvPr id="14" name="Shape 12"/>
          <p:cNvSpPr/>
          <p:nvPr/>
        </p:nvSpPr>
        <p:spPr>
          <a:xfrm>
            <a:off x="487552" y="4998311"/>
            <a:ext cx="3656648" cy="1096994"/>
          </a:xfrm>
          <a:prstGeom prst="rect">
            <a:avLst/>
          </a:prstGeom>
          <a:solidFill>
            <a:srgbClr val="FFFFFF"/>
          </a:solidFill>
          <a:ln w="12700">
            <a:solidFill>
              <a:srgbClr val="7C3AED"/>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5" name="Shape 13"/>
          <p:cNvSpPr/>
          <p:nvPr/>
        </p:nvSpPr>
        <p:spPr>
          <a:xfrm>
            <a:off x="487552" y="4998311"/>
            <a:ext cx="3656648" cy="365665"/>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487552" y="4998311"/>
            <a:ext cx="3656648" cy="365665"/>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onsolas" pitchFamily="34" charset="0"/>
                <a:ea typeface="Consolas" pitchFamily="34" charset="-122"/>
                <a:cs typeface="Consolas" pitchFamily="34" charset="-120"/>
              </a:rPr>
              <a:t>&lt;T&gt;</a:t>
            </a:r>
            <a:endParaRPr lang="en-US" sz="1600" kern="1200" dirty="0">
              <a:solidFill>
                <a:prstClr val="black"/>
              </a:solidFill>
              <a:latin typeface="Calibri" panose="020F0502020204030204"/>
              <a:ea typeface="+mn-ea"/>
              <a:cs typeface="+mn-cs"/>
            </a:endParaRPr>
          </a:p>
        </p:txBody>
      </p:sp>
      <p:sp>
        <p:nvSpPr>
          <p:cNvPr id="17" name="Text 15"/>
          <p:cNvSpPr/>
          <p:nvPr/>
        </p:nvSpPr>
        <p:spPr>
          <a:xfrm>
            <a:off x="609441" y="5388354"/>
            <a:ext cx="3412871" cy="670385"/>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Type parameter — a placeholder resolved at the call site</a:t>
            </a:r>
            <a:endParaRPr lang="en-US" sz="1266" kern="1200" dirty="0">
              <a:solidFill>
                <a:prstClr val="black"/>
              </a:solidFill>
              <a:latin typeface="Calibri" panose="020F0502020204030204"/>
              <a:ea typeface="+mn-ea"/>
              <a:cs typeface="+mn-cs"/>
            </a:endParaRPr>
          </a:p>
        </p:txBody>
      </p:sp>
      <p:sp>
        <p:nvSpPr>
          <p:cNvPr id="18" name="Shape 16"/>
          <p:cNvSpPr/>
          <p:nvPr/>
        </p:nvSpPr>
        <p:spPr>
          <a:xfrm>
            <a:off x="4387976" y="4998311"/>
            <a:ext cx="3656648" cy="1096994"/>
          </a:xfrm>
          <a:prstGeom prst="rect">
            <a:avLst/>
          </a:prstGeom>
          <a:solidFill>
            <a:srgbClr val="FFFFFF"/>
          </a:solidFill>
          <a:ln w="12700">
            <a:solidFill>
              <a:srgbClr val="7C3AED"/>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Shape 17"/>
          <p:cNvSpPr/>
          <p:nvPr/>
        </p:nvSpPr>
        <p:spPr>
          <a:xfrm>
            <a:off x="4387976" y="4998311"/>
            <a:ext cx="3656648" cy="365665"/>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Text 18"/>
          <p:cNvSpPr/>
          <p:nvPr/>
        </p:nvSpPr>
        <p:spPr>
          <a:xfrm>
            <a:off x="4387976" y="4998311"/>
            <a:ext cx="3656648" cy="365665"/>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onsolas" pitchFamily="34" charset="0"/>
                <a:ea typeface="Consolas" pitchFamily="34" charset="-122"/>
                <a:cs typeface="Consolas" pitchFamily="34" charset="-120"/>
              </a:rPr>
              <a:t>extends</a:t>
            </a:r>
            <a:endParaRPr lang="en-US" sz="1600" kern="1200" dirty="0">
              <a:solidFill>
                <a:prstClr val="black"/>
              </a:solidFill>
              <a:latin typeface="Calibri" panose="020F0502020204030204"/>
              <a:ea typeface="+mn-ea"/>
              <a:cs typeface="+mn-cs"/>
            </a:endParaRPr>
          </a:p>
        </p:txBody>
      </p:sp>
      <p:sp>
        <p:nvSpPr>
          <p:cNvPr id="21" name="Text 19"/>
          <p:cNvSpPr/>
          <p:nvPr/>
        </p:nvSpPr>
        <p:spPr>
          <a:xfrm>
            <a:off x="4509865" y="5388354"/>
            <a:ext cx="3412871" cy="670385"/>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Constraint — T must satisfy a shape (e.g., T extends object)</a:t>
            </a:r>
            <a:endParaRPr lang="en-US" sz="1266" kern="1200" dirty="0">
              <a:solidFill>
                <a:prstClr val="black"/>
              </a:solidFill>
              <a:latin typeface="Calibri" panose="020F0502020204030204"/>
              <a:ea typeface="+mn-ea"/>
              <a:cs typeface="+mn-cs"/>
            </a:endParaRPr>
          </a:p>
        </p:txBody>
      </p:sp>
      <p:sp>
        <p:nvSpPr>
          <p:cNvPr id="22" name="Shape 20"/>
          <p:cNvSpPr/>
          <p:nvPr/>
        </p:nvSpPr>
        <p:spPr>
          <a:xfrm>
            <a:off x="8288400" y="4998311"/>
            <a:ext cx="3656648" cy="1096994"/>
          </a:xfrm>
          <a:prstGeom prst="rect">
            <a:avLst/>
          </a:prstGeom>
          <a:solidFill>
            <a:srgbClr val="FFFFFF"/>
          </a:solidFill>
          <a:ln w="12700">
            <a:solidFill>
              <a:srgbClr val="7C3AED"/>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Shape 21"/>
          <p:cNvSpPr/>
          <p:nvPr/>
        </p:nvSpPr>
        <p:spPr>
          <a:xfrm>
            <a:off x="8288400" y="4998311"/>
            <a:ext cx="3656648" cy="365665"/>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4" name="Text 22"/>
          <p:cNvSpPr/>
          <p:nvPr/>
        </p:nvSpPr>
        <p:spPr>
          <a:xfrm>
            <a:off x="8288400" y="4998311"/>
            <a:ext cx="3656648" cy="365665"/>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onsolas" pitchFamily="34" charset="0"/>
                <a:ea typeface="Consolas" pitchFamily="34" charset="-122"/>
                <a:cs typeface="Consolas" pitchFamily="34" charset="-120"/>
              </a:rPr>
              <a:t>Inference</a:t>
            </a:r>
            <a:endParaRPr lang="en-US" sz="1600" kern="1200" dirty="0">
              <a:solidFill>
                <a:prstClr val="black"/>
              </a:solidFill>
              <a:latin typeface="Calibri" panose="020F0502020204030204"/>
              <a:ea typeface="+mn-ea"/>
              <a:cs typeface="+mn-cs"/>
            </a:endParaRPr>
          </a:p>
        </p:txBody>
      </p:sp>
      <p:sp>
        <p:nvSpPr>
          <p:cNvPr id="25" name="Text 23"/>
          <p:cNvSpPr/>
          <p:nvPr/>
        </p:nvSpPr>
        <p:spPr>
          <a:xfrm>
            <a:off x="8410289" y="5388354"/>
            <a:ext cx="3412871" cy="670385"/>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TS infers T from arguments — no explicit annotation needed</a:t>
            </a:r>
            <a:endParaRPr lang="en-US" sz="1266" kern="1200" dirty="0">
              <a:solidFill>
                <a:prstClr val="black"/>
              </a:solidFill>
              <a:latin typeface="Calibri" panose="020F0502020204030204"/>
              <a:ea typeface="+mn-ea"/>
              <a:cs typeface="+mn-cs"/>
            </a:endParaRPr>
          </a:p>
        </p:txBody>
      </p:sp>
      <p:pic>
        <p:nvPicPr>
          <p:cNvPr id="26" name="Google Shape;497;p1">
            <a:extLst>
              <a:ext uri="{FF2B5EF4-FFF2-40B4-BE49-F238E27FC236}">
                <a16:creationId xmlns:a16="http://schemas.microsoft.com/office/drawing/2014/main" id="{A525B3E0-F1F9-06F8-1C7E-C788DFCE02EE}"/>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Generics — How Type Parameters Flow</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Diagram  ·  From call site → type parameter → return type</a:t>
            </a:r>
            <a:endParaRPr lang="en-US" sz="1466" kern="1200" dirty="0">
              <a:solidFill>
                <a:prstClr val="black"/>
              </a:solidFill>
              <a:latin typeface="Calibri" panose="020F0502020204030204"/>
              <a:ea typeface="+mn-ea"/>
              <a:cs typeface="+mn-cs"/>
            </a:endParaRPr>
          </a:p>
        </p:txBody>
      </p:sp>
      <p:sp>
        <p:nvSpPr>
          <p:cNvPr id="6" name="Shape 4"/>
          <p:cNvSpPr/>
          <p:nvPr/>
        </p:nvSpPr>
        <p:spPr>
          <a:xfrm>
            <a:off x="487553" y="1890161"/>
            <a:ext cx="2437765" cy="1218883"/>
          </a:xfrm>
          <a:prstGeom prst="rect">
            <a:avLst/>
          </a:prstGeom>
          <a:solidFill>
            <a:srgbClr val="334155"/>
          </a:solidFill>
          <a:ln w="12700">
            <a:solidFill>
              <a:srgbClr val="334155"/>
            </a:solidFill>
            <a:prstDash val="solid"/>
          </a:ln>
          <a:effectLst>
            <a:outerShdw blurRad="76200" dist="25400" dir="8100000" algn="bl" rotWithShape="0">
              <a:srgbClr val="000000">
                <a:alpha val="12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487553" y="1987671"/>
            <a:ext cx="2437765" cy="438798"/>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alibri" pitchFamily="34" charset="0"/>
                <a:ea typeface="Calibri" pitchFamily="34" charset="-122"/>
                <a:cs typeface="Calibri" pitchFamily="34" charset="-120"/>
              </a:rPr>
              <a:t>Call Site</a:t>
            </a:r>
            <a:endParaRPr lang="en-US" sz="1600" kern="1200" dirty="0">
              <a:solidFill>
                <a:prstClr val="black"/>
              </a:solidFill>
              <a:latin typeface="Calibri" panose="020F0502020204030204"/>
              <a:ea typeface="+mn-ea"/>
              <a:cs typeface="+mn-cs"/>
            </a:endParaRPr>
          </a:p>
        </p:txBody>
      </p:sp>
      <p:sp>
        <p:nvSpPr>
          <p:cNvPr id="8" name="Text 6"/>
          <p:cNvSpPr/>
          <p:nvPr/>
        </p:nvSpPr>
        <p:spPr>
          <a:xfrm>
            <a:off x="487553" y="2450847"/>
            <a:ext cx="2437765" cy="560686"/>
          </a:xfrm>
          <a:prstGeom prst="rect">
            <a:avLst/>
          </a:prstGeom>
          <a:noFill/>
          <a:ln/>
        </p:spPr>
        <p:txBody>
          <a:bodyPr wrap="square" lIns="0" tIns="0" rIns="0" bIns="0" rtlCol="0" anchor="ctr"/>
          <a:lstStyle/>
          <a:p>
            <a:pPr algn="ctr" defTabSz="1218895">
              <a:buClrTx/>
            </a:pPr>
            <a:r>
              <a:rPr lang="en-US" sz="1200" kern="1200" dirty="0">
                <a:solidFill>
                  <a:srgbClr val="E2E8F0"/>
                </a:solidFill>
                <a:latin typeface="Consolas" pitchFamily="34" charset="0"/>
                <a:ea typeface="Consolas" pitchFamily="34" charset="-122"/>
                <a:cs typeface="Consolas" pitchFamily="34" charset="-120"/>
              </a:rPr>
              <a:t>getFirst([1,2,3])</a:t>
            </a:r>
            <a:endParaRPr lang="en-US" sz="1200" kern="1200" dirty="0">
              <a:solidFill>
                <a:prstClr val="black"/>
              </a:solidFill>
              <a:latin typeface="Calibri" panose="020F0502020204030204"/>
              <a:ea typeface="+mn-ea"/>
              <a:cs typeface="+mn-cs"/>
            </a:endParaRPr>
          </a:p>
        </p:txBody>
      </p:sp>
      <p:sp>
        <p:nvSpPr>
          <p:cNvPr id="9" name="Shape 7"/>
          <p:cNvSpPr/>
          <p:nvPr/>
        </p:nvSpPr>
        <p:spPr>
          <a:xfrm>
            <a:off x="2974073" y="2499602"/>
            <a:ext cx="511931" cy="0"/>
          </a:xfrm>
          <a:prstGeom prst="line">
            <a:avLst/>
          </a:prstGeom>
          <a:noFill/>
          <a:ln w="254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3351926" y="2304581"/>
            <a:ext cx="219399" cy="390042"/>
          </a:xfrm>
          <a:prstGeom prst="rect">
            <a:avLst/>
          </a:prstGeom>
          <a:noFill/>
          <a:ln/>
        </p:spPr>
        <p:txBody>
          <a:bodyPr wrap="square" lIns="0" tIns="0" rIns="0" bIns="0" rtlCol="0" anchor="ctr"/>
          <a:lstStyle/>
          <a:p>
            <a:pPr defTabSz="1218895">
              <a:buClrTx/>
            </a:pPr>
            <a:r>
              <a:rPr lang="en-US" sz="1466" kern="1200" dirty="0">
                <a:solidFill>
                  <a:srgbClr val="7C3AED"/>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11" name="Shape 9"/>
          <p:cNvSpPr/>
          <p:nvPr/>
        </p:nvSpPr>
        <p:spPr>
          <a:xfrm>
            <a:off x="3169094" y="1890161"/>
            <a:ext cx="2437765" cy="1218883"/>
          </a:xfrm>
          <a:prstGeom prst="rect">
            <a:avLst/>
          </a:prstGeom>
          <a:solidFill>
            <a:srgbClr val="7C3AED"/>
          </a:solidFill>
          <a:ln w="12700">
            <a:solidFill>
              <a:srgbClr val="7C3AED"/>
            </a:solidFill>
            <a:prstDash val="solid"/>
          </a:ln>
          <a:effectLst>
            <a:outerShdw blurRad="76200" dist="25400" dir="8100000" algn="bl" rotWithShape="0">
              <a:srgbClr val="000000">
                <a:alpha val="12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2" name="Text 10"/>
          <p:cNvSpPr/>
          <p:nvPr/>
        </p:nvSpPr>
        <p:spPr>
          <a:xfrm>
            <a:off x="3169094" y="1987671"/>
            <a:ext cx="2437765" cy="438798"/>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alibri" pitchFamily="34" charset="0"/>
                <a:ea typeface="Calibri" pitchFamily="34" charset="-122"/>
                <a:cs typeface="Calibri" pitchFamily="34" charset="-120"/>
              </a:rPr>
              <a:t>T  is inferred</a:t>
            </a:r>
            <a:endParaRPr lang="en-US" sz="1600" kern="1200" dirty="0">
              <a:solidFill>
                <a:prstClr val="black"/>
              </a:solidFill>
              <a:latin typeface="Calibri" panose="020F0502020204030204"/>
              <a:ea typeface="+mn-ea"/>
              <a:cs typeface="+mn-cs"/>
            </a:endParaRPr>
          </a:p>
        </p:txBody>
      </p:sp>
      <p:sp>
        <p:nvSpPr>
          <p:cNvPr id="13" name="Text 11"/>
          <p:cNvSpPr/>
          <p:nvPr/>
        </p:nvSpPr>
        <p:spPr>
          <a:xfrm>
            <a:off x="3169094" y="2450847"/>
            <a:ext cx="2437765" cy="560686"/>
          </a:xfrm>
          <a:prstGeom prst="rect">
            <a:avLst/>
          </a:prstGeom>
          <a:noFill/>
          <a:ln/>
        </p:spPr>
        <p:txBody>
          <a:bodyPr wrap="square" lIns="0" tIns="0" rIns="0" bIns="0" rtlCol="0" anchor="ctr"/>
          <a:lstStyle/>
          <a:p>
            <a:pPr algn="ctr" defTabSz="1218895">
              <a:buClrTx/>
            </a:pPr>
            <a:r>
              <a:rPr lang="en-US" sz="1200" kern="1200" dirty="0">
                <a:solidFill>
                  <a:srgbClr val="E2E8F0"/>
                </a:solidFill>
                <a:latin typeface="Consolas" pitchFamily="34" charset="0"/>
                <a:ea typeface="Consolas" pitchFamily="34" charset="-122"/>
                <a:cs typeface="Consolas" pitchFamily="34" charset="-120"/>
              </a:rPr>
              <a:t>T = number</a:t>
            </a:r>
            <a:endParaRPr lang="en-US" sz="1200" kern="1200" dirty="0">
              <a:solidFill>
                <a:prstClr val="black"/>
              </a:solidFill>
              <a:latin typeface="Calibri" panose="020F0502020204030204"/>
              <a:ea typeface="+mn-ea"/>
              <a:cs typeface="+mn-cs"/>
            </a:endParaRPr>
          </a:p>
        </p:txBody>
      </p:sp>
      <p:sp>
        <p:nvSpPr>
          <p:cNvPr id="14" name="Shape 12"/>
          <p:cNvSpPr/>
          <p:nvPr/>
        </p:nvSpPr>
        <p:spPr>
          <a:xfrm>
            <a:off x="5655614" y="2499602"/>
            <a:ext cx="511931" cy="0"/>
          </a:xfrm>
          <a:prstGeom prst="line">
            <a:avLst/>
          </a:prstGeom>
          <a:noFill/>
          <a:ln w="254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5" name="Text 13"/>
          <p:cNvSpPr/>
          <p:nvPr/>
        </p:nvSpPr>
        <p:spPr>
          <a:xfrm>
            <a:off x="6033468" y="2304581"/>
            <a:ext cx="219399" cy="390042"/>
          </a:xfrm>
          <a:prstGeom prst="rect">
            <a:avLst/>
          </a:prstGeom>
          <a:noFill/>
          <a:ln/>
        </p:spPr>
        <p:txBody>
          <a:bodyPr wrap="square" lIns="0" tIns="0" rIns="0" bIns="0" rtlCol="0" anchor="ctr"/>
          <a:lstStyle/>
          <a:p>
            <a:pPr defTabSz="1218895">
              <a:buClrTx/>
            </a:pPr>
            <a:r>
              <a:rPr lang="en-US" sz="1466" kern="1200" dirty="0">
                <a:solidFill>
                  <a:srgbClr val="7C3AED"/>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16" name="Shape 14"/>
          <p:cNvSpPr/>
          <p:nvPr/>
        </p:nvSpPr>
        <p:spPr>
          <a:xfrm>
            <a:off x="5972524" y="1890161"/>
            <a:ext cx="2437765" cy="1218883"/>
          </a:xfrm>
          <a:prstGeom prst="rect">
            <a:avLst/>
          </a:prstGeom>
          <a:solidFill>
            <a:srgbClr val="0D9488"/>
          </a:solidFill>
          <a:ln w="12700">
            <a:solidFill>
              <a:srgbClr val="0D9488"/>
            </a:solidFill>
            <a:prstDash val="solid"/>
          </a:ln>
          <a:effectLst>
            <a:outerShdw blurRad="76200" dist="25400" dir="8100000" algn="bl" rotWithShape="0">
              <a:srgbClr val="000000">
                <a:alpha val="12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7" name="Text 15"/>
          <p:cNvSpPr/>
          <p:nvPr/>
        </p:nvSpPr>
        <p:spPr>
          <a:xfrm>
            <a:off x="5972524" y="1987671"/>
            <a:ext cx="2437765" cy="438798"/>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alibri" pitchFamily="34" charset="0"/>
                <a:ea typeface="Calibri" pitchFamily="34" charset="-122"/>
                <a:cs typeface="Calibri" pitchFamily="34" charset="-120"/>
              </a:rPr>
              <a:t>Function Body</a:t>
            </a:r>
            <a:endParaRPr lang="en-US" sz="1600" kern="1200" dirty="0">
              <a:solidFill>
                <a:prstClr val="black"/>
              </a:solidFill>
              <a:latin typeface="Calibri" panose="020F0502020204030204"/>
              <a:ea typeface="+mn-ea"/>
              <a:cs typeface="+mn-cs"/>
            </a:endParaRPr>
          </a:p>
        </p:txBody>
      </p:sp>
      <p:sp>
        <p:nvSpPr>
          <p:cNvPr id="18" name="Text 16"/>
          <p:cNvSpPr/>
          <p:nvPr/>
        </p:nvSpPr>
        <p:spPr>
          <a:xfrm>
            <a:off x="5972524" y="2450847"/>
            <a:ext cx="2437765" cy="560686"/>
          </a:xfrm>
          <a:prstGeom prst="rect">
            <a:avLst/>
          </a:prstGeom>
          <a:noFill/>
          <a:ln/>
        </p:spPr>
        <p:txBody>
          <a:bodyPr wrap="square" lIns="0" tIns="0" rIns="0" bIns="0" rtlCol="0" anchor="ctr"/>
          <a:lstStyle/>
          <a:p>
            <a:pPr algn="ctr" defTabSz="1218895">
              <a:buClrTx/>
            </a:pPr>
            <a:r>
              <a:rPr lang="en-US" sz="1200" kern="1200" dirty="0">
                <a:solidFill>
                  <a:srgbClr val="E2E8F0"/>
                </a:solidFill>
                <a:latin typeface="Consolas" pitchFamily="34" charset="0"/>
                <a:ea typeface="Consolas" pitchFamily="34" charset="-122"/>
                <a:cs typeface="Consolas" pitchFamily="34" charset="-120"/>
              </a:rPr>
              <a:t>arr: T[] = number[]</a:t>
            </a:r>
            <a:endParaRPr lang="en-US" sz="1200" kern="1200" dirty="0">
              <a:solidFill>
                <a:prstClr val="black"/>
              </a:solidFill>
              <a:latin typeface="Calibri" panose="020F0502020204030204"/>
              <a:ea typeface="+mn-ea"/>
              <a:cs typeface="+mn-cs"/>
            </a:endParaRPr>
          </a:p>
        </p:txBody>
      </p:sp>
      <p:sp>
        <p:nvSpPr>
          <p:cNvPr id="19" name="Shape 17"/>
          <p:cNvSpPr/>
          <p:nvPr/>
        </p:nvSpPr>
        <p:spPr>
          <a:xfrm>
            <a:off x="8459044" y="2499602"/>
            <a:ext cx="511931" cy="0"/>
          </a:xfrm>
          <a:prstGeom prst="line">
            <a:avLst/>
          </a:prstGeom>
          <a:noFill/>
          <a:ln w="254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Text 18"/>
          <p:cNvSpPr/>
          <p:nvPr/>
        </p:nvSpPr>
        <p:spPr>
          <a:xfrm>
            <a:off x="8836898" y="2304581"/>
            <a:ext cx="219399" cy="390042"/>
          </a:xfrm>
          <a:prstGeom prst="rect">
            <a:avLst/>
          </a:prstGeom>
          <a:noFill/>
          <a:ln/>
        </p:spPr>
        <p:txBody>
          <a:bodyPr wrap="square" lIns="0" tIns="0" rIns="0" bIns="0" rtlCol="0" anchor="ctr"/>
          <a:lstStyle/>
          <a:p>
            <a:pPr defTabSz="1218895">
              <a:buClrTx/>
            </a:pPr>
            <a:r>
              <a:rPr lang="en-US" sz="1466" kern="1200" dirty="0">
                <a:solidFill>
                  <a:srgbClr val="7C3AED"/>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21" name="Shape 19"/>
          <p:cNvSpPr/>
          <p:nvPr/>
        </p:nvSpPr>
        <p:spPr>
          <a:xfrm>
            <a:off x="8775954" y="1890161"/>
            <a:ext cx="2437765" cy="1218883"/>
          </a:xfrm>
          <a:prstGeom prst="rect">
            <a:avLst/>
          </a:prstGeom>
          <a:solidFill>
            <a:srgbClr val="1D4ED8"/>
          </a:solidFill>
          <a:ln w="12700">
            <a:solidFill>
              <a:srgbClr val="1D4ED8"/>
            </a:solidFill>
            <a:prstDash val="solid"/>
          </a:ln>
          <a:effectLst>
            <a:outerShdw blurRad="76200" dist="25400" dir="8100000" algn="bl" rotWithShape="0">
              <a:srgbClr val="000000">
                <a:alpha val="12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2" name="Text 20"/>
          <p:cNvSpPr/>
          <p:nvPr/>
        </p:nvSpPr>
        <p:spPr>
          <a:xfrm>
            <a:off x="8775954" y="1987671"/>
            <a:ext cx="2437765" cy="438798"/>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alibri" pitchFamily="34" charset="0"/>
                <a:ea typeface="Calibri" pitchFamily="34" charset="-122"/>
                <a:cs typeface="Calibri" pitchFamily="34" charset="-120"/>
              </a:rPr>
              <a:t>Return Type</a:t>
            </a:r>
            <a:endParaRPr lang="en-US" sz="1600" kern="1200" dirty="0">
              <a:solidFill>
                <a:prstClr val="black"/>
              </a:solidFill>
              <a:latin typeface="Calibri" panose="020F0502020204030204"/>
              <a:ea typeface="+mn-ea"/>
              <a:cs typeface="+mn-cs"/>
            </a:endParaRPr>
          </a:p>
        </p:txBody>
      </p:sp>
      <p:sp>
        <p:nvSpPr>
          <p:cNvPr id="23" name="Text 21"/>
          <p:cNvSpPr/>
          <p:nvPr/>
        </p:nvSpPr>
        <p:spPr>
          <a:xfrm>
            <a:off x="8775954" y="2450847"/>
            <a:ext cx="2437765" cy="560686"/>
          </a:xfrm>
          <a:prstGeom prst="rect">
            <a:avLst/>
          </a:prstGeom>
          <a:noFill/>
          <a:ln/>
        </p:spPr>
        <p:txBody>
          <a:bodyPr wrap="square" lIns="0" tIns="0" rIns="0" bIns="0" rtlCol="0" anchor="ctr"/>
          <a:lstStyle/>
          <a:p>
            <a:pPr algn="ctr" defTabSz="1218895">
              <a:buClrTx/>
            </a:pPr>
            <a:r>
              <a:rPr lang="en-US" sz="1200" kern="1200" dirty="0">
                <a:solidFill>
                  <a:srgbClr val="E2E8F0"/>
                </a:solidFill>
                <a:latin typeface="Consolas" pitchFamily="34" charset="0"/>
                <a:ea typeface="Consolas" pitchFamily="34" charset="-122"/>
                <a:cs typeface="Consolas" pitchFamily="34" charset="-120"/>
              </a:rPr>
              <a:t>returns T = number</a:t>
            </a:r>
            <a:endParaRPr lang="en-US" sz="1200" kern="1200" dirty="0">
              <a:solidFill>
                <a:prstClr val="black"/>
              </a:solidFill>
              <a:latin typeface="Calibri" panose="020F0502020204030204"/>
              <a:ea typeface="+mn-ea"/>
              <a:cs typeface="+mn-cs"/>
            </a:endParaRPr>
          </a:p>
        </p:txBody>
      </p:sp>
      <p:sp>
        <p:nvSpPr>
          <p:cNvPr id="24" name="Text 22"/>
          <p:cNvSpPr/>
          <p:nvPr/>
        </p:nvSpPr>
        <p:spPr>
          <a:xfrm>
            <a:off x="487553" y="3438142"/>
            <a:ext cx="11213719" cy="390042"/>
          </a:xfrm>
          <a:prstGeom prst="rect">
            <a:avLst/>
          </a:prstGeom>
          <a:noFill/>
          <a:ln/>
        </p:spPr>
        <p:txBody>
          <a:bodyPr wrap="square" lIns="0" tIns="0" rIns="0" bIns="0" rtlCol="0" anchor="ctr"/>
          <a:lstStyle/>
          <a:p>
            <a:pPr defTabSz="1218895">
              <a:buClrTx/>
            </a:pPr>
            <a:r>
              <a:rPr lang="en-US" sz="1733" b="1" kern="1200" dirty="0">
                <a:solidFill>
                  <a:srgbClr val="1E293B"/>
                </a:solidFill>
                <a:latin typeface="Calibri" pitchFamily="34" charset="0"/>
                <a:ea typeface="Calibri" pitchFamily="34" charset="-122"/>
                <a:cs typeface="Calibri" pitchFamily="34" charset="-120"/>
              </a:rPr>
              <a:t>Generic Constraint Pattern (extends)</a:t>
            </a:r>
            <a:endParaRPr lang="en-US" sz="1733" kern="1200" dirty="0">
              <a:solidFill>
                <a:prstClr val="black"/>
              </a:solidFill>
              <a:latin typeface="Calibri" panose="020F0502020204030204"/>
              <a:ea typeface="+mn-ea"/>
              <a:cs typeface="+mn-cs"/>
            </a:endParaRPr>
          </a:p>
        </p:txBody>
      </p:sp>
      <p:sp>
        <p:nvSpPr>
          <p:cNvPr id="25" name="Shape 23"/>
          <p:cNvSpPr/>
          <p:nvPr/>
        </p:nvSpPr>
        <p:spPr>
          <a:xfrm>
            <a:off x="487553" y="3852561"/>
            <a:ext cx="5484971" cy="2193989"/>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6" name="Text 24"/>
          <p:cNvSpPr/>
          <p:nvPr/>
        </p:nvSpPr>
        <p:spPr>
          <a:xfrm>
            <a:off x="670385" y="3974450"/>
            <a:ext cx="5216817" cy="1974590"/>
          </a:xfrm>
          <a:prstGeom prst="rect">
            <a:avLst/>
          </a:prstGeom>
          <a:noFill/>
          <a:ln/>
        </p:spPr>
        <p:txBody>
          <a:bodyPr wrap="square" lIns="0" tIns="0" rIns="0" bIns="0" rtlCol="0" anchor="t"/>
          <a:lstStyle/>
          <a:p>
            <a:pPr defTabSz="1218895">
              <a:buClrTx/>
            </a:pPr>
            <a:r>
              <a:rPr lang="en-US" sz="1266" kern="1200" dirty="0">
                <a:solidFill>
                  <a:srgbClr val="64748B"/>
                </a:solidFill>
                <a:latin typeface="Consolas" pitchFamily="34" charset="0"/>
                <a:ea typeface="Consolas" pitchFamily="34" charset="-122"/>
                <a:cs typeface="Consolas" pitchFamily="34" charset="-120"/>
              </a:rPr>
              <a:t>// Constrained generic</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472B6"/>
                </a:solidFill>
                <a:latin typeface="Consolas" pitchFamily="34" charset="0"/>
                <a:ea typeface="Consolas" pitchFamily="34" charset="-122"/>
                <a:cs typeface="Consolas" pitchFamily="34" charset="-120"/>
              </a:rPr>
              <a:t>interface HasId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id: string;</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472B6"/>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function findById&lt;T extends HasId&gt;(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items: 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id: string</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472B6"/>
                </a:solidFill>
                <a:latin typeface="Consolas" pitchFamily="34" charset="0"/>
                <a:ea typeface="Consolas" pitchFamily="34" charset="-122"/>
                <a:cs typeface="Consolas" pitchFamily="34" charset="-120"/>
              </a:rPr>
              <a:t>): T | undefined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return items.find(i =&gt; i.id === id);</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p:txBody>
      </p:sp>
      <p:sp>
        <p:nvSpPr>
          <p:cNvPr id="27" name="Shape 25"/>
          <p:cNvSpPr/>
          <p:nvPr/>
        </p:nvSpPr>
        <p:spPr>
          <a:xfrm>
            <a:off x="6216300" y="3852561"/>
            <a:ext cx="5667804" cy="658197"/>
          </a:xfrm>
          <a:prstGeom prst="rect">
            <a:avLst/>
          </a:prstGeom>
          <a:solidFill>
            <a:srgbClr val="EDE9FE"/>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8" name="Shape 26"/>
          <p:cNvSpPr/>
          <p:nvPr/>
        </p:nvSpPr>
        <p:spPr>
          <a:xfrm>
            <a:off x="6216300" y="3852561"/>
            <a:ext cx="85322" cy="658197"/>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9" name="Text 27"/>
          <p:cNvSpPr/>
          <p:nvPr/>
        </p:nvSpPr>
        <p:spPr>
          <a:xfrm>
            <a:off x="6411321" y="3876939"/>
            <a:ext cx="5363083" cy="268154"/>
          </a:xfrm>
          <a:prstGeom prst="rect">
            <a:avLst/>
          </a:prstGeom>
          <a:noFill/>
          <a:ln/>
        </p:spPr>
        <p:txBody>
          <a:bodyPr wrap="square" lIns="0" tIns="0" rIns="0" bIns="0" rtlCol="0" anchor="ctr"/>
          <a:lstStyle/>
          <a:p>
            <a:pPr defTabSz="1218895">
              <a:buClrTx/>
            </a:pPr>
            <a:r>
              <a:rPr lang="en-US" sz="1266" b="1" kern="1200" dirty="0">
                <a:solidFill>
                  <a:srgbClr val="7C3AED"/>
                </a:solidFill>
                <a:latin typeface="Calibri" pitchFamily="34" charset="0"/>
                <a:ea typeface="Calibri" pitchFamily="34" charset="-122"/>
                <a:cs typeface="Calibri" pitchFamily="34" charset="-120"/>
              </a:rPr>
              <a:t>T extends HasId means…</a:t>
            </a:r>
            <a:endParaRPr lang="en-US" sz="1266" kern="1200" dirty="0">
              <a:solidFill>
                <a:prstClr val="black"/>
              </a:solidFill>
              <a:latin typeface="Calibri" panose="020F0502020204030204"/>
              <a:ea typeface="+mn-ea"/>
              <a:cs typeface="+mn-cs"/>
            </a:endParaRPr>
          </a:p>
        </p:txBody>
      </p:sp>
      <p:sp>
        <p:nvSpPr>
          <p:cNvPr id="30" name="Text 28"/>
          <p:cNvSpPr/>
          <p:nvPr/>
        </p:nvSpPr>
        <p:spPr>
          <a:xfrm>
            <a:off x="6411321" y="4145094"/>
            <a:ext cx="5363083" cy="341287"/>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T must have at least an id: string field. Other fields are allowed — this is structural typing.</a:t>
            </a:r>
            <a:endParaRPr lang="en-US" sz="1133" kern="1200" dirty="0">
              <a:solidFill>
                <a:prstClr val="black"/>
              </a:solidFill>
              <a:latin typeface="Calibri" panose="020F0502020204030204"/>
              <a:ea typeface="+mn-ea"/>
              <a:cs typeface="+mn-cs"/>
            </a:endParaRPr>
          </a:p>
        </p:txBody>
      </p:sp>
      <p:sp>
        <p:nvSpPr>
          <p:cNvPr id="31" name="Shape 29"/>
          <p:cNvSpPr/>
          <p:nvPr/>
        </p:nvSpPr>
        <p:spPr>
          <a:xfrm>
            <a:off x="6216300" y="4583891"/>
            <a:ext cx="5667804" cy="658197"/>
          </a:xfrm>
          <a:prstGeom prst="rect">
            <a:avLst/>
          </a:prstGeom>
          <a:solidFill>
            <a:srgbClr val="EDE9FE"/>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2" name="Shape 30"/>
          <p:cNvSpPr/>
          <p:nvPr/>
        </p:nvSpPr>
        <p:spPr>
          <a:xfrm>
            <a:off x="6216300" y="4583891"/>
            <a:ext cx="85322" cy="658197"/>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3" name="Text 31"/>
          <p:cNvSpPr/>
          <p:nvPr/>
        </p:nvSpPr>
        <p:spPr>
          <a:xfrm>
            <a:off x="6411321" y="4608269"/>
            <a:ext cx="5363083" cy="268154"/>
          </a:xfrm>
          <a:prstGeom prst="rect">
            <a:avLst/>
          </a:prstGeom>
          <a:noFill/>
          <a:ln/>
        </p:spPr>
        <p:txBody>
          <a:bodyPr wrap="square" lIns="0" tIns="0" rIns="0" bIns="0" rtlCol="0" anchor="ctr"/>
          <a:lstStyle/>
          <a:p>
            <a:pPr defTabSz="1218895">
              <a:buClrTx/>
            </a:pPr>
            <a:r>
              <a:rPr lang="en-US" sz="1266" b="1" kern="1200" dirty="0">
                <a:solidFill>
                  <a:srgbClr val="7C3AED"/>
                </a:solidFill>
                <a:latin typeface="Calibri" pitchFamily="34" charset="0"/>
                <a:ea typeface="Calibri" pitchFamily="34" charset="-122"/>
                <a:cs typeface="Calibri" pitchFamily="34" charset="-120"/>
              </a:rPr>
              <a:t>Why constrain?</a:t>
            </a:r>
            <a:endParaRPr lang="en-US" sz="1266" kern="1200" dirty="0">
              <a:solidFill>
                <a:prstClr val="black"/>
              </a:solidFill>
              <a:latin typeface="Calibri" panose="020F0502020204030204"/>
              <a:ea typeface="+mn-ea"/>
              <a:cs typeface="+mn-cs"/>
            </a:endParaRPr>
          </a:p>
        </p:txBody>
      </p:sp>
      <p:sp>
        <p:nvSpPr>
          <p:cNvPr id="34" name="Text 32"/>
          <p:cNvSpPr/>
          <p:nvPr/>
        </p:nvSpPr>
        <p:spPr>
          <a:xfrm>
            <a:off x="6411321" y="4876423"/>
            <a:ext cx="5363083" cy="341287"/>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Without extends, T could be anything — even number. Constraint lets us safely use id inside the function body.</a:t>
            </a:r>
            <a:endParaRPr lang="en-US" sz="1133" kern="1200" dirty="0">
              <a:solidFill>
                <a:prstClr val="black"/>
              </a:solidFill>
              <a:latin typeface="Calibri" panose="020F0502020204030204"/>
              <a:ea typeface="+mn-ea"/>
              <a:cs typeface="+mn-cs"/>
            </a:endParaRPr>
          </a:p>
        </p:txBody>
      </p:sp>
      <p:sp>
        <p:nvSpPr>
          <p:cNvPr id="35" name="Shape 33"/>
          <p:cNvSpPr/>
          <p:nvPr/>
        </p:nvSpPr>
        <p:spPr>
          <a:xfrm>
            <a:off x="6216300" y="5315220"/>
            <a:ext cx="5667804" cy="658197"/>
          </a:xfrm>
          <a:prstGeom prst="rect">
            <a:avLst/>
          </a:prstGeom>
          <a:solidFill>
            <a:srgbClr val="EDE9FE"/>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6" name="Shape 34"/>
          <p:cNvSpPr/>
          <p:nvPr/>
        </p:nvSpPr>
        <p:spPr>
          <a:xfrm>
            <a:off x="6216300" y="5315220"/>
            <a:ext cx="85322" cy="658197"/>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7" name="Text 35"/>
          <p:cNvSpPr/>
          <p:nvPr/>
        </p:nvSpPr>
        <p:spPr>
          <a:xfrm>
            <a:off x="6411321" y="5339598"/>
            <a:ext cx="5363083" cy="268154"/>
          </a:xfrm>
          <a:prstGeom prst="rect">
            <a:avLst/>
          </a:prstGeom>
          <a:noFill/>
          <a:ln/>
        </p:spPr>
        <p:txBody>
          <a:bodyPr wrap="square" lIns="0" tIns="0" rIns="0" bIns="0" rtlCol="0" anchor="ctr"/>
          <a:lstStyle/>
          <a:p>
            <a:pPr defTabSz="1218895">
              <a:buClrTx/>
            </a:pPr>
            <a:r>
              <a:rPr lang="en-US" sz="1266" b="1" kern="1200" dirty="0">
                <a:solidFill>
                  <a:srgbClr val="7C3AED"/>
                </a:solidFill>
                <a:latin typeface="Calibri" pitchFamily="34" charset="0"/>
                <a:ea typeface="Calibri" pitchFamily="34" charset="-122"/>
                <a:cs typeface="Calibri" pitchFamily="34" charset="-120"/>
              </a:rPr>
              <a:t>BTP relevance</a:t>
            </a:r>
            <a:endParaRPr lang="en-US" sz="1266" kern="1200" dirty="0">
              <a:solidFill>
                <a:prstClr val="black"/>
              </a:solidFill>
              <a:latin typeface="Calibri" panose="020F0502020204030204"/>
              <a:ea typeface="+mn-ea"/>
              <a:cs typeface="+mn-cs"/>
            </a:endParaRPr>
          </a:p>
        </p:txBody>
      </p:sp>
      <p:sp>
        <p:nvSpPr>
          <p:cNvPr id="38" name="Text 36"/>
          <p:cNvSpPr/>
          <p:nvPr/>
        </p:nvSpPr>
        <p:spPr>
          <a:xfrm>
            <a:off x="6411321" y="5607753"/>
            <a:ext cx="5363083" cy="341287"/>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CAP entities always have an ID. ConfigLoader&lt;T extends object&gt; ensures we only accept object-shaped configs.</a:t>
            </a:r>
            <a:endParaRPr lang="en-US" sz="1133" kern="1200" dirty="0">
              <a:solidFill>
                <a:prstClr val="black"/>
              </a:solidFill>
              <a:latin typeface="Calibri" panose="020F0502020204030204"/>
              <a:ea typeface="+mn-ea"/>
              <a:cs typeface="+mn-cs"/>
            </a:endParaRPr>
          </a:p>
        </p:txBody>
      </p:sp>
      <p:pic>
        <p:nvPicPr>
          <p:cNvPr id="39" name="Google Shape;497;p1">
            <a:extLst>
              <a:ext uri="{FF2B5EF4-FFF2-40B4-BE49-F238E27FC236}">
                <a16:creationId xmlns:a16="http://schemas.microsoft.com/office/drawing/2014/main" id="{ECA16F5B-D435-D921-D7F3-655F3378B9F1}"/>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Exercise A — Implement ConfigLoader&lt;T&gt;</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Hands-on  ·  exercises/config-loader.ts</a:t>
            </a:r>
            <a:endParaRPr lang="en-US" sz="1466" kern="1200" dirty="0">
              <a:solidFill>
                <a:prstClr val="black"/>
              </a:solidFill>
              <a:latin typeface="Calibri" panose="020F0502020204030204"/>
              <a:ea typeface="+mn-ea"/>
              <a:cs typeface="+mn-cs"/>
            </a:endParaRPr>
          </a:p>
        </p:txBody>
      </p:sp>
      <p:sp>
        <p:nvSpPr>
          <p:cNvPr id="6" name="Text 4"/>
          <p:cNvSpPr/>
          <p:nvPr/>
        </p:nvSpPr>
        <p:spPr>
          <a:xfrm>
            <a:off x="487553" y="1402608"/>
            <a:ext cx="11213719" cy="365665"/>
          </a:xfrm>
          <a:prstGeom prst="rect">
            <a:avLst/>
          </a:prstGeom>
          <a:noFill/>
          <a:ln/>
        </p:spPr>
        <p:txBody>
          <a:bodyPr wrap="square" lIns="0" tIns="0" rIns="0" bIns="0" rtlCol="0" anchor="ctr"/>
          <a:lstStyle/>
          <a:p>
            <a:pPr defTabSz="1218895">
              <a:buClrTx/>
            </a:pPr>
            <a:r>
              <a:rPr lang="en-US" sz="1600" b="1" kern="1200" dirty="0">
                <a:solidFill>
                  <a:srgbClr val="1E293B"/>
                </a:solidFill>
                <a:latin typeface="Calibri" pitchFamily="34" charset="0"/>
                <a:ea typeface="Calibri" pitchFamily="34" charset="-122"/>
                <a:cs typeface="Calibri" pitchFamily="34" charset="-120"/>
              </a:rPr>
              <a:t>Architecture</a:t>
            </a:r>
            <a:endParaRPr lang="en-US" sz="1600" kern="1200" dirty="0">
              <a:solidFill>
                <a:prstClr val="black"/>
              </a:solidFill>
              <a:latin typeface="Calibri" panose="020F0502020204030204"/>
              <a:ea typeface="+mn-ea"/>
              <a:cs typeface="+mn-cs"/>
            </a:endParaRPr>
          </a:p>
        </p:txBody>
      </p:sp>
      <p:sp>
        <p:nvSpPr>
          <p:cNvPr id="7" name="Shape 5"/>
          <p:cNvSpPr/>
          <p:nvPr/>
        </p:nvSpPr>
        <p:spPr>
          <a:xfrm>
            <a:off x="487552" y="1829217"/>
            <a:ext cx="2193989" cy="877595"/>
          </a:xfrm>
          <a:prstGeom prst="rect">
            <a:avLst/>
          </a:prstGeom>
          <a:solidFill>
            <a:srgbClr val="334155"/>
          </a:solidFill>
          <a:ln w="12700">
            <a:solidFill>
              <a:srgbClr val="334155"/>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487552" y="1829217"/>
            <a:ext cx="2193989" cy="877595"/>
          </a:xfrm>
          <a:prstGeom prst="rect">
            <a:avLst/>
          </a:prstGeom>
          <a:noFill/>
          <a:ln/>
        </p:spPr>
        <p:txBody>
          <a:bodyPr wrap="square" lIns="0" tIns="0" rIns="0" bIns="0" rtlCol="0" anchor="ctr"/>
          <a:lstStyle/>
          <a:p>
            <a:pPr algn="ctr" defTabSz="1218895">
              <a:buClrTx/>
            </a:pPr>
            <a:r>
              <a:rPr lang="en-US" sz="1200" b="1" kern="1200" dirty="0">
                <a:solidFill>
                  <a:srgbClr val="FFFFFF"/>
                </a:solidFill>
                <a:latin typeface="Calibri" pitchFamily="34" charset="0"/>
                <a:ea typeface="Calibri" pitchFamily="34" charset="-122"/>
                <a:cs typeface="Calibri" pitchFamily="34" charset="-120"/>
              </a:rPr>
              <a:t>Raw JSON</a:t>
            </a:r>
            <a:endParaRPr lang="en-US" sz="1200" kern="1200" dirty="0">
              <a:solidFill>
                <a:prstClr val="black"/>
              </a:solidFill>
              <a:latin typeface="Calibri" panose="020F0502020204030204"/>
              <a:ea typeface="+mn-ea"/>
              <a:cs typeface="+mn-cs"/>
            </a:endParaRPr>
          </a:p>
          <a:p>
            <a:pPr algn="ctr" defTabSz="1218895">
              <a:buClrTx/>
            </a:pPr>
            <a:r>
              <a:rPr lang="en-US" sz="1200" b="1" kern="1200" dirty="0">
                <a:solidFill>
                  <a:srgbClr val="FFFFFF"/>
                </a:solidFill>
                <a:latin typeface="Calibri" pitchFamily="34" charset="0"/>
                <a:ea typeface="Calibri" pitchFamily="34" charset="-122"/>
                <a:cs typeface="Calibri" pitchFamily="34" charset="-120"/>
              </a:rPr>
              <a:t>config file</a:t>
            </a:r>
            <a:endParaRPr lang="en-US" sz="1200" kern="1200" dirty="0">
              <a:solidFill>
                <a:prstClr val="black"/>
              </a:solidFill>
              <a:latin typeface="Calibri" panose="020F0502020204030204"/>
              <a:ea typeface="+mn-ea"/>
              <a:cs typeface="+mn-cs"/>
            </a:endParaRPr>
          </a:p>
        </p:txBody>
      </p:sp>
      <p:sp>
        <p:nvSpPr>
          <p:cNvPr id="9" name="Shape 7"/>
          <p:cNvSpPr/>
          <p:nvPr/>
        </p:nvSpPr>
        <p:spPr>
          <a:xfrm>
            <a:off x="2705919" y="2268014"/>
            <a:ext cx="341287" cy="0"/>
          </a:xfrm>
          <a:prstGeom prst="line">
            <a:avLst/>
          </a:prstGeom>
          <a:noFill/>
          <a:ln w="254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2925318" y="2146126"/>
            <a:ext cx="195021" cy="268154"/>
          </a:xfrm>
          <a:prstGeom prst="rect">
            <a:avLst/>
          </a:prstGeom>
          <a:noFill/>
          <a:ln/>
        </p:spPr>
        <p:txBody>
          <a:bodyPr wrap="square" lIns="0" tIns="0" rIns="0" bIns="0" rtlCol="0" anchor="ctr"/>
          <a:lstStyle/>
          <a:p>
            <a:pPr defTabSz="1218895">
              <a:buClrTx/>
            </a:pPr>
            <a:r>
              <a:rPr lang="en-US" sz="1333" kern="1200" dirty="0">
                <a:solidFill>
                  <a:srgbClr val="7C3AED"/>
                </a:solidFill>
                <a:latin typeface="Calibri" panose="020F0502020204030204"/>
                <a:ea typeface="+mn-ea"/>
                <a:cs typeface="+mn-cs"/>
              </a:rPr>
              <a:t>▶</a:t>
            </a:r>
            <a:endParaRPr lang="en-US" sz="1333" kern="1200" dirty="0">
              <a:solidFill>
                <a:prstClr val="black"/>
              </a:solidFill>
              <a:latin typeface="Calibri" panose="020F0502020204030204"/>
              <a:ea typeface="+mn-ea"/>
              <a:cs typeface="+mn-cs"/>
            </a:endParaRPr>
          </a:p>
        </p:txBody>
      </p:sp>
      <p:sp>
        <p:nvSpPr>
          <p:cNvPr id="11" name="Shape 9"/>
          <p:cNvSpPr/>
          <p:nvPr/>
        </p:nvSpPr>
        <p:spPr>
          <a:xfrm>
            <a:off x="3108150" y="1829217"/>
            <a:ext cx="2437765" cy="877595"/>
          </a:xfrm>
          <a:prstGeom prst="rect">
            <a:avLst/>
          </a:prstGeom>
          <a:solidFill>
            <a:srgbClr val="7C3AED"/>
          </a:solidFill>
          <a:ln w="12700">
            <a:solidFill>
              <a:srgbClr val="7C3AED"/>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2" name="Text 10"/>
          <p:cNvSpPr/>
          <p:nvPr/>
        </p:nvSpPr>
        <p:spPr>
          <a:xfrm>
            <a:off x="3108150" y="1829217"/>
            <a:ext cx="2437765" cy="877595"/>
          </a:xfrm>
          <a:prstGeom prst="rect">
            <a:avLst/>
          </a:prstGeom>
          <a:noFill/>
          <a:ln/>
        </p:spPr>
        <p:txBody>
          <a:bodyPr wrap="square" lIns="0" tIns="0" rIns="0" bIns="0" rtlCol="0" anchor="ctr"/>
          <a:lstStyle/>
          <a:p>
            <a:pPr algn="ctr" defTabSz="1218895">
              <a:buClrTx/>
            </a:pPr>
            <a:r>
              <a:rPr lang="en-US" sz="1200" b="1" kern="1200" dirty="0">
                <a:solidFill>
                  <a:srgbClr val="FFFFFF"/>
                </a:solidFill>
                <a:latin typeface="Calibri" pitchFamily="34" charset="0"/>
                <a:ea typeface="Calibri" pitchFamily="34" charset="-122"/>
                <a:cs typeface="Calibri" pitchFamily="34" charset="-120"/>
              </a:rPr>
              <a:t>ConfigLoader&lt;T&gt;</a:t>
            </a:r>
            <a:endParaRPr lang="en-US" sz="1200" kern="1200" dirty="0">
              <a:solidFill>
                <a:prstClr val="black"/>
              </a:solidFill>
              <a:latin typeface="Calibri" panose="020F0502020204030204"/>
              <a:ea typeface="+mn-ea"/>
              <a:cs typeface="+mn-cs"/>
            </a:endParaRPr>
          </a:p>
          <a:p>
            <a:pPr algn="ctr" defTabSz="1218895">
              <a:buClrTx/>
            </a:pPr>
            <a:r>
              <a:rPr lang="en-US" sz="1200" b="1" kern="1200" dirty="0">
                <a:solidFill>
                  <a:srgbClr val="FFFFFF"/>
                </a:solidFill>
                <a:latin typeface="Calibri" pitchFamily="34" charset="0"/>
                <a:ea typeface="Calibri" pitchFamily="34" charset="-122"/>
                <a:cs typeface="Calibri" pitchFamily="34" charset="-120"/>
              </a:rPr>
              <a:t>.load()</a:t>
            </a:r>
            <a:endParaRPr lang="en-US" sz="1200" kern="1200" dirty="0">
              <a:solidFill>
                <a:prstClr val="black"/>
              </a:solidFill>
              <a:latin typeface="Calibri" panose="020F0502020204030204"/>
              <a:ea typeface="+mn-ea"/>
              <a:cs typeface="+mn-cs"/>
            </a:endParaRPr>
          </a:p>
        </p:txBody>
      </p:sp>
      <p:sp>
        <p:nvSpPr>
          <p:cNvPr id="13" name="Shape 11"/>
          <p:cNvSpPr/>
          <p:nvPr/>
        </p:nvSpPr>
        <p:spPr>
          <a:xfrm>
            <a:off x="5570293" y="2268014"/>
            <a:ext cx="341287" cy="0"/>
          </a:xfrm>
          <a:prstGeom prst="line">
            <a:avLst/>
          </a:prstGeom>
          <a:noFill/>
          <a:ln w="254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5789691" y="2146126"/>
            <a:ext cx="195021" cy="268154"/>
          </a:xfrm>
          <a:prstGeom prst="rect">
            <a:avLst/>
          </a:prstGeom>
          <a:noFill/>
          <a:ln/>
        </p:spPr>
        <p:txBody>
          <a:bodyPr wrap="square" lIns="0" tIns="0" rIns="0" bIns="0" rtlCol="0" anchor="ctr"/>
          <a:lstStyle/>
          <a:p>
            <a:pPr defTabSz="1218895">
              <a:buClrTx/>
            </a:pPr>
            <a:r>
              <a:rPr lang="en-US" sz="1333" kern="1200" dirty="0">
                <a:solidFill>
                  <a:srgbClr val="7C3AED"/>
                </a:solidFill>
                <a:latin typeface="Calibri" panose="020F0502020204030204"/>
                <a:ea typeface="+mn-ea"/>
                <a:cs typeface="+mn-cs"/>
              </a:rPr>
              <a:t>▶</a:t>
            </a:r>
            <a:endParaRPr lang="en-US" sz="1333" kern="1200" dirty="0">
              <a:solidFill>
                <a:prstClr val="black"/>
              </a:solidFill>
              <a:latin typeface="Calibri" panose="020F0502020204030204"/>
              <a:ea typeface="+mn-ea"/>
              <a:cs typeface="+mn-cs"/>
            </a:endParaRPr>
          </a:p>
        </p:txBody>
      </p:sp>
      <p:sp>
        <p:nvSpPr>
          <p:cNvPr id="15" name="Shape 13"/>
          <p:cNvSpPr/>
          <p:nvPr/>
        </p:nvSpPr>
        <p:spPr>
          <a:xfrm>
            <a:off x="5996901" y="1829217"/>
            <a:ext cx="2437765" cy="877595"/>
          </a:xfrm>
          <a:prstGeom prst="rect">
            <a:avLst/>
          </a:prstGeom>
          <a:solidFill>
            <a:srgbClr val="4338CA"/>
          </a:solidFill>
          <a:ln w="12700">
            <a:solidFill>
              <a:srgbClr val="4338CA"/>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5996901" y="1829217"/>
            <a:ext cx="2437765" cy="877595"/>
          </a:xfrm>
          <a:prstGeom prst="rect">
            <a:avLst/>
          </a:prstGeom>
          <a:noFill/>
          <a:ln/>
        </p:spPr>
        <p:txBody>
          <a:bodyPr wrap="square" lIns="0" tIns="0" rIns="0" bIns="0" rtlCol="0" anchor="ctr"/>
          <a:lstStyle/>
          <a:p>
            <a:pPr algn="ctr" defTabSz="1218895">
              <a:buClrTx/>
            </a:pPr>
            <a:r>
              <a:rPr lang="en-US" sz="1200" b="1" kern="1200" dirty="0">
                <a:solidFill>
                  <a:srgbClr val="FFFFFF"/>
                </a:solidFill>
                <a:latin typeface="Calibri" pitchFamily="34" charset="0"/>
                <a:ea typeface="Calibri" pitchFamily="34" charset="-122"/>
                <a:cs typeface="Calibri" pitchFamily="34" charset="-120"/>
              </a:rPr>
              <a:t>Validator</a:t>
            </a:r>
            <a:endParaRPr lang="en-US" sz="1200" kern="1200" dirty="0">
              <a:solidFill>
                <a:prstClr val="black"/>
              </a:solidFill>
              <a:latin typeface="Calibri" panose="020F0502020204030204"/>
              <a:ea typeface="+mn-ea"/>
              <a:cs typeface="+mn-cs"/>
            </a:endParaRPr>
          </a:p>
          <a:p>
            <a:pPr algn="ctr" defTabSz="1218895">
              <a:buClrTx/>
            </a:pPr>
            <a:r>
              <a:rPr lang="en-US" sz="1200" b="1" kern="1200" dirty="0">
                <a:solidFill>
                  <a:srgbClr val="FFFFFF"/>
                </a:solidFill>
                <a:latin typeface="Calibri" pitchFamily="34" charset="0"/>
                <a:ea typeface="Calibri" pitchFamily="34" charset="-122"/>
                <a:cs typeface="Calibri" pitchFamily="34" charset="-120"/>
              </a:rPr>
              <a:t>T extends object</a:t>
            </a:r>
            <a:endParaRPr lang="en-US" sz="1200" kern="1200" dirty="0">
              <a:solidFill>
                <a:prstClr val="black"/>
              </a:solidFill>
              <a:latin typeface="Calibri" panose="020F0502020204030204"/>
              <a:ea typeface="+mn-ea"/>
              <a:cs typeface="+mn-cs"/>
            </a:endParaRPr>
          </a:p>
        </p:txBody>
      </p:sp>
      <p:sp>
        <p:nvSpPr>
          <p:cNvPr id="17" name="Shape 15"/>
          <p:cNvSpPr/>
          <p:nvPr/>
        </p:nvSpPr>
        <p:spPr>
          <a:xfrm>
            <a:off x="8459044" y="2268014"/>
            <a:ext cx="341287" cy="0"/>
          </a:xfrm>
          <a:prstGeom prst="line">
            <a:avLst/>
          </a:prstGeom>
          <a:noFill/>
          <a:ln w="254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8" name="Text 16"/>
          <p:cNvSpPr/>
          <p:nvPr/>
        </p:nvSpPr>
        <p:spPr>
          <a:xfrm>
            <a:off x="8678443" y="2146126"/>
            <a:ext cx="195021" cy="268154"/>
          </a:xfrm>
          <a:prstGeom prst="rect">
            <a:avLst/>
          </a:prstGeom>
          <a:noFill/>
          <a:ln/>
        </p:spPr>
        <p:txBody>
          <a:bodyPr wrap="square" lIns="0" tIns="0" rIns="0" bIns="0" rtlCol="0" anchor="ctr"/>
          <a:lstStyle/>
          <a:p>
            <a:pPr defTabSz="1218895">
              <a:buClrTx/>
            </a:pPr>
            <a:r>
              <a:rPr lang="en-US" sz="1333" kern="1200" dirty="0">
                <a:solidFill>
                  <a:srgbClr val="7C3AED"/>
                </a:solidFill>
                <a:latin typeface="Calibri" panose="020F0502020204030204"/>
                <a:ea typeface="+mn-ea"/>
                <a:cs typeface="+mn-cs"/>
              </a:rPr>
              <a:t>▶</a:t>
            </a:r>
            <a:endParaRPr lang="en-US" sz="1333" kern="1200" dirty="0">
              <a:solidFill>
                <a:prstClr val="black"/>
              </a:solidFill>
              <a:latin typeface="Calibri" panose="020F0502020204030204"/>
              <a:ea typeface="+mn-ea"/>
              <a:cs typeface="+mn-cs"/>
            </a:endParaRPr>
          </a:p>
        </p:txBody>
      </p:sp>
      <p:sp>
        <p:nvSpPr>
          <p:cNvPr id="19" name="Shape 17"/>
          <p:cNvSpPr/>
          <p:nvPr/>
        </p:nvSpPr>
        <p:spPr>
          <a:xfrm>
            <a:off x="8873464" y="1829217"/>
            <a:ext cx="2559653" cy="877595"/>
          </a:xfrm>
          <a:prstGeom prst="rect">
            <a:avLst/>
          </a:prstGeom>
          <a:solidFill>
            <a:srgbClr val="0D9488"/>
          </a:solidFill>
          <a:ln w="12700">
            <a:solidFill>
              <a:srgbClr val="0D9488"/>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Text 18"/>
          <p:cNvSpPr/>
          <p:nvPr/>
        </p:nvSpPr>
        <p:spPr>
          <a:xfrm>
            <a:off x="8873464" y="1829217"/>
            <a:ext cx="2559653" cy="877595"/>
          </a:xfrm>
          <a:prstGeom prst="rect">
            <a:avLst/>
          </a:prstGeom>
          <a:noFill/>
          <a:ln/>
        </p:spPr>
        <p:txBody>
          <a:bodyPr wrap="square" lIns="0" tIns="0" rIns="0" bIns="0" rtlCol="0" anchor="ctr"/>
          <a:lstStyle/>
          <a:p>
            <a:pPr algn="ctr" defTabSz="1218895">
              <a:buClrTx/>
            </a:pPr>
            <a:r>
              <a:rPr lang="en-US" sz="1200" b="1" kern="1200" dirty="0">
                <a:solidFill>
                  <a:srgbClr val="FFFFFF"/>
                </a:solidFill>
                <a:latin typeface="Calibri" pitchFamily="34" charset="0"/>
                <a:ea typeface="Calibri" pitchFamily="34" charset="-122"/>
                <a:cs typeface="Calibri" pitchFamily="34" charset="-120"/>
              </a:rPr>
              <a:t>Typed Config</a:t>
            </a:r>
            <a:endParaRPr lang="en-US" sz="1200" kern="1200" dirty="0">
              <a:solidFill>
                <a:prstClr val="black"/>
              </a:solidFill>
              <a:latin typeface="Calibri" panose="020F0502020204030204"/>
              <a:ea typeface="+mn-ea"/>
              <a:cs typeface="+mn-cs"/>
            </a:endParaRPr>
          </a:p>
          <a:p>
            <a:pPr algn="ctr" defTabSz="1218895">
              <a:buClrTx/>
            </a:pPr>
            <a:r>
              <a:rPr lang="en-US" sz="1200" b="1" kern="1200" dirty="0">
                <a:solidFill>
                  <a:srgbClr val="FFFFFF"/>
                </a:solidFill>
                <a:latin typeface="Calibri" pitchFamily="34" charset="0"/>
                <a:ea typeface="Calibri" pitchFamily="34" charset="-122"/>
                <a:cs typeface="Calibri" pitchFamily="34" charset="-120"/>
              </a:rPr>
              <a:t>returns T</a:t>
            </a:r>
            <a:endParaRPr lang="en-US" sz="1200" kern="1200" dirty="0">
              <a:solidFill>
                <a:prstClr val="black"/>
              </a:solidFill>
              <a:latin typeface="Calibri" panose="020F0502020204030204"/>
              <a:ea typeface="+mn-ea"/>
              <a:cs typeface="+mn-cs"/>
            </a:endParaRPr>
          </a:p>
        </p:txBody>
      </p:sp>
      <p:sp>
        <p:nvSpPr>
          <p:cNvPr id="21" name="Text 19"/>
          <p:cNvSpPr/>
          <p:nvPr/>
        </p:nvSpPr>
        <p:spPr>
          <a:xfrm>
            <a:off x="487553" y="2865267"/>
            <a:ext cx="5484971" cy="365665"/>
          </a:xfrm>
          <a:prstGeom prst="rect">
            <a:avLst/>
          </a:prstGeom>
          <a:noFill/>
          <a:ln/>
        </p:spPr>
        <p:txBody>
          <a:bodyPr wrap="square" lIns="0" tIns="0" rIns="0" bIns="0" rtlCol="0" anchor="ctr"/>
          <a:lstStyle/>
          <a:p>
            <a:pPr defTabSz="1218895">
              <a:buClrTx/>
            </a:pPr>
            <a:r>
              <a:rPr lang="en-US" sz="1466" b="1" kern="1200" dirty="0">
                <a:solidFill>
                  <a:srgbClr val="1E293B"/>
                </a:solidFill>
                <a:latin typeface="Calibri" pitchFamily="34" charset="0"/>
                <a:ea typeface="Calibri" pitchFamily="34" charset="-122"/>
                <a:cs typeface="Calibri" pitchFamily="34" charset="-120"/>
              </a:rPr>
              <a:t>Starter: config-loader.ts  (TODOs to fill)</a:t>
            </a:r>
            <a:endParaRPr lang="en-US" sz="1466" kern="1200" dirty="0">
              <a:solidFill>
                <a:prstClr val="black"/>
              </a:solidFill>
              <a:latin typeface="Calibri" panose="020F0502020204030204"/>
              <a:ea typeface="+mn-ea"/>
              <a:cs typeface="+mn-cs"/>
            </a:endParaRPr>
          </a:p>
        </p:txBody>
      </p:sp>
      <p:sp>
        <p:nvSpPr>
          <p:cNvPr id="22" name="Shape 20"/>
          <p:cNvSpPr/>
          <p:nvPr/>
        </p:nvSpPr>
        <p:spPr>
          <a:xfrm>
            <a:off x="487553" y="3255309"/>
            <a:ext cx="5484971" cy="3364116"/>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Text 21"/>
          <p:cNvSpPr/>
          <p:nvPr/>
        </p:nvSpPr>
        <p:spPr>
          <a:xfrm>
            <a:off x="670385" y="3377197"/>
            <a:ext cx="5216817" cy="3144717"/>
          </a:xfrm>
          <a:prstGeom prst="rect">
            <a:avLst/>
          </a:prstGeom>
          <a:noFill/>
          <a:ln/>
        </p:spPr>
        <p:txBody>
          <a:bodyPr wrap="square" lIns="0" tIns="0" rIns="0" bIns="0" rtlCol="0" anchor="t"/>
          <a:lstStyle/>
          <a:p>
            <a:pPr defTabSz="1218895">
              <a:buClrTx/>
            </a:pPr>
            <a:r>
              <a:rPr lang="en-US" sz="1200" kern="1200" dirty="0">
                <a:solidFill>
                  <a:srgbClr val="64748B"/>
                </a:solidFill>
                <a:latin typeface="Consolas" pitchFamily="34" charset="0"/>
                <a:ea typeface="Consolas" pitchFamily="34" charset="-122"/>
                <a:cs typeface="Consolas" pitchFamily="34" charset="-120"/>
              </a:rPr>
              <a:t>// TODO 1: Add generic type param &lt;T&gt;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class ConfigLoader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private data: unknown;</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 TODO 2: read file, parse JSON</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constructor(private path: string)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 TODO 3: validate &amp; return 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load(): unknown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this.data;</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 TODO 4: add validate method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private validate(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    raw: unknown): asserts raw is 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 throw if invalid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p:txBody>
      </p:sp>
      <p:sp>
        <p:nvSpPr>
          <p:cNvPr id="24" name="Text 22"/>
          <p:cNvSpPr/>
          <p:nvPr/>
        </p:nvSpPr>
        <p:spPr>
          <a:xfrm>
            <a:off x="6277244" y="2865267"/>
            <a:ext cx="5606860" cy="365665"/>
          </a:xfrm>
          <a:prstGeom prst="rect">
            <a:avLst/>
          </a:prstGeom>
          <a:noFill/>
          <a:ln/>
        </p:spPr>
        <p:txBody>
          <a:bodyPr wrap="square" lIns="0" tIns="0" rIns="0" bIns="0" rtlCol="0" anchor="ctr"/>
          <a:lstStyle/>
          <a:p>
            <a:pPr defTabSz="1218895">
              <a:buClrTx/>
            </a:pPr>
            <a:r>
              <a:rPr lang="en-US" sz="1466" b="1" kern="1200" dirty="0">
                <a:solidFill>
                  <a:srgbClr val="0D9488"/>
                </a:solidFill>
                <a:latin typeface="Calibri" pitchFamily="34" charset="0"/>
                <a:ea typeface="Calibri" pitchFamily="34" charset="-122"/>
                <a:cs typeface="Calibri" pitchFamily="34" charset="-120"/>
              </a:rPr>
              <a:t>Solution</a:t>
            </a:r>
            <a:endParaRPr lang="en-US" sz="1466" kern="1200" dirty="0">
              <a:solidFill>
                <a:prstClr val="black"/>
              </a:solidFill>
              <a:latin typeface="Calibri" panose="020F0502020204030204"/>
              <a:ea typeface="+mn-ea"/>
              <a:cs typeface="+mn-cs"/>
            </a:endParaRPr>
          </a:p>
        </p:txBody>
      </p:sp>
      <p:sp>
        <p:nvSpPr>
          <p:cNvPr id="25" name="Shape 23"/>
          <p:cNvSpPr/>
          <p:nvPr/>
        </p:nvSpPr>
        <p:spPr>
          <a:xfrm>
            <a:off x="6277244" y="3255309"/>
            <a:ext cx="5606860" cy="3364116"/>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6" name="Text 24"/>
          <p:cNvSpPr/>
          <p:nvPr/>
        </p:nvSpPr>
        <p:spPr>
          <a:xfrm>
            <a:off x="6460077" y="3377197"/>
            <a:ext cx="5338705" cy="3144717"/>
          </a:xfrm>
          <a:prstGeom prst="rect">
            <a:avLst/>
          </a:prstGeom>
          <a:noFill/>
          <a:ln/>
        </p:spPr>
        <p:txBody>
          <a:bodyPr wrap="square" lIns="0" tIns="0" rIns="0" bIns="0" rtlCol="0" anchor="t"/>
          <a:lstStyle/>
          <a:p>
            <a:pPr defTabSz="1218895">
              <a:buClrTx/>
            </a:pPr>
            <a:r>
              <a:rPr lang="en-US" sz="1200" kern="1200" dirty="0">
                <a:solidFill>
                  <a:srgbClr val="818CF8"/>
                </a:solidFill>
                <a:latin typeface="Consolas" pitchFamily="34" charset="0"/>
                <a:ea typeface="Consolas" pitchFamily="34" charset="-122"/>
                <a:cs typeface="Consolas" pitchFamily="34" charset="-120"/>
              </a:rPr>
              <a:t>import fs from 'fs';</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class ConfigLoader&lt;T extends object&gt;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private raw: unknown;</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constructor(private path: string)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const txt = fs.readFileSync(path,'utf-8');</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this.raw = JSON.parse(txt);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load(validator: (r:unknown) =&gt; T): 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validator(this.raw);</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Usage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const loader = new ConfigLoader&lt;DestConfig&gt;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('dest-config.json');</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const cfg = loader.load(validateDest);</a:t>
            </a:r>
            <a:endParaRPr lang="en-US" sz="1200" kern="1200" dirty="0">
              <a:solidFill>
                <a:prstClr val="black"/>
              </a:solidFill>
              <a:latin typeface="Calibri" panose="020F0502020204030204"/>
              <a:ea typeface="+mn-ea"/>
              <a:cs typeface="+mn-cs"/>
            </a:endParaRPr>
          </a:p>
        </p:txBody>
      </p:sp>
      <p:pic>
        <p:nvPicPr>
          <p:cNvPr id="27" name="Google Shape;497;p1">
            <a:extLst>
              <a:ext uri="{FF2B5EF4-FFF2-40B4-BE49-F238E27FC236}">
                <a16:creationId xmlns:a16="http://schemas.microsoft.com/office/drawing/2014/main" id="{8552E296-DE10-7D16-EBCC-0D4A8D5BF13C}"/>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Exercise A — Testing Two Config Shapes</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Practice  ·  The same ConfigLoader&lt;T&gt; reused with different T</a:t>
            </a:r>
            <a:endParaRPr lang="en-US" sz="1466" kern="1200" dirty="0">
              <a:solidFill>
                <a:prstClr val="black"/>
              </a:solidFill>
              <a:latin typeface="Calibri" panose="020F0502020204030204"/>
              <a:ea typeface="+mn-ea"/>
              <a:cs typeface="+mn-cs"/>
            </a:endParaRPr>
          </a:p>
        </p:txBody>
      </p:sp>
      <p:sp>
        <p:nvSpPr>
          <p:cNvPr id="6" name="Text 4"/>
          <p:cNvSpPr/>
          <p:nvPr/>
        </p:nvSpPr>
        <p:spPr>
          <a:xfrm>
            <a:off x="487553" y="1402608"/>
            <a:ext cx="11213719" cy="390042"/>
          </a:xfrm>
          <a:prstGeom prst="rect">
            <a:avLst/>
          </a:prstGeom>
          <a:noFill/>
          <a:ln/>
        </p:spPr>
        <p:txBody>
          <a:bodyPr wrap="square" lIns="0" tIns="0" rIns="0" bIns="0" rtlCol="0" anchor="ctr"/>
          <a:lstStyle/>
          <a:p>
            <a:pPr defTabSz="1218895">
              <a:buClrTx/>
            </a:pPr>
            <a:r>
              <a:rPr lang="en-US" sz="1466" i="1" kern="1200" dirty="0">
                <a:solidFill>
                  <a:srgbClr val="334155"/>
                </a:solidFill>
                <a:latin typeface="Calibri" pitchFamily="34" charset="0"/>
                <a:ea typeface="Calibri" pitchFamily="34" charset="-122"/>
                <a:cs typeface="Calibri" pitchFamily="34" charset="-120"/>
              </a:rPr>
              <a:t>One loader class — two completely different config shapes. TypeScript keeps each one fully typed.</a:t>
            </a:r>
            <a:endParaRPr lang="en-US" sz="1466" kern="1200" dirty="0">
              <a:solidFill>
                <a:prstClr val="black"/>
              </a:solidFill>
              <a:latin typeface="Calibri" panose="020F0502020204030204"/>
              <a:ea typeface="+mn-ea"/>
              <a:cs typeface="+mn-cs"/>
            </a:endParaRPr>
          </a:p>
        </p:txBody>
      </p:sp>
      <p:sp>
        <p:nvSpPr>
          <p:cNvPr id="7" name="Shape 5"/>
          <p:cNvSpPr/>
          <p:nvPr/>
        </p:nvSpPr>
        <p:spPr>
          <a:xfrm>
            <a:off x="487553" y="1890161"/>
            <a:ext cx="5484971" cy="463175"/>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487553" y="1890161"/>
            <a:ext cx="5484971" cy="463175"/>
          </a:xfrm>
          <a:prstGeom prst="rect">
            <a:avLst/>
          </a:prstGeom>
          <a:noFill/>
          <a:ln/>
        </p:spPr>
        <p:txBody>
          <a:bodyPr wrap="square" lIns="0" tIns="0" rIns="0" bIns="0" rtlCol="0" anchor="ctr"/>
          <a:lstStyle/>
          <a:p>
            <a:pPr algn="ctr" defTabSz="1218895">
              <a:buClrTx/>
            </a:pPr>
            <a:r>
              <a:rPr lang="en-US" sz="1466" b="1" kern="1200" dirty="0">
                <a:solidFill>
                  <a:srgbClr val="FFFFFF"/>
                </a:solidFill>
                <a:latin typeface="Calibri" pitchFamily="34" charset="0"/>
                <a:ea typeface="Calibri" pitchFamily="34" charset="-122"/>
                <a:cs typeface="Calibri" pitchFamily="34" charset="-120"/>
              </a:rPr>
              <a:t>Config Shape 1 — Destination Service</a:t>
            </a:r>
            <a:endParaRPr lang="en-US" sz="1466" kern="1200" dirty="0">
              <a:solidFill>
                <a:prstClr val="black"/>
              </a:solidFill>
              <a:latin typeface="Calibri" panose="020F0502020204030204"/>
              <a:ea typeface="+mn-ea"/>
              <a:cs typeface="+mn-cs"/>
            </a:endParaRPr>
          </a:p>
        </p:txBody>
      </p:sp>
      <p:sp>
        <p:nvSpPr>
          <p:cNvPr id="9" name="Shape 7"/>
          <p:cNvSpPr/>
          <p:nvPr/>
        </p:nvSpPr>
        <p:spPr>
          <a:xfrm>
            <a:off x="487553" y="2377714"/>
            <a:ext cx="5484971" cy="2096478"/>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670385" y="2499602"/>
            <a:ext cx="5216817" cy="1877079"/>
          </a:xfrm>
          <a:prstGeom prst="rect">
            <a:avLst/>
          </a:prstGeom>
          <a:noFill/>
          <a:ln/>
        </p:spPr>
        <p:txBody>
          <a:bodyPr wrap="square" lIns="0" tIns="0" rIns="0" bIns="0" rtlCol="0" anchor="t"/>
          <a:lstStyle/>
          <a:p>
            <a:pPr defTabSz="1218895">
              <a:buClrTx/>
            </a:pPr>
            <a:r>
              <a:rPr lang="en-US" sz="1200" kern="1200" dirty="0">
                <a:solidFill>
                  <a:srgbClr val="F472B6"/>
                </a:solidFill>
                <a:latin typeface="Consolas" pitchFamily="34" charset="0"/>
                <a:ea typeface="Consolas" pitchFamily="34" charset="-122"/>
                <a:cs typeface="Consolas" pitchFamily="34" charset="-120"/>
              </a:rPr>
              <a:t>interface DestinationConfig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name: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url: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authenticationType: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6EFAC"/>
                </a:solidFill>
                <a:latin typeface="Consolas" pitchFamily="34" charset="0"/>
                <a:ea typeface="Consolas" pitchFamily="34" charset="-122"/>
                <a:cs typeface="Consolas" pitchFamily="34" charset="-120"/>
              </a:rPr>
              <a:t>    'BasicAuthentication' | 'OAuth2';</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6EFAC"/>
                </a:solidFill>
                <a:latin typeface="Consolas" pitchFamily="34" charset="0"/>
                <a:ea typeface="Consolas" pitchFamily="34" charset="-122"/>
                <a:cs typeface="Consolas" pitchFamily="34" charset="-120"/>
              </a:rPr>
              <a:t>  proxyType: 'Internet' | 'OnPremise';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const destLoader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  new ConfigLoader&lt;DestinationConfig&gt;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('dest.json');</a:t>
            </a:r>
            <a:endParaRPr lang="en-US" sz="1200" kern="1200" dirty="0">
              <a:solidFill>
                <a:prstClr val="black"/>
              </a:solidFill>
              <a:latin typeface="Calibri" panose="020F0502020204030204"/>
              <a:ea typeface="+mn-ea"/>
              <a:cs typeface="+mn-cs"/>
            </a:endParaRPr>
          </a:p>
        </p:txBody>
      </p:sp>
      <p:sp>
        <p:nvSpPr>
          <p:cNvPr id="11" name="Shape 9"/>
          <p:cNvSpPr/>
          <p:nvPr/>
        </p:nvSpPr>
        <p:spPr>
          <a:xfrm>
            <a:off x="6277244" y="1890161"/>
            <a:ext cx="5606860" cy="463175"/>
          </a:xfrm>
          <a:prstGeom prst="rect">
            <a:avLst/>
          </a:prstGeom>
          <a:solidFill>
            <a:srgbClr val="4338CA"/>
          </a:solidFill>
          <a:ln w="12700">
            <a:solidFill>
              <a:srgbClr val="4338C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2" name="Text 10"/>
          <p:cNvSpPr/>
          <p:nvPr/>
        </p:nvSpPr>
        <p:spPr>
          <a:xfrm>
            <a:off x="6277244" y="1890161"/>
            <a:ext cx="5606860" cy="463175"/>
          </a:xfrm>
          <a:prstGeom prst="rect">
            <a:avLst/>
          </a:prstGeom>
          <a:noFill/>
          <a:ln/>
        </p:spPr>
        <p:txBody>
          <a:bodyPr wrap="square" lIns="0" tIns="0" rIns="0" bIns="0" rtlCol="0" anchor="ctr"/>
          <a:lstStyle/>
          <a:p>
            <a:pPr algn="ctr" defTabSz="1218895">
              <a:buClrTx/>
            </a:pPr>
            <a:r>
              <a:rPr lang="en-US" sz="1466" b="1" kern="1200" dirty="0">
                <a:solidFill>
                  <a:srgbClr val="FFFFFF"/>
                </a:solidFill>
                <a:latin typeface="Calibri" pitchFamily="34" charset="0"/>
                <a:ea typeface="Calibri" pitchFamily="34" charset="-122"/>
                <a:cs typeface="Calibri" pitchFamily="34" charset="-120"/>
              </a:rPr>
              <a:t>Config Shape 2 — XSUAA / Auth Config</a:t>
            </a:r>
            <a:endParaRPr lang="en-US" sz="1466" kern="1200" dirty="0">
              <a:solidFill>
                <a:prstClr val="black"/>
              </a:solidFill>
              <a:latin typeface="Calibri" panose="020F0502020204030204"/>
              <a:ea typeface="+mn-ea"/>
              <a:cs typeface="+mn-cs"/>
            </a:endParaRPr>
          </a:p>
        </p:txBody>
      </p:sp>
      <p:sp>
        <p:nvSpPr>
          <p:cNvPr id="13" name="Shape 11"/>
          <p:cNvSpPr/>
          <p:nvPr/>
        </p:nvSpPr>
        <p:spPr>
          <a:xfrm>
            <a:off x="6277244" y="2377714"/>
            <a:ext cx="5606860" cy="2096478"/>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6460077" y="2499602"/>
            <a:ext cx="5338705" cy="1877079"/>
          </a:xfrm>
          <a:prstGeom prst="rect">
            <a:avLst/>
          </a:prstGeom>
          <a:noFill/>
          <a:ln/>
        </p:spPr>
        <p:txBody>
          <a:bodyPr wrap="square" lIns="0" tIns="0" rIns="0" bIns="0" rtlCol="0" anchor="t"/>
          <a:lstStyle/>
          <a:p>
            <a:pPr defTabSz="1218895">
              <a:buClrTx/>
            </a:pPr>
            <a:r>
              <a:rPr lang="en-US" sz="1200" kern="1200" dirty="0">
                <a:solidFill>
                  <a:srgbClr val="F472B6"/>
                </a:solidFill>
                <a:latin typeface="Consolas" pitchFamily="34" charset="0"/>
                <a:ea typeface="Consolas" pitchFamily="34" charset="-122"/>
                <a:cs typeface="Consolas" pitchFamily="34" charset="-120"/>
              </a:rPr>
              <a:t>interface XsuaaConfig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clientid: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clientsecret: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url: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tenantid: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xsappname: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const xsuaaLoader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  new ConfigLoader&lt;XsuaaConfig&gt;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('xsuaa.json');</a:t>
            </a:r>
            <a:endParaRPr lang="en-US" sz="1200" kern="1200" dirty="0">
              <a:solidFill>
                <a:prstClr val="black"/>
              </a:solidFill>
              <a:latin typeface="Calibri" panose="020F0502020204030204"/>
              <a:ea typeface="+mn-ea"/>
              <a:cs typeface="+mn-cs"/>
            </a:endParaRPr>
          </a:p>
        </p:txBody>
      </p:sp>
      <p:sp>
        <p:nvSpPr>
          <p:cNvPr id="15" name="Shape 13"/>
          <p:cNvSpPr/>
          <p:nvPr/>
        </p:nvSpPr>
        <p:spPr>
          <a:xfrm>
            <a:off x="487553" y="4571703"/>
            <a:ext cx="11213719" cy="463175"/>
          </a:xfrm>
          <a:prstGeom prst="rect">
            <a:avLst/>
          </a:prstGeom>
          <a:solidFill>
            <a:srgbClr val="EDE9FE"/>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609441" y="4608269"/>
            <a:ext cx="10969943" cy="390042"/>
          </a:xfrm>
          <a:prstGeom prst="rect">
            <a:avLst/>
          </a:prstGeom>
          <a:noFill/>
          <a:ln/>
        </p:spPr>
        <p:txBody>
          <a:bodyPr wrap="square" lIns="0" tIns="0" rIns="0" bIns="0" rtlCol="0" anchor="ctr"/>
          <a:lstStyle/>
          <a:p>
            <a:pPr defTabSz="1218895">
              <a:buClrTx/>
            </a:pPr>
            <a:r>
              <a:rPr lang="en-US" b="1" kern="1200" dirty="0">
                <a:solidFill>
                  <a:srgbClr val="7C3AED"/>
                </a:solidFill>
                <a:latin typeface="Calibri" pitchFamily="34" charset="0"/>
                <a:ea typeface="Calibri" pitchFamily="34" charset="-122"/>
                <a:cs typeface="Calibri" pitchFamily="34" charset="-120"/>
              </a:rPr>
              <a:t>💡  Key insight: ConfigLoader&lt;T&gt; is written once. The type T changes the shape of every method signature and return value.</a:t>
            </a:r>
            <a:endParaRPr lang="en-US" kern="1200" dirty="0">
              <a:solidFill>
                <a:prstClr val="black"/>
              </a:solidFill>
              <a:latin typeface="Calibri" panose="020F0502020204030204"/>
              <a:ea typeface="+mn-ea"/>
              <a:cs typeface="+mn-cs"/>
            </a:endParaRPr>
          </a:p>
        </p:txBody>
      </p:sp>
      <p:sp>
        <p:nvSpPr>
          <p:cNvPr id="17" name="Text 15"/>
          <p:cNvSpPr/>
          <p:nvPr/>
        </p:nvSpPr>
        <p:spPr>
          <a:xfrm>
            <a:off x="487553" y="5120200"/>
            <a:ext cx="11213719" cy="341287"/>
          </a:xfrm>
          <a:prstGeom prst="rect">
            <a:avLst/>
          </a:prstGeom>
          <a:noFill/>
          <a:ln/>
        </p:spPr>
        <p:txBody>
          <a:bodyPr wrap="square" lIns="0" tIns="0" rIns="0" bIns="0" rtlCol="0" anchor="ctr"/>
          <a:lstStyle/>
          <a:p>
            <a:pPr defTabSz="1218895">
              <a:buClrTx/>
            </a:pPr>
            <a:r>
              <a:rPr lang="en-US" sz="1466" b="1" kern="1200" dirty="0">
                <a:solidFill>
                  <a:srgbClr val="1E293B"/>
                </a:solidFill>
                <a:latin typeface="Calibri" pitchFamily="34" charset="0"/>
                <a:ea typeface="Calibri" pitchFamily="34" charset="-122"/>
                <a:cs typeface="Calibri" pitchFamily="34" charset="-120"/>
              </a:rPr>
              <a:t>Using Both Loaders (test scenario)</a:t>
            </a:r>
            <a:endParaRPr lang="en-US" sz="1466" kern="1200" dirty="0">
              <a:solidFill>
                <a:prstClr val="black"/>
              </a:solidFill>
              <a:latin typeface="Calibri" panose="020F0502020204030204"/>
              <a:ea typeface="+mn-ea"/>
              <a:cs typeface="+mn-cs"/>
            </a:endParaRPr>
          </a:p>
        </p:txBody>
      </p:sp>
      <p:sp>
        <p:nvSpPr>
          <p:cNvPr id="18" name="Shape 16"/>
          <p:cNvSpPr/>
          <p:nvPr/>
        </p:nvSpPr>
        <p:spPr>
          <a:xfrm>
            <a:off x="487553" y="5485864"/>
            <a:ext cx="11213719" cy="1194505"/>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Text 17"/>
          <p:cNvSpPr/>
          <p:nvPr/>
        </p:nvSpPr>
        <p:spPr>
          <a:xfrm>
            <a:off x="670385" y="5607752"/>
            <a:ext cx="10945565" cy="975106"/>
          </a:xfrm>
          <a:prstGeom prst="rect">
            <a:avLst/>
          </a:prstGeom>
          <a:noFill/>
          <a:ln/>
        </p:spPr>
        <p:txBody>
          <a:bodyPr wrap="square" lIns="0" tIns="0" rIns="0" bIns="0" rtlCol="0" anchor="t"/>
          <a:lstStyle/>
          <a:p>
            <a:pPr defTabSz="1218895">
              <a:buClrTx/>
            </a:pPr>
            <a:r>
              <a:rPr lang="en-US" sz="1266" kern="1200" dirty="0">
                <a:solidFill>
                  <a:srgbClr val="4ADE80"/>
                </a:solidFill>
                <a:latin typeface="Consolas" pitchFamily="34" charset="0"/>
                <a:ea typeface="Consolas" pitchFamily="34" charset="-122"/>
                <a:cs typeface="Consolas" pitchFamily="34" charset="-120"/>
              </a:rPr>
              <a:t>const dest   = destLoader.load(validateDestConfig);   // type: DestinationConfig</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const xsuaa  = xsuaaLoader.load(validateXsuaaConfig); // type: XsuaaConfig</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dest.url;          // ✅ autocomplete works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xsuaa.xsappname;   // ✅ correct type</a:t>
            </a:r>
            <a:endParaRPr lang="en-US" sz="1266" kern="1200" dirty="0">
              <a:solidFill>
                <a:prstClr val="black"/>
              </a:solidFill>
              <a:latin typeface="Calibri" panose="020F0502020204030204"/>
              <a:ea typeface="+mn-ea"/>
              <a:cs typeface="+mn-cs"/>
            </a:endParaRPr>
          </a:p>
        </p:txBody>
      </p:sp>
      <p:pic>
        <p:nvPicPr>
          <p:cNvPr id="20" name="Google Shape;497;p1">
            <a:extLst>
              <a:ext uri="{FF2B5EF4-FFF2-40B4-BE49-F238E27FC236}">
                <a16:creationId xmlns:a16="http://schemas.microsoft.com/office/drawing/2014/main" id="{55292C83-2B94-6140-A766-0DB5E30954E4}"/>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Exercise B — Decorators: The Big Idea</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Concept  ·  What decorators are and why they have no JS equivalent</a:t>
            </a:r>
            <a:endParaRPr lang="en-US" sz="1466" kern="1200" dirty="0">
              <a:solidFill>
                <a:prstClr val="black"/>
              </a:solidFill>
              <a:latin typeface="Calibri" panose="020F0502020204030204"/>
              <a:ea typeface="+mn-ea"/>
              <a:cs typeface="+mn-cs"/>
            </a:endParaRPr>
          </a:p>
        </p:txBody>
      </p:sp>
      <p:sp>
        <p:nvSpPr>
          <p:cNvPr id="6" name="Shape 4"/>
          <p:cNvSpPr/>
          <p:nvPr/>
        </p:nvSpPr>
        <p:spPr>
          <a:xfrm>
            <a:off x="487553" y="1402608"/>
            <a:ext cx="11213719" cy="877595"/>
          </a:xfrm>
          <a:prstGeom prst="rect">
            <a:avLst/>
          </a:prstGeom>
          <a:solidFill>
            <a:srgbClr val="CCFBF1"/>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670385" y="1439175"/>
            <a:ext cx="10848054" cy="804462"/>
          </a:xfrm>
          <a:prstGeom prst="rect">
            <a:avLst/>
          </a:prstGeom>
          <a:noFill/>
          <a:ln/>
        </p:spPr>
        <p:txBody>
          <a:bodyPr wrap="square" lIns="0" tIns="0" rIns="0" bIns="0" rtlCol="0" anchor="ctr"/>
          <a:lstStyle/>
          <a:p>
            <a:pPr defTabSz="1218895">
              <a:buClrTx/>
            </a:pPr>
            <a:r>
              <a:rPr lang="en-US" sz="1533" b="1" kern="1200" dirty="0">
                <a:solidFill>
                  <a:srgbClr val="0D9488"/>
                </a:solidFill>
                <a:latin typeface="Calibri" pitchFamily="34" charset="0"/>
                <a:ea typeface="Calibri" pitchFamily="34" charset="-122"/>
                <a:cs typeface="Calibri" pitchFamily="34" charset="-120"/>
              </a:rPr>
              <a:t>Definition: </a:t>
            </a:r>
            <a:r>
              <a:rPr lang="en-US" sz="1533" kern="1200" dirty="0">
                <a:solidFill>
                  <a:srgbClr val="334155"/>
                </a:solidFill>
                <a:latin typeface="Calibri" pitchFamily="34" charset="0"/>
                <a:ea typeface="Calibri" pitchFamily="34" charset="-122"/>
                <a:cs typeface="Calibri" pitchFamily="34" charset="-120"/>
              </a:rPr>
              <a:t>A decorator is a special function that wraps a class, method, or property to add behaviour </a:t>
            </a:r>
            <a:r>
              <a:rPr lang="en-US" sz="1533" b="1" kern="1200" dirty="0">
                <a:solidFill>
                  <a:srgbClr val="334155"/>
                </a:solidFill>
                <a:latin typeface="Calibri" pitchFamily="34" charset="0"/>
                <a:ea typeface="Calibri" pitchFamily="34" charset="-122"/>
                <a:cs typeface="Calibri" pitchFamily="34" charset="-120"/>
              </a:rPr>
              <a:t>without modifying the original source code.</a:t>
            </a:r>
            <a:r>
              <a:rPr lang="en-US" sz="1533" kern="1200" dirty="0">
                <a:solidFill>
                  <a:srgbClr val="334155"/>
                </a:solidFill>
                <a:latin typeface="Calibri" pitchFamily="34" charset="0"/>
                <a:ea typeface="Calibri" pitchFamily="34" charset="-122"/>
                <a:cs typeface="Calibri" pitchFamily="34" charset="-120"/>
              </a:rPr>
              <a:t> This is the Aspect-Oriented Programming (AOP) pattern — cross-cutting concerns like logging,</a:t>
            </a:r>
            <a:endParaRPr lang="en-US" sz="1533" kern="1200" dirty="0">
              <a:solidFill>
                <a:prstClr val="black"/>
              </a:solidFill>
              <a:latin typeface="Calibri" panose="020F0502020204030204"/>
              <a:ea typeface="+mn-ea"/>
              <a:cs typeface="+mn-cs"/>
            </a:endParaRPr>
          </a:p>
          <a:p>
            <a:pPr defTabSz="1218895">
              <a:buClrTx/>
            </a:pPr>
            <a:r>
              <a:rPr lang="en-US" sz="1533" kern="1200" dirty="0">
                <a:solidFill>
                  <a:srgbClr val="334155"/>
                </a:solidFill>
                <a:latin typeface="Calibri" pitchFamily="34" charset="0"/>
                <a:ea typeface="Calibri" pitchFamily="34" charset="-122"/>
                <a:cs typeface="Calibri" pitchFamily="34" charset="-120"/>
              </a:rPr>
              <a:t>auth checks, and timing are injected around the actual logic.</a:t>
            </a:r>
            <a:endParaRPr lang="en-US" sz="1533" kern="1200" dirty="0">
              <a:solidFill>
                <a:prstClr val="black"/>
              </a:solidFill>
              <a:latin typeface="Calibri" panose="020F0502020204030204"/>
              <a:ea typeface="+mn-ea"/>
              <a:cs typeface="+mn-cs"/>
            </a:endParaRPr>
          </a:p>
        </p:txBody>
      </p:sp>
      <p:sp>
        <p:nvSpPr>
          <p:cNvPr id="8" name="Text 6"/>
          <p:cNvSpPr/>
          <p:nvPr/>
        </p:nvSpPr>
        <p:spPr>
          <a:xfrm>
            <a:off x="487553" y="2389903"/>
            <a:ext cx="11213719" cy="365665"/>
          </a:xfrm>
          <a:prstGeom prst="rect">
            <a:avLst/>
          </a:prstGeom>
          <a:noFill/>
          <a:ln/>
        </p:spPr>
        <p:txBody>
          <a:bodyPr wrap="square" lIns="0" tIns="0" rIns="0" bIns="0" rtlCol="0" anchor="ctr"/>
          <a:lstStyle/>
          <a:p>
            <a:pPr defTabSz="1218895">
              <a:buClrTx/>
            </a:pPr>
            <a:r>
              <a:rPr lang="en-US" sz="1600" b="1" kern="1200" dirty="0">
                <a:solidFill>
                  <a:srgbClr val="1E293B"/>
                </a:solidFill>
                <a:latin typeface="Calibri" pitchFamily="34" charset="0"/>
                <a:ea typeface="Calibri" pitchFamily="34" charset="-122"/>
                <a:cs typeface="Calibri" pitchFamily="34" charset="-120"/>
              </a:rPr>
              <a:t>Mental Model — Decorator as a Wrapper</a:t>
            </a:r>
            <a:endParaRPr lang="en-US" sz="1600" kern="1200" dirty="0">
              <a:solidFill>
                <a:prstClr val="black"/>
              </a:solidFill>
              <a:latin typeface="Calibri" panose="020F0502020204030204"/>
              <a:ea typeface="+mn-ea"/>
              <a:cs typeface="+mn-cs"/>
            </a:endParaRPr>
          </a:p>
        </p:txBody>
      </p:sp>
      <p:sp>
        <p:nvSpPr>
          <p:cNvPr id="9" name="Shape 7"/>
          <p:cNvSpPr/>
          <p:nvPr/>
        </p:nvSpPr>
        <p:spPr>
          <a:xfrm>
            <a:off x="487552" y="2804323"/>
            <a:ext cx="6703854" cy="3230039"/>
          </a:xfrm>
          <a:prstGeom prst="rect">
            <a:avLst/>
          </a:prstGeom>
          <a:solidFill>
            <a:srgbClr val="CCFBF1"/>
          </a:solidFill>
          <a:ln w="254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585063" y="2853078"/>
            <a:ext cx="6521021" cy="341287"/>
          </a:xfrm>
          <a:prstGeom prst="rect">
            <a:avLst/>
          </a:prstGeom>
          <a:noFill/>
          <a:ln/>
        </p:spPr>
        <p:txBody>
          <a:bodyPr wrap="square" lIns="0" tIns="0" rIns="0" bIns="0" rtlCol="0" anchor="ctr"/>
          <a:lstStyle/>
          <a:p>
            <a:pPr defTabSz="1218895">
              <a:buClrTx/>
            </a:pPr>
            <a:r>
              <a:rPr lang="en-US" sz="1333" b="1" kern="1200" dirty="0">
                <a:solidFill>
                  <a:srgbClr val="0D9488"/>
                </a:solidFill>
                <a:latin typeface="Consolas" pitchFamily="34" charset="0"/>
                <a:ea typeface="Consolas" pitchFamily="34" charset="-122"/>
                <a:cs typeface="Consolas" pitchFamily="34" charset="-120"/>
              </a:rPr>
              <a:t>@LogRequest  Decorator</a:t>
            </a:r>
            <a:endParaRPr lang="en-US" sz="1333" kern="1200" dirty="0">
              <a:solidFill>
                <a:prstClr val="black"/>
              </a:solidFill>
              <a:latin typeface="Calibri" panose="020F0502020204030204"/>
              <a:ea typeface="+mn-ea"/>
              <a:cs typeface="+mn-cs"/>
            </a:endParaRPr>
          </a:p>
        </p:txBody>
      </p:sp>
      <p:sp>
        <p:nvSpPr>
          <p:cNvPr id="11" name="Text 9"/>
          <p:cNvSpPr/>
          <p:nvPr/>
        </p:nvSpPr>
        <p:spPr>
          <a:xfrm>
            <a:off x="670385" y="3218743"/>
            <a:ext cx="3047206" cy="341287"/>
          </a:xfrm>
          <a:prstGeom prst="rect">
            <a:avLst/>
          </a:prstGeom>
          <a:noFill/>
          <a:ln/>
        </p:spPr>
        <p:txBody>
          <a:bodyPr wrap="square" lIns="0" tIns="0" rIns="0" bIns="0" rtlCol="0" anchor="ctr"/>
          <a:lstStyle/>
          <a:p>
            <a:pPr defTabSz="1218895">
              <a:buClrTx/>
            </a:pPr>
            <a:r>
              <a:rPr lang="en-US" sz="1266" kern="1200" dirty="0">
                <a:solidFill>
                  <a:srgbClr val="0D9488"/>
                </a:solidFill>
                <a:latin typeface="Calibri" pitchFamily="34" charset="0"/>
                <a:ea typeface="Calibri" pitchFamily="34" charset="-122"/>
                <a:cs typeface="Calibri" pitchFamily="34" charset="-120"/>
              </a:rPr>
              <a:t>① log method name + args</a:t>
            </a:r>
            <a:endParaRPr lang="en-US" sz="1266" kern="1200" dirty="0">
              <a:solidFill>
                <a:prstClr val="black"/>
              </a:solidFill>
              <a:latin typeface="Calibri" panose="020F0502020204030204"/>
              <a:ea typeface="+mn-ea"/>
              <a:cs typeface="+mn-cs"/>
            </a:endParaRPr>
          </a:p>
        </p:txBody>
      </p:sp>
      <p:sp>
        <p:nvSpPr>
          <p:cNvPr id="12" name="Text 10"/>
          <p:cNvSpPr/>
          <p:nvPr/>
        </p:nvSpPr>
        <p:spPr>
          <a:xfrm>
            <a:off x="670385" y="5510242"/>
            <a:ext cx="3047206" cy="341287"/>
          </a:xfrm>
          <a:prstGeom prst="rect">
            <a:avLst/>
          </a:prstGeom>
          <a:noFill/>
          <a:ln/>
        </p:spPr>
        <p:txBody>
          <a:bodyPr wrap="square" lIns="0" tIns="0" rIns="0" bIns="0" rtlCol="0" anchor="ctr"/>
          <a:lstStyle/>
          <a:p>
            <a:pPr defTabSz="1218895">
              <a:buClrTx/>
            </a:pPr>
            <a:r>
              <a:rPr lang="en-US" sz="1266" kern="1200" dirty="0">
                <a:solidFill>
                  <a:srgbClr val="0D9488"/>
                </a:solidFill>
                <a:latin typeface="Calibri" pitchFamily="34" charset="0"/>
                <a:ea typeface="Calibri" pitchFamily="34" charset="-122"/>
                <a:cs typeface="Calibri" pitchFamily="34" charset="-120"/>
              </a:rPr>
              <a:t>③ log execution time</a:t>
            </a:r>
            <a:endParaRPr lang="en-US" sz="1266" kern="1200" dirty="0">
              <a:solidFill>
                <a:prstClr val="black"/>
              </a:solidFill>
              <a:latin typeface="Calibri" panose="020F0502020204030204"/>
              <a:ea typeface="+mn-ea"/>
              <a:cs typeface="+mn-cs"/>
            </a:endParaRPr>
          </a:p>
        </p:txBody>
      </p:sp>
      <p:sp>
        <p:nvSpPr>
          <p:cNvPr id="13" name="Shape 11"/>
          <p:cNvSpPr/>
          <p:nvPr/>
        </p:nvSpPr>
        <p:spPr>
          <a:xfrm>
            <a:off x="1462658" y="3718485"/>
            <a:ext cx="4753642" cy="1682058"/>
          </a:xfrm>
          <a:prstGeom prst="rect">
            <a:avLst/>
          </a:prstGeom>
          <a:solidFill>
            <a:srgbClr val="1E293B"/>
          </a:solidFill>
          <a:ln w="12700">
            <a:solidFill>
              <a:srgbClr val="2DD4BF"/>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1462658" y="3718485"/>
            <a:ext cx="4753642" cy="390042"/>
          </a:xfrm>
          <a:prstGeom prst="rect">
            <a:avLst/>
          </a:prstGeom>
          <a:noFill/>
          <a:ln/>
        </p:spPr>
        <p:txBody>
          <a:bodyPr wrap="square" lIns="0" tIns="0" rIns="0" bIns="0" rtlCol="0" anchor="ctr"/>
          <a:lstStyle/>
          <a:p>
            <a:pPr algn="ctr" defTabSz="1218895">
              <a:buClrTx/>
            </a:pPr>
            <a:r>
              <a:rPr lang="en-US" sz="1333" b="1" kern="1200" dirty="0">
                <a:solidFill>
                  <a:srgbClr val="2DD4BF"/>
                </a:solidFill>
                <a:latin typeface="Calibri" pitchFamily="34" charset="0"/>
                <a:ea typeface="Calibri" pitchFamily="34" charset="-122"/>
                <a:cs typeface="Calibri" pitchFamily="34" charset="-120"/>
              </a:rPr>
              <a:t>Original Method Body</a:t>
            </a:r>
            <a:endParaRPr lang="en-US" sz="1333" kern="1200" dirty="0">
              <a:solidFill>
                <a:prstClr val="black"/>
              </a:solidFill>
              <a:latin typeface="Calibri" panose="020F0502020204030204"/>
              <a:ea typeface="+mn-ea"/>
              <a:cs typeface="+mn-cs"/>
            </a:endParaRPr>
          </a:p>
        </p:txBody>
      </p:sp>
      <p:sp>
        <p:nvSpPr>
          <p:cNvPr id="15" name="Text 13"/>
          <p:cNvSpPr/>
          <p:nvPr/>
        </p:nvSpPr>
        <p:spPr>
          <a:xfrm>
            <a:off x="1462658" y="4169471"/>
            <a:ext cx="4753642" cy="755707"/>
          </a:xfrm>
          <a:prstGeom prst="rect">
            <a:avLst/>
          </a:prstGeom>
          <a:noFill/>
          <a:ln/>
        </p:spPr>
        <p:txBody>
          <a:bodyPr wrap="square" lIns="0" tIns="0" rIns="0" bIns="0" rtlCol="0" anchor="ctr"/>
          <a:lstStyle/>
          <a:p>
            <a:pPr algn="ctr" defTabSz="1218895">
              <a:buClrTx/>
            </a:pPr>
            <a:r>
              <a:rPr lang="en-US" sz="1333" kern="1200" dirty="0">
                <a:solidFill>
                  <a:srgbClr val="FFFFFF"/>
                </a:solidFill>
                <a:latin typeface="Consolas" pitchFamily="34" charset="0"/>
                <a:ea typeface="Consolas" pitchFamily="34" charset="-122"/>
                <a:cs typeface="Consolas" pitchFamily="34" charset="-120"/>
              </a:rPr>
              <a:t>② actualMethod(args)</a:t>
            </a:r>
            <a:endParaRPr lang="en-US" sz="1333" kern="1200" dirty="0">
              <a:solidFill>
                <a:prstClr val="black"/>
              </a:solidFill>
              <a:latin typeface="Calibri" panose="020F0502020204030204"/>
              <a:ea typeface="+mn-ea"/>
              <a:cs typeface="+mn-cs"/>
            </a:endParaRPr>
          </a:p>
        </p:txBody>
      </p:sp>
      <p:sp>
        <p:nvSpPr>
          <p:cNvPr id="16" name="Text 14"/>
          <p:cNvSpPr/>
          <p:nvPr/>
        </p:nvSpPr>
        <p:spPr>
          <a:xfrm>
            <a:off x="1462658" y="4815479"/>
            <a:ext cx="4753642" cy="548497"/>
          </a:xfrm>
          <a:prstGeom prst="rect">
            <a:avLst/>
          </a:prstGeom>
          <a:noFill/>
          <a:ln/>
        </p:spPr>
        <p:txBody>
          <a:bodyPr wrap="square" lIns="0" tIns="0" rIns="0" bIns="0" rtlCol="0" anchor="ctr"/>
          <a:lstStyle/>
          <a:p>
            <a:pPr algn="ctr" defTabSz="1218895">
              <a:buClrTx/>
            </a:pPr>
            <a:r>
              <a:rPr lang="en-US" sz="1200" kern="1200" dirty="0">
                <a:solidFill>
                  <a:srgbClr val="94A3B8"/>
                </a:solidFill>
                <a:latin typeface="Calibri" pitchFamily="34" charset="0"/>
                <a:ea typeface="Calibri" pitchFamily="34" charset="-122"/>
                <a:cs typeface="Calibri" pitchFamily="34" charset="-120"/>
              </a:rPr>
              <a:t>handles the BTP request</a:t>
            </a:r>
            <a:endParaRPr lang="en-US" sz="1200" kern="1200" dirty="0">
              <a:solidFill>
                <a:prstClr val="black"/>
              </a:solidFill>
              <a:latin typeface="Calibri" panose="020F0502020204030204"/>
              <a:ea typeface="+mn-ea"/>
              <a:cs typeface="+mn-cs"/>
            </a:endParaRPr>
          </a:p>
        </p:txBody>
      </p:sp>
      <p:sp>
        <p:nvSpPr>
          <p:cNvPr id="17" name="Shape 15"/>
          <p:cNvSpPr/>
          <p:nvPr/>
        </p:nvSpPr>
        <p:spPr>
          <a:xfrm>
            <a:off x="7435183" y="2804323"/>
            <a:ext cx="4509865" cy="828840"/>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8" name="Shape 16"/>
          <p:cNvSpPr/>
          <p:nvPr/>
        </p:nvSpPr>
        <p:spPr>
          <a:xfrm>
            <a:off x="7435183" y="2804323"/>
            <a:ext cx="85322" cy="828840"/>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Text 17"/>
          <p:cNvSpPr/>
          <p:nvPr/>
        </p:nvSpPr>
        <p:spPr>
          <a:xfrm>
            <a:off x="7630204" y="2840889"/>
            <a:ext cx="4266089" cy="292532"/>
          </a:xfrm>
          <a:prstGeom prst="rect">
            <a:avLst/>
          </a:prstGeom>
          <a:noFill/>
          <a:ln/>
        </p:spPr>
        <p:txBody>
          <a:bodyPr wrap="square" lIns="0" tIns="0" rIns="0" bIns="0" rtlCol="0" anchor="ctr"/>
          <a:lstStyle/>
          <a:p>
            <a:pPr defTabSz="1218895">
              <a:buClrTx/>
            </a:pPr>
            <a:r>
              <a:rPr lang="en-US" sz="1266" b="1" kern="1200" dirty="0">
                <a:solidFill>
                  <a:srgbClr val="0D9488"/>
                </a:solidFill>
                <a:latin typeface="Calibri" pitchFamily="34" charset="0"/>
                <a:ea typeface="Calibri" pitchFamily="34" charset="-122"/>
                <a:cs typeface="Calibri" pitchFamily="34" charset="-120"/>
              </a:rPr>
              <a:t>Enabled via tsconfig</a:t>
            </a:r>
            <a:endParaRPr lang="en-US" sz="1266" kern="1200" dirty="0">
              <a:solidFill>
                <a:prstClr val="black"/>
              </a:solidFill>
              <a:latin typeface="Calibri" panose="020F0502020204030204"/>
              <a:ea typeface="+mn-ea"/>
              <a:cs typeface="+mn-cs"/>
            </a:endParaRPr>
          </a:p>
        </p:txBody>
      </p:sp>
      <p:sp>
        <p:nvSpPr>
          <p:cNvPr id="20" name="Text 18"/>
          <p:cNvSpPr/>
          <p:nvPr/>
        </p:nvSpPr>
        <p:spPr>
          <a:xfrm>
            <a:off x="7630204" y="3133421"/>
            <a:ext cx="4266089" cy="463175"/>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Set "experimentalDecorators": true and</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334155"/>
                </a:solidFill>
                <a:latin typeface="Calibri" pitchFamily="34" charset="0"/>
                <a:ea typeface="Calibri" pitchFamily="34" charset="-122"/>
                <a:cs typeface="Calibri" pitchFamily="34" charset="-120"/>
              </a:rPr>
              <a:t>"emitDecoratorMetadata": true in tsconfig.json</a:t>
            </a:r>
            <a:endParaRPr lang="en-US" sz="1133" kern="1200" dirty="0">
              <a:solidFill>
                <a:prstClr val="black"/>
              </a:solidFill>
              <a:latin typeface="Calibri" panose="020F0502020204030204"/>
              <a:ea typeface="+mn-ea"/>
              <a:cs typeface="+mn-cs"/>
            </a:endParaRPr>
          </a:p>
        </p:txBody>
      </p:sp>
      <p:sp>
        <p:nvSpPr>
          <p:cNvPr id="21" name="Shape 19"/>
          <p:cNvSpPr/>
          <p:nvPr/>
        </p:nvSpPr>
        <p:spPr>
          <a:xfrm>
            <a:off x="7435183" y="3706296"/>
            <a:ext cx="4509865" cy="828840"/>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2" name="Shape 20"/>
          <p:cNvSpPr/>
          <p:nvPr/>
        </p:nvSpPr>
        <p:spPr>
          <a:xfrm>
            <a:off x="7435183" y="3706296"/>
            <a:ext cx="85322" cy="828840"/>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Text 21"/>
          <p:cNvSpPr/>
          <p:nvPr/>
        </p:nvSpPr>
        <p:spPr>
          <a:xfrm>
            <a:off x="7630204" y="3742862"/>
            <a:ext cx="4266089" cy="292532"/>
          </a:xfrm>
          <a:prstGeom prst="rect">
            <a:avLst/>
          </a:prstGeom>
          <a:noFill/>
          <a:ln/>
        </p:spPr>
        <p:txBody>
          <a:bodyPr wrap="square" lIns="0" tIns="0" rIns="0" bIns="0" rtlCol="0" anchor="ctr"/>
          <a:lstStyle/>
          <a:p>
            <a:pPr defTabSz="1218895">
              <a:buClrTx/>
            </a:pPr>
            <a:r>
              <a:rPr lang="en-US" sz="1266" b="1" kern="1200" dirty="0">
                <a:solidFill>
                  <a:srgbClr val="0D9488"/>
                </a:solidFill>
                <a:latin typeface="Calibri" pitchFamily="34" charset="0"/>
                <a:ea typeface="Calibri" pitchFamily="34" charset="-122"/>
                <a:cs typeface="Calibri" pitchFamily="34" charset="-120"/>
              </a:rPr>
              <a:t>Method decorator signature</a:t>
            </a:r>
            <a:endParaRPr lang="en-US" sz="1266" kern="1200" dirty="0">
              <a:solidFill>
                <a:prstClr val="black"/>
              </a:solidFill>
              <a:latin typeface="Calibri" panose="020F0502020204030204"/>
              <a:ea typeface="+mn-ea"/>
              <a:cs typeface="+mn-cs"/>
            </a:endParaRPr>
          </a:p>
        </p:txBody>
      </p:sp>
      <p:sp>
        <p:nvSpPr>
          <p:cNvPr id="24" name="Text 22"/>
          <p:cNvSpPr/>
          <p:nvPr/>
        </p:nvSpPr>
        <p:spPr>
          <a:xfrm>
            <a:off x="7630204" y="4035394"/>
            <a:ext cx="4266089" cy="463175"/>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(target: any, key: string,</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334155"/>
                </a:solidFill>
                <a:latin typeface="Calibri" pitchFamily="34" charset="0"/>
                <a:ea typeface="Calibri" pitchFamily="34" charset="-122"/>
                <a:cs typeface="Calibri" pitchFamily="34" charset="-120"/>
              </a:rPr>
              <a:t> descriptor: PropertyDescriptor) =&gt; void</a:t>
            </a:r>
            <a:endParaRPr lang="en-US" sz="1133" kern="1200" dirty="0">
              <a:solidFill>
                <a:prstClr val="black"/>
              </a:solidFill>
              <a:latin typeface="Calibri" panose="020F0502020204030204"/>
              <a:ea typeface="+mn-ea"/>
              <a:cs typeface="+mn-cs"/>
            </a:endParaRPr>
          </a:p>
        </p:txBody>
      </p:sp>
      <p:sp>
        <p:nvSpPr>
          <p:cNvPr id="25" name="Shape 23"/>
          <p:cNvSpPr/>
          <p:nvPr/>
        </p:nvSpPr>
        <p:spPr>
          <a:xfrm>
            <a:off x="7435183" y="4608269"/>
            <a:ext cx="4509865" cy="828840"/>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6" name="Shape 24"/>
          <p:cNvSpPr/>
          <p:nvPr/>
        </p:nvSpPr>
        <p:spPr>
          <a:xfrm>
            <a:off x="7435183" y="4608269"/>
            <a:ext cx="85322" cy="828840"/>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7" name="Text 25"/>
          <p:cNvSpPr/>
          <p:nvPr/>
        </p:nvSpPr>
        <p:spPr>
          <a:xfrm>
            <a:off x="7630204" y="4644835"/>
            <a:ext cx="4266089" cy="292532"/>
          </a:xfrm>
          <a:prstGeom prst="rect">
            <a:avLst/>
          </a:prstGeom>
          <a:noFill/>
          <a:ln/>
        </p:spPr>
        <p:txBody>
          <a:bodyPr wrap="square" lIns="0" tIns="0" rIns="0" bIns="0" rtlCol="0" anchor="ctr"/>
          <a:lstStyle/>
          <a:p>
            <a:pPr defTabSz="1218895">
              <a:buClrTx/>
            </a:pPr>
            <a:r>
              <a:rPr lang="en-US" sz="1266" b="1" kern="1200" dirty="0">
                <a:solidFill>
                  <a:srgbClr val="0D9488"/>
                </a:solidFill>
                <a:latin typeface="Calibri" pitchFamily="34" charset="0"/>
                <a:ea typeface="Calibri" pitchFamily="34" charset="-122"/>
                <a:cs typeface="Calibri" pitchFamily="34" charset="-120"/>
              </a:rPr>
              <a:t>No JS equivalent</a:t>
            </a:r>
            <a:endParaRPr lang="en-US" sz="1266" kern="1200" dirty="0">
              <a:solidFill>
                <a:prstClr val="black"/>
              </a:solidFill>
              <a:latin typeface="Calibri" panose="020F0502020204030204"/>
              <a:ea typeface="+mn-ea"/>
              <a:cs typeface="+mn-cs"/>
            </a:endParaRPr>
          </a:p>
        </p:txBody>
      </p:sp>
      <p:sp>
        <p:nvSpPr>
          <p:cNvPr id="28" name="Text 26"/>
          <p:cNvSpPr/>
          <p:nvPr/>
        </p:nvSpPr>
        <p:spPr>
          <a:xfrm>
            <a:off x="7630204" y="4937367"/>
            <a:ext cx="4266089" cy="463175"/>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JS class decorators (TC39) are Stage 3 and behave differently — TS decorators are the established pattern for CAP services today.</a:t>
            </a:r>
            <a:endParaRPr lang="en-US" sz="1133" kern="1200" dirty="0">
              <a:solidFill>
                <a:prstClr val="black"/>
              </a:solidFill>
              <a:latin typeface="Calibri" panose="020F0502020204030204"/>
              <a:ea typeface="+mn-ea"/>
              <a:cs typeface="+mn-cs"/>
            </a:endParaRPr>
          </a:p>
        </p:txBody>
      </p:sp>
      <p:sp>
        <p:nvSpPr>
          <p:cNvPr id="29" name="Shape 27"/>
          <p:cNvSpPr/>
          <p:nvPr/>
        </p:nvSpPr>
        <p:spPr>
          <a:xfrm>
            <a:off x="7435183" y="5510242"/>
            <a:ext cx="4509865" cy="828840"/>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0" name="Shape 28"/>
          <p:cNvSpPr/>
          <p:nvPr/>
        </p:nvSpPr>
        <p:spPr>
          <a:xfrm>
            <a:off x="7435183" y="5510242"/>
            <a:ext cx="85322" cy="828840"/>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1" name="Text 29"/>
          <p:cNvSpPr/>
          <p:nvPr/>
        </p:nvSpPr>
        <p:spPr>
          <a:xfrm>
            <a:off x="7630204" y="5546808"/>
            <a:ext cx="4266089" cy="292532"/>
          </a:xfrm>
          <a:prstGeom prst="rect">
            <a:avLst/>
          </a:prstGeom>
          <a:noFill/>
          <a:ln/>
        </p:spPr>
        <p:txBody>
          <a:bodyPr wrap="square" lIns="0" tIns="0" rIns="0" bIns="0" rtlCol="0" anchor="ctr"/>
          <a:lstStyle/>
          <a:p>
            <a:pPr defTabSz="1218895">
              <a:buClrTx/>
            </a:pPr>
            <a:r>
              <a:rPr lang="en-US" sz="1266" b="1" kern="1200" dirty="0">
                <a:solidFill>
                  <a:srgbClr val="0D9488"/>
                </a:solidFill>
                <a:latin typeface="Calibri" pitchFamily="34" charset="0"/>
                <a:ea typeface="Calibri" pitchFamily="34" charset="-122"/>
                <a:cs typeface="Calibri" pitchFamily="34" charset="-120"/>
              </a:rPr>
              <a:t>Common BTP uses</a:t>
            </a:r>
            <a:endParaRPr lang="en-US" sz="1266" kern="1200" dirty="0">
              <a:solidFill>
                <a:prstClr val="black"/>
              </a:solidFill>
              <a:latin typeface="Calibri" panose="020F0502020204030204"/>
              <a:ea typeface="+mn-ea"/>
              <a:cs typeface="+mn-cs"/>
            </a:endParaRPr>
          </a:p>
        </p:txBody>
      </p:sp>
      <p:sp>
        <p:nvSpPr>
          <p:cNvPr id="32" name="Text 30"/>
          <p:cNvSpPr/>
          <p:nvPr/>
        </p:nvSpPr>
        <p:spPr>
          <a:xfrm>
            <a:off x="7630204" y="5839340"/>
            <a:ext cx="4266089" cy="463175"/>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Request logging, auth checks, performance timing, caching, retry logic — all without polluting handler code.</a:t>
            </a:r>
            <a:endParaRPr lang="en-US" sz="1133" kern="1200" dirty="0">
              <a:solidFill>
                <a:prstClr val="black"/>
              </a:solidFill>
              <a:latin typeface="Calibri" panose="020F0502020204030204"/>
              <a:ea typeface="+mn-ea"/>
              <a:cs typeface="+mn-cs"/>
            </a:endParaRPr>
          </a:p>
        </p:txBody>
      </p:sp>
      <p:pic>
        <p:nvPicPr>
          <p:cNvPr id="33" name="Google Shape;497;p1">
            <a:extLst>
              <a:ext uri="{FF2B5EF4-FFF2-40B4-BE49-F238E27FC236}">
                <a16:creationId xmlns:a16="http://schemas.microsoft.com/office/drawing/2014/main" id="{D7493829-BD80-B6F1-E2FE-5F9C99B48EF7}"/>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Decorator Anatomy — Step by Step</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Diagram  ·  How a method decorator is constructed and applied</a:t>
            </a:r>
            <a:endParaRPr lang="en-US" sz="1466" kern="1200" dirty="0">
              <a:solidFill>
                <a:prstClr val="black"/>
              </a:solidFill>
              <a:latin typeface="Calibri" panose="020F0502020204030204"/>
              <a:ea typeface="+mn-ea"/>
              <a:cs typeface="+mn-cs"/>
            </a:endParaRPr>
          </a:p>
        </p:txBody>
      </p:sp>
      <p:sp>
        <p:nvSpPr>
          <p:cNvPr id="6" name="Text 4"/>
          <p:cNvSpPr/>
          <p:nvPr/>
        </p:nvSpPr>
        <p:spPr>
          <a:xfrm>
            <a:off x="487552" y="1402608"/>
            <a:ext cx="5606860" cy="365665"/>
          </a:xfrm>
          <a:prstGeom prst="rect">
            <a:avLst/>
          </a:prstGeom>
          <a:noFill/>
          <a:ln/>
        </p:spPr>
        <p:txBody>
          <a:bodyPr wrap="square" lIns="0" tIns="0" rIns="0" bIns="0" rtlCol="0" anchor="ctr"/>
          <a:lstStyle/>
          <a:p>
            <a:pPr defTabSz="1218895">
              <a:buClrTx/>
            </a:pPr>
            <a:r>
              <a:rPr lang="en-US" sz="1600" b="1" kern="1200" dirty="0">
                <a:solidFill>
                  <a:srgbClr val="1E293B"/>
                </a:solidFill>
                <a:latin typeface="Calibri" pitchFamily="34" charset="0"/>
                <a:ea typeface="Calibri" pitchFamily="34" charset="-122"/>
                <a:cs typeface="Calibri" pitchFamily="34" charset="-120"/>
              </a:rPr>
              <a:t>Anatomy of a Method Decorator</a:t>
            </a:r>
            <a:endParaRPr lang="en-US" sz="1600" kern="1200" dirty="0">
              <a:solidFill>
                <a:prstClr val="black"/>
              </a:solidFill>
              <a:latin typeface="Calibri" panose="020F0502020204030204"/>
              <a:ea typeface="+mn-ea"/>
              <a:cs typeface="+mn-cs"/>
            </a:endParaRPr>
          </a:p>
        </p:txBody>
      </p:sp>
      <p:sp>
        <p:nvSpPr>
          <p:cNvPr id="7" name="Shape 5"/>
          <p:cNvSpPr/>
          <p:nvPr/>
        </p:nvSpPr>
        <p:spPr>
          <a:xfrm>
            <a:off x="487552" y="1792650"/>
            <a:ext cx="5606860" cy="4826775"/>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70385" y="1914538"/>
            <a:ext cx="5338705" cy="4607376"/>
          </a:xfrm>
          <a:prstGeom prst="rect">
            <a:avLst/>
          </a:prstGeom>
          <a:noFill/>
          <a:ln/>
        </p:spPr>
        <p:txBody>
          <a:bodyPr wrap="square" lIns="0" tIns="0" rIns="0" bIns="0" rtlCol="0" anchor="t"/>
          <a:lstStyle/>
          <a:p>
            <a:pPr defTabSz="1218895">
              <a:buClrTx/>
            </a:pPr>
            <a:r>
              <a:rPr lang="en-US" sz="1173" kern="1200" dirty="0">
                <a:solidFill>
                  <a:srgbClr val="64748B"/>
                </a:solidFill>
                <a:latin typeface="Consolas" pitchFamily="34" charset="0"/>
                <a:ea typeface="Consolas" pitchFamily="34" charset="-122"/>
                <a:cs typeface="Consolas" pitchFamily="34" charset="-120"/>
              </a:rPr>
              <a:t>// A decorator factory (takes options)</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function LogRequest(options?: LogOpts)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64748B"/>
                </a:solidFill>
                <a:latin typeface="Consolas" pitchFamily="34" charset="0"/>
                <a:ea typeface="Consolas" pitchFamily="34" charset="-122"/>
                <a:cs typeface="Consolas" pitchFamily="34" charset="-120"/>
              </a:rPr>
              <a:t>  //  ↑ outer fn: creates the decorator</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  return function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target: object,         // ①</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methodName: string,     // ②</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descriptor: PropertyDescriptor // ③</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  )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64748B"/>
                </a:solidFill>
                <a:latin typeface="Consolas" pitchFamily="34" charset="0"/>
                <a:ea typeface="Consolas" pitchFamily="34" charset="-122"/>
                <a:cs typeface="Consolas" pitchFamily="34" charset="-120"/>
              </a:rPr>
              <a:t>    // ④ save original method</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const original = descriptor.value;</a:t>
            </a:r>
            <a:endParaRPr lang="en-US" sz="1173" kern="1200" dirty="0">
              <a:solidFill>
                <a:prstClr val="black"/>
              </a:solidFill>
              <a:latin typeface="Calibri" panose="020F0502020204030204"/>
              <a:ea typeface="+mn-ea"/>
              <a:cs typeface="+mn-cs"/>
            </a:endParaRPr>
          </a:p>
          <a:p>
            <a:pPr defTabSz="1218895">
              <a:buClrTx/>
            </a:pP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64748B"/>
                </a:solidFill>
                <a:latin typeface="Consolas" pitchFamily="34" charset="0"/>
                <a:ea typeface="Consolas" pitchFamily="34" charset="-122"/>
                <a:cs typeface="Consolas" pitchFamily="34" charset="-120"/>
              </a:rPr>
              <a:t>    // ⑤ replace with wrapped version</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    descriptor.value = function(...args: unknown[])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console.log(`→ ${methodName}`, args);</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const t0 = Date.now();</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const result = original.apply(this, args);</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const ms = Date.now() - t0;</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console.log(`← ${methodName} ${ms}ms`);</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return result;</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return descriptor;</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a:t>
            </a:r>
            <a:endParaRPr lang="en-US" sz="1173" kern="1200" dirty="0">
              <a:solidFill>
                <a:prstClr val="black"/>
              </a:solidFill>
              <a:latin typeface="Calibri" panose="020F0502020204030204"/>
              <a:ea typeface="+mn-ea"/>
              <a:cs typeface="+mn-cs"/>
            </a:endParaRPr>
          </a:p>
        </p:txBody>
      </p:sp>
      <p:sp>
        <p:nvSpPr>
          <p:cNvPr id="9" name="Text 7"/>
          <p:cNvSpPr/>
          <p:nvPr/>
        </p:nvSpPr>
        <p:spPr>
          <a:xfrm>
            <a:off x="6362566" y="1402608"/>
            <a:ext cx="5484971" cy="365665"/>
          </a:xfrm>
          <a:prstGeom prst="rect">
            <a:avLst/>
          </a:prstGeom>
          <a:noFill/>
          <a:ln/>
        </p:spPr>
        <p:txBody>
          <a:bodyPr wrap="square" lIns="0" tIns="0" rIns="0" bIns="0" rtlCol="0" anchor="ctr"/>
          <a:lstStyle/>
          <a:p>
            <a:pPr defTabSz="1218895">
              <a:buClrTx/>
            </a:pPr>
            <a:r>
              <a:rPr lang="en-US" sz="1600" b="1" kern="1200" dirty="0">
                <a:solidFill>
                  <a:srgbClr val="1E293B"/>
                </a:solidFill>
                <a:latin typeface="Calibri" pitchFamily="34" charset="0"/>
                <a:ea typeface="Calibri" pitchFamily="34" charset="-122"/>
                <a:cs typeface="Calibri" pitchFamily="34" charset="-120"/>
              </a:rPr>
              <a:t>What each argument means</a:t>
            </a:r>
            <a:endParaRPr lang="en-US" sz="1600" kern="1200" dirty="0">
              <a:solidFill>
                <a:prstClr val="black"/>
              </a:solidFill>
              <a:latin typeface="Calibri" panose="020F0502020204030204"/>
              <a:ea typeface="+mn-ea"/>
              <a:cs typeface="+mn-cs"/>
            </a:endParaRPr>
          </a:p>
        </p:txBody>
      </p:sp>
      <p:sp>
        <p:nvSpPr>
          <p:cNvPr id="10" name="Shape 8"/>
          <p:cNvSpPr/>
          <p:nvPr/>
        </p:nvSpPr>
        <p:spPr>
          <a:xfrm>
            <a:off x="6362566" y="1829217"/>
            <a:ext cx="463175" cy="463175"/>
          </a:xfrm>
          <a:prstGeom prst="ellipse">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6362566" y="1829217"/>
            <a:ext cx="463175" cy="463175"/>
          </a:xfrm>
          <a:prstGeom prst="rect">
            <a:avLst/>
          </a:prstGeom>
          <a:noFill/>
          <a:ln/>
        </p:spPr>
        <p:txBody>
          <a:bodyPr wrap="square" lIns="0" tIns="0" rIns="0" bIns="0" rtlCol="0" anchor="ctr"/>
          <a:lstStyle/>
          <a:p>
            <a:pPr algn="ctr" defTabSz="1218895">
              <a:buClrTx/>
            </a:pPr>
            <a:r>
              <a:rPr lang="en-US" sz="1466" b="1" kern="1200" dirty="0">
                <a:solidFill>
                  <a:srgbClr val="FFFFFF"/>
                </a:solidFill>
                <a:latin typeface="Calibri" pitchFamily="34" charset="0"/>
                <a:ea typeface="Calibri" pitchFamily="34" charset="-122"/>
                <a:cs typeface="Calibri" pitchFamily="34" charset="-120"/>
              </a:rPr>
              <a:t>①</a:t>
            </a:r>
            <a:endParaRPr lang="en-US" sz="1466" kern="1200" dirty="0">
              <a:solidFill>
                <a:prstClr val="black"/>
              </a:solidFill>
              <a:latin typeface="Calibri" panose="020F0502020204030204"/>
              <a:ea typeface="+mn-ea"/>
              <a:cs typeface="+mn-cs"/>
            </a:endParaRPr>
          </a:p>
        </p:txBody>
      </p:sp>
      <p:sp>
        <p:nvSpPr>
          <p:cNvPr id="12" name="Text 10"/>
          <p:cNvSpPr/>
          <p:nvPr/>
        </p:nvSpPr>
        <p:spPr>
          <a:xfrm>
            <a:off x="6923252" y="1829217"/>
            <a:ext cx="1828324" cy="268154"/>
          </a:xfrm>
          <a:prstGeom prst="rect">
            <a:avLst/>
          </a:prstGeom>
          <a:noFill/>
          <a:ln/>
        </p:spPr>
        <p:txBody>
          <a:bodyPr wrap="square" lIns="0" tIns="0" rIns="0" bIns="0" rtlCol="0" anchor="ctr"/>
          <a:lstStyle/>
          <a:p>
            <a:pPr defTabSz="1218895">
              <a:buClrTx/>
            </a:pPr>
            <a:r>
              <a:rPr lang="en-US" sz="1333" b="1" kern="1200" dirty="0">
                <a:solidFill>
                  <a:srgbClr val="0D9488"/>
                </a:solidFill>
                <a:latin typeface="Consolas" pitchFamily="34" charset="0"/>
                <a:ea typeface="Consolas" pitchFamily="34" charset="-122"/>
                <a:cs typeface="Consolas" pitchFamily="34" charset="-120"/>
              </a:rPr>
              <a:t>target</a:t>
            </a:r>
            <a:endParaRPr lang="en-US" sz="1333" kern="1200" dirty="0">
              <a:solidFill>
                <a:prstClr val="black"/>
              </a:solidFill>
              <a:latin typeface="Calibri" panose="020F0502020204030204"/>
              <a:ea typeface="+mn-ea"/>
              <a:cs typeface="+mn-cs"/>
            </a:endParaRPr>
          </a:p>
        </p:txBody>
      </p:sp>
      <p:sp>
        <p:nvSpPr>
          <p:cNvPr id="13" name="Text 11"/>
          <p:cNvSpPr/>
          <p:nvPr/>
        </p:nvSpPr>
        <p:spPr>
          <a:xfrm>
            <a:off x="6923252" y="2097371"/>
            <a:ext cx="4851152" cy="463175"/>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The prototype of the class (or constructor for static methods). Rarely used directly.</a:t>
            </a:r>
            <a:endParaRPr lang="en-US" sz="1133" kern="1200" dirty="0">
              <a:solidFill>
                <a:prstClr val="black"/>
              </a:solidFill>
              <a:latin typeface="Calibri" panose="020F0502020204030204"/>
              <a:ea typeface="+mn-ea"/>
              <a:cs typeface="+mn-cs"/>
            </a:endParaRPr>
          </a:p>
        </p:txBody>
      </p:sp>
      <p:sp>
        <p:nvSpPr>
          <p:cNvPr id="14" name="Shape 12"/>
          <p:cNvSpPr/>
          <p:nvPr/>
        </p:nvSpPr>
        <p:spPr>
          <a:xfrm>
            <a:off x="6362566" y="2767756"/>
            <a:ext cx="463175" cy="463175"/>
          </a:xfrm>
          <a:prstGeom prst="ellipse">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5" name="Text 13"/>
          <p:cNvSpPr/>
          <p:nvPr/>
        </p:nvSpPr>
        <p:spPr>
          <a:xfrm>
            <a:off x="6362566" y="2767756"/>
            <a:ext cx="463175" cy="463175"/>
          </a:xfrm>
          <a:prstGeom prst="rect">
            <a:avLst/>
          </a:prstGeom>
          <a:noFill/>
          <a:ln/>
        </p:spPr>
        <p:txBody>
          <a:bodyPr wrap="square" lIns="0" tIns="0" rIns="0" bIns="0" rtlCol="0" anchor="ctr"/>
          <a:lstStyle/>
          <a:p>
            <a:pPr algn="ctr" defTabSz="1218895">
              <a:buClrTx/>
            </a:pPr>
            <a:r>
              <a:rPr lang="en-US" sz="1466" b="1" kern="1200" dirty="0">
                <a:solidFill>
                  <a:srgbClr val="FFFFFF"/>
                </a:solidFill>
                <a:latin typeface="Calibri" pitchFamily="34" charset="0"/>
                <a:ea typeface="Calibri" pitchFamily="34" charset="-122"/>
                <a:cs typeface="Calibri" pitchFamily="34" charset="-120"/>
              </a:rPr>
              <a:t>②</a:t>
            </a:r>
            <a:endParaRPr lang="en-US" sz="1466" kern="1200" dirty="0">
              <a:solidFill>
                <a:prstClr val="black"/>
              </a:solidFill>
              <a:latin typeface="Calibri" panose="020F0502020204030204"/>
              <a:ea typeface="+mn-ea"/>
              <a:cs typeface="+mn-cs"/>
            </a:endParaRPr>
          </a:p>
        </p:txBody>
      </p:sp>
      <p:sp>
        <p:nvSpPr>
          <p:cNvPr id="16" name="Text 14"/>
          <p:cNvSpPr/>
          <p:nvPr/>
        </p:nvSpPr>
        <p:spPr>
          <a:xfrm>
            <a:off x="6923252" y="2767756"/>
            <a:ext cx="1828324" cy="268154"/>
          </a:xfrm>
          <a:prstGeom prst="rect">
            <a:avLst/>
          </a:prstGeom>
          <a:noFill/>
          <a:ln/>
        </p:spPr>
        <p:txBody>
          <a:bodyPr wrap="square" lIns="0" tIns="0" rIns="0" bIns="0" rtlCol="0" anchor="ctr"/>
          <a:lstStyle/>
          <a:p>
            <a:pPr defTabSz="1218895">
              <a:buClrTx/>
            </a:pPr>
            <a:r>
              <a:rPr lang="en-US" sz="1333" b="1" kern="1200" dirty="0">
                <a:solidFill>
                  <a:srgbClr val="0D9488"/>
                </a:solidFill>
                <a:latin typeface="Consolas" pitchFamily="34" charset="0"/>
                <a:ea typeface="Consolas" pitchFamily="34" charset="-122"/>
                <a:cs typeface="Consolas" pitchFamily="34" charset="-120"/>
              </a:rPr>
              <a:t>methodName</a:t>
            </a:r>
            <a:endParaRPr lang="en-US" sz="1333" kern="1200" dirty="0">
              <a:solidFill>
                <a:prstClr val="black"/>
              </a:solidFill>
              <a:latin typeface="Calibri" panose="020F0502020204030204"/>
              <a:ea typeface="+mn-ea"/>
              <a:cs typeface="+mn-cs"/>
            </a:endParaRPr>
          </a:p>
        </p:txBody>
      </p:sp>
      <p:sp>
        <p:nvSpPr>
          <p:cNvPr id="17" name="Text 15"/>
          <p:cNvSpPr/>
          <p:nvPr/>
        </p:nvSpPr>
        <p:spPr>
          <a:xfrm>
            <a:off x="6923252" y="3035911"/>
            <a:ext cx="4851152" cy="463175"/>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String name of the decorated method — use for logging, error messages.</a:t>
            </a:r>
            <a:endParaRPr lang="en-US" sz="1133" kern="1200" dirty="0">
              <a:solidFill>
                <a:prstClr val="black"/>
              </a:solidFill>
              <a:latin typeface="Calibri" panose="020F0502020204030204"/>
              <a:ea typeface="+mn-ea"/>
              <a:cs typeface="+mn-cs"/>
            </a:endParaRPr>
          </a:p>
        </p:txBody>
      </p:sp>
      <p:sp>
        <p:nvSpPr>
          <p:cNvPr id="18" name="Shape 16"/>
          <p:cNvSpPr/>
          <p:nvPr/>
        </p:nvSpPr>
        <p:spPr>
          <a:xfrm>
            <a:off x="6362566" y="3706296"/>
            <a:ext cx="463175" cy="463175"/>
          </a:xfrm>
          <a:prstGeom prst="ellipse">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Text 17"/>
          <p:cNvSpPr/>
          <p:nvPr/>
        </p:nvSpPr>
        <p:spPr>
          <a:xfrm>
            <a:off x="6362566" y="3706296"/>
            <a:ext cx="463175" cy="463175"/>
          </a:xfrm>
          <a:prstGeom prst="rect">
            <a:avLst/>
          </a:prstGeom>
          <a:noFill/>
          <a:ln/>
        </p:spPr>
        <p:txBody>
          <a:bodyPr wrap="square" lIns="0" tIns="0" rIns="0" bIns="0" rtlCol="0" anchor="ctr"/>
          <a:lstStyle/>
          <a:p>
            <a:pPr algn="ctr" defTabSz="1218895">
              <a:buClrTx/>
            </a:pPr>
            <a:r>
              <a:rPr lang="en-US" sz="1466" b="1" kern="1200" dirty="0">
                <a:solidFill>
                  <a:srgbClr val="FFFFFF"/>
                </a:solidFill>
                <a:latin typeface="Calibri" pitchFamily="34" charset="0"/>
                <a:ea typeface="Calibri" pitchFamily="34" charset="-122"/>
                <a:cs typeface="Calibri" pitchFamily="34" charset="-120"/>
              </a:rPr>
              <a:t>③</a:t>
            </a:r>
            <a:endParaRPr lang="en-US" sz="1466" kern="1200" dirty="0">
              <a:solidFill>
                <a:prstClr val="black"/>
              </a:solidFill>
              <a:latin typeface="Calibri" panose="020F0502020204030204"/>
              <a:ea typeface="+mn-ea"/>
              <a:cs typeface="+mn-cs"/>
            </a:endParaRPr>
          </a:p>
        </p:txBody>
      </p:sp>
      <p:sp>
        <p:nvSpPr>
          <p:cNvPr id="20" name="Text 18"/>
          <p:cNvSpPr/>
          <p:nvPr/>
        </p:nvSpPr>
        <p:spPr>
          <a:xfrm>
            <a:off x="6923252" y="3706296"/>
            <a:ext cx="1828324" cy="268154"/>
          </a:xfrm>
          <a:prstGeom prst="rect">
            <a:avLst/>
          </a:prstGeom>
          <a:noFill/>
          <a:ln/>
        </p:spPr>
        <p:txBody>
          <a:bodyPr wrap="square" lIns="0" tIns="0" rIns="0" bIns="0" rtlCol="0" anchor="ctr"/>
          <a:lstStyle/>
          <a:p>
            <a:pPr defTabSz="1218895">
              <a:buClrTx/>
            </a:pPr>
            <a:r>
              <a:rPr lang="en-US" sz="1333" b="1" kern="1200" dirty="0">
                <a:solidFill>
                  <a:srgbClr val="0D9488"/>
                </a:solidFill>
                <a:latin typeface="Consolas" pitchFamily="34" charset="0"/>
                <a:ea typeface="Consolas" pitchFamily="34" charset="-122"/>
                <a:cs typeface="Consolas" pitchFamily="34" charset="-120"/>
              </a:rPr>
              <a:t>descriptor</a:t>
            </a:r>
            <a:endParaRPr lang="en-US" sz="1333" kern="1200" dirty="0">
              <a:solidFill>
                <a:prstClr val="black"/>
              </a:solidFill>
              <a:latin typeface="Calibri" panose="020F0502020204030204"/>
              <a:ea typeface="+mn-ea"/>
              <a:cs typeface="+mn-cs"/>
            </a:endParaRPr>
          </a:p>
        </p:txBody>
      </p:sp>
      <p:sp>
        <p:nvSpPr>
          <p:cNvPr id="21" name="Text 19"/>
          <p:cNvSpPr/>
          <p:nvPr/>
        </p:nvSpPr>
        <p:spPr>
          <a:xfrm>
            <a:off x="6923252" y="3974450"/>
            <a:ext cx="4851152" cy="463175"/>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PropertyDescriptor containing the .value (the original function). Replace .value to wrap it.</a:t>
            </a:r>
            <a:endParaRPr lang="en-US" sz="1133" kern="1200" dirty="0">
              <a:solidFill>
                <a:prstClr val="black"/>
              </a:solidFill>
              <a:latin typeface="Calibri" panose="020F0502020204030204"/>
              <a:ea typeface="+mn-ea"/>
              <a:cs typeface="+mn-cs"/>
            </a:endParaRPr>
          </a:p>
        </p:txBody>
      </p:sp>
      <p:sp>
        <p:nvSpPr>
          <p:cNvPr id="22" name="Shape 20"/>
          <p:cNvSpPr/>
          <p:nvPr/>
        </p:nvSpPr>
        <p:spPr>
          <a:xfrm>
            <a:off x="6362566" y="4644835"/>
            <a:ext cx="463175" cy="463175"/>
          </a:xfrm>
          <a:prstGeom prst="ellipse">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Text 21"/>
          <p:cNvSpPr/>
          <p:nvPr/>
        </p:nvSpPr>
        <p:spPr>
          <a:xfrm>
            <a:off x="6362566" y="4644835"/>
            <a:ext cx="463175" cy="463175"/>
          </a:xfrm>
          <a:prstGeom prst="rect">
            <a:avLst/>
          </a:prstGeom>
          <a:noFill/>
          <a:ln/>
        </p:spPr>
        <p:txBody>
          <a:bodyPr wrap="square" lIns="0" tIns="0" rIns="0" bIns="0" rtlCol="0" anchor="ctr"/>
          <a:lstStyle/>
          <a:p>
            <a:pPr algn="ctr" defTabSz="1218895">
              <a:buClrTx/>
            </a:pPr>
            <a:r>
              <a:rPr lang="en-US" sz="1466" b="1" kern="1200" dirty="0">
                <a:solidFill>
                  <a:srgbClr val="FFFFFF"/>
                </a:solidFill>
                <a:latin typeface="Calibri" pitchFamily="34" charset="0"/>
                <a:ea typeface="Calibri" pitchFamily="34" charset="-122"/>
                <a:cs typeface="Calibri" pitchFamily="34" charset="-120"/>
              </a:rPr>
              <a:t>④</a:t>
            </a:r>
            <a:endParaRPr lang="en-US" sz="1466" kern="1200" dirty="0">
              <a:solidFill>
                <a:prstClr val="black"/>
              </a:solidFill>
              <a:latin typeface="Calibri" panose="020F0502020204030204"/>
              <a:ea typeface="+mn-ea"/>
              <a:cs typeface="+mn-cs"/>
            </a:endParaRPr>
          </a:p>
        </p:txBody>
      </p:sp>
      <p:sp>
        <p:nvSpPr>
          <p:cNvPr id="24" name="Text 22"/>
          <p:cNvSpPr/>
          <p:nvPr/>
        </p:nvSpPr>
        <p:spPr>
          <a:xfrm>
            <a:off x="6923252" y="4644835"/>
            <a:ext cx="1828324" cy="268154"/>
          </a:xfrm>
          <a:prstGeom prst="rect">
            <a:avLst/>
          </a:prstGeom>
          <a:noFill/>
          <a:ln/>
        </p:spPr>
        <p:txBody>
          <a:bodyPr wrap="square" lIns="0" tIns="0" rIns="0" bIns="0" rtlCol="0" anchor="ctr"/>
          <a:lstStyle/>
          <a:p>
            <a:pPr defTabSz="1218895">
              <a:buClrTx/>
            </a:pPr>
            <a:r>
              <a:rPr lang="en-US" sz="1333" b="1" kern="1200" dirty="0">
                <a:solidFill>
                  <a:srgbClr val="0D9488"/>
                </a:solidFill>
                <a:latin typeface="Consolas" pitchFamily="34" charset="0"/>
                <a:ea typeface="Consolas" pitchFamily="34" charset="-122"/>
                <a:cs typeface="Consolas" pitchFamily="34" charset="-120"/>
              </a:rPr>
              <a:t>original</a:t>
            </a:r>
            <a:endParaRPr lang="en-US" sz="1333" kern="1200" dirty="0">
              <a:solidFill>
                <a:prstClr val="black"/>
              </a:solidFill>
              <a:latin typeface="Calibri" panose="020F0502020204030204"/>
              <a:ea typeface="+mn-ea"/>
              <a:cs typeface="+mn-cs"/>
            </a:endParaRPr>
          </a:p>
        </p:txBody>
      </p:sp>
      <p:sp>
        <p:nvSpPr>
          <p:cNvPr id="25" name="Text 23"/>
          <p:cNvSpPr/>
          <p:nvPr/>
        </p:nvSpPr>
        <p:spPr>
          <a:xfrm>
            <a:off x="6923252" y="4912990"/>
            <a:ext cx="4851152" cy="463175"/>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Reference to the unmodified method — call it via .apply(this, args) to preserve the correct 'this'.</a:t>
            </a:r>
            <a:endParaRPr lang="en-US" sz="1133" kern="1200" dirty="0">
              <a:solidFill>
                <a:prstClr val="black"/>
              </a:solidFill>
              <a:latin typeface="Calibri" panose="020F0502020204030204"/>
              <a:ea typeface="+mn-ea"/>
              <a:cs typeface="+mn-cs"/>
            </a:endParaRPr>
          </a:p>
        </p:txBody>
      </p:sp>
      <p:sp>
        <p:nvSpPr>
          <p:cNvPr id="26" name="Shape 24"/>
          <p:cNvSpPr/>
          <p:nvPr/>
        </p:nvSpPr>
        <p:spPr>
          <a:xfrm>
            <a:off x="6362566" y="5583375"/>
            <a:ext cx="463175" cy="463175"/>
          </a:xfrm>
          <a:prstGeom prst="ellipse">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7" name="Text 25"/>
          <p:cNvSpPr/>
          <p:nvPr/>
        </p:nvSpPr>
        <p:spPr>
          <a:xfrm>
            <a:off x="6362566" y="5583375"/>
            <a:ext cx="463175" cy="463175"/>
          </a:xfrm>
          <a:prstGeom prst="rect">
            <a:avLst/>
          </a:prstGeom>
          <a:noFill/>
          <a:ln/>
        </p:spPr>
        <p:txBody>
          <a:bodyPr wrap="square" lIns="0" tIns="0" rIns="0" bIns="0" rtlCol="0" anchor="ctr"/>
          <a:lstStyle/>
          <a:p>
            <a:pPr algn="ctr" defTabSz="1218895">
              <a:buClrTx/>
            </a:pPr>
            <a:r>
              <a:rPr lang="en-US" sz="1466" b="1" kern="1200" dirty="0">
                <a:solidFill>
                  <a:srgbClr val="FFFFFF"/>
                </a:solidFill>
                <a:latin typeface="Calibri" pitchFamily="34" charset="0"/>
                <a:ea typeface="Calibri" pitchFamily="34" charset="-122"/>
                <a:cs typeface="Calibri" pitchFamily="34" charset="-120"/>
              </a:rPr>
              <a:t>⑤</a:t>
            </a:r>
            <a:endParaRPr lang="en-US" sz="1466" kern="1200" dirty="0">
              <a:solidFill>
                <a:prstClr val="black"/>
              </a:solidFill>
              <a:latin typeface="Calibri" panose="020F0502020204030204"/>
              <a:ea typeface="+mn-ea"/>
              <a:cs typeface="+mn-cs"/>
            </a:endParaRPr>
          </a:p>
        </p:txBody>
      </p:sp>
      <p:sp>
        <p:nvSpPr>
          <p:cNvPr id="28" name="Text 26"/>
          <p:cNvSpPr/>
          <p:nvPr/>
        </p:nvSpPr>
        <p:spPr>
          <a:xfrm>
            <a:off x="6923252" y="5583375"/>
            <a:ext cx="1828324" cy="268154"/>
          </a:xfrm>
          <a:prstGeom prst="rect">
            <a:avLst/>
          </a:prstGeom>
          <a:noFill/>
          <a:ln/>
        </p:spPr>
        <p:txBody>
          <a:bodyPr wrap="square" lIns="0" tIns="0" rIns="0" bIns="0" rtlCol="0" anchor="ctr"/>
          <a:lstStyle/>
          <a:p>
            <a:pPr defTabSz="1218895">
              <a:buClrTx/>
            </a:pPr>
            <a:r>
              <a:rPr lang="en-US" sz="1333" b="1" kern="1200" dirty="0">
                <a:solidFill>
                  <a:srgbClr val="0D9488"/>
                </a:solidFill>
                <a:latin typeface="Consolas" pitchFamily="34" charset="0"/>
                <a:ea typeface="Consolas" pitchFamily="34" charset="-122"/>
                <a:cs typeface="Consolas" pitchFamily="34" charset="-120"/>
              </a:rPr>
              <a:t>descriptor.value = …</a:t>
            </a:r>
            <a:endParaRPr lang="en-US" sz="1333" kern="1200" dirty="0">
              <a:solidFill>
                <a:prstClr val="black"/>
              </a:solidFill>
              <a:latin typeface="Calibri" panose="020F0502020204030204"/>
              <a:ea typeface="+mn-ea"/>
              <a:cs typeface="+mn-cs"/>
            </a:endParaRPr>
          </a:p>
        </p:txBody>
      </p:sp>
      <p:sp>
        <p:nvSpPr>
          <p:cNvPr id="29" name="Text 27"/>
          <p:cNvSpPr/>
          <p:nvPr/>
        </p:nvSpPr>
        <p:spPr>
          <a:xfrm>
            <a:off x="6923252" y="5851529"/>
            <a:ext cx="4851152" cy="463175"/>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Assign the new wrapper function here. This is what callers will now invoke.</a:t>
            </a:r>
            <a:endParaRPr lang="en-US" sz="1133" kern="1200" dirty="0">
              <a:solidFill>
                <a:prstClr val="black"/>
              </a:solidFill>
              <a:latin typeface="Calibri" panose="020F0502020204030204"/>
              <a:ea typeface="+mn-ea"/>
              <a:cs typeface="+mn-cs"/>
            </a:endParaRPr>
          </a:p>
        </p:txBody>
      </p:sp>
      <p:sp>
        <p:nvSpPr>
          <p:cNvPr id="30" name="Shape 28"/>
          <p:cNvSpPr/>
          <p:nvPr/>
        </p:nvSpPr>
        <p:spPr>
          <a:xfrm>
            <a:off x="487553" y="6485348"/>
            <a:ext cx="11213719" cy="243777"/>
          </a:xfrm>
          <a:prstGeom prst="rect">
            <a:avLst/>
          </a:prstGeom>
          <a:solidFill>
            <a:srgbClr val="FEF9C3"/>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1" name="Text 29"/>
          <p:cNvSpPr/>
          <p:nvPr/>
        </p:nvSpPr>
        <p:spPr>
          <a:xfrm>
            <a:off x="609441" y="6497537"/>
            <a:ext cx="10969943" cy="219399"/>
          </a:xfrm>
          <a:prstGeom prst="rect">
            <a:avLst/>
          </a:prstGeom>
          <a:noFill/>
          <a:ln/>
        </p:spPr>
        <p:txBody>
          <a:bodyPr wrap="square" lIns="0" tIns="0" rIns="0" bIns="0" rtlCol="0" anchor="ctr"/>
          <a:lstStyle/>
          <a:p>
            <a:pPr defTabSz="1218895">
              <a:buClrTx/>
            </a:pPr>
            <a:r>
              <a:rPr lang="en-US" sz="1200" kern="1200" dirty="0">
                <a:solidFill>
                  <a:srgbClr val="92400E"/>
                </a:solidFill>
                <a:latin typeface="Calibri" pitchFamily="34" charset="0"/>
                <a:ea typeface="Calibri" pitchFamily="34" charset="-122"/>
                <a:cs typeface="Calibri" pitchFamily="34" charset="-120"/>
              </a:rPr>
              <a:t>⚠  tsconfig.json must have: "experimentalDecorators": true, "emitDecoratorMetadata": true</a:t>
            </a:r>
            <a:endParaRPr lang="en-US" sz="1200" kern="1200" dirty="0">
              <a:solidFill>
                <a:prstClr val="black"/>
              </a:solidFill>
              <a:latin typeface="Calibri" panose="020F0502020204030204"/>
              <a:ea typeface="+mn-ea"/>
              <a:cs typeface="+mn-cs"/>
            </a:endParaRPr>
          </a:p>
        </p:txBody>
      </p:sp>
      <p:pic>
        <p:nvPicPr>
          <p:cNvPr id="32" name="Google Shape;497;p1">
            <a:extLst>
              <a:ext uri="{FF2B5EF4-FFF2-40B4-BE49-F238E27FC236}">
                <a16:creationId xmlns:a16="http://schemas.microsoft.com/office/drawing/2014/main" id="{ADF25599-6142-2875-37FE-127FD129A4ED}"/>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Exercise B — @LogRequest on a CAP Handler</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Hands-on  ·  exercises/cap-handler.ts</a:t>
            </a:r>
            <a:endParaRPr lang="en-US" sz="1466" kern="1200" dirty="0">
              <a:solidFill>
                <a:prstClr val="black"/>
              </a:solidFill>
              <a:latin typeface="Calibri" panose="020F0502020204030204"/>
              <a:ea typeface="+mn-ea"/>
              <a:cs typeface="+mn-cs"/>
            </a:endParaRPr>
          </a:p>
        </p:txBody>
      </p:sp>
      <p:sp>
        <p:nvSpPr>
          <p:cNvPr id="6" name="Text 4"/>
          <p:cNvSpPr/>
          <p:nvPr/>
        </p:nvSpPr>
        <p:spPr>
          <a:xfrm>
            <a:off x="487553" y="1402608"/>
            <a:ext cx="5484971" cy="365665"/>
          </a:xfrm>
          <a:prstGeom prst="rect">
            <a:avLst/>
          </a:prstGeom>
          <a:noFill/>
          <a:ln/>
        </p:spPr>
        <p:txBody>
          <a:bodyPr wrap="square" lIns="0" tIns="0" rIns="0" bIns="0" rtlCol="0" anchor="ctr"/>
          <a:lstStyle/>
          <a:p>
            <a:pPr defTabSz="1218895">
              <a:buClrTx/>
            </a:pPr>
            <a:r>
              <a:rPr lang="en-US" sz="1466" b="1" kern="1200" dirty="0">
                <a:solidFill>
                  <a:srgbClr val="B91C1C"/>
                </a:solidFill>
                <a:latin typeface="Calibri" pitchFamily="34" charset="0"/>
                <a:ea typeface="Calibri" pitchFamily="34" charset="-122"/>
                <a:cs typeface="Calibri" pitchFamily="34" charset="-120"/>
              </a:rPr>
              <a:t>cap-handler.ts  —  Before (no decorator)</a:t>
            </a:r>
            <a:endParaRPr lang="en-US" sz="1466" kern="1200" dirty="0">
              <a:solidFill>
                <a:prstClr val="black"/>
              </a:solidFill>
              <a:latin typeface="Calibri" panose="020F0502020204030204"/>
              <a:ea typeface="+mn-ea"/>
              <a:cs typeface="+mn-cs"/>
            </a:endParaRPr>
          </a:p>
        </p:txBody>
      </p:sp>
      <p:sp>
        <p:nvSpPr>
          <p:cNvPr id="7" name="Shape 5"/>
          <p:cNvSpPr/>
          <p:nvPr/>
        </p:nvSpPr>
        <p:spPr>
          <a:xfrm>
            <a:off x="487553" y="1792650"/>
            <a:ext cx="5484971" cy="2535276"/>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70385" y="1914538"/>
            <a:ext cx="5216817" cy="2315877"/>
          </a:xfrm>
          <a:prstGeom prst="rect">
            <a:avLst/>
          </a:prstGeom>
          <a:noFill/>
          <a:ln/>
        </p:spPr>
        <p:txBody>
          <a:bodyPr wrap="square" lIns="0" tIns="0" rIns="0" bIns="0" rtlCol="0" anchor="t"/>
          <a:lstStyle/>
          <a:p>
            <a:pPr defTabSz="1218895">
              <a:buClrTx/>
            </a:pPr>
            <a:r>
              <a:rPr lang="en-US" sz="1200" kern="1200" dirty="0">
                <a:solidFill>
                  <a:srgbClr val="818CF8"/>
                </a:solidFill>
                <a:latin typeface="Consolas" pitchFamily="34" charset="0"/>
                <a:ea typeface="Consolas" pitchFamily="34" charset="-122"/>
                <a:cs typeface="Consolas" pitchFamily="34" charset="-120"/>
              </a:rPr>
              <a:t>class OrderHandler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onCreate(req: Request)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 business logic only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createOrder(req.data);</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onRead(req: Request)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readOrders(req.query);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p:txBody>
      </p:sp>
      <p:sp>
        <p:nvSpPr>
          <p:cNvPr id="9" name="Text 7"/>
          <p:cNvSpPr/>
          <p:nvPr/>
        </p:nvSpPr>
        <p:spPr>
          <a:xfrm>
            <a:off x="6277244" y="1402608"/>
            <a:ext cx="5606860" cy="365665"/>
          </a:xfrm>
          <a:prstGeom prst="rect">
            <a:avLst/>
          </a:prstGeom>
          <a:noFill/>
          <a:ln/>
        </p:spPr>
        <p:txBody>
          <a:bodyPr wrap="square" lIns="0" tIns="0" rIns="0" bIns="0" rtlCol="0" anchor="ctr"/>
          <a:lstStyle/>
          <a:p>
            <a:pPr defTabSz="1218895">
              <a:buClrTx/>
            </a:pPr>
            <a:r>
              <a:rPr lang="en-US" sz="1466" b="1" kern="1200" dirty="0">
                <a:solidFill>
                  <a:srgbClr val="0D9488"/>
                </a:solidFill>
                <a:latin typeface="Calibri" pitchFamily="34" charset="0"/>
                <a:ea typeface="Calibri" pitchFamily="34" charset="-122"/>
                <a:cs typeface="Calibri" pitchFamily="34" charset="-120"/>
              </a:rPr>
              <a:t>cap-handler.ts  —  After (@LogRequest applied)</a:t>
            </a:r>
            <a:endParaRPr lang="en-US" sz="1466" kern="1200" dirty="0">
              <a:solidFill>
                <a:prstClr val="black"/>
              </a:solidFill>
              <a:latin typeface="Calibri" panose="020F0502020204030204"/>
              <a:ea typeface="+mn-ea"/>
              <a:cs typeface="+mn-cs"/>
            </a:endParaRPr>
          </a:p>
        </p:txBody>
      </p:sp>
      <p:sp>
        <p:nvSpPr>
          <p:cNvPr id="10" name="Shape 8"/>
          <p:cNvSpPr/>
          <p:nvPr/>
        </p:nvSpPr>
        <p:spPr>
          <a:xfrm>
            <a:off x="6277244" y="1792650"/>
            <a:ext cx="5606860" cy="2535276"/>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6460077" y="1914538"/>
            <a:ext cx="5338705" cy="2315877"/>
          </a:xfrm>
          <a:prstGeom prst="rect">
            <a:avLst/>
          </a:prstGeom>
          <a:noFill/>
          <a:ln/>
        </p:spPr>
        <p:txBody>
          <a:bodyPr wrap="square" lIns="0" tIns="0" rIns="0" bIns="0" rtlCol="0" anchor="t"/>
          <a:lstStyle/>
          <a:p>
            <a:pPr defTabSz="1218895">
              <a:buClrTx/>
            </a:pPr>
            <a:r>
              <a:rPr lang="en-US" sz="1200" kern="1200" dirty="0">
                <a:solidFill>
                  <a:srgbClr val="818CF8"/>
                </a:solidFill>
                <a:latin typeface="Consolas" pitchFamily="34" charset="0"/>
                <a:ea typeface="Consolas" pitchFamily="34" charset="-122"/>
                <a:cs typeface="Consolas" pitchFamily="34" charset="-120"/>
              </a:rPr>
              <a:t>class OrderHandler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@LogRequest({ level: 'info'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onCreate(req: Request)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createOrder(req.data);</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@LogRequest({ level: 'debug'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onRead(req: Request)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readOrders(req.query);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p:txBody>
      </p:sp>
      <p:sp>
        <p:nvSpPr>
          <p:cNvPr id="12" name="Text 10"/>
          <p:cNvSpPr/>
          <p:nvPr/>
        </p:nvSpPr>
        <p:spPr>
          <a:xfrm>
            <a:off x="487553" y="4449814"/>
            <a:ext cx="11213719" cy="365665"/>
          </a:xfrm>
          <a:prstGeom prst="rect">
            <a:avLst/>
          </a:prstGeom>
          <a:noFill/>
          <a:ln/>
        </p:spPr>
        <p:txBody>
          <a:bodyPr wrap="square" lIns="0" tIns="0" rIns="0" bIns="0" rtlCol="0" anchor="ctr"/>
          <a:lstStyle/>
          <a:p>
            <a:pPr defTabSz="1218895">
              <a:buClrTx/>
            </a:pPr>
            <a:r>
              <a:rPr lang="en-US" sz="1600" b="1" kern="1200" dirty="0">
                <a:solidFill>
                  <a:srgbClr val="1E293B"/>
                </a:solidFill>
                <a:latin typeface="Calibri" pitchFamily="34" charset="0"/>
                <a:ea typeface="Calibri" pitchFamily="34" charset="-122"/>
                <a:cs typeface="Calibri" pitchFamily="34" charset="-120"/>
              </a:rPr>
              <a:t>Full @LogRequest Implementation</a:t>
            </a:r>
            <a:endParaRPr lang="en-US" sz="1600" kern="1200" dirty="0">
              <a:solidFill>
                <a:prstClr val="black"/>
              </a:solidFill>
              <a:latin typeface="Calibri" panose="020F0502020204030204"/>
              <a:ea typeface="+mn-ea"/>
              <a:cs typeface="+mn-cs"/>
            </a:endParaRPr>
          </a:p>
        </p:txBody>
      </p:sp>
      <p:sp>
        <p:nvSpPr>
          <p:cNvPr id="13" name="Shape 11"/>
          <p:cNvSpPr/>
          <p:nvPr/>
        </p:nvSpPr>
        <p:spPr>
          <a:xfrm>
            <a:off x="487553" y="4839856"/>
            <a:ext cx="11213719" cy="1889268"/>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670385" y="4961745"/>
            <a:ext cx="10945565" cy="1669869"/>
          </a:xfrm>
          <a:prstGeom prst="rect">
            <a:avLst/>
          </a:prstGeom>
          <a:noFill/>
          <a:ln/>
        </p:spPr>
        <p:txBody>
          <a:bodyPr wrap="square" lIns="0" tIns="0" rIns="0" bIns="0" rtlCol="0" anchor="t"/>
          <a:lstStyle/>
          <a:p>
            <a:pPr defTabSz="1218895">
              <a:buClrTx/>
            </a:pPr>
            <a:r>
              <a:rPr lang="en-US" sz="1200" kern="1200" dirty="0">
                <a:solidFill>
                  <a:srgbClr val="F472B6"/>
                </a:solidFill>
                <a:latin typeface="Consolas" pitchFamily="34" charset="0"/>
                <a:ea typeface="Consolas" pitchFamily="34" charset="-122"/>
                <a:cs typeface="Consolas" pitchFamily="34" charset="-120"/>
              </a:rPr>
              <a:t>interface LogOpts { level?: 'info' | 'debug' | 'warn'; }</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function LogRequest(opts: LogOpts = {})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(_target: object, methodName: string, descriptor: PropertyDescriptor) =&gt;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const original: (...args: unknown[]) =&gt; unknown = descriptor.value;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descriptor.value = async function (...args: unknown[])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const t0 = Date.now();</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console[opts.level ?? 'info'](`[CAP] → ${methodName}`, { args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const result = await original.apply(this, args);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console[opts.level ?? 'info'](`[CAP] ← ${methodName}  ${Date.now()-t0}ms`);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return result;  };  return descriptor;  }; }</a:t>
            </a:r>
            <a:endParaRPr lang="en-US" sz="1200" kern="1200" dirty="0">
              <a:solidFill>
                <a:prstClr val="black"/>
              </a:solidFill>
              <a:latin typeface="Calibri" panose="020F0502020204030204"/>
              <a:ea typeface="+mn-ea"/>
              <a:cs typeface="+mn-cs"/>
            </a:endParaRPr>
          </a:p>
        </p:txBody>
      </p:sp>
      <p:pic>
        <p:nvPicPr>
          <p:cNvPr id="15" name="Google Shape;497;p1">
            <a:extLst>
              <a:ext uri="{FF2B5EF4-FFF2-40B4-BE49-F238E27FC236}">
                <a16:creationId xmlns:a16="http://schemas.microsoft.com/office/drawing/2014/main" id="{1122E79D-1E8E-0B84-87BD-D9AB0060413B}"/>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Exercise B — Runtime Execution Flow</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Flowchart  ·  What happens when a decorated method is called</a:t>
            </a:r>
            <a:endParaRPr lang="en-US" sz="1466" kern="1200" dirty="0">
              <a:solidFill>
                <a:prstClr val="black"/>
              </a:solidFill>
              <a:latin typeface="Calibri" panose="020F0502020204030204"/>
              <a:ea typeface="+mn-ea"/>
              <a:cs typeface="+mn-cs"/>
            </a:endParaRPr>
          </a:p>
        </p:txBody>
      </p:sp>
      <p:sp>
        <p:nvSpPr>
          <p:cNvPr id="6" name="Shape 4"/>
          <p:cNvSpPr/>
          <p:nvPr/>
        </p:nvSpPr>
        <p:spPr>
          <a:xfrm>
            <a:off x="609441" y="1439174"/>
            <a:ext cx="6703854" cy="755707"/>
          </a:xfrm>
          <a:prstGeom prst="rect">
            <a:avLst/>
          </a:prstGeom>
          <a:solidFill>
            <a:srgbClr val="334155"/>
          </a:solidFill>
          <a:ln w="12700">
            <a:solidFill>
              <a:srgbClr val="334155"/>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Shape 5"/>
          <p:cNvSpPr/>
          <p:nvPr/>
        </p:nvSpPr>
        <p:spPr>
          <a:xfrm>
            <a:off x="609441" y="1536685"/>
            <a:ext cx="560686" cy="560686"/>
          </a:xfrm>
          <a:prstGeom prst="ellipse">
            <a:avLst/>
          </a:prstGeom>
          <a:solidFill>
            <a:srgbClr val="FFFFFF">
              <a:alpha val="80000"/>
            </a:srgbClr>
          </a:solidFill>
          <a:ln w="12700">
            <a:solidFill>
              <a:srgbClr val="FFFFFF"/>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09441" y="1536685"/>
            <a:ext cx="560686" cy="560686"/>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1</a:t>
            </a:r>
            <a:endParaRPr lang="en-US" sz="1733" kern="1200" dirty="0">
              <a:solidFill>
                <a:prstClr val="black"/>
              </a:solidFill>
              <a:latin typeface="Calibri" panose="020F0502020204030204"/>
              <a:ea typeface="+mn-ea"/>
              <a:cs typeface="+mn-cs"/>
            </a:endParaRPr>
          </a:p>
        </p:txBody>
      </p:sp>
      <p:sp>
        <p:nvSpPr>
          <p:cNvPr id="9" name="Text 7"/>
          <p:cNvSpPr/>
          <p:nvPr/>
        </p:nvSpPr>
        <p:spPr>
          <a:xfrm>
            <a:off x="1292015" y="1439174"/>
            <a:ext cx="5923769" cy="755707"/>
          </a:xfrm>
          <a:prstGeom prst="rect">
            <a:avLst/>
          </a:prstGeom>
          <a:noFill/>
          <a:ln/>
        </p:spPr>
        <p:txBody>
          <a:bodyPr wrap="square" lIns="0" tIns="0" rIns="0" bIns="0" rtlCol="0" anchor="ctr"/>
          <a:lstStyle/>
          <a:p>
            <a:pPr defTabSz="1218895">
              <a:buClrTx/>
            </a:pPr>
            <a:r>
              <a:rPr lang="en-US" sz="1466" kern="1200" dirty="0">
                <a:solidFill>
                  <a:srgbClr val="FFFFFF"/>
                </a:solidFill>
                <a:latin typeface="Calibri" pitchFamily="34" charset="0"/>
                <a:ea typeface="Calibri" pitchFamily="34" charset="-122"/>
                <a:cs typeface="Calibri" pitchFamily="34" charset="-120"/>
              </a:rPr>
              <a:t>CAP Framework calls  handler.onCreate(req)</a:t>
            </a:r>
            <a:endParaRPr lang="en-US" sz="1466" kern="1200" dirty="0">
              <a:solidFill>
                <a:prstClr val="black"/>
              </a:solidFill>
              <a:latin typeface="Calibri" panose="020F0502020204030204"/>
              <a:ea typeface="+mn-ea"/>
              <a:cs typeface="+mn-cs"/>
            </a:endParaRPr>
          </a:p>
        </p:txBody>
      </p:sp>
      <p:sp>
        <p:nvSpPr>
          <p:cNvPr id="10" name="Shape 8"/>
          <p:cNvSpPr/>
          <p:nvPr/>
        </p:nvSpPr>
        <p:spPr>
          <a:xfrm>
            <a:off x="3351926" y="2194882"/>
            <a:ext cx="0" cy="341287"/>
          </a:xfrm>
          <a:prstGeom prst="line">
            <a:avLst/>
          </a:prstGeom>
          <a:noFill/>
          <a:ln w="25400">
            <a:solidFill>
              <a:srgbClr val="334155"/>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3193472" y="2268014"/>
            <a:ext cx="316909" cy="268154"/>
          </a:xfrm>
          <a:prstGeom prst="rect">
            <a:avLst/>
          </a:prstGeom>
          <a:noFill/>
          <a:ln/>
        </p:spPr>
        <p:txBody>
          <a:bodyPr wrap="square" lIns="0" tIns="0" rIns="0" bIns="0" rtlCol="0" anchor="ctr"/>
          <a:lstStyle/>
          <a:p>
            <a:pPr defTabSz="1218895">
              <a:buClrTx/>
            </a:pPr>
            <a:r>
              <a:rPr lang="en-US" sz="1466" kern="1200" dirty="0">
                <a:solidFill>
                  <a:srgbClr val="334155"/>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12" name="Shape 10"/>
          <p:cNvSpPr/>
          <p:nvPr/>
        </p:nvSpPr>
        <p:spPr>
          <a:xfrm>
            <a:off x="609441" y="2353336"/>
            <a:ext cx="6703854" cy="755707"/>
          </a:xfrm>
          <a:prstGeom prst="rect">
            <a:avLst/>
          </a:prstGeom>
          <a:solidFill>
            <a:srgbClr val="0D9488"/>
          </a:solidFill>
          <a:ln w="12700">
            <a:solidFill>
              <a:srgbClr val="0D9488"/>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Shape 11"/>
          <p:cNvSpPr/>
          <p:nvPr/>
        </p:nvSpPr>
        <p:spPr>
          <a:xfrm>
            <a:off x="609441" y="2450847"/>
            <a:ext cx="560686" cy="560686"/>
          </a:xfrm>
          <a:prstGeom prst="ellipse">
            <a:avLst/>
          </a:prstGeom>
          <a:solidFill>
            <a:srgbClr val="FFFFFF">
              <a:alpha val="80000"/>
            </a:srgbClr>
          </a:solidFill>
          <a:ln w="12700">
            <a:solidFill>
              <a:srgbClr val="FFFFFF"/>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609441" y="2450847"/>
            <a:ext cx="560686" cy="560686"/>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2</a:t>
            </a:r>
            <a:endParaRPr lang="en-US" sz="1733" kern="1200" dirty="0">
              <a:solidFill>
                <a:prstClr val="black"/>
              </a:solidFill>
              <a:latin typeface="Calibri" panose="020F0502020204030204"/>
              <a:ea typeface="+mn-ea"/>
              <a:cs typeface="+mn-cs"/>
            </a:endParaRPr>
          </a:p>
        </p:txBody>
      </p:sp>
      <p:sp>
        <p:nvSpPr>
          <p:cNvPr id="15" name="Text 13"/>
          <p:cNvSpPr/>
          <p:nvPr/>
        </p:nvSpPr>
        <p:spPr>
          <a:xfrm>
            <a:off x="1292015" y="2353336"/>
            <a:ext cx="5923769" cy="755707"/>
          </a:xfrm>
          <a:prstGeom prst="rect">
            <a:avLst/>
          </a:prstGeom>
          <a:noFill/>
          <a:ln/>
        </p:spPr>
        <p:txBody>
          <a:bodyPr wrap="square" lIns="0" tIns="0" rIns="0" bIns="0" rtlCol="0" anchor="ctr"/>
          <a:lstStyle/>
          <a:p>
            <a:pPr defTabSz="1218895">
              <a:buClrTx/>
            </a:pPr>
            <a:r>
              <a:rPr lang="en-US" sz="1466" kern="1200" dirty="0">
                <a:solidFill>
                  <a:srgbClr val="FFFFFF"/>
                </a:solidFill>
                <a:latin typeface="Calibri" pitchFamily="34" charset="0"/>
                <a:ea typeface="Calibri" pitchFamily="34" charset="-122"/>
                <a:cs typeface="Calibri" pitchFamily="34" charset="-120"/>
              </a:rPr>
              <a:t>Decorator wrapper intercepts the call</a:t>
            </a:r>
            <a:endParaRPr lang="en-US" sz="1466" kern="1200" dirty="0">
              <a:solidFill>
                <a:prstClr val="black"/>
              </a:solidFill>
              <a:latin typeface="Calibri" panose="020F0502020204030204"/>
              <a:ea typeface="+mn-ea"/>
              <a:cs typeface="+mn-cs"/>
            </a:endParaRPr>
          </a:p>
        </p:txBody>
      </p:sp>
      <p:sp>
        <p:nvSpPr>
          <p:cNvPr id="16" name="Shape 14"/>
          <p:cNvSpPr/>
          <p:nvPr/>
        </p:nvSpPr>
        <p:spPr>
          <a:xfrm>
            <a:off x="3351926" y="3109043"/>
            <a:ext cx="0" cy="341287"/>
          </a:xfrm>
          <a:prstGeom prst="line">
            <a:avLst/>
          </a:prstGeom>
          <a:noFill/>
          <a:ln w="254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7" name="Text 15"/>
          <p:cNvSpPr/>
          <p:nvPr/>
        </p:nvSpPr>
        <p:spPr>
          <a:xfrm>
            <a:off x="3193472" y="3182176"/>
            <a:ext cx="316909" cy="268154"/>
          </a:xfrm>
          <a:prstGeom prst="rect">
            <a:avLst/>
          </a:prstGeom>
          <a:noFill/>
          <a:ln/>
        </p:spPr>
        <p:txBody>
          <a:bodyPr wrap="square" lIns="0" tIns="0" rIns="0" bIns="0" rtlCol="0" anchor="ctr"/>
          <a:lstStyle/>
          <a:p>
            <a:pPr defTabSz="1218895">
              <a:buClrTx/>
            </a:pPr>
            <a:r>
              <a:rPr lang="en-US" sz="1466" kern="1200" dirty="0">
                <a:solidFill>
                  <a:srgbClr val="0D9488"/>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18" name="Shape 16"/>
          <p:cNvSpPr/>
          <p:nvPr/>
        </p:nvSpPr>
        <p:spPr>
          <a:xfrm>
            <a:off x="609441" y="3267498"/>
            <a:ext cx="6703854" cy="755707"/>
          </a:xfrm>
          <a:prstGeom prst="rect">
            <a:avLst/>
          </a:prstGeom>
          <a:solidFill>
            <a:srgbClr val="4338CA"/>
          </a:solidFill>
          <a:ln w="12700">
            <a:solidFill>
              <a:srgbClr val="4338CA"/>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Shape 17"/>
          <p:cNvSpPr/>
          <p:nvPr/>
        </p:nvSpPr>
        <p:spPr>
          <a:xfrm>
            <a:off x="609441" y="3365009"/>
            <a:ext cx="560686" cy="560686"/>
          </a:xfrm>
          <a:prstGeom prst="ellipse">
            <a:avLst/>
          </a:prstGeom>
          <a:solidFill>
            <a:srgbClr val="FFFFFF">
              <a:alpha val="80000"/>
            </a:srgbClr>
          </a:solidFill>
          <a:ln w="12700">
            <a:solidFill>
              <a:srgbClr val="FFFFFF"/>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Text 18"/>
          <p:cNvSpPr/>
          <p:nvPr/>
        </p:nvSpPr>
        <p:spPr>
          <a:xfrm>
            <a:off x="609441" y="3365009"/>
            <a:ext cx="560686" cy="560686"/>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3</a:t>
            </a:r>
            <a:endParaRPr lang="en-US" sz="1733" kern="1200" dirty="0">
              <a:solidFill>
                <a:prstClr val="black"/>
              </a:solidFill>
              <a:latin typeface="Calibri" panose="020F0502020204030204"/>
              <a:ea typeface="+mn-ea"/>
              <a:cs typeface="+mn-cs"/>
            </a:endParaRPr>
          </a:p>
        </p:txBody>
      </p:sp>
      <p:sp>
        <p:nvSpPr>
          <p:cNvPr id="21" name="Text 19"/>
          <p:cNvSpPr/>
          <p:nvPr/>
        </p:nvSpPr>
        <p:spPr>
          <a:xfrm>
            <a:off x="1292015" y="3267498"/>
            <a:ext cx="5923769" cy="755707"/>
          </a:xfrm>
          <a:prstGeom prst="rect">
            <a:avLst/>
          </a:prstGeom>
          <a:noFill/>
          <a:ln/>
        </p:spPr>
        <p:txBody>
          <a:bodyPr wrap="square" lIns="0" tIns="0" rIns="0" bIns="0" rtlCol="0" anchor="ctr"/>
          <a:lstStyle/>
          <a:p>
            <a:pPr defTabSz="1218895">
              <a:buClrTx/>
            </a:pPr>
            <a:r>
              <a:rPr lang="en-US" sz="1466" kern="1200" dirty="0">
                <a:solidFill>
                  <a:srgbClr val="FFFFFF"/>
                </a:solidFill>
                <a:latin typeface="Calibri" pitchFamily="34" charset="0"/>
                <a:ea typeface="Calibri" pitchFamily="34" charset="-122"/>
                <a:cs typeface="Calibri" pitchFamily="34" charset="-120"/>
              </a:rPr>
              <a:t>Log: method name + arguments  →  console</a:t>
            </a:r>
            <a:endParaRPr lang="en-US" sz="1466" kern="1200" dirty="0">
              <a:solidFill>
                <a:prstClr val="black"/>
              </a:solidFill>
              <a:latin typeface="Calibri" panose="020F0502020204030204"/>
              <a:ea typeface="+mn-ea"/>
              <a:cs typeface="+mn-cs"/>
            </a:endParaRPr>
          </a:p>
        </p:txBody>
      </p:sp>
      <p:sp>
        <p:nvSpPr>
          <p:cNvPr id="22" name="Shape 20"/>
          <p:cNvSpPr/>
          <p:nvPr/>
        </p:nvSpPr>
        <p:spPr>
          <a:xfrm>
            <a:off x="3351926" y="4023205"/>
            <a:ext cx="0" cy="341287"/>
          </a:xfrm>
          <a:prstGeom prst="line">
            <a:avLst/>
          </a:prstGeom>
          <a:noFill/>
          <a:ln w="25400">
            <a:solidFill>
              <a:srgbClr val="4338C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Text 21"/>
          <p:cNvSpPr/>
          <p:nvPr/>
        </p:nvSpPr>
        <p:spPr>
          <a:xfrm>
            <a:off x="3193472" y="4096338"/>
            <a:ext cx="316909" cy="268154"/>
          </a:xfrm>
          <a:prstGeom prst="rect">
            <a:avLst/>
          </a:prstGeom>
          <a:noFill/>
          <a:ln/>
        </p:spPr>
        <p:txBody>
          <a:bodyPr wrap="square" lIns="0" tIns="0" rIns="0" bIns="0" rtlCol="0" anchor="ctr"/>
          <a:lstStyle/>
          <a:p>
            <a:pPr defTabSz="1218895">
              <a:buClrTx/>
            </a:pPr>
            <a:r>
              <a:rPr lang="en-US" sz="1466" kern="1200" dirty="0">
                <a:solidFill>
                  <a:srgbClr val="4338CA"/>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24" name="Shape 22"/>
          <p:cNvSpPr/>
          <p:nvPr/>
        </p:nvSpPr>
        <p:spPr>
          <a:xfrm>
            <a:off x="609441" y="4181660"/>
            <a:ext cx="6703854" cy="755707"/>
          </a:xfrm>
          <a:prstGeom prst="rect">
            <a:avLst/>
          </a:prstGeom>
          <a:solidFill>
            <a:srgbClr val="4338CA"/>
          </a:solidFill>
          <a:ln w="12700">
            <a:solidFill>
              <a:srgbClr val="4338CA"/>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5" name="Shape 23"/>
          <p:cNvSpPr/>
          <p:nvPr/>
        </p:nvSpPr>
        <p:spPr>
          <a:xfrm>
            <a:off x="609441" y="4279171"/>
            <a:ext cx="560686" cy="560686"/>
          </a:xfrm>
          <a:prstGeom prst="ellipse">
            <a:avLst/>
          </a:prstGeom>
          <a:solidFill>
            <a:srgbClr val="FFFFFF">
              <a:alpha val="80000"/>
            </a:srgbClr>
          </a:solidFill>
          <a:ln w="12700">
            <a:solidFill>
              <a:srgbClr val="FFFFFF"/>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6" name="Text 24"/>
          <p:cNvSpPr/>
          <p:nvPr/>
        </p:nvSpPr>
        <p:spPr>
          <a:xfrm>
            <a:off x="609441" y="4279171"/>
            <a:ext cx="560686" cy="560686"/>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4</a:t>
            </a:r>
            <a:endParaRPr lang="en-US" sz="1733" kern="1200" dirty="0">
              <a:solidFill>
                <a:prstClr val="black"/>
              </a:solidFill>
              <a:latin typeface="Calibri" panose="020F0502020204030204"/>
              <a:ea typeface="+mn-ea"/>
              <a:cs typeface="+mn-cs"/>
            </a:endParaRPr>
          </a:p>
        </p:txBody>
      </p:sp>
      <p:sp>
        <p:nvSpPr>
          <p:cNvPr id="27" name="Text 25"/>
          <p:cNvSpPr/>
          <p:nvPr/>
        </p:nvSpPr>
        <p:spPr>
          <a:xfrm>
            <a:off x="1292015" y="4181660"/>
            <a:ext cx="5923769" cy="755707"/>
          </a:xfrm>
          <a:prstGeom prst="rect">
            <a:avLst/>
          </a:prstGeom>
          <a:noFill/>
          <a:ln/>
        </p:spPr>
        <p:txBody>
          <a:bodyPr wrap="square" lIns="0" tIns="0" rIns="0" bIns="0" rtlCol="0" anchor="ctr"/>
          <a:lstStyle/>
          <a:p>
            <a:pPr defTabSz="1218895">
              <a:buClrTx/>
            </a:pPr>
            <a:r>
              <a:rPr lang="en-US" sz="1466" kern="1200" dirty="0">
                <a:solidFill>
                  <a:srgbClr val="FFFFFF"/>
                </a:solidFill>
                <a:latin typeface="Calibri" pitchFamily="34" charset="0"/>
                <a:ea typeface="Calibri" pitchFamily="34" charset="-122"/>
                <a:cs typeface="Calibri" pitchFamily="34" charset="-120"/>
              </a:rPr>
              <a:t>Record start time  t0 = Date.now()</a:t>
            </a:r>
            <a:endParaRPr lang="en-US" sz="1466" kern="1200" dirty="0">
              <a:solidFill>
                <a:prstClr val="black"/>
              </a:solidFill>
              <a:latin typeface="Calibri" panose="020F0502020204030204"/>
              <a:ea typeface="+mn-ea"/>
              <a:cs typeface="+mn-cs"/>
            </a:endParaRPr>
          </a:p>
        </p:txBody>
      </p:sp>
      <p:sp>
        <p:nvSpPr>
          <p:cNvPr id="28" name="Shape 26"/>
          <p:cNvSpPr/>
          <p:nvPr/>
        </p:nvSpPr>
        <p:spPr>
          <a:xfrm>
            <a:off x="3351926" y="4937367"/>
            <a:ext cx="0" cy="341287"/>
          </a:xfrm>
          <a:prstGeom prst="line">
            <a:avLst/>
          </a:prstGeom>
          <a:noFill/>
          <a:ln w="25400">
            <a:solidFill>
              <a:srgbClr val="4338C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9" name="Text 27"/>
          <p:cNvSpPr/>
          <p:nvPr/>
        </p:nvSpPr>
        <p:spPr>
          <a:xfrm>
            <a:off x="3193472" y="5010500"/>
            <a:ext cx="316909" cy="268154"/>
          </a:xfrm>
          <a:prstGeom prst="rect">
            <a:avLst/>
          </a:prstGeom>
          <a:noFill/>
          <a:ln/>
        </p:spPr>
        <p:txBody>
          <a:bodyPr wrap="square" lIns="0" tIns="0" rIns="0" bIns="0" rtlCol="0" anchor="ctr"/>
          <a:lstStyle/>
          <a:p>
            <a:pPr defTabSz="1218895">
              <a:buClrTx/>
            </a:pPr>
            <a:r>
              <a:rPr lang="en-US" sz="1466" kern="1200" dirty="0">
                <a:solidFill>
                  <a:srgbClr val="4338CA"/>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30" name="Shape 28"/>
          <p:cNvSpPr/>
          <p:nvPr/>
        </p:nvSpPr>
        <p:spPr>
          <a:xfrm>
            <a:off x="609441" y="5095822"/>
            <a:ext cx="6703854" cy="755707"/>
          </a:xfrm>
          <a:prstGeom prst="rect">
            <a:avLst/>
          </a:prstGeom>
          <a:solidFill>
            <a:srgbClr val="1E293B"/>
          </a:solidFill>
          <a:ln w="12700">
            <a:solidFill>
              <a:srgbClr val="1E293B"/>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1" name="Shape 29"/>
          <p:cNvSpPr/>
          <p:nvPr/>
        </p:nvSpPr>
        <p:spPr>
          <a:xfrm>
            <a:off x="609441" y="5193332"/>
            <a:ext cx="560686" cy="560686"/>
          </a:xfrm>
          <a:prstGeom prst="ellipse">
            <a:avLst/>
          </a:prstGeom>
          <a:solidFill>
            <a:srgbClr val="FFFFFF">
              <a:alpha val="80000"/>
            </a:srgbClr>
          </a:solidFill>
          <a:ln w="12700">
            <a:solidFill>
              <a:srgbClr val="FFFFFF"/>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2" name="Text 30"/>
          <p:cNvSpPr/>
          <p:nvPr/>
        </p:nvSpPr>
        <p:spPr>
          <a:xfrm>
            <a:off x="609441" y="5193332"/>
            <a:ext cx="560686" cy="560686"/>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5</a:t>
            </a:r>
            <a:endParaRPr lang="en-US" sz="1733" kern="1200" dirty="0">
              <a:solidFill>
                <a:prstClr val="black"/>
              </a:solidFill>
              <a:latin typeface="Calibri" panose="020F0502020204030204"/>
              <a:ea typeface="+mn-ea"/>
              <a:cs typeface="+mn-cs"/>
            </a:endParaRPr>
          </a:p>
        </p:txBody>
      </p:sp>
      <p:sp>
        <p:nvSpPr>
          <p:cNvPr id="33" name="Text 31"/>
          <p:cNvSpPr/>
          <p:nvPr/>
        </p:nvSpPr>
        <p:spPr>
          <a:xfrm>
            <a:off x="1292015" y="5095822"/>
            <a:ext cx="5923769" cy="755707"/>
          </a:xfrm>
          <a:prstGeom prst="rect">
            <a:avLst/>
          </a:prstGeom>
          <a:noFill/>
          <a:ln/>
        </p:spPr>
        <p:txBody>
          <a:bodyPr wrap="square" lIns="0" tIns="0" rIns="0" bIns="0" rtlCol="0" anchor="ctr"/>
          <a:lstStyle/>
          <a:p>
            <a:pPr defTabSz="1218895">
              <a:buClrTx/>
            </a:pPr>
            <a:r>
              <a:rPr lang="en-US" sz="1466" kern="1200" dirty="0">
                <a:solidFill>
                  <a:srgbClr val="FFFFFF"/>
                </a:solidFill>
                <a:latin typeface="Calibri" pitchFamily="34" charset="0"/>
                <a:ea typeface="Calibri" pitchFamily="34" charset="-122"/>
                <a:cs typeface="Calibri" pitchFamily="34" charset="-120"/>
              </a:rPr>
              <a:t>Call original method:  original.apply(this, args)</a:t>
            </a:r>
            <a:endParaRPr lang="en-US" sz="1466" kern="1200" dirty="0">
              <a:solidFill>
                <a:prstClr val="black"/>
              </a:solidFill>
              <a:latin typeface="Calibri" panose="020F0502020204030204"/>
              <a:ea typeface="+mn-ea"/>
              <a:cs typeface="+mn-cs"/>
            </a:endParaRPr>
          </a:p>
        </p:txBody>
      </p:sp>
      <p:sp>
        <p:nvSpPr>
          <p:cNvPr id="34" name="Shape 32"/>
          <p:cNvSpPr/>
          <p:nvPr/>
        </p:nvSpPr>
        <p:spPr>
          <a:xfrm>
            <a:off x="3351926" y="5851529"/>
            <a:ext cx="0" cy="341287"/>
          </a:xfrm>
          <a:prstGeom prst="line">
            <a:avLst/>
          </a:prstGeom>
          <a:noFill/>
          <a:ln w="254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5" name="Text 33"/>
          <p:cNvSpPr/>
          <p:nvPr/>
        </p:nvSpPr>
        <p:spPr>
          <a:xfrm>
            <a:off x="3193472" y="5924662"/>
            <a:ext cx="316909" cy="268154"/>
          </a:xfrm>
          <a:prstGeom prst="rect">
            <a:avLst/>
          </a:prstGeom>
          <a:noFill/>
          <a:ln/>
        </p:spPr>
        <p:txBody>
          <a:bodyPr wrap="square" lIns="0" tIns="0" rIns="0" bIns="0" rtlCol="0" anchor="ctr"/>
          <a:lstStyle/>
          <a:p>
            <a:pPr defTabSz="1218895">
              <a:buClrTx/>
            </a:pPr>
            <a:r>
              <a:rPr lang="en-US" sz="1466" kern="1200" dirty="0">
                <a:solidFill>
                  <a:srgbClr val="1E293B"/>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36" name="Shape 34"/>
          <p:cNvSpPr/>
          <p:nvPr/>
        </p:nvSpPr>
        <p:spPr>
          <a:xfrm>
            <a:off x="609441" y="6009984"/>
            <a:ext cx="6703854" cy="755707"/>
          </a:xfrm>
          <a:prstGeom prst="rect">
            <a:avLst/>
          </a:prstGeom>
          <a:solidFill>
            <a:srgbClr val="0D9488"/>
          </a:solidFill>
          <a:ln w="12700">
            <a:solidFill>
              <a:srgbClr val="0D9488"/>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7" name="Shape 35"/>
          <p:cNvSpPr/>
          <p:nvPr/>
        </p:nvSpPr>
        <p:spPr>
          <a:xfrm>
            <a:off x="609441" y="6107494"/>
            <a:ext cx="560686" cy="560686"/>
          </a:xfrm>
          <a:prstGeom prst="ellipse">
            <a:avLst/>
          </a:prstGeom>
          <a:solidFill>
            <a:srgbClr val="FFFFFF">
              <a:alpha val="80000"/>
            </a:srgbClr>
          </a:solidFill>
          <a:ln w="12700">
            <a:solidFill>
              <a:srgbClr val="FFFFFF"/>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8" name="Text 36"/>
          <p:cNvSpPr/>
          <p:nvPr/>
        </p:nvSpPr>
        <p:spPr>
          <a:xfrm>
            <a:off x="609441" y="6107494"/>
            <a:ext cx="560686" cy="560686"/>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6</a:t>
            </a:r>
            <a:endParaRPr lang="en-US" sz="1733" kern="1200" dirty="0">
              <a:solidFill>
                <a:prstClr val="black"/>
              </a:solidFill>
              <a:latin typeface="Calibri" panose="020F0502020204030204"/>
              <a:ea typeface="+mn-ea"/>
              <a:cs typeface="+mn-cs"/>
            </a:endParaRPr>
          </a:p>
        </p:txBody>
      </p:sp>
      <p:sp>
        <p:nvSpPr>
          <p:cNvPr id="39" name="Text 37"/>
          <p:cNvSpPr/>
          <p:nvPr/>
        </p:nvSpPr>
        <p:spPr>
          <a:xfrm>
            <a:off x="1292015" y="6009984"/>
            <a:ext cx="5923769" cy="755707"/>
          </a:xfrm>
          <a:prstGeom prst="rect">
            <a:avLst/>
          </a:prstGeom>
          <a:noFill/>
          <a:ln/>
        </p:spPr>
        <p:txBody>
          <a:bodyPr wrap="square" lIns="0" tIns="0" rIns="0" bIns="0" rtlCol="0" anchor="ctr"/>
          <a:lstStyle/>
          <a:p>
            <a:pPr defTabSz="1218895">
              <a:buClrTx/>
            </a:pPr>
            <a:r>
              <a:rPr lang="en-US" sz="1466" kern="1200" dirty="0">
                <a:solidFill>
                  <a:srgbClr val="FFFFFF"/>
                </a:solidFill>
                <a:latin typeface="Calibri" pitchFamily="34" charset="0"/>
                <a:ea typeface="Calibri" pitchFamily="34" charset="-122"/>
                <a:cs typeface="Calibri" pitchFamily="34" charset="-120"/>
              </a:rPr>
              <a:t>Log: execution time  (Date.now() - t0) ms</a:t>
            </a:r>
            <a:endParaRPr lang="en-US" sz="1466" kern="1200" dirty="0">
              <a:solidFill>
                <a:prstClr val="black"/>
              </a:solidFill>
              <a:latin typeface="Calibri" panose="020F0502020204030204"/>
              <a:ea typeface="+mn-ea"/>
              <a:cs typeface="+mn-cs"/>
            </a:endParaRPr>
          </a:p>
        </p:txBody>
      </p:sp>
      <p:sp>
        <p:nvSpPr>
          <p:cNvPr id="40" name="Text 38"/>
          <p:cNvSpPr/>
          <p:nvPr/>
        </p:nvSpPr>
        <p:spPr>
          <a:xfrm>
            <a:off x="7557071" y="1439174"/>
            <a:ext cx="4387977" cy="365665"/>
          </a:xfrm>
          <a:prstGeom prst="rect">
            <a:avLst/>
          </a:prstGeom>
          <a:noFill/>
          <a:ln/>
        </p:spPr>
        <p:txBody>
          <a:bodyPr wrap="square" lIns="0" tIns="0" rIns="0" bIns="0" rtlCol="0" anchor="ctr"/>
          <a:lstStyle/>
          <a:p>
            <a:pPr defTabSz="1218895">
              <a:buClrTx/>
            </a:pPr>
            <a:r>
              <a:rPr lang="en-US" sz="1600" b="1" kern="1200" dirty="0">
                <a:solidFill>
                  <a:srgbClr val="1E293B"/>
                </a:solidFill>
                <a:latin typeface="Calibri" pitchFamily="34" charset="0"/>
                <a:ea typeface="Calibri" pitchFamily="34" charset="-122"/>
                <a:cs typeface="Calibri" pitchFamily="34" charset="-120"/>
              </a:rPr>
              <a:t>Expected Console Output</a:t>
            </a:r>
            <a:endParaRPr lang="en-US" sz="1600" kern="1200" dirty="0">
              <a:solidFill>
                <a:prstClr val="black"/>
              </a:solidFill>
              <a:latin typeface="Calibri" panose="020F0502020204030204"/>
              <a:ea typeface="+mn-ea"/>
              <a:cs typeface="+mn-cs"/>
            </a:endParaRPr>
          </a:p>
        </p:txBody>
      </p:sp>
      <p:sp>
        <p:nvSpPr>
          <p:cNvPr id="41" name="Shape 39"/>
          <p:cNvSpPr/>
          <p:nvPr/>
        </p:nvSpPr>
        <p:spPr>
          <a:xfrm>
            <a:off x="7557071" y="1829217"/>
            <a:ext cx="4387977" cy="2864374"/>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2" name="Text 40"/>
          <p:cNvSpPr/>
          <p:nvPr/>
        </p:nvSpPr>
        <p:spPr>
          <a:xfrm>
            <a:off x="7739903" y="1951105"/>
            <a:ext cx="4119823" cy="2644975"/>
          </a:xfrm>
          <a:prstGeom prst="rect">
            <a:avLst/>
          </a:prstGeom>
          <a:noFill/>
          <a:ln/>
        </p:spPr>
        <p:txBody>
          <a:bodyPr wrap="square" lIns="0" tIns="0" rIns="0" bIns="0" rtlCol="0" anchor="t"/>
          <a:lstStyle/>
          <a:p>
            <a:pPr defTabSz="1218895">
              <a:buClrTx/>
            </a:pPr>
            <a:r>
              <a:rPr lang="en-US" sz="1200" kern="1200" dirty="0">
                <a:solidFill>
                  <a:srgbClr val="64748B"/>
                </a:solidFill>
                <a:latin typeface="Consolas" pitchFamily="34" charset="0"/>
                <a:ea typeface="Consolas" pitchFamily="34" charset="-122"/>
                <a:cs typeface="Consolas" pitchFamily="34" charset="-120"/>
              </a:rPr>
              <a:t>$ node server.js</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[CAP] → onCreate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 args: [{ entity: 'Orders',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data: { amount: 500 } }] }</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[CAP] ← onCreate  42ms</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[CAP] → onRead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 args: [{ query: SELECT }]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[CAP] ← onRead  8ms</a:t>
            </a:r>
            <a:endParaRPr lang="en-US" sz="1200" kern="1200" dirty="0">
              <a:solidFill>
                <a:prstClr val="black"/>
              </a:solidFill>
              <a:latin typeface="Calibri" panose="020F0502020204030204"/>
              <a:ea typeface="+mn-ea"/>
              <a:cs typeface="+mn-cs"/>
            </a:endParaRPr>
          </a:p>
        </p:txBody>
      </p:sp>
      <p:sp>
        <p:nvSpPr>
          <p:cNvPr id="43" name="Shape 41"/>
          <p:cNvSpPr/>
          <p:nvPr/>
        </p:nvSpPr>
        <p:spPr>
          <a:xfrm>
            <a:off x="7557071" y="4778912"/>
            <a:ext cx="4387977" cy="2011156"/>
          </a:xfrm>
          <a:prstGeom prst="rect">
            <a:avLst/>
          </a:prstGeom>
          <a:solidFill>
            <a:srgbClr val="CCFBF1"/>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4" name="Text 42"/>
          <p:cNvSpPr/>
          <p:nvPr/>
        </p:nvSpPr>
        <p:spPr>
          <a:xfrm>
            <a:off x="7678959" y="4839857"/>
            <a:ext cx="4144201" cy="341287"/>
          </a:xfrm>
          <a:prstGeom prst="rect">
            <a:avLst/>
          </a:prstGeom>
          <a:noFill/>
          <a:ln/>
        </p:spPr>
        <p:txBody>
          <a:bodyPr wrap="square" lIns="0" tIns="0" rIns="0" bIns="0" rtlCol="0" anchor="ctr"/>
          <a:lstStyle/>
          <a:p>
            <a:pPr defTabSz="1218895">
              <a:buClrTx/>
            </a:pPr>
            <a:r>
              <a:rPr lang="en-US" b="1" kern="1200" dirty="0">
                <a:solidFill>
                  <a:srgbClr val="0D9488"/>
                </a:solidFill>
                <a:latin typeface="Calibri" pitchFamily="34" charset="0"/>
                <a:ea typeface="Calibri" pitchFamily="34" charset="-122"/>
                <a:cs typeface="Calibri" pitchFamily="34" charset="-120"/>
              </a:rPr>
              <a:t>Why this matters for CAP</a:t>
            </a:r>
            <a:endParaRPr lang="en-US" kern="1200" dirty="0">
              <a:solidFill>
                <a:prstClr val="black"/>
              </a:solidFill>
              <a:latin typeface="Calibri" panose="020F0502020204030204"/>
              <a:ea typeface="+mn-ea"/>
              <a:cs typeface="+mn-cs"/>
            </a:endParaRPr>
          </a:p>
        </p:txBody>
      </p:sp>
      <p:sp>
        <p:nvSpPr>
          <p:cNvPr id="45" name="Text 43"/>
          <p:cNvSpPr/>
          <p:nvPr/>
        </p:nvSpPr>
        <p:spPr>
          <a:xfrm>
            <a:off x="7678959" y="5217710"/>
            <a:ext cx="4144201" cy="1462659"/>
          </a:xfrm>
          <a:prstGeom prst="rect">
            <a:avLst/>
          </a:prstGeom>
          <a:noFill/>
          <a:ln/>
        </p:spPr>
        <p:txBody>
          <a:bodyPr wrap="square" lIns="0" tIns="0" rIns="0" bIns="0" rtlCol="0" anchor="ctr"/>
          <a:lstStyle/>
          <a:p>
            <a:pPr defTabSz="1218895">
              <a:buClrTx/>
            </a:pPr>
            <a:r>
              <a:rPr lang="en-US" sz="1333" b="1" kern="1200" dirty="0">
                <a:solidFill>
                  <a:srgbClr val="0D9488"/>
                </a:solidFill>
                <a:latin typeface="Calibri" pitchFamily="34" charset="0"/>
                <a:ea typeface="Calibri" pitchFamily="34" charset="-122"/>
                <a:cs typeface="Calibri" pitchFamily="34" charset="-120"/>
              </a:rPr>
              <a:t>›  </a:t>
            </a:r>
            <a:r>
              <a:rPr lang="en-US" sz="1333" kern="1200" dirty="0">
                <a:solidFill>
                  <a:srgbClr val="334155"/>
                </a:solidFill>
                <a:latin typeface="Calibri" pitchFamily="34" charset="0"/>
                <a:ea typeface="Calibri" pitchFamily="34" charset="-122"/>
                <a:cs typeface="Calibri" pitchFamily="34" charset="-120"/>
              </a:rPr>
              <a:t>Performance monitoring for every handler
</a:t>
            </a:r>
            <a:r>
              <a:rPr lang="en-US" sz="1333" b="1" kern="1200" dirty="0">
                <a:solidFill>
                  <a:srgbClr val="0D9488"/>
                </a:solidFill>
                <a:latin typeface="Calibri" pitchFamily="34" charset="0"/>
                <a:ea typeface="Calibri" pitchFamily="34" charset="-122"/>
                <a:cs typeface="Calibri" pitchFamily="34" charset="-120"/>
              </a:rPr>
              <a:t>›  </a:t>
            </a:r>
            <a:r>
              <a:rPr lang="en-US" sz="1333" kern="1200" dirty="0">
                <a:solidFill>
                  <a:srgbClr val="334155"/>
                </a:solidFill>
                <a:latin typeface="Calibri" pitchFamily="34" charset="0"/>
                <a:ea typeface="Calibri" pitchFamily="34" charset="-122"/>
                <a:cs typeface="Calibri" pitchFamily="34" charset="-120"/>
              </a:rPr>
              <a:t>Auth checks before business logic
</a:t>
            </a:r>
            <a:r>
              <a:rPr lang="en-US" sz="1333" b="1" kern="1200" dirty="0">
                <a:solidFill>
                  <a:srgbClr val="0D9488"/>
                </a:solidFill>
                <a:latin typeface="Calibri" pitchFamily="34" charset="0"/>
                <a:ea typeface="Calibri" pitchFamily="34" charset="-122"/>
                <a:cs typeface="Calibri" pitchFamily="34" charset="-120"/>
              </a:rPr>
              <a:t>›  </a:t>
            </a:r>
            <a:r>
              <a:rPr lang="en-US" sz="1333" kern="1200" dirty="0">
                <a:solidFill>
                  <a:srgbClr val="334155"/>
                </a:solidFill>
                <a:latin typeface="Calibri" pitchFamily="34" charset="0"/>
                <a:ea typeface="Calibri" pitchFamily="34" charset="-122"/>
                <a:cs typeface="Calibri" pitchFamily="34" charset="-120"/>
              </a:rPr>
              <a:t>Retry logic, caching — all injected
</a:t>
            </a:r>
            <a:r>
              <a:rPr lang="en-US" sz="1333" b="1" kern="1200" dirty="0">
                <a:solidFill>
                  <a:srgbClr val="0D9488"/>
                </a:solidFill>
                <a:latin typeface="Calibri" pitchFamily="34" charset="0"/>
                <a:ea typeface="Calibri" pitchFamily="34" charset="-122"/>
                <a:cs typeface="Calibri" pitchFamily="34" charset="-120"/>
              </a:rPr>
              <a:t>›  </a:t>
            </a:r>
            <a:r>
              <a:rPr lang="en-US" sz="1333" kern="1200" dirty="0">
                <a:solidFill>
                  <a:srgbClr val="334155"/>
                </a:solidFill>
                <a:latin typeface="Calibri" pitchFamily="34" charset="0"/>
                <a:ea typeface="Calibri" pitchFamily="34" charset="-122"/>
                <a:cs typeface="Calibri" pitchFamily="34" charset="-120"/>
              </a:rPr>
              <a:t>Zero changes to handler code</a:t>
            </a:r>
            <a:endParaRPr lang="en-US" sz="1333" kern="1200" dirty="0">
              <a:solidFill>
                <a:prstClr val="black"/>
              </a:solidFill>
              <a:latin typeface="Calibri" panose="020F0502020204030204"/>
              <a:ea typeface="+mn-ea"/>
              <a:cs typeface="+mn-cs"/>
            </a:endParaRPr>
          </a:p>
        </p:txBody>
      </p:sp>
      <p:pic>
        <p:nvPicPr>
          <p:cNvPr id="46" name="Google Shape;497;p1">
            <a:extLst>
              <a:ext uri="{FF2B5EF4-FFF2-40B4-BE49-F238E27FC236}">
                <a16:creationId xmlns:a16="http://schemas.microsoft.com/office/drawing/2014/main" id="{1CCB4776-BA58-FE65-ABA1-BFA934C07686}"/>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Exercise C — Utility Types: The Big Idea</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Concept  ·  Deriving new types from existing ones without duplication</a:t>
            </a:r>
            <a:endParaRPr lang="en-US" sz="1466" kern="1200" dirty="0">
              <a:solidFill>
                <a:prstClr val="black"/>
              </a:solidFill>
              <a:latin typeface="Calibri" panose="020F0502020204030204"/>
              <a:ea typeface="+mn-ea"/>
              <a:cs typeface="+mn-cs"/>
            </a:endParaRPr>
          </a:p>
        </p:txBody>
      </p:sp>
      <p:sp>
        <p:nvSpPr>
          <p:cNvPr id="6" name="Shape 4"/>
          <p:cNvSpPr/>
          <p:nvPr/>
        </p:nvSpPr>
        <p:spPr>
          <a:xfrm>
            <a:off x="487553" y="1402608"/>
            <a:ext cx="11213719" cy="877595"/>
          </a:xfrm>
          <a:prstGeom prst="rect">
            <a:avLst/>
          </a:prstGeom>
          <a:solidFill>
            <a:srgbClr val="FEF3C7"/>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670385" y="1439175"/>
            <a:ext cx="10848054" cy="804462"/>
          </a:xfrm>
          <a:prstGeom prst="rect">
            <a:avLst/>
          </a:prstGeom>
          <a:noFill/>
          <a:ln/>
        </p:spPr>
        <p:txBody>
          <a:bodyPr wrap="square" lIns="0" tIns="0" rIns="0" bIns="0" rtlCol="0" anchor="ctr"/>
          <a:lstStyle/>
          <a:p>
            <a:pPr defTabSz="1218895">
              <a:buClrTx/>
            </a:pPr>
            <a:r>
              <a:rPr lang="en-US" sz="1533" b="1" kern="1200" dirty="0">
                <a:solidFill>
                  <a:srgbClr val="D97706"/>
                </a:solidFill>
                <a:latin typeface="Calibri" pitchFamily="34" charset="0"/>
                <a:ea typeface="Calibri" pitchFamily="34" charset="-122"/>
                <a:cs typeface="Calibri" pitchFamily="34" charset="-120"/>
              </a:rPr>
              <a:t>Problem: </a:t>
            </a:r>
            <a:r>
              <a:rPr lang="en-US" sz="1533" kern="1200" dirty="0">
                <a:solidFill>
                  <a:srgbClr val="334155"/>
                </a:solidFill>
                <a:latin typeface="Calibri" pitchFamily="34" charset="0"/>
                <a:ea typeface="Calibri" pitchFamily="34" charset="-122"/>
                <a:cs typeface="Calibri" pitchFamily="34" charset="-120"/>
              </a:rPr>
              <a:t>In BTP projects you often need multiple variants of the same entity — a full version for reads, a subset for creates, an all-optional version for updates. Writing each as a separate interface leads to </a:t>
            </a:r>
            <a:r>
              <a:rPr lang="en-US" sz="1533" b="1" kern="1200" dirty="0">
                <a:solidFill>
                  <a:srgbClr val="DC2626"/>
                </a:solidFill>
                <a:latin typeface="Calibri" pitchFamily="34" charset="0"/>
                <a:ea typeface="Calibri" pitchFamily="34" charset="-122"/>
                <a:cs typeface="Calibri" pitchFamily="34" charset="-120"/>
              </a:rPr>
              <a:t>duplication and drift.</a:t>
            </a:r>
            <a:r>
              <a:rPr lang="en-US" sz="1533" kern="1200" dirty="0">
                <a:solidFill>
                  <a:srgbClr val="334155"/>
                </a:solidFill>
                <a:latin typeface="Calibri" pitchFamily="34" charset="0"/>
                <a:ea typeface="Calibri" pitchFamily="34" charset="-122"/>
                <a:cs typeface="Calibri" pitchFamily="34" charset="-120"/>
              </a:rPr>
              <a:t> Utility types solve this by </a:t>
            </a:r>
            <a:r>
              <a:rPr lang="en-US" sz="1533" b="1" kern="1200" dirty="0">
                <a:solidFill>
                  <a:srgbClr val="D97706"/>
                </a:solidFill>
                <a:latin typeface="Calibri" pitchFamily="34" charset="0"/>
                <a:ea typeface="Calibri" pitchFamily="34" charset="-122"/>
                <a:cs typeface="Calibri" pitchFamily="34" charset="-120"/>
              </a:rPr>
              <a:t>deriving new shapes from one source of truth.</a:t>
            </a:r>
            <a:endParaRPr lang="en-US" sz="1533" kern="1200" dirty="0">
              <a:solidFill>
                <a:prstClr val="black"/>
              </a:solidFill>
              <a:latin typeface="Calibri" panose="020F0502020204030204"/>
              <a:ea typeface="+mn-ea"/>
              <a:cs typeface="+mn-cs"/>
            </a:endParaRPr>
          </a:p>
        </p:txBody>
      </p:sp>
      <p:sp>
        <p:nvSpPr>
          <p:cNvPr id="8" name="Shape 6"/>
          <p:cNvSpPr/>
          <p:nvPr/>
        </p:nvSpPr>
        <p:spPr>
          <a:xfrm>
            <a:off x="487552" y="2475225"/>
            <a:ext cx="3656648" cy="1852701"/>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9" name="Shape 7"/>
          <p:cNvSpPr/>
          <p:nvPr/>
        </p:nvSpPr>
        <p:spPr>
          <a:xfrm>
            <a:off x="487552" y="2475225"/>
            <a:ext cx="3656648" cy="463175"/>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487552" y="2475225"/>
            <a:ext cx="3656648" cy="463175"/>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onsolas" pitchFamily="34" charset="0"/>
                <a:ea typeface="Consolas" pitchFamily="34" charset="-122"/>
                <a:cs typeface="Consolas" pitchFamily="34" charset="-120"/>
              </a:rPr>
              <a:t>Readonly&lt;T&gt;</a:t>
            </a:r>
            <a:endParaRPr lang="en-US" sz="1600" kern="1200" dirty="0">
              <a:solidFill>
                <a:prstClr val="black"/>
              </a:solidFill>
              <a:latin typeface="Calibri" panose="020F0502020204030204"/>
              <a:ea typeface="+mn-ea"/>
              <a:cs typeface="+mn-cs"/>
            </a:endParaRPr>
          </a:p>
        </p:txBody>
      </p:sp>
      <p:sp>
        <p:nvSpPr>
          <p:cNvPr id="11" name="Text 9"/>
          <p:cNvSpPr/>
          <p:nvPr/>
        </p:nvSpPr>
        <p:spPr>
          <a:xfrm>
            <a:off x="609441" y="2987155"/>
            <a:ext cx="3412871" cy="560686"/>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Makes every property of T immutable (readonly).</a:t>
            </a:r>
            <a:endParaRPr lang="en-US" sz="1266" kern="1200" dirty="0">
              <a:solidFill>
                <a:prstClr val="black"/>
              </a:solidFill>
              <a:latin typeface="Calibri" panose="020F0502020204030204"/>
              <a:ea typeface="+mn-ea"/>
              <a:cs typeface="+mn-cs"/>
            </a:endParaRPr>
          </a:p>
        </p:txBody>
      </p:sp>
      <p:sp>
        <p:nvSpPr>
          <p:cNvPr id="12" name="Shape 10"/>
          <p:cNvSpPr/>
          <p:nvPr/>
        </p:nvSpPr>
        <p:spPr>
          <a:xfrm>
            <a:off x="609441" y="3572219"/>
            <a:ext cx="3412871" cy="633819"/>
          </a:xfrm>
          <a:prstGeom prst="rect">
            <a:avLst/>
          </a:prstGeom>
          <a:solidFill>
            <a:srgbClr val="FEF3C7"/>
          </a:solidFill>
          <a:ln w="12700">
            <a:solidFill>
              <a:srgbClr val="FCD34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Text 11"/>
          <p:cNvSpPr/>
          <p:nvPr/>
        </p:nvSpPr>
        <p:spPr>
          <a:xfrm>
            <a:off x="658196" y="3596596"/>
            <a:ext cx="3315360" cy="585064"/>
          </a:xfrm>
          <a:prstGeom prst="rect">
            <a:avLst/>
          </a:prstGeom>
          <a:noFill/>
          <a:ln/>
        </p:spPr>
        <p:txBody>
          <a:bodyPr wrap="square" lIns="0" tIns="0" rIns="0" bIns="0" rtlCol="0" anchor="ctr"/>
          <a:lstStyle/>
          <a:p>
            <a:pPr defTabSz="1218895">
              <a:buClrTx/>
            </a:pPr>
            <a:r>
              <a:rPr lang="en-US" sz="1133" kern="1200" dirty="0">
                <a:solidFill>
                  <a:srgbClr val="D97706"/>
                </a:solidFill>
                <a:latin typeface="Consolas" pitchFamily="34" charset="0"/>
                <a:ea typeface="Consolas" pitchFamily="34" charset="-122"/>
                <a:cs typeface="Consolas" pitchFamily="34" charset="-120"/>
              </a:rPr>
              <a:t>Readonly&lt;Order&gt;  →  all fields readonly</a:t>
            </a:r>
            <a:endParaRPr lang="en-US" sz="1133" kern="1200" dirty="0">
              <a:solidFill>
                <a:prstClr val="black"/>
              </a:solidFill>
              <a:latin typeface="Calibri" panose="020F0502020204030204"/>
              <a:ea typeface="+mn-ea"/>
              <a:cs typeface="+mn-cs"/>
            </a:endParaRPr>
          </a:p>
        </p:txBody>
      </p:sp>
      <p:sp>
        <p:nvSpPr>
          <p:cNvPr id="14" name="Shape 12"/>
          <p:cNvSpPr/>
          <p:nvPr/>
        </p:nvSpPr>
        <p:spPr>
          <a:xfrm>
            <a:off x="4412354" y="2475225"/>
            <a:ext cx="3656648" cy="1852701"/>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5" name="Shape 13"/>
          <p:cNvSpPr/>
          <p:nvPr/>
        </p:nvSpPr>
        <p:spPr>
          <a:xfrm>
            <a:off x="4412354" y="2475225"/>
            <a:ext cx="3656648" cy="463175"/>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4412354" y="2475225"/>
            <a:ext cx="3656648" cy="463175"/>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onsolas" pitchFamily="34" charset="0"/>
                <a:ea typeface="Consolas" pitchFamily="34" charset="-122"/>
                <a:cs typeface="Consolas" pitchFamily="34" charset="-120"/>
              </a:rPr>
              <a:t>Partial&lt;T&gt;</a:t>
            </a:r>
            <a:endParaRPr lang="en-US" sz="1600" kern="1200" dirty="0">
              <a:solidFill>
                <a:prstClr val="black"/>
              </a:solidFill>
              <a:latin typeface="Calibri" panose="020F0502020204030204"/>
              <a:ea typeface="+mn-ea"/>
              <a:cs typeface="+mn-cs"/>
            </a:endParaRPr>
          </a:p>
        </p:txBody>
      </p:sp>
      <p:sp>
        <p:nvSpPr>
          <p:cNvPr id="17" name="Text 15"/>
          <p:cNvSpPr/>
          <p:nvPr/>
        </p:nvSpPr>
        <p:spPr>
          <a:xfrm>
            <a:off x="4534242" y="2987155"/>
            <a:ext cx="3412871" cy="560686"/>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Makes every property of T optional (?:).</a:t>
            </a:r>
            <a:endParaRPr lang="en-US" sz="1266" kern="1200" dirty="0">
              <a:solidFill>
                <a:prstClr val="black"/>
              </a:solidFill>
              <a:latin typeface="Calibri" panose="020F0502020204030204"/>
              <a:ea typeface="+mn-ea"/>
              <a:cs typeface="+mn-cs"/>
            </a:endParaRPr>
          </a:p>
        </p:txBody>
      </p:sp>
      <p:sp>
        <p:nvSpPr>
          <p:cNvPr id="18" name="Shape 16"/>
          <p:cNvSpPr/>
          <p:nvPr/>
        </p:nvSpPr>
        <p:spPr>
          <a:xfrm>
            <a:off x="4534242" y="3572219"/>
            <a:ext cx="3412871" cy="633819"/>
          </a:xfrm>
          <a:prstGeom prst="rect">
            <a:avLst/>
          </a:prstGeom>
          <a:solidFill>
            <a:srgbClr val="FEF3C7"/>
          </a:solidFill>
          <a:ln w="12700">
            <a:solidFill>
              <a:srgbClr val="FCD34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Text 17"/>
          <p:cNvSpPr/>
          <p:nvPr/>
        </p:nvSpPr>
        <p:spPr>
          <a:xfrm>
            <a:off x="4582998" y="3596596"/>
            <a:ext cx="3315360" cy="585064"/>
          </a:xfrm>
          <a:prstGeom prst="rect">
            <a:avLst/>
          </a:prstGeom>
          <a:noFill/>
          <a:ln/>
        </p:spPr>
        <p:txBody>
          <a:bodyPr wrap="square" lIns="0" tIns="0" rIns="0" bIns="0" rtlCol="0" anchor="ctr"/>
          <a:lstStyle/>
          <a:p>
            <a:pPr defTabSz="1218895">
              <a:buClrTx/>
            </a:pPr>
            <a:r>
              <a:rPr lang="en-US" sz="1133" kern="1200" dirty="0">
                <a:solidFill>
                  <a:srgbClr val="D97706"/>
                </a:solidFill>
                <a:latin typeface="Consolas" pitchFamily="34" charset="0"/>
                <a:ea typeface="Consolas" pitchFamily="34" charset="-122"/>
                <a:cs typeface="Consolas" pitchFamily="34" charset="-120"/>
              </a:rPr>
              <a:t>Partial&lt;Order&gt;  →  all fields optional</a:t>
            </a:r>
            <a:endParaRPr lang="en-US" sz="1133" kern="1200" dirty="0">
              <a:solidFill>
                <a:prstClr val="black"/>
              </a:solidFill>
              <a:latin typeface="Calibri" panose="020F0502020204030204"/>
              <a:ea typeface="+mn-ea"/>
              <a:cs typeface="+mn-cs"/>
            </a:endParaRPr>
          </a:p>
        </p:txBody>
      </p:sp>
      <p:sp>
        <p:nvSpPr>
          <p:cNvPr id="20" name="Shape 18"/>
          <p:cNvSpPr/>
          <p:nvPr/>
        </p:nvSpPr>
        <p:spPr>
          <a:xfrm>
            <a:off x="8337156" y="2475225"/>
            <a:ext cx="3656648" cy="1852701"/>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1" name="Shape 19"/>
          <p:cNvSpPr/>
          <p:nvPr/>
        </p:nvSpPr>
        <p:spPr>
          <a:xfrm>
            <a:off x="8337156" y="2475225"/>
            <a:ext cx="3656648" cy="463175"/>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2" name="Text 20"/>
          <p:cNvSpPr/>
          <p:nvPr/>
        </p:nvSpPr>
        <p:spPr>
          <a:xfrm>
            <a:off x="8337156" y="2475225"/>
            <a:ext cx="3656648" cy="463175"/>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onsolas" pitchFamily="34" charset="0"/>
                <a:ea typeface="Consolas" pitchFamily="34" charset="-122"/>
                <a:cs typeface="Consolas" pitchFamily="34" charset="-120"/>
              </a:rPr>
              <a:t>Required&lt;T&gt;</a:t>
            </a:r>
            <a:endParaRPr lang="en-US" sz="1600" kern="1200" dirty="0">
              <a:solidFill>
                <a:prstClr val="black"/>
              </a:solidFill>
              <a:latin typeface="Calibri" panose="020F0502020204030204"/>
              <a:ea typeface="+mn-ea"/>
              <a:cs typeface="+mn-cs"/>
            </a:endParaRPr>
          </a:p>
        </p:txBody>
      </p:sp>
      <p:sp>
        <p:nvSpPr>
          <p:cNvPr id="23" name="Text 21"/>
          <p:cNvSpPr/>
          <p:nvPr/>
        </p:nvSpPr>
        <p:spPr>
          <a:xfrm>
            <a:off x="8459044" y="2987155"/>
            <a:ext cx="3412871" cy="560686"/>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Makes every property of T required (removes ?).</a:t>
            </a:r>
            <a:endParaRPr lang="en-US" sz="1266" kern="1200" dirty="0">
              <a:solidFill>
                <a:prstClr val="black"/>
              </a:solidFill>
              <a:latin typeface="Calibri" panose="020F0502020204030204"/>
              <a:ea typeface="+mn-ea"/>
              <a:cs typeface="+mn-cs"/>
            </a:endParaRPr>
          </a:p>
        </p:txBody>
      </p:sp>
      <p:sp>
        <p:nvSpPr>
          <p:cNvPr id="24" name="Shape 22"/>
          <p:cNvSpPr/>
          <p:nvPr/>
        </p:nvSpPr>
        <p:spPr>
          <a:xfrm>
            <a:off x="8459044" y="3572219"/>
            <a:ext cx="3412871" cy="633819"/>
          </a:xfrm>
          <a:prstGeom prst="rect">
            <a:avLst/>
          </a:prstGeom>
          <a:solidFill>
            <a:srgbClr val="FEF3C7"/>
          </a:solidFill>
          <a:ln w="12700">
            <a:solidFill>
              <a:srgbClr val="FCD34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5" name="Text 23"/>
          <p:cNvSpPr/>
          <p:nvPr/>
        </p:nvSpPr>
        <p:spPr>
          <a:xfrm>
            <a:off x="8507800" y="3596596"/>
            <a:ext cx="3315360" cy="585064"/>
          </a:xfrm>
          <a:prstGeom prst="rect">
            <a:avLst/>
          </a:prstGeom>
          <a:noFill/>
          <a:ln/>
        </p:spPr>
        <p:txBody>
          <a:bodyPr wrap="square" lIns="0" tIns="0" rIns="0" bIns="0" rtlCol="0" anchor="ctr"/>
          <a:lstStyle/>
          <a:p>
            <a:pPr defTabSz="1218895">
              <a:buClrTx/>
            </a:pPr>
            <a:r>
              <a:rPr lang="en-US" sz="1133" kern="1200" dirty="0">
                <a:solidFill>
                  <a:srgbClr val="D97706"/>
                </a:solidFill>
                <a:latin typeface="Consolas" pitchFamily="34" charset="0"/>
                <a:ea typeface="Consolas" pitchFamily="34" charset="-122"/>
                <a:cs typeface="Consolas" pitchFamily="34" charset="-120"/>
              </a:rPr>
              <a:t>Required&lt;Draft&gt;  →  no optional fields</a:t>
            </a:r>
            <a:endParaRPr lang="en-US" sz="1133" kern="1200" dirty="0">
              <a:solidFill>
                <a:prstClr val="black"/>
              </a:solidFill>
              <a:latin typeface="Calibri" panose="020F0502020204030204"/>
              <a:ea typeface="+mn-ea"/>
              <a:cs typeface="+mn-cs"/>
            </a:endParaRPr>
          </a:p>
        </p:txBody>
      </p:sp>
      <p:sp>
        <p:nvSpPr>
          <p:cNvPr id="26" name="Shape 24"/>
          <p:cNvSpPr/>
          <p:nvPr/>
        </p:nvSpPr>
        <p:spPr>
          <a:xfrm>
            <a:off x="487552" y="4449814"/>
            <a:ext cx="3656648" cy="1852701"/>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7" name="Shape 25"/>
          <p:cNvSpPr/>
          <p:nvPr/>
        </p:nvSpPr>
        <p:spPr>
          <a:xfrm>
            <a:off x="487552" y="4449814"/>
            <a:ext cx="3656648" cy="463175"/>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8" name="Text 26"/>
          <p:cNvSpPr/>
          <p:nvPr/>
        </p:nvSpPr>
        <p:spPr>
          <a:xfrm>
            <a:off x="487552" y="4449814"/>
            <a:ext cx="3656648" cy="463175"/>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onsolas" pitchFamily="34" charset="0"/>
                <a:ea typeface="Consolas" pitchFamily="34" charset="-122"/>
                <a:cs typeface="Consolas" pitchFamily="34" charset="-120"/>
              </a:rPr>
              <a:t>Omit&lt;T, K&gt;</a:t>
            </a:r>
            <a:endParaRPr lang="en-US" sz="1600" kern="1200" dirty="0">
              <a:solidFill>
                <a:prstClr val="black"/>
              </a:solidFill>
              <a:latin typeface="Calibri" panose="020F0502020204030204"/>
              <a:ea typeface="+mn-ea"/>
              <a:cs typeface="+mn-cs"/>
            </a:endParaRPr>
          </a:p>
        </p:txBody>
      </p:sp>
      <p:sp>
        <p:nvSpPr>
          <p:cNvPr id="29" name="Text 27"/>
          <p:cNvSpPr/>
          <p:nvPr/>
        </p:nvSpPr>
        <p:spPr>
          <a:xfrm>
            <a:off x="609441" y="4961745"/>
            <a:ext cx="3412871" cy="560686"/>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Creates a new type excluding named keys K from T.</a:t>
            </a:r>
            <a:endParaRPr lang="en-US" sz="1266" kern="1200" dirty="0">
              <a:solidFill>
                <a:prstClr val="black"/>
              </a:solidFill>
              <a:latin typeface="Calibri" panose="020F0502020204030204"/>
              <a:ea typeface="+mn-ea"/>
              <a:cs typeface="+mn-cs"/>
            </a:endParaRPr>
          </a:p>
        </p:txBody>
      </p:sp>
      <p:sp>
        <p:nvSpPr>
          <p:cNvPr id="30" name="Shape 28"/>
          <p:cNvSpPr/>
          <p:nvPr/>
        </p:nvSpPr>
        <p:spPr>
          <a:xfrm>
            <a:off x="609441" y="5546808"/>
            <a:ext cx="3412871" cy="633819"/>
          </a:xfrm>
          <a:prstGeom prst="rect">
            <a:avLst/>
          </a:prstGeom>
          <a:solidFill>
            <a:srgbClr val="FEF3C7"/>
          </a:solidFill>
          <a:ln w="12700">
            <a:solidFill>
              <a:srgbClr val="FCD34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1" name="Text 29"/>
          <p:cNvSpPr/>
          <p:nvPr/>
        </p:nvSpPr>
        <p:spPr>
          <a:xfrm>
            <a:off x="658196" y="5571186"/>
            <a:ext cx="3315360" cy="585064"/>
          </a:xfrm>
          <a:prstGeom prst="rect">
            <a:avLst/>
          </a:prstGeom>
          <a:noFill/>
          <a:ln/>
        </p:spPr>
        <p:txBody>
          <a:bodyPr wrap="square" lIns="0" tIns="0" rIns="0" bIns="0" rtlCol="0" anchor="ctr"/>
          <a:lstStyle/>
          <a:p>
            <a:pPr defTabSz="1218895">
              <a:buClrTx/>
            </a:pPr>
            <a:r>
              <a:rPr lang="en-US" sz="1133" kern="1200" dirty="0">
                <a:solidFill>
                  <a:srgbClr val="D97706"/>
                </a:solidFill>
                <a:latin typeface="Consolas" pitchFamily="34" charset="0"/>
                <a:ea typeface="Consolas" pitchFamily="34" charset="-122"/>
                <a:cs typeface="Consolas" pitchFamily="34" charset="-120"/>
              </a:rPr>
              <a:t>Omit&lt;Order,'id'|'createdAt'&gt;  →  CreatePayload</a:t>
            </a:r>
            <a:endParaRPr lang="en-US" sz="1133" kern="1200" dirty="0">
              <a:solidFill>
                <a:prstClr val="black"/>
              </a:solidFill>
              <a:latin typeface="Calibri" panose="020F0502020204030204"/>
              <a:ea typeface="+mn-ea"/>
              <a:cs typeface="+mn-cs"/>
            </a:endParaRPr>
          </a:p>
        </p:txBody>
      </p:sp>
      <p:sp>
        <p:nvSpPr>
          <p:cNvPr id="32" name="Shape 30"/>
          <p:cNvSpPr/>
          <p:nvPr/>
        </p:nvSpPr>
        <p:spPr>
          <a:xfrm>
            <a:off x="4412354" y="4449814"/>
            <a:ext cx="3656648" cy="1852701"/>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3" name="Shape 31"/>
          <p:cNvSpPr/>
          <p:nvPr/>
        </p:nvSpPr>
        <p:spPr>
          <a:xfrm>
            <a:off x="4412354" y="4449814"/>
            <a:ext cx="3656648" cy="463175"/>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4" name="Text 32"/>
          <p:cNvSpPr/>
          <p:nvPr/>
        </p:nvSpPr>
        <p:spPr>
          <a:xfrm>
            <a:off x="4412354" y="4449814"/>
            <a:ext cx="3656648" cy="463175"/>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onsolas" pitchFamily="34" charset="0"/>
                <a:ea typeface="Consolas" pitchFamily="34" charset="-122"/>
                <a:cs typeface="Consolas" pitchFamily="34" charset="-120"/>
              </a:rPr>
              <a:t>Pick&lt;T, K&gt;</a:t>
            </a:r>
            <a:endParaRPr lang="en-US" sz="1600" kern="1200" dirty="0">
              <a:solidFill>
                <a:prstClr val="black"/>
              </a:solidFill>
              <a:latin typeface="Calibri" panose="020F0502020204030204"/>
              <a:ea typeface="+mn-ea"/>
              <a:cs typeface="+mn-cs"/>
            </a:endParaRPr>
          </a:p>
        </p:txBody>
      </p:sp>
      <p:sp>
        <p:nvSpPr>
          <p:cNvPr id="35" name="Text 33"/>
          <p:cNvSpPr/>
          <p:nvPr/>
        </p:nvSpPr>
        <p:spPr>
          <a:xfrm>
            <a:off x="4534242" y="4961745"/>
            <a:ext cx="3412871" cy="560686"/>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Creates a type with only the named keys K from T.</a:t>
            </a:r>
            <a:endParaRPr lang="en-US" sz="1266" kern="1200" dirty="0">
              <a:solidFill>
                <a:prstClr val="black"/>
              </a:solidFill>
              <a:latin typeface="Calibri" panose="020F0502020204030204"/>
              <a:ea typeface="+mn-ea"/>
              <a:cs typeface="+mn-cs"/>
            </a:endParaRPr>
          </a:p>
        </p:txBody>
      </p:sp>
      <p:sp>
        <p:nvSpPr>
          <p:cNvPr id="36" name="Shape 34"/>
          <p:cNvSpPr/>
          <p:nvPr/>
        </p:nvSpPr>
        <p:spPr>
          <a:xfrm>
            <a:off x="4534242" y="5546808"/>
            <a:ext cx="3412871" cy="633819"/>
          </a:xfrm>
          <a:prstGeom prst="rect">
            <a:avLst/>
          </a:prstGeom>
          <a:solidFill>
            <a:srgbClr val="FEF3C7"/>
          </a:solidFill>
          <a:ln w="12700">
            <a:solidFill>
              <a:srgbClr val="FCD34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7" name="Text 35"/>
          <p:cNvSpPr/>
          <p:nvPr/>
        </p:nvSpPr>
        <p:spPr>
          <a:xfrm>
            <a:off x="4582998" y="5571186"/>
            <a:ext cx="3315360" cy="585064"/>
          </a:xfrm>
          <a:prstGeom prst="rect">
            <a:avLst/>
          </a:prstGeom>
          <a:noFill/>
          <a:ln/>
        </p:spPr>
        <p:txBody>
          <a:bodyPr wrap="square" lIns="0" tIns="0" rIns="0" bIns="0" rtlCol="0" anchor="ctr"/>
          <a:lstStyle/>
          <a:p>
            <a:pPr defTabSz="1218895">
              <a:buClrTx/>
            </a:pPr>
            <a:r>
              <a:rPr lang="en-US" sz="1133" kern="1200" dirty="0">
                <a:solidFill>
                  <a:srgbClr val="D97706"/>
                </a:solidFill>
                <a:latin typeface="Consolas" pitchFamily="34" charset="0"/>
                <a:ea typeface="Consolas" pitchFamily="34" charset="-122"/>
                <a:cs typeface="Consolas" pitchFamily="34" charset="-120"/>
              </a:rPr>
              <a:t>Pick&lt;Order,'id'|'status'&gt;  →  OrderRef</a:t>
            </a:r>
            <a:endParaRPr lang="en-US" sz="1133" kern="1200" dirty="0">
              <a:solidFill>
                <a:prstClr val="black"/>
              </a:solidFill>
              <a:latin typeface="Calibri" panose="020F0502020204030204"/>
              <a:ea typeface="+mn-ea"/>
              <a:cs typeface="+mn-cs"/>
            </a:endParaRPr>
          </a:p>
        </p:txBody>
      </p:sp>
      <p:sp>
        <p:nvSpPr>
          <p:cNvPr id="38" name="Shape 36"/>
          <p:cNvSpPr/>
          <p:nvPr/>
        </p:nvSpPr>
        <p:spPr>
          <a:xfrm>
            <a:off x="8337156" y="4449814"/>
            <a:ext cx="3656648" cy="1852701"/>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9" name="Shape 37"/>
          <p:cNvSpPr/>
          <p:nvPr/>
        </p:nvSpPr>
        <p:spPr>
          <a:xfrm>
            <a:off x="8337156" y="4449814"/>
            <a:ext cx="3656648" cy="463175"/>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0" name="Text 38"/>
          <p:cNvSpPr/>
          <p:nvPr/>
        </p:nvSpPr>
        <p:spPr>
          <a:xfrm>
            <a:off x="8337156" y="4449814"/>
            <a:ext cx="3656648" cy="463175"/>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onsolas" pitchFamily="34" charset="0"/>
                <a:ea typeface="Consolas" pitchFamily="34" charset="-122"/>
                <a:cs typeface="Consolas" pitchFamily="34" charset="-120"/>
              </a:rPr>
              <a:t>Record&lt;K, V&gt;</a:t>
            </a:r>
            <a:endParaRPr lang="en-US" sz="1600" kern="1200" dirty="0">
              <a:solidFill>
                <a:prstClr val="black"/>
              </a:solidFill>
              <a:latin typeface="Calibri" panose="020F0502020204030204"/>
              <a:ea typeface="+mn-ea"/>
              <a:cs typeface="+mn-cs"/>
            </a:endParaRPr>
          </a:p>
        </p:txBody>
      </p:sp>
      <p:sp>
        <p:nvSpPr>
          <p:cNvPr id="41" name="Text 39"/>
          <p:cNvSpPr/>
          <p:nvPr/>
        </p:nvSpPr>
        <p:spPr>
          <a:xfrm>
            <a:off x="8459044" y="4961745"/>
            <a:ext cx="3412871" cy="560686"/>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Creates a type with keys K and values of type V.</a:t>
            </a:r>
            <a:endParaRPr lang="en-US" sz="1266" kern="1200" dirty="0">
              <a:solidFill>
                <a:prstClr val="black"/>
              </a:solidFill>
              <a:latin typeface="Calibri" panose="020F0502020204030204"/>
              <a:ea typeface="+mn-ea"/>
              <a:cs typeface="+mn-cs"/>
            </a:endParaRPr>
          </a:p>
        </p:txBody>
      </p:sp>
      <p:sp>
        <p:nvSpPr>
          <p:cNvPr id="42" name="Shape 40"/>
          <p:cNvSpPr/>
          <p:nvPr/>
        </p:nvSpPr>
        <p:spPr>
          <a:xfrm>
            <a:off x="8459044" y="5546808"/>
            <a:ext cx="3412871" cy="633819"/>
          </a:xfrm>
          <a:prstGeom prst="rect">
            <a:avLst/>
          </a:prstGeom>
          <a:solidFill>
            <a:srgbClr val="FEF3C7"/>
          </a:solidFill>
          <a:ln w="12700">
            <a:solidFill>
              <a:srgbClr val="FCD34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3" name="Text 41"/>
          <p:cNvSpPr/>
          <p:nvPr/>
        </p:nvSpPr>
        <p:spPr>
          <a:xfrm>
            <a:off x="8507800" y="5571186"/>
            <a:ext cx="3315360" cy="585064"/>
          </a:xfrm>
          <a:prstGeom prst="rect">
            <a:avLst/>
          </a:prstGeom>
          <a:noFill/>
          <a:ln/>
        </p:spPr>
        <p:txBody>
          <a:bodyPr wrap="square" lIns="0" tIns="0" rIns="0" bIns="0" rtlCol="0" anchor="ctr"/>
          <a:lstStyle/>
          <a:p>
            <a:pPr defTabSz="1218895">
              <a:buClrTx/>
            </a:pPr>
            <a:r>
              <a:rPr lang="en-US" sz="1133" kern="1200" dirty="0">
                <a:solidFill>
                  <a:srgbClr val="D97706"/>
                </a:solidFill>
                <a:latin typeface="Consolas" pitchFamily="34" charset="0"/>
                <a:ea typeface="Consolas" pitchFamily="34" charset="-122"/>
                <a:cs typeface="Consolas" pitchFamily="34" charset="-120"/>
              </a:rPr>
              <a:t>Record&lt;string, DestConfig&gt;  →  config map</a:t>
            </a:r>
            <a:endParaRPr lang="en-US" sz="1133" kern="1200" dirty="0">
              <a:solidFill>
                <a:prstClr val="black"/>
              </a:solidFill>
              <a:latin typeface="Calibri" panose="020F0502020204030204"/>
              <a:ea typeface="+mn-ea"/>
              <a:cs typeface="+mn-cs"/>
            </a:endParaRPr>
          </a:p>
        </p:txBody>
      </p:sp>
      <p:pic>
        <p:nvPicPr>
          <p:cNvPr id="44" name="Google Shape;497;p1">
            <a:extLst>
              <a:ext uri="{FF2B5EF4-FFF2-40B4-BE49-F238E27FC236}">
                <a16:creationId xmlns:a16="http://schemas.microsoft.com/office/drawing/2014/main" id="{E50D6655-1AC0-D7B8-64FA-2EFE41B8D025}"/>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How Utility Types Work — Mapped Type Mechanics</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Diagram  ·  Under the hood: how Readonly&lt;T&gt; and Partial&lt;T&gt; are defined</a:t>
            </a:r>
            <a:endParaRPr lang="en-US" sz="1466" kern="1200" dirty="0">
              <a:solidFill>
                <a:prstClr val="black"/>
              </a:solidFill>
              <a:latin typeface="Calibri" panose="020F0502020204030204"/>
              <a:ea typeface="+mn-ea"/>
              <a:cs typeface="+mn-cs"/>
            </a:endParaRPr>
          </a:p>
        </p:txBody>
      </p:sp>
      <p:sp>
        <p:nvSpPr>
          <p:cNvPr id="6" name="Text 4"/>
          <p:cNvSpPr/>
          <p:nvPr/>
        </p:nvSpPr>
        <p:spPr>
          <a:xfrm>
            <a:off x="487552" y="1402608"/>
            <a:ext cx="4266089" cy="365665"/>
          </a:xfrm>
          <a:prstGeom prst="rect">
            <a:avLst/>
          </a:prstGeom>
          <a:noFill/>
          <a:ln/>
        </p:spPr>
        <p:txBody>
          <a:bodyPr wrap="square" lIns="0" tIns="0" rIns="0" bIns="0" rtlCol="0" anchor="ctr"/>
          <a:lstStyle/>
          <a:p>
            <a:pPr defTabSz="1218895">
              <a:buClrTx/>
            </a:pPr>
            <a:r>
              <a:rPr lang="en-US" sz="1600" b="1" kern="1200" dirty="0">
                <a:solidFill>
                  <a:srgbClr val="1E293B"/>
                </a:solidFill>
                <a:latin typeface="Calibri" pitchFamily="34" charset="0"/>
                <a:ea typeface="Calibri" pitchFamily="34" charset="-122"/>
                <a:cs typeface="Calibri" pitchFamily="34" charset="-120"/>
              </a:rPr>
              <a:t>Source Type (entity-types.ts)</a:t>
            </a:r>
            <a:endParaRPr lang="en-US" sz="1600" kern="1200" dirty="0">
              <a:solidFill>
                <a:prstClr val="black"/>
              </a:solidFill>
              <a:latin typeface="Calibri" panose="020F0502020204030204"/>
              <a:ea typeface="+mn-ea"/>
              <a:cs typeface="+mn-cs"/>
            </a:endParaRPr>
          </a:p>
        </p:txBody>
      </p:sp>
      <p:sp>
        <p:nvSpPr>
          <p:cNvPr id="7" name="Shape 5"/>
          <p:cNvSpPr/>
          <p:nvPr/>
        </p:nvSpPr>
        <p:spPr>
          <a:xfrm>
            <a:off x="487552" y="1792650"/>
            <a:ext cx="4266089" cy="4022312"/>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70385" y="1914539"/>
            <a:ext cx="3997935" cy="3802913"/>
          </a:xfrm>
          <a:prstGeom prst="rect">
            <a:avLst/>
          </a:prstGeom>
          <a:noFill/>
          <a:ln/>
        </p:spPr>
        <p:txBody>
          <a:bodyPr wrap="square" lIns="0" tIns="0" rIns="0" bIns="0" rtlCol="0" anchor="t"/>
          <a:lstStyle/>
          <a:p>
            <a:pPr defTabSz="1218895">
              <a:buClrTx/>
            </a:pPr>
            <a:r>
              <a:rPr lang="en-US" sz="1266" kern="1200" dirty="0">
                <a:solidFill>
                  <a:srgbClr val="F472B6"/>
                </a:solidFill>
                <a:latin typeface="Consolas" pitchFamily="34" charset="0"/>
                <a:ea typeface="Consolas" pitchFamily="34" charset="-122"/>
                <a:cs typeface="Consolas" pitchFamily="34" charset="-120"/>
              </a:rPr>
              <a:t>interface BtpOrder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id: string;         // ①</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customerId: string; // ②</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amount: number;     // ③</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status: OrderStatus;// ④</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createdAt: Date;    // ⑤</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updatedAt: Date;    // ⑥</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472B6"/>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 This is the source of truth.</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 ALL other types derive from it.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No copy-paste ever needed.</a:t>
            </a:r>
            <a:endParaRPr lang="en-US" sz="1266" kern="1200" dirty="0">
              <a:solidFill>
                <a:prstClr val="black"/>
              </a:solidFill>
              <a:latin typeface="Calibri" panose="020F0502020204030204"/>
              <a:ea typeface="+mn-ea"/>
              <a:cs typeface="+mn-cs"/>
            </a:endParaRPr>
          </a:p>
        </p:txBody>
      </p:sp>
      <p:sp>
        <p:nvSpPr>
          <p:cNvPr id="9" name="Shape 7"/>
          <p:cNvSpPr/>
          <p:nvPr/>
        </p:nvSpPr>
        <p:spPr>
          <a:xfrm>
            <a:off x="4778019" y="2328959"/>
            <a:ext cx="950728" cy="0"/>
          </a:xfrm>
          <a:prstGeom prst="line">
            <a:avLst/>
          </a:prstGeom>
          <a:noFill/>
          <a:ln w="19050">
            <a:solidFill>
              <a:srgbClr val="4338C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5582481" y="2207070"/>
            <a:ext cx="243777" cy="292532"/>
          </a:xfrm>
          <a:prstGeom prst="rect">
            <a:avLst/>
          </a:prstGeom>
          <a:noFill/>
          <a:ln/>
        </p:spPr>
        <p:txBody>
          <a:bodyPr wrap="square" lIns="0" tIns="0" rIns="0" bIns="0" rtlCol="0" anchor="ctr"/>
          <a:lstStyle/>
          <a:p>
            <a:pPr defTabSz="1218895">
              <a:buClrTx/>
            </a:pPr>
            <a:r>
              <a:rPr lang="en-US" sz="1466" kern="1200" dirty="0">
                <a:solidFill>
                  <a:srgbClr val="4338CA"/>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11" name="Shape 9"/>
          <p:cNvSpPr/>
          <p:nvPr/>
        </p:nvSpPr>
        <p:spPr>
          <a:xfrm>
            <a:off x="4778019" y="1865783"/>
            <a:ext cx="950728" cy="390042"/>
          </a:xfrm>
          <a:prstGeom prst="rect">
            <a:avLst/>
          </a:prstGeom>
          <a:solidFill>
            <a:srgbClr val="4338CA">
              <a:alpha val="80000"/>
            </a:srgbClr>
          </a:solidFill>
          <a:ln w="12700">
            <a:solidFill>
              <a:srgbClr val="4338C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2" name="Text 10"/>
          <p:cNvSpPr/>
          <p:nvPr/>
        </p:nvSpPr>
        <p:spPr>
          <a:xfrm>
            <a:off x="4802397" y="1890161"/>
            <a:ext cx="901973" cy="341287"/>
          </a:xfrm>
          <a:prstGeom prst="rect">
            <a:avLst/>
          </a:prstGeom>
          <a:noFill/>
          <a:ln/>
        </p:spPr>
        <p:txBody>
          <a:bodyPr wrap="square" lIns="0" tIns="0" rIns="0" bIns="0" rtlCol="0" anchor="ctr"/>
          <a:lstStyle/>
          <a:p>
            <a:pPr algn="ctr" defTabSz="1218895">
              <a:buClrTx/>
            </a:pPr>
            <a:r>
              <a:rPr lang="en-US" sz="733" kern="1200" dirty="0">
                <a:solidFill>
                  <a:srgbClr val="FFFFFF"/>
                </a:solidFill>
                <a:latin typeface="Consolas" pitchFamily="34" charset="0"/>
                <a:ea typeface="Consolas" pitchFamily="34" charset="-122"/>
                <a:cs typeface="Consolas" pitchFamily="34" charset="-120"/>
              </a:rPr>
              <a:t>Readonly&lt;BtpOrder&gt;</a:t>
            </a:r>
            <a:endParaRPr lang="en-US" sz="733" kern="1200" dirty="0">
              <a:solidFill>
                <a:prstClr val="black"/>
              </a:solidFill>
              <a:latin typeface="Calibri" panose="020F0502020204030204"/>
              <a:ea typeface="+mn-ea"/>
              <a:cs typeface="+mn-cs"/>
            </a:endParaRPr>
          </a:p>
        </p:txBody>
      </p:sp>
      <p:sp>
        <p:nvSpPr>
          <p:cNvPr id="13" name="Shape 11"/>
          <p:cNvSpPr/>
          <p:nvPr/>
        </p:nvSpPr>
        <p:spPr>
          <a:xfrm>
            <a:off x="4778019" y="3401575"/>
            <a:ext cx="950728" cy="0"/>
          </a:xfrm>
          <a:prstGeom prst="line">
            <a:avLst/>
          </a:prstGeom>
          <a:noFill/>
          <a:ln w="1905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5582481" y="3279687"/>
            <a:ext cx="243777" cy="292532"/>
          </a:xfrm>
          <a:prstGeom prst="rect">
            <a:avLst/>
          </a:prstGeom>
          <a:noFill/>
          <a:ln/>
        </p:spPr>
        <p:txBody>
          <a:bodyPr wrap="square" lIns="0" tIns="0" rIns="0" bIns="0" rtlCol="0" anchor="ctr"/>
          <a:lstStyle/>
          <a:p>
            <a:pPr defTabSz="1218895">
              <a:buClrTx/>
            </a:pPr>
            <a:r>
              <a:rPr lang="en-US" sz="1466" kern="1200" dirty="0">
                <a:solidFill>
                  <a:srgbClr val="0D9488"/>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15" name="Shape 13"/>
          <p:cNvSpPr/>
          <p:nvPr/>
        </p:nvSpPr>
        <p:spPr>
          <a:xfrm>
            <a:off x="4778019" y="2938400"/>
            <a:ext cx="950728" cy="390042"/>
          </a:xfrm>
          <a:prstGeom prst="rect">
            <a:avLst/>
          </a:prstGeom>
          <a:solidFill>
            <a:srgbClr val="0D9488">
              <a:alpha val="80000"/>
            </a:srgbClr>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4802397" y="2962777"/>
            <a:ext cx="901973" cy="341287"/>
          </a:xfrm>
          <a:prstGeom prst="rect">
            <a:avLst/>
          </a:prstGeom>
          <a:noFill/>
          <a:ln/>
        </p:spPr>
        <p:txBody>
          <a:bodyPr wrap="square" lIns="0" tIns="0" rIns="0" bIns="0" rtlCol="0" anchor="ctr"/>
          <a:lstStyle/>
          <a:p>
            <a:pPr algn="ctr" defTabSz="1218895">
              <a:buClrTx/>
            </a:pPr>
            <a:r>
              <a:rPr lang="en-US" sz="733" kern="1200" dirty="0">
                <a:solidFill>
                  <a:srgbClr val="FFFFFF"/>
                </a:solidFill>
                <a:latin typeface="Consolas" pitchFamily="34" charset="0"/>
                <a:ea typeface="Consolas" pitchFamily="34" charset="-122"/>
                <a:cs typeface="Consolas" pitchFamily="34" charset="-120"/>
              </a:rPr>
              <a:t>Partial&lt;BtpOrder&gt;</a:t>
            </a:r>
            <a:endParaRPr lang="en-US" sz="733" kern="1200" dirty="0">
              <a:solidFill>
                <a:prstClr val="black"/>
              </a:solidFill>
              <a:latin typeface="Calibri" panose="020F0502020204030204"/>
              <a:ea typeface="+mn-ea"/>
              <a:cs typeface="+mn-cs"/>
            </a:endParaRPr>
          </a:p>
        </p:txBody>
      </p:sp>
      <p:sp>
        <p:nvSpPr>
          <p:cNvPr id="17" name="Shape 15"/>
          <p:cNvSpPr/>
          <p:nvPr/>
        </p:nvSpPr>
        <p:spPr>
          <a:xfrm>
            <a:off x="4778019" y="4474192"/>
            <a:ext cx="950728" cy="0"/>
          </a:xfrm>
          <a:prstGeom prst="line">
            <a:avLst/>
          </a:prstGeom>
          <a:noFill/>
          <a:ln w="1905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8" name="Text 16"/>
          <p:cNvSpPr/>
          <p:nvPr/>
        </p:nvSpPr>
        <p:spPr>
          <a:xfrm>
            <a:off x="5582481" y="4352303"/>
            <a:ext cx="243777" cy="292532"/>
          </a:xfrm>
          <a:prstGeom prst="rect">
            <a:avLst/>
          </a:prstGeom>
          <a:noFill/>
          <a:ln/>
        </p:spPr>
        <p:txBody>
          <a:bodyPr wrap="square" lIns="0" tIns="0" rIns="0" bIns="0" rtlCol="0" anchor="ctr"/>
          <a:lstStyle/>
          <a:p>
            <a:pPr defTabSz="1218895">
              <a:buClrTx/>
            </a:pPr>
            <a:r>
              <a:rPr lang="en-US" sz="1466" kern="1200" dirty="0">
                <a:solidFill>
                  <a:srgbClr val="D97706"/>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19" name="Shape 17"/>
          <p:cNvSpPr/>
          <p:nvPr/>
        </p:nvSpPr>
        <p:spPr>
          <a:xfrm>
            <a:off x="4778019" y="4011017"/>
            <a:ext cx="950728" cy="390042"/>
          </a:xfrm>
          <a:prstGeom prst="rect">
            <a:avLst/>
          </a:prstGeom>
          <a:solidFill>
            <a:srgbClr val="D97706">
              <a:alpha val="80000"/>
            </a:srgbClr>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Text 18"/>
          <p:cNvSpPr/>
          <p:nvPr/>
        </p:nvSpPr>
        <p:spPr>
          <a:xfrm>
            <a:off x="4802397" y="4035394"/>
            <a:ext cx="901973" cy="341287"/>
          </a:xfrm>
          <a:prstGeom prst="rect">
            <a:avLst/>
          </a:prstGeom>
          <a:noFill/>
          <a:ln/>
        </p:spPr>
        <p:txBody>
          <a:bodyPr wrap="square" lIns="0" tIns="0" rIns="0" bIns="0" rtlCol="0" anchor="ctr"/>
          <a:lstStyle/>
          <a:p>
            <a:pPr algn="ctr" defTabSz="1218895">
              <a:buClrTx/>
            </a:pPr>
            <a:r>
              <a:rPr lang="en-US" sz="733" kern="1200" dirty="0">
                <a:solidFill>
                  <a:srgbClr val="FFFFFF"/>
                </a:solidFill>
                <a:latin typeface="Consolas" pitchFamily="34" charset="0"/>
                <a:ea typeface="Consolas" pitchFamily="34" charset="-122"/>
                <a:cs typeface="Consolas" pitchFamily="34" charset="-120"/>
              </a:rPr>
              <a:t>Omit&lt;BtpOrder, 'id'|'createdAt'|'updatedAt'&gt;</a:t>
            </a:r>
            <a:endParaRPr lang="en-US" sz="733" kern="1200" dirty="0">
              <a:solidFill>
                <a:prstClr val="black"/>
              </a:solidFill>
              <a:latin typeface="Calibri" panose="020F0502020204030204"/>
              <a:ea typeface="+mn-ea"/>
              <a:cs typeface="+mn-cs"/>
            </a:endParaRPr>
          </a:p>
        </p:txBody>
      </p:sp>
      <p:sp>
        <p:nvSpPr>
          <p:cNvPr id="21" name="Shape 19"/>
          <p:cNvSpPr/>
          <p:nvPr/>
        </p:nvSpPr>
        <p:spPr>
          <a:xfrm>
            <a:off x="4778019" y="5534620"/>
            <a:ext cx="950728" cy="0"/>
          </a:xfrm>
          <a:prstGeom prst="line">
            <a:avLst/>
          </a:prstGeom>
          <a:noFill/>
          <a:ln w="1905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2" name="Text 20"/>
          <p:cNvSpPr/>
          <p:nvPr/>
        </p:nvSpPr>
        <p:spPr>
          <a:xfrm>
            <a:off x="5582481" y="5412731"/>
            <a:ext cx="243777" cy="292532"/>
          </a:xfrm>
          <a:prstGeom prst="rect">
            <a:avLst/>
          </a:prstGeom>
          <a:noFill/>
          <a:ln/>
        </p:spPr>
        <p:txBody>
          <a:bodyPr wrap="square" lIns="0" tIns="0" rIns="0" bIns="0" rtlCol="0" anchor="ctr"/>
          <a:lstStyle/>
          <a:p>
            <a:pPr defTabSz="1218895">
              <a:buClrTx/>
            </a:pPr>
            <a:r>
              <a:rPr lang="en-US" sz="1466" kern="1200" dirty="0">
                <a:solidFill>
                  <a:srgbClr val="7C3AED"/>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23" name="Shape 21"/>
          <p:cNvSpPr/>
          <p:nvPr/>
        </p:nvSpPr>
        <p:spPr>
          <a:xfrm>
            <a:off x="4778019" y="5071444"/>
            <a:ext cx="950728" cy="390042"/>
          </a:xfrm>
          <a:prstGeom prst="rect">
            <a:avLst/>
          </a:prstGeom>
          <a:solidFill>
            <a:srgbClr val="7C3AED">
              <a:alpha val="80000"/>
            </a:srgbClr>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4" name="Text 22"/>
          <p:cNvSpPr/>
          <p:nvPr/>
        </p:nvSpPr>
        <p:spPr>
          <a:xfrm>
            <a:off x="4802397" y="5095822"/>
            <a:ext cx="901973" cy="341287"/>
          </a:xfrm>
          <a:prstGeom prst="rect">
            <a:avLst/>
          </a:prstGeom>
          <a:noFill/>
          <a:ln/>
        </p:spPr>
        <p:txBody>
          <a:bodyPr wrap="square" lIns="0" tIns="0" rIns="0" bIns="0" rtlCol="0" anchor="ctr"/>
          <a:lstStyle/>
          <a:p>
            <a:pPr algn="ctr" defTabSz="1218895">
              <a:buClrTx/>
            </a:pPr>
            <a:r>
              <a:rPr lang="en-US" sz="733" kern="1200" dirty="0">
                <a:solidFill>
                  <a:srgbClr val="FFFFFF"/>
                </a:solidFill>
                <a:latin typeface="Consolas" pitchFamily="34" charset="0"/>
                <a:ea typeface="Consolas" pitchFamily="34" charset="-122"/>
                <a:cs typeface="Consolas" pitchFamily="34" charset="-120"/>
              </a:rPr>
              <a:t>Pick&lt;BtpOrder, 'id'|'status'&gt;</a:t>
            </a:r>
            <a:endParaRPr lang="en-US" sz="733" kern="1200" dirty="0">
              <a:solidFill>
                <a:prstClr val="black"/>
              </a:solidFill>
              <a:latin typeface="Calibri" panose="020F0502020204030204"/>
              <a:ea typeface="+mn-ea"/>
              <a:cs typeface="+mn-cs"/>
            </a:endParaRPr>
          </a:p>
        </p:txBody>
      </p:sp>
      <p:sp>
        <p:nvSpPr>
          <p:cNvPr id="25" name="Text 23"/>
          <p:cNvSpPr/>
          <p:nvPr/>
        </p:nvSpPr>
        <p:spPr>
          <a:xfrm>
            <a:off x="5911580" y="1402608"/>
            <a:ext cx="5972524" cy="365665"/>
          </a:xfrm>
          <a:prstGeom prst="rect">
            <a:avLst/>
          </a:prstGeom>
          <a:noFill/>
          <a:ln/>
        </p:spPr>
        <p:txBody>
          <a:bodyPr wrap="square" lIns="0" tIns="0" rIns="0" bIns="0" rtlCol="0" anchor="ctr"/>
          <a:lstStyle/>
          <a:p>
            <a:pPr defTabSz="1218895">
              <a:buClrTx/>
            </a:pPr>
            <a:r>
              <a:rPr lang="en-US" sz="1600" b="1" kern="1200" dirty="0">
                <a:solidFill>
                  <a:srgbClr val="1E293B"/>
                </a:solidFill>
                <a:latin typeface="Calibri" pitchFamily="34" charset="0"/>
                <a:ea typeface="Calibri" pitchFamily="34" charset="-122"/>
                <a:cs typeface="Calibri" pitchFamily="34" charset="-120"/>
              </a:rPr>
              <a:t>Derived Types (no duplication!)</a:t>
            </a:r>
            <a:endParaRPr lang="en-US" sz="1600" kern="1200" dirty="0">
              <a:solidFill>
                <a:prstClr val="black"/>
              </a:solidFill>
              <a:latin typeface="Calibri" panose="020F0502020204030204"/>
              <a:ea typeface="+mn-ea"/>
              <a:cs typeface="+mn-cs"/>
            </a:endParaRPr>
          </a:p>
        </p:txBody>
      </p:sp>
      <p:sp>
        <p:nvSpPr>
          <p:cNvPr id="26" name="Shape 24"/>
          <p:cNvSpPr/>
          <p:nvPr/>
        </p:nvSpPr>
        <p:spPr>
          <a:xfrm>
            <a:off x="5911580" y="1792650"/>
            <a:ext cx="5972524" cy="4022312"/>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7" name="Text 25"/>
          <p:cNvSpPr/>
          <p:nvPr/>
        </p:nvSpPr>
        <p:spPr>
          <a:xfrm>
            <a:off x="6094412" y="1914539"/>
            <a:ext cx="5704370" cy="3802913"/>
          </a:xfrm>
          <a:prstGeom prst="rect">
            <a:avLst/>
          </a:prstGeom>
          <a:noFill/>
          <a:ln/>
        </p:spPr>
        <p:txBody>
          <a:bodyPr wrap="square" lIns="0" tIns="0" rIns="0" bIns="0" rtlCol="0" anchor="t"/>
          <a:lstStyle/>
          <a:p>
            <a:pPr defTabSz="1218895">
              <a:buClrTx/>
            </a:pPr>
            <a:r>
              <a:rPr lang="en-US" sz="1200" kern="1200" dirty="0">
                <a:solidFill>
                  <a:srgbClr val="64748B"/>
                </a:solidFill>
                <a:latin typeface="Consolas" pitchFamily="34" charset="0"/>
                <a:ea typeface="Consolas" pitchFamily="34" charset="-122"/>
                <a:cs typeface="Consolas" pitchFamily="34" charset="-120"/>
              </a:rPr>
              <a:t>// ① Read-only view (cannot mutate)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type ReadonlyOrder = Readonly&lt;BtpOrder&gt;;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createdAt is readonly — safe to share</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② PATCH payload (all fields optional)</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type UpdatePayload = Partial&lt;BtpOrder&gt;;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 amount?: number; status?: ... }</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③ POST payload (no server-set fields)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type CreatePayload = Omit&lt;BtpOrder,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  'id' | 'createdAt' | 'updatedAt'&gt;;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 customerId, amount, status }</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④ Lightweight reference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type OrderRef = Pick&lt;BtpOrder,'id'|'status'&gt;;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 id: string; status: OrderStatus }</a:t>
            </a:r>
            <a:endParaRPr lang="en-US" sz="1200" kern="1200" dirty="0">
              <a:solidFill>
                <a:prstClr val="black"/>
              </a:solidFill>
              <a:latin typeface="Calibri" panose="020F0502020204030204"/>
              <a:ea typeface="+mn-ea"/>
              <a:cs typeface="+mn-cs"/>
            </a:endParaRPr>
          </a:p>
        </p:txBody>
      </p:sp>
      <p:sp>
        <p:nvSpPr>
          <p:cNvPr id="28" name="Shape 26"/>
          <p:cNvSpPr/>
          <p:nvPr/>
        </p:nvSpPr>
        <p:spPr>
          <a:xfrm>
            <a:off x="487553" y="5936851"/>
            <a:ext cx="11213719" cy="755707"/>
          </a:xfrm>
          <a:prstGeom prst="rect">
            <a:avLst/>
          </a:prstGeom>
          <a:solidFill>
            <a:srgbClr val="FEF3C7"/>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9" name="Text 27"/>
          <p:cNvSpPr/>
          <p:nvPr/>
        </p:nvSpPr>
        <p:spPr>
          <a:xfrm>
            <a:off x="670385" y="5973417"/>
            <a:ext cx="10969943" cy="682574"/>
          </a:xfrm>
          <a:prstGeom prst="rect">
            <a:avLst/>
          </a:prstGeom>
          <a:noFill/>
          <a:ln/>
        </p:spPr>
        <p:txBody>
          <a:bodyPr wrap="square" lIns="0" tIns="0" rIns="0" bIns="0" rtlCol="0" anchor="ctr"/>
          <a:lstStyle/>
          <a:p>
            <a:pPr defTabSz="1218895">
              <a:buClrTx/>
            </a:pPr>
            <a:r>
              <a:rPr lang="en-US" b="1" kern="1200" dirty="0">
                <a:solidFill>
                  <a:srgbClr val="D97706"/>
                </a:solidFill>
                <a:latin typeface="Calibri" pitchFamily="34" charset="0"/>
                <a:ea typeface="Calibri" pitchFamily="34" charset="-122"/>
                <a:cs typeface="Calibri" pitchFamily="34" charset="-120"/>
              </a:rPr>
              <a:t>💡  Mapped types are computed at compile time — zero runtime cost. If you rename a field in BtpOrder,</a:t>
            </a:r>
            <a:endParaRPr lang="en-US" kern="1200" dirty="0">
              <a:solidFill>
                <a:prstClr val="black"/>
              </a:solidFill>
              <a:latin typeface="Calibri" panose="020F0502020204030204"/>
              <a:ea typeface="+mn-ea"/>
              <a:cs typeface="+mn-cs"/>
            </a:endParaRPr>
          </a:p>
          <a:p>
            <a:pPr defTabSz="1218895">
              <a:buClrTx/>
            </a:pPr>
            <a:r>
              <a:rPr lang="en-US" b="1" kern="1200" dirty="0">
                <a:solidFill>
                  <a:srgbClr val="D97706"/>
                </a:solidFill>
                <a:latin typeface="Calibri" pitchFamily="34" charset="0"/>
                <a:ea typeface="Calibri" pitchFamily="34" charset="-122"/>
                <a:cs typeface="Calibri" pitchFamily="34" charset="-120"/>
              </a:rPr>
              <a:t>all derived types update automatically. No interface drift, no manual updates.</a:t>
            </a:r>
            <a:endParaRPr lang="en-US" kern="1200" dirty="0">
              <a:solidFill>
                <a:prstClr val="black"/>
              </a:solidFill>
              <a:latin typeface="Calibri" panose="020F0502020204030204"/>
              <a:ea typeface="+mn-ea"/>
              <a:cs typeface="+mn-cs"/>
            </a:endParaRPr>
          </a:p>
        </p:txBody>
      </p:sp>
      <p:pic>
        <p:nvPicPr>
          <p:cNvPr id="30" name="Google Shape;497;p1">
            <a:extLst>
              <a:ext uri="{FF2B5EF4-FFF2-40B4-BE49-F238E27FC236}">
                <a16:creationId xmlns:a16="http://schemas.microsoft.com/office/drawing/2014/main" id="{5C91E97B-8773-E07B-7D1C-F80C63093462}"/>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Exercise C — entity-types.ts Full Solution</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Hands-on  ·  exercises/entity-types.ts — derive all payload types</a:t>
            </a:r>
            <a:endParaRPr lang="en-US" sz="1466" kern="1200" dirty="0">
              <a:solidFill>
                <a:prstClr val="black"/>
              </a:solidFill>
              <a:latin typeface="Calibri" panose="020F0502020204030204"/>
              <a:ea typeface="+mn-ea"/>
              <a:cs typeface="+mn-cs"/>
            </a:endParaRPr>
          </a:p>
        </p:txBody>
      </p:sp>
      <p:sp>
        <p:nvSpPr>
          <p:cNvPr id="6" name="Text 4"/>
          <p:cNvSpPr/>
          <p:nvPr/>
        </p:nvSpPr>
        <p:spPr>
          <a:xfrm>
            <a:off x="487553" y="1402608"/>
            <a:ext cx="5484971" cy="365665"/>
          </a:xfrm>
          <a:prstGeom prst="rect">
            <a:avLst/>
          </a:prstGeom>
          <a:noFill/>
          <a:ln/>
        </p:spPr>
        <p:txBody>
          <a:bodyPr wrap="square" lIns="0" tIns="0" rIns="0" bIns="0" rtlCol="0" anchor="ctr"/>
          <a:lstStyle/>
          <a:p>
            <a:pPr defTabSz="1218895">
              <a:buClrTx/>
            </a:pPr>
            <a:r>
              <a:rPr lang="en-US" sz="1466" b="1" kern="1200" dirty="0">
                <a:solidFill>
                  <a:srgbClr val="1E293B"/>
                </a:solidFill>
                <a:latin typeface="Calibri" pitchFamily="34" charset="0"/>
                <a:ea typeface="Calibri" pitchFamily="34" charset="-122"/>
                <a:cs typeface="Calibri" pitchFamily="34" charset="-120"/>
              </a:rPr>
              <a:t>Source Interface (write once)</a:t>
            </a:r>
            <a:endParaRPr lang="en-US" sz="1466" kern="1200" dirty="0">
              <a:solidFill>
                <a:prstClr val="black"/>
              </a:solidFill>
              <a:latin typeface="Calibri" panose="020F0502020204030204"/>
              <a:ea typeface="+mn-ea"/>
              <a:cs typeface="+mn-cs"/>
            </a:endParaRPr>
          </a:p>
        </p:txBody>
      </p:sp>
      <p:sp>
        <p:nvSpPr>
          <p:cNvPr id="7" name="Shape 5"/>
          <p:cNvSpPr/>
          <p:nvPr/>
        </p:nvSpPr>
        <p:spPr>
          <a:xfrm>
            <a:off x="487553" y="1792650"/>
            <a:ext cx="5484971" cy="3047206"/>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70385" y="1914539"/>
            <a:ext cx="5216817" cy="2827807"/>
          </a:xfrm>
          <a:prstGeom prst="rect">
            <a:avLst/>
          </a:prstGeom>
          <a:noFill/>
          <a:ln/>
        </p:spPr>
        <p:txBody>
          <a:bodyPr wrap="square" lIns="0" tIns="0" rIns="0" bIns="0" rtlCol="0" anchor="t"/>
          <a:lstStyle/>
          <a:p>
            <a:pPr defTabSz="1218895">
              <a:buClrTx/>
            </a:pPr>
            <a:r>
              <a:rPr lang="en-US" sz="1200" kern="1200" dirty="0">
                <a:solidFill>
                  <a:srgbClr val="64748B"/>
                </a:solidFill>
                <a:latin typeface="Consolas" pitchFamily="34" charset="0"/>
                <a:ea typeface="Consolas" pitchFamily="34" charset="-122"/>
                <a:cs typeface="Consolas" pitchFamily="34" charset="-120"/>
              </a:rPr>
              <a:t>// The single source of truth</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export interface BtpServiceOrder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id: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customerId: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customerName: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items: OrderItem[];</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totalAmount: number;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currency: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6EFAC"/>
                </a:solidFill>
                <a:latin typeface="Consolas" pitchFamily="34" charset="0"/>
                <a:ea typeface="Consolas" pitchFamily="34" charset="-122"/>
                <a:cs typeface="Consolas" pitchFamily="34" charset="-120"/>
              </a:rPr>
              <a:t>  status: 'Open'|'Processing'|'Closed';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createdAt: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updatedAt: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createdBy: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p:txBody>
      </p:sp>
      <p:sp>
        <p:nvSpPr>
          <p:cNvPr id="9" name="Text 7"/>
          <p:cNvSpPr/>
          <p:nvPr/>
        </p:nvSpPr>
        <p:spPr>
          <a:xfrm>
            <a:off x="6277244" y="1402608"/>
            <a:ext cx="5606860" cy="365665"/>
          </a:xfrm>
          <a:prstGeom prst="rect">
            <a:avLst/>
          </a:prstGeom>
          <a:noFill/>
          <a:ln/>
        </p:spPr>
        <p:txBody>
          <a:bodyPr wrap="square" lIns="0" tIns="0" rIns="0" bIns="0" rtlCol="0" anchor="ctr"/>
          <a:lstStyle/>
          <a:p>
            <a:pPr defTabSz="1218895">
              <a:buClrTx/>
            </a:pPr>
            <a:r>
              <a:rPr lang="en-US" sz="1466" b="1" kern="1200" dirty="0">
                <a:solidFill>
                  <a:srgbClr val="D97706"/>
                </a:solidFill>
                <a:latin typeface="Calibri" pitchFamily="34" charset="0"/>
                <a:ea typeface="Calibri" pitchFamily="34" charset="-122"/>
                <a:cs typeface="Calibri" pitchFamily="34" charset="-120"/>
              </a:rPr>
              <a:t>Derived Types (zero repetition)</a:t>
            </a:r>
            <a:endParaRPr lang="en-US" sz="1466" kern="1200" dirty="0">
              <a:solidFill>
                <a:prstClr val="black"/>
              </a:solidFill>
              <a:latin typeface="Calibri" panose="020F0502020204030204"/>
              <a:ea typeface="+mn-ea"/>
              <a:cs typeface="+mn-cs"/>
            </a:endParaRPr>
          </a:p>
        </p:txBody>
      </p:sp>
      <p:sp>
        <p:nvSpPr>
          <p:cNvPr id="10" name="Shape 8"/>
          <p:cNvSpPr/>
          <p:nvPr/>
        </p:nvSpPr>
        <p:spPr>
          <a:xfrm>
            <a:off x="6277244" y="1792650"/>
            <a:ext cx="5606860" cy="3047206"/>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6460077" y="1914539"/>
            <a:ext cx="5338705" cy="2827807"/>
          </a:xfrm>
          <a:prstGeom prst="rect">
            <a:avLst/>
          </a:prstGeom>
          <a:noFill/>
          <a:ln/>
        </p:spPr>
        <p:txBody>
          <a:bodyPr wrap="square" lIns="0" tIns="0" rIns="0" bIns="0" rtlCol="0" anchor="t"/>
          <a:lstStyle/>
          <a:p>
            <a:pPr defTabSz="1218895">
              <a:buClrTx/>
            </a:pPr>
            <a:r>
              <a:rPr lang="en-US" sz="1200" kern="1200" dirty="0">
                <a:solidFill>
                  <a:srgbClr val="64748B"/>
                </a:solidFill>
                <a:latin typeface="Consolas" pitchFamily="34" charset="0"/>
                <a:ea typeface="Consolas" pitchFamily="34" charset="-122"/>
                <a:cs typeface="Consolas" pitchFamily="34" charset="-120"/>
              </a:rPr>
              <a:t>// ReadOnly — safe for event emissions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export type ReadOnlyOrder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  Readonly&lt;BtpServiceOrder&gt;;</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POST payload — no system-managed fields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export type CreateOrderPayload = Omit&lt;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  BtpServiceOrder,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6EFAC"/>
                </a:solidFill>
                <a:latin typeface="Consolas" pitchFamily="34" charset="0"/>
                <a:ea typeface="Consolas" pitchFamily="34" charset="-122"/>
                <a:cs typeface="Consolas" pitchFamily="34" charset="-120"/>
              </a:rPr>
              <a:t>  'id'|'createdAt'|'updatedAt'|'createdBy'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&gt;;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PATCH payload — all optional</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export type UpdateOrderPayload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  Partial&lt;Omit&lt;BtpServiceOrder,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6EFAC"/>
                </a:solidFill>
                <a:latin typeface="Consolas" pitchFamily="34" charset="0"/>
                <a:ea typeface="Consolas" pitchFamily="34" charset="-122"/>
                <a:cs typeface="Consolas" pitchFamily="34" charset="-120"/>
              </a:rPr>
              <a:t>    'id'|'createdAt'|'updatedAt'|'createdBy'&gt;&gt;;</a:t>
            </a:r>
            <a:endParaRPr lang="en-US" sz="1200" kern="1200" dirty="0">
              <a:solidFill>
                <a:prstClr val="black"/>
              </a:solidFill>
              <a:latin typeface="Calibri" panose="020F0502020204030204"/>
              <a:ea typeface="+mn-ea"/>
              <a:cs typeface="+mn-cs"/>
            </a:endParaRPr>
          </a:p>
        </p:txBody>
      </p:sp>
      <p:sp>
        <p:nvSpPr>
          <p:cNvPr id="12" name="Text 10"/>
          <p:cNvSpPr/>
          <p:nvPr/>
        </p:nvSpPr>
        <p:spPr>
          <a:xfrm>
            <a:off x="487553" y="4973934"/>
            <a:ext cx="11213719" cy="341287"/>
          </a:xfrm>
          <a:prstGeom prst="rect">
            <a:avLst/>
          </a:prstGeom>
          <a:noFill/>
          <a:ln/>
        </p:spPr>
        <p:txBody>
          <a:bodyPr wrap="square" lIns="0" tIns="0" rIns="0" bIns="0" rtlCol="0" anchor="ctr"/>
          <a:lstStyle/>
          <a:p>
            <a:pPr defTabSz="1218895">
              <a:buClrTx/>
            </a:pPr>
            <a:r>
              <a:rPr lang="en-US" sz="1466" b="1" kern="1200" dirty="0">
                <a:solidFill>
                  <a:srgbClr val="1E293B"/>
                </a:solidFill>
                <a:latin typeface="Calibri" pitchFamily="34" charset="0"/>
                <a:ea typeface="Calibri" pitchFamily="34" charset="-122"/>
                <a:cs typeface="Calibri" pitchFamily="34" charset="-120"/>
              </a:rPr>
              <a:t>How to use these types in CAP handlers</a:t>
            </a:r>
            <a:endParaRPr lang="en-US" sz="1466" kern="1200" dirty="0">
              <a:solidFill>
                <a:prstClr val="black"/>
              </a:solidFill>
              <a:latin typeface="Calibri" panose="020F0502020204030204"/>
              <a:ea typeface="+mn-ea"/>
              <a:cs typeface="+mn-cs"/>
            </a:endParaRPr>
          </a:p>
        </p:txBody>
      </p:sp>
      <p:sp>
        <p:nvSpPr>
          <p:cNvPr id="13" name="Shape 11"/>
          <p:cNvSpPr/>
          <p:nvPr/>
        </p:nvSpPr>
        <p:spPr>
          <a:xfrm>
            <a:off x="487553" y="5339599"/>
            <a:ext cx="11213719" cy="1365148"/>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670385" y="5461486"/>
            <a:ext cx="10945565" cy="1145750"/>
          </a:xfrm>
          <a:prstGeom prst="rect">
            <a:avLst/>
          </a:prstGeom>
          <a:noFill/>
          <a:ln/>
        </p:spPr>
        <p:txBody>
          <a:bodyPr wrap="square" lIns="0" tIns="0" rIns="0" bIns="0" rtlCol="0" anchor="t"/>
          <a:lstStyle/>
          <a:p>
            <a:pPr defTabSz="1218895">
              <a:buClrTx/>
            </a:pPr>
            <a:r>
              <a:rPr lang="en-US" sz="1266" kern="1200" dirty="0">
                <a:solidFill>
                  <a:srgbClr val="64748B"/>
                </a:solidFill>
                <a:latin typeface="Consolas" pitchFamily="34" charset="0"/>
                <a:ea typeface="Consolas" pitchFamily="34" charset="-122"/>
                <a:cs typeface="Consolas" pitchFamily="34" charset="-120"/>
              </a:rPr>
              <a:t>// POST handler — TypeScript enforces only allowed fields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async function onCreate(req: { data: CreateOrderPayload })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  req.data.id;         // Error! 'id' does not exist on CreateOrderPayload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req.data.customerId; // OK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 PATCH handler — all fields optional, no id allowed</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async function onUpdate(req: { data: UpdateOrderPayload }) { ... }</a:t>
            </a:r>
            <a:endParaRPr lang="en-US" sz="1266" kern="1200" dirty="0">
              <a:solidFill>
                <a:prstClr val="black"/>
              </a:solidFill>
              <a:latin typeface="Calibri" panose="020F0502020204030204"/>
              <a:ea typeface="+mn-ea"/>
              <a:cs typeface="+mn-cs"/>
            </a:endParaRPr>
          </a:p>
        </p:txBody>
      </p:sp>
      <p:pic>
        <p:nvPicPr>
          <p:cNvPr id="15" name="Google Shape;497;p1">
            <a:extLst>
              <a:ext uri="{FF2B5EF4-FFF2-40B4-BE49-F238E27FC236}">
                <a16:creationId xmlns:a16="http://schemas.microsoft.com/office/drawing/2014/main" id="{66D18645-AB6C-02C1-264B-8EA090A2157F}"/>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Putting It All Together — Real BTP Service Pattern</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Integration  ·  Generics + Decorators + Utility Types in one CAP handler</a:t>
            </a:r>
            <a:endParaRPr lang="en-US" sz="1466" kern="1200" dirty="0">
              <a:solidFill>
                <a:prstClr val="black"/>
              </a:solidFill>
              <a:latin typeface="Calibri" panose="020F0502020204030204"/>
              <a:ea typeface="+mn-ea"/>
              <a:cs typeface="+mn-cs"/>
            </a:endParaRPr>
          </a:p>
        </p:txBody>
      </p:sp>
      <p:sp>
        <p:nvSpPr>
          <p:cNvPr id="6" name="Shape 4"/>
          <p:cNvSpPr/>
          <p:nvPr/>
        </p:nvSpPr>
        <p:spPr>
          <a:xfrm>
            <a:off x="487553" y="1402608"/>
            <a:ext cx="11213719" cy="5216817"/>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670385" y="1524496"/>
            <a:ext cx="10945565" cy="4997418"/>
          </a:xfrm>
          <a:prstGeom prst="rect">
            <a:avLst/>
          </a:prstGeom>
          <a:noFill/>
          <a:ln/>
        </p:spPr>
        <p:txBody>
          <a:bodyPr wrap="square" lIns="0" tIns="0" rIns="0" bIns="0" rtlCol="0" anchor="t"/>
          <a:lstStyle/>
          <a:p>
            <a:pPr defTabSz="1218895">
              <a:buClrTx/>
            </a:pPr>
            <a:r>
              <a:rPr lang="en-US" sz="1266" kern="1200" dirty="0">
                <a:solidFill>
                  <a:srgbClr val="64748B"/>
                </a:solidFill>
                <a:latin typeface="Consolas" pitchFamily="34" charset="0"/>
                <a:ea typeface="Consolas" pitchFamily="34" charset="-122"/>
                <a:cs typeface="Consolas" pitchFamily="34" charset="-120"/>
              </a:rPr>
              <a:t>import { ConfigLoader }   from './config-loader';   // Exercise A</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import { LogRequest }     from './decorators';      // Exercise B</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import { CreateOrderPayload, UpdateOrderPayload } from './entity-types'; // Exercise C</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 ── A: Load typed config once at startup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472B6"/>
                </a:solidFill>
                <a:latin typeface="Consolas" pitchFamily="34" charset="0"/>
                <a:ea typeface="Consolas" pitchFamily="34" charset="-122"/>
                <a:cs typeface="Consolas" pitchFamily="34" charset="-120"/>
              </a:rPr>
              <a:t>const destCfg = new ConfigLoader&lt;DestinationConfig&gt;('dest.json')</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.load(validateDestConfig);</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 ── B + C: Decorated handler with utility-typed parameters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class OrderService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@LogRequest({ level: 'info' })               // B: decorator</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472B6"/>
                </a:solidFill>
                <a:latin typeface="Consolas" pitchFamily="34" charset="0"/>
                <a:ea typeface="Consolas" pitchFamily="34" charset="-122"/>
                <a:cs typeface="Consolas" pitchFamily="34" charset="-120"/>
              </a:rPr>
              <a:t>  async onCreate(data: CreateOrderPayload) {   // C: utility type (no id, no timestamps)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const resp = await fetch(destCfg.url, {   // A: typed config</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method: 'POST',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body: JSON.stringify(data)</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return resp.json();</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@LogRequest({ level: 'debug' })              // B: decorator</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472B6"/>
                </a:solidFill>
                <a:latin typeface="Consolas" pitchFamily="34" charset="0"/>
                <a:ea typeface="Consolas" pitchFamily="34" charset="-122"/>
                <a:cs typeface="Consolas" pitchFamily="34" charset="-120"/>
              </a:rPr>
              <a:t>  async onUpdate(id: string, patch: UpdateOrderPayload) {  // C: all optional</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    // patch.id is a compile-time error — Omit removes it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return updateOrderInBtp(destCfg, id, patch);</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p:txBody>
      </p:sp>
      <p:sp>
        <p:nvSpPr>
          <p:cNvPr id="8" name="Shape 6"/>
          <p:cNvSpPr/>
          <p:nvPr/>
        </p:nvSpPr>
        <p:spPr>
          <a:xfrm>
            <a:off x="487552" y="6704747"/>
            <a:ext cx="3656648" cy="0"/>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9" name="Shape 7"/>
          <p:cNvSpPr/>
          <p:nvPr/>
        </p:nvSpPr>
        <p:spPr>
          <a:xfrm>
            <a:off x="4412354" y="6704747"/>
            <a:ext cx="3656648" cy="0"/>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Shape 8"/>
          <p:cNvSpPr/>
          <p:nvPr/>
        </p:nvSpPr>
        <p:spPr>
          <a:xfrm>
            <a:off x="8337156" y="6704747"/>
            <a:ext cx="3656648" cy="0"/>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Shape 9"/>
          <p:cNvSpPr/>
          <p:nvPr/>
        </p:nvSpPr>
        <p:spPr>
          <a:xfrm>
            <a:off x="487553" y="6704747"/>
            <a:ext cx="11213719" cy="73133"/>
          </a:xfrm>
          <a:prstGeom prst="rect">
            <a:avLst/>
          </a:prstGeom>
          <a:solidFill>
            <a:srgbClr val="E2E8F0"/>
          </a:solidFill>
          <a:ln w="12700">
            <a:solidFill>
              <a:srgbClr val="E2E8F0"/>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2" name="Shape 10"/>
          <p:cNvSpPr/>
          <p:nvPr/>
        </p:nvSpPr>
        <p:spPr>
          <a:xfrm>
            <a:off x="487552" y="6668180"/>
            <a:ext cx="219399" cy="219399"/>
          </a:xfrm>
          <a:prstGeom prst="ellipse">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Text 11"/>
          <p:cNvSpPr/>
          <p:nvPr/>
        </p:nvSpPr>
        <p:spPr>
          <a:xfrm>
            <a:off x="755707" y="6668180"/>
            <a:ext cx="3047206" cy="219399"/>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A: Generics</a:t>
            </a:r>
            <a:endParaRPr lang="en-US" sz="1133" kern="1200" dirty="0">
              <a:solidFill>
                <a:prstClr val="black"/>
              </a:solidFill>
              <a:latin typeface="Calibri" panose="020F0502020204030204"/>
              <a:ea typeface="+mn-ea"/>
              <a:cs typeface="+mn-cs"/>
            </a:endParaRPr>
          </a:p>
        </p:txBody>
      </p:sp>
      <p:sp>
        <p:nvSpPr>
          <p:cNvPr id="14" name="Shape 12"/>
          <p:cNvSpPr/>
          <p:nvPr/>
        </p:nvSpPr>
        <p:spPr>
          <a:xfrm>
            <a:off x="4412354" y="6668180"/>
            <a:ext cx="219399" cy="219399"/>
          </a:xfrm>
          <a:prstGeom prst="ellipse">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5" name="Text 13"/>
          <p:cNvSpPr/>
          <p:nvPr/>
        </p:nvSpPr>
        <p:spPr>
          <a:xfrm>
            <a:off x="4680508" y="6668180"/>
            <a:ext cx="3047206" cy="219399"/>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B: Decorators</a:t>
            </a:r>
            <a:endParaRPr lang="en-US" sz="1133" kern="1200" dirty="0">
              <a:solidFill>
                <a:prstClr val="black"/>
              </a:solidFill>
              <a:latin typeface="Calibri" panose="020F0502020204030204"/>
              <a:ea typeface="+mn-ea"/>
              <a:cs typeface="+mn-cs"/>
            </a:endParaRPr>
          </a:p>
        </p:txBody>
      </p:sp>
      <p:sp>
        <p:nvSpPr>
          <p:cNvPr id="16" name="Shape 14"/>
          <p:cNvSpPr/>
          <p:nvPr/>
        </p:nvSpPr>
        <p:spPr>
          <a:xfrm>
            <a:off x="8337156" y="6668180"/>
            <a:ext cx="219399" cy="219399"/>
          </a:xfrm>
          <a:prstGeom prst="ellipse">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7" name="Text 15"/>
          <p:cNvSpPr/>
          <p:nvPr/>
        </p:nvSpPr>
        <p:spPr>
          <a:xfrm>
            <a:off x="8605310" y="6668180"/>
            <a:ext cx="3047206" cy="219399"/>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C: Utility Types</a:t>
            </a:r>
            <a:endParaRPr lang="en-US" sz="1133" kern="1200" dirty="0">
              <a:solidFill>
                <a:prstClr val="black"/>
              </a:solidFill>
              <a:latin typeface="Calibri" panose="020F0502020204030204"/>
              <a:ea typeface="+mn-ea"/>
              <a:cs typeface="+mn-cs"/>
            </a:endParaRPr>
          </a:p>
        </p:txBody>
      </p:sp>
      <p:pic>
        <p:nvPicPr>
          <p:cNvPr id="18" name="Google Shape;497;p1">
            <a:extLst>
              <a:ext uri="{FF2B5EF4-FFF2-40B4-BE49-F238E27FC236}">
                <a16:creationId xmlns:a16="http://schemas.microsoft.com/office/drawing/2014/main" id="{DEA13D57-E33D-B5DD-CFA8-7120654C57F0}"/>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Common Mistakes &amp; How to Fix Them</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Reference  ·  Errors you will see and how to resolve them</a:t>
            </a:r>
            <a:endParaRPr lang="en-US" sz="1466" kern="1200" dirty="0">
              <a:solidFill>
                <a:prstClr val="black"/>
              </a:solidFill>
              <a:latin typeface="Calibri" panose="020F0502020204030204"/>
              <a:ea typeface="+mn-ea"/>
              <a:cs typeface="+mn-cs"/>
            </a:endParaRPr>
          </a:p>
        </p:txBody>
      </p:sp>
      <p:sp>
        <p:nvSpPr>
          <p:cNvPr id="6" name="Shape 4"/>
          <p:cNvSpPr/>
          <p:nvPr/>
        </p:nvSpPr>
        <p:spPr>
          <a:xfrm>
            <a:off x="487552" y="1402608"/>
            <a:ext cx="5667804" cy="1682058"/>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Shape 5"/>
          <p:cNvSpPr/>
          <p:nvPr/>
        </p:nvSpPr>
        <p:spPr>
          <a:xfrm>
            <a:off x="487552" y="1402608"/>
            <a:ext cx="5667804" cy="365665"/>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09441" y="1402608"/>
            <a:ext cx="5545915" cy="365665"/>
          </a:xfrm>
          <a:prstGeom prst="rect">
            <a:avLst/>
          </a:prstGeom>
          <a:noFill/>
          <a:ln/>
        </p:spPr>
        <p:txBody>
          <a:bodyPr wrap="square" lIns="0" tIns="0" rIns="0" bIns="0" rtlCol="0" anchor="ctr"/>
          <a:lstStyle/>
          <a:p>
            <a:pPr defTabSz="1218895">
              <a:buClrTx/>
            </a:pPr>
            <a:r>
              <a:rPr lang="en-US" sz="1266" b="1" kern="1200" dirty="0">
                <a:solidFill>
                  <a:srgbClr val="FFFFFF"/>
                </a:solidFill>
                <a:latin typeface="Calibri" pitchFamily="34" charset="0"/>
                <a:ea typeface="Calibri" pitchFamily="34" charset="-122"/>
                <a:cs typeface="Calibri" pitchFamily="34" charset="-120"/>
              </a:rPr>
              <a:t>A – Generics</a:t>
            </a:r>
            <a:endParaRPr lang="en-US" sz="1266" kern="1200" dirty="0">
              <a:solidFill>
                <a:prstClr val="black"/>
              </a:solidFill>
              <a:latin typeface="Calibri" panose="020F0502020204030204"/>
              <a:ea typeface="+mn-ea"/>
              <a:cs typeface="+mn-cs"/>
            </a:endParaRPr>
          </a:p>
        </p:txBody>
      </p:sp>
      <p:sp>
        <p:nvSpPr>
          <p:cNvPr id="9" name="Text 7"/>
          <p:cNvSpPr/>
          <p:nvPr/>
        </p:nvSpPr>
        <p:spPr>
          <a:xfrm>
            <a:off x="633818" y="1804839"/>
            <a:ext cx="5424027" cy="316909"/>
          </a:xfrm>
          <a:prstGeom prst="rect">
            <a:avLst/>
          </a:prstGeom>
          <a:noFill/>
          <a:ln/>
        </p:spPr>
        <p:txBody>
          <a:bodyPr wrap="square" lIns="0" tIns="0" rIns="0" bIns="0" rtlCol="0" anchor="ctr"/>
          <a:lstStyle/>
          <a:p>
            <a:pPr defTabSz="1218895">
              <a:buClrTx/>
            </a:pPr>
            <a:r>
              <a:rPr lang="en-US" sz="1133" b="1" kern="1200" dirty="0">
                <a:solidFill>
                  <a:srgbClr val="DC2626"/>
                </a:solidFill>
                <a:latin typeface="Consolas" pitchFamily="34" charset="0"/>
                <a:ea typeface="Consolas" pitchFamily="34" charset="-122"/>
                <a:cs typeface="Consolas" pitchFamily="34" charset="-120"/>
              </a:rPr>
              <a:t>TS2322: Type 'string' is not assignable to type 'T'</a:t>
            </a:r>
            <a:endParaRPr lang="en-US" sz="1133" kern="1200" dirty="0">
              <a:solidFill>
                <a:prstClr val="black"/>
              </a:solidFill>
              <a:latin typeface="Calibri" panose="020F0502020204030204"/>
              <a:ea typeface="+mn-ea"/>
              <a:cs typeface="+mn-cs"/>
            </a:endParaRPr>
          </a:p>
        </p:txBody>
      </p:sp>
      <p:sp>
        <p:nvSpPr>
          <p:cNvPr id="10" name="Text 8"/>
          <p:cNvSpPr/>
          <p:nvPr/>
        </p:nvSpPr>
        <p:spPr>
          <a:xfrm>
            <a:off x="633818" y="2133937"/>
            <a:ext cx="5424027" cy="341287"/>
          </a:xfrm>
          <a:prstGeom prst="rect">
            <a:avLst/>
          </a:prstGeom>
          <a:noFill/>
          <a:ln/>
        </p:spPr>
        <p:txBody>
          <a:bodyPr wrap="square" lIns="0" tIns="0" rIns="0" bIns="0" rtlCol="0" anchor="ctr"/>
          <a:lstStyle/>
          <a:p>
            <a:pPr defTabSz="1218895">
              <a:buClrTx/>
            </a:pPr>
            <a:r>
              <a:rPr lang="en-US" sz="1133" b="1" kern="1200" dirty="0">
                <a:solidFill>
                  <a:srgbClr val="334155"/>
                </a:solidFill>
                <a:latin typeface="Calibri" pitchFamily="34" charset="0"/>
                <a:ea typeface="Calibri" pitchFamily="34" charset="-122"/>
                <a:cs typeface="Calibri" pitchFamily="34" charset="-120"/>
              </a:rPr>
              <a:t>Cause: </a:t>
            </a:r>
            <a:r>
              <a:rPr lang="en-US" sz="1133" kern="1200" dirty="0">
                <a:solidFill>
                  <a:srgbClr val="334155"/>
                </a:solidFill>
                <a:latin typeface="Calibri" pitchFamily="34" charset="0"/>
                <a:ea typeface="Calibri" pitchFamily="34" charset="-122"/>
                <a:cs typeface="Calibri" pitchFamily="34" charset="-120"/>
              </a:rPr>
              <a:t>Returning a hardcoded value instead of the validated T</a:t>
            </a:r>
            <a:endParaRPr lang="en-US" sz="1133" kern="1200" dirty="0">
              <a:solidFill>
                <a:prstClr val="black"/>
              </a:solidFill>
              <a:latin typeface="Calibri" panose="020F0502020204030204"/>
              <a:ea typeface="+mn-ea"/>
              <a:cs typeface="+mn-cs"/>
            </a:endParaRPr>
          </a:p>
        </p:txBody>
      </p:sp>
      <p:sp>
        <p:nvSpPr>
          <p:cNvPr id="11" name="Text 9"/>
          <p:cNvSpPr/>
          <p:nvPr/>
        </p:nvSpPr>
        <p:spPr>
          <a:xfrm>
            <a:off x="633818" y="2499602"/>
            <a:ext cx="5424027" cy="511931"/>
          </a:xfrm>
          <a:prstGeom prst="rect">
            <a:avLst/>
          </a:prstGeom>
          <a:noFill/>
          <a:ln/>
        </p:spPr>
        <p:txBody>
          <a:bodyPr wrap="square" lIns="0" tIns="0" rIns="0" bIns="0" rtlCol="0" anchor="ctr"/>
          <a:lstStyle/>
          <a:p>
            <a:pPr defTabSz="1218895">
              <a:buClrTx/>
            </a:pPr>
            <a:r>
              <a:rPr lang="en-US" sz="1133" b="1" kern="1200" dirty="0">
                <a:solidFill>
                  <a:srgbClr val="7C3AED"/>
                </a:solidFill>
                <a:latin typeface="Calibri" pitchFamily="34" charset="0"/>
                <a:ea typeface="Calibri" pitchFamily="34" charset="-122"/>
                <a:cs typeface="Calibri" pitchFamily="34" charset="-120"/>
              </a:rPr>
              <a:t>Fix: </a:t>
            </a:r>
            <a:r>
              <a:rPr lang="en-US" sz="1133" kern="1200" dirty="0">
                <a:solidFill>
                  <a:srgbClr val="334155"/>
                </a:solidFill>
                <a:latin typeface="Calibri" pitchFamily="34" charset="0"/>
                <a:ea typeface="Calibri" pitchFamily="34" charset="-122"/>
                <a:cs typeface="Calibri" pitchFamily="34" charset="-120"/>
              </a:rPr>
              <a:t>Return the result of the validator function — it knows the shape of T</a:t>
            </a:r>
            <a:endParaRPr lang="en-US" sz="1133" kern="1200" dirty="0">
              <a:solidFill>
                <a:prstClr val="black"/>
              </a:solidFill>
              <a:latin typeface="Calibri" panose="020F0502020204030204"/>
              <a:ea typeface="+mn-ea"/>
              <a:cs typeface="+mn-cs"/>
            </a:endParaRPr>
          </a:p>
        </p:txBody>
      </p:sp>
      <p:sp>
        <p:nvSpPr>
          <p:cNvPr id="12" name="Shape 10"/>
          <p:cNvSpPr/>
          <p:nvPr/>
        </p:nvSpPr>
        <p:spPr>
          <a:xfrm>
            <a:off x="6399132" y="1402608"/>
            <a:ext cx="5667804" cy="1682058"/>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Shape 11"/>
          <p:cNvSpPr/>
          <p:nvPr/>
        </p:nvSpPr>
        <p:spPr>
          <a:xfrm>
            <a:off x="6399132" y="1402608"/>
            <a:ext cx="5667804" cy="365665"/>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6521021" y="1402608"/>
            <a:ext cx="5545915" cy="365665"/>
          </a:xfrm>
          <a:prstGeom prst="rect">
            <a:avLst/>
          </a:prstGeom>
          <a:noFill/>
          <a:ln/>
        </p:spPr>
        <p:txBody>
          <a:bodyPr wrap="square" lIns="0" tIns="0" rIns="0" bIns="0" rtlCol="0" anchor="ctr"/>
          <a:lstStyle/>
          <a:p>
            <a:pPr defTabSz="1218895">
              <a:buClrTx/>
            </a:pPr>
            <a:r>
              <a:rPr lang="en-US" sz="1266" b="1" kern="1200" dirty="0">
                <a:solidFill>
                  <a:srgbClr val="FFFFFF"/>
                </a:solidFill>
                <a:latin typeface="Calibri" pitchFamily="34" charset="0"/>
                <a:ea typeface="Calibri" pitchFamily="34" charset="-122"/>
                <a:cs typeface="Calibri" pitchFamily="34" charset="-120"/>
              </a:rPr>
              <a:t>A – Generics</a:t>
            </a:r>
            <a:endParaRPr lang="en-US" sz="1266" kern="1200" dirty="0">
              <a:solidFill>
                <a:prstClr val="black"/>
              </a:solidFill>
              <a:latin typeface="Calibri" panose="020F0502020204030204"/>
              <a:ea typeface="+mn-ea"/>
              <a:cs typeface="+mn-cs"/>
            </a:endParaRPr>
          </a:p>
        </p:txBody>
      </p:sp>
      <p:sp>
        <p:nvSpPr>
          <p:cNvPr id="15" name="Text 13"/>
          <p:cNvSpPr/>
          <p:nvPr/>
        </p:nvSpPr>
        <p:spPr>
          <a:xfrm>
            <a:off x="6545399" y="1804839"/>
            <a:ext cx="5424027" cy="316909"/>
          </a:xfrm>
          <a:prstGeom prst="rect">
            <a:avLst/>
          </a:prstGeom>
          <a:noFill/>
          <a:ln/>
        </p:spPr>
        <p:txBody>
          <a:bodyPr wrap="square" lIns="0" tIns="0" rIns="0" bIns="0" rtlCol="0" anchor="ctr"/>
          <a:lstStyle/>
          <a:p>
            <a:pPr defTabSz="1218895">
              <a:buClrTx/>
            </a:pPr>
            <a:r>
              <a:rPr lang="en-US" sz="1133" b="1" kern="1200" dirty="0">
                <a:solidFill>
                  <a:srgbClr val="DC2626"/>
                </a:solidFill>
                <a:latin typeface="Consolas" pitchFamily="34" charset="0"/>
                <a:ea typeface="Consolas" pitchFamily="34" charset="-122"/>
                <a:cs typeface="Consolas" pitchFamily="34" charset="-120"/>
              </a:rPr>
              <a:t>TS2344: Type 'string' does not satisfy constraint 'object'</a:t>
            </a:r>
            <a:endParaRPr lang="en-US" sz="1133" kern="1200" dirty="0">
              <a:solidFill>
                <a:prstClr val="black"/>
              </a:solidFill>
              <a:latin typeface="Calibri" panose="020F0502020204030204"/>
              <a:ea typeface="+mn-ea"/>
              <a:cs typeface="+mn-cs"/>
            </a:endParaRPr>
          </a:p>
        </p:txBody>
      </p:sp>
      <p:sp>
        <p:nvSpPr>
          <p:cNvPr id="16" name="Text 14"/>
          <p:cNvSpPr/>
          <p:nvPr/>
        </p:nvSpPr>
        <p:spPr>
          <a:xfrm>
            <a:off x="6545399" y="2133937"/>
            <a:ext cx="5424027" cy="341287"/>
          </a:xfrm>
          <a:prstGeom prst="rect">
            <a:avLst/>
          </a:prstGeom>
          <a:noFill/>
          <a:ln/>
        </p:spPr>
        <p:txBody>
          <a:bodyPr wrap="square" lIns="0" tIns="0" rIns="0" bIns="0" rtlCol="0" anchor="ctr"/>
          <a:lstStyle/>
          <a:p>
            <a:pPr defTabSz="1218895">
              <a:buClrTx/>
            </a:pPr>
            <a:r>
              <a:rPr lang="en-US" sz="1133" b="1" kern="1200" dirty="0">
                <a:solidFill>
                  <a:srgbClr val="334155"/>
                </a:solidFill>
                <a:latin typeface="Calibri" pitchFamily="34" charset="0"/>
                <a:ea typeface="Calibri" pitchFamily="34" charset="-122"/>
                <a:cs typeface="Calibri" pitchFamily="34" charset="-120"/>
              </a:rPr>
              <a:t>Cause: </a:t>
            </a:r>
            <a:r>
              <a:rPr lang="en-US" sz="1133" kern="1200" dirty="0">
                <a:solidFill>
                  <a:srgbClr val="334155"/>
                </a:solidFill>
                <a:latin typeface="Calibri" pitchFamily="34" charset="0"/>
                <a:ea typeface="Calibri" pitchFamily="34" charset="-122"/>
                <a:cs typeface="Calibri" pitchFamily="34" charset="-120"/>
              </a:rPr>
              <a:t>Calling ConfigLoader&lt;string&gt; — primitive types not allowed</a:t>
            </a:r>
            <a:endParaRPr lang="en-US" sz="1133" kern="1200" dirty="0">
              <a:solidFill>
                <a:prstClr val="black"/>
              </a:solidFill>
              <a:latin typeface="Calibri" panose="020F0502020204030204"/>
              <a:ea typeface="+mn-ea"/>
              <a:cs typeface="+mn-cs"/>
            </a:endParaRPr>
          </a:p>
        </p:txBody>
      </p:sp>
      <p:sp>
        <p:nvSpPr>
          <p:cNvPr id="17" name="Text 15"/>
          <p:cNvSpPr/>
          <p:nvPr/>
        </p:nvSpPr>
        <p:spPr>
          <a:xfrm>
            <a:off x="6545399" y="2499602"/>
            <a:ext cx="5424027" cy="511931"/>
          </a:xfrm>
          <a:prstGeom prst="rect">
            <a:avLst/>
          </a:prstGeom>
          <a:noFill/>
          <a:ln/>
        </p:spPr>
        <p:txBody>
          <a:bodyPr wrap="square" lIns="0" tIns="0" rIns="0" bIns="0" rtlCol="0" anchor="ctr"/>
          <a:lstStyle/>
          <a:p>
            <a:pPr defTabSz="1218895">
              <a:buClrTx/>
            </a:pPr>
            <a:r>
              <a:rPr lang="en-US" sz="1133" b="1" kern="1200" dirty="0">
                <a:solidFill>
                  <a:srgbClr val="7C3AED"/>
                </a:solidFill>
                <a:latin typeface="Calibri" pitchFamily="34" charset="0"/>
                <a:ea typeface="Calibri" pitchFamily="34" charset="-122"/>
                <a:cs typeface="Calibri" pitchFamily="34" charset="-120"/>
              </a:rPr>
              <a:t>Fix: </a:t>
            </a:r>
            <a:r>
              <a:rPr lang="en-US" sz="1133" kern="1200" dirty="0">
                <a:solidFill>
                  <a:srgbClr val="334155"/>
                </a:solidFill>
                <a:latin typeface="Calibri" pitchFamily="34" charset="0"/>
                <a:ea typeface="Calibri" pitchFamily="34" charset="-122"/>
                <a:cs typeface="Calibri" pitchFamily="34" charset="-120"/>
              </a:rPr>
              <a:t>ConfigLoader&lt;T extends object&gt; only accepts object shapes, not primitives</a:t>
            </a:r>
            <a:endParaRPr lang="en-US" sz="1133" kern="1200" dirty="0">
              <a:solidFill>
                <a:prstClr val="black"/>
              </a:solidFill>
              <a:latin typeface="Calibri" panose="020F0502020204030204"/>
              <a:ea typeface="+mn-ea"/>
              <a:cs typeface="+mn-cs"/>
            </a:endParaRPr>
          </a:p>
        </p:txBody>
      </p:sp>
      <p:sp>
        <p:nvSpPr>
          <p:cNvPr id="18" name="Shape 16"/>
          <p:cNvSpPr/>
          <p:nvPr/>
        </p:nvSpPr>
        <p:spPr>
          <a:xfrm>
            <a:off x="487552" y="3157799"/>
            <a:ext cx="5667804" cy="1682058"/>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Shape 17"/>
          <p:cNvSpPr/>
          <p:nvPr/>
        </p:nvSpPr>
        <p:spPr>
          <a:xfrm>
            <a:off x="487552" y="3157799"/>
            <a:ext cx="5667804" cy="365665"/>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Text 18"/>
          <p:cNvSpPr/>
          <p:nvPr/>
        </p:nvSpPr>
        <p:spPr>
          <a:xfrm>
            <a:off x="609441" y="3157799"/>
            <a:ext cx="5545915" cy="365665"/>
          </a:xfrm>
          <a:prstGeom prst="rect">
            <a:avLst/>
          </a:prstGeom>
          <a:noFill/>
          <a:ln/>
        </p:spPr>
        <p:txBody>
          <a:bodyPr wrap="square" lIns="0" tIns="0" rIns="0" bIns="0" rtlCol="0" anchor="ctr"/>
          <a:lstStyle/>
          <a:p>
            <a:pPr defTabSz="1218895">
              <a:buClrTx/>
            </a:pPr>
            <a:r>
              <a:rPr lang="en-US" sz="1266" b="1" kern="1200" dirty="0">
                <a:solidFill>
                  <a:srgbClr val="FFFFFF"/>
                </a:solidFill>
                <a:latin typeface="Calibri" pitchFamily="34" charset="0"/>
                <a:ea typeface="Calibri" pitchFamily="34" charset="-122"/>
                <a:cs typeface="Calibri" pitchFamily="34" charset="-120"/>
              </a:rPr>
              <a:t>B – Decorators</a:t>
            </a:r>
            <a:endParaRPr lang="en-US" sz="1266" kern="1200" dirty="0">
              <a:solidFill>
                <a:prstClr val="black"/>
              </a:solidFill>
              <a:latin typeface="Calibri" panose="020F0502020204030204"/>
              <a:ea typeface="+mn-ea"/>
              <a:cs typeface="+mn-cs"/>
            </a:endParaRPr>
          </a:p>
        </p:txBody>
      </p:sp>
      <p:sp>
        <p:nvSpPr>
          <p:cNvPr id="21" name="Text 19"/>
          <p:cNvSpPr/>
          <p:nvPr/>
        </p:nvSpPr>
        <p:spPr>
          <a:xfrm>
            <a:off x="633818" y="3560030"/>
            <a:ext cx="5424027" cy="316909"/>
          </a:xfrm>
          <a:prstGeom prst="rect">
            <a:avLst/>
          </a:prstGeom>
          <a:noFill/>
          <a:ln/>
        </p:spPr>
        <p:txBody>
          <a:bodyPr wrap="square" lIns="0" tIns="0" rIns="0" bIns="0" rtlCol="0" anchor="ctr"/>
          <a:lstStyle/>
          <a:p>
            <a:pPr defTabSz="1218895">
              <a:buClrTx/>
            </a:pPr>
            <a:r>
              <a:rPr lang="en-US" sz="1133" b="1" kern="1200" dirty="0">
                <a:solidFill>
                  <a:srgbClr val="DC2626"/>
                </a:solidFill>
                <a:latin typeface="Consolas" pitchFamily="34" charset="0"/>
                <a:ea typeface="Consolas" pitchFamily="34" charset="-122"/>
                <a:cs typeface="Consolas" pitchFamily="34" charset="-120"/>
              </a:rPr>
              <a:t>Error: Decorators are not enabled</a:t>
            </a:r>
            <a:endParaRPr lang="en-US" sz="1133" kern="1200" dirty="0">
              <a:solidFill>
                <a:prstClr val="black"/>
              </a:solidFill>
              <a:latin typeface="Calibri" panose="020F0502020204030204"/>
              <a:ea typeface="+mn-ea"/>
              <a:cs typeface="+mn-cs"/>
            </a:endParaRPr>
          </a:p>
        </p:txBody>
      </p:sp>
      <p:sp>
        <p:nvSpPr>
          <p:cNvPr id="22" name="Text 20"/>
          <p:cNvSpPr/>
          <p:nvPr/>
        </p:nvSpPr>
        <p:spPr>
          <a:xfrm>
            <a:off x="633818" y="3889128"/>
            <a:ext cx="5424027" cy="341287"/>
          </a:xfrm>
          <a:prstGeom prst="rect">
            <a:avLst/>
          </a:prstGeom>
          <a:noFill/>
          <a:ln/>
        </p:spPr>
        <p:txBody>
          <a:bodyPr wrap="square" lIns="0" tIns="0" rIns="0" bIns="0" rtlCol="0" anchor="ctr"/>
          <a:lstStyle/>
          <a:p>
            <a:pPr defTabSz="1218895">
              <a:buClrTx/>
            </a:pPr>
            <a:r>
              <a:rPr lang="en-US" sz="1133" b="1" kern="1200" dirty="0">
                <a:solidFill>
                  <a:srgbClr val="334155"/>
                </a:solidFill>
                <a:latin typeface="Calibri" pitchFamily="34" charset="0"/>
                <a:ea typeface="Calibri" pitchFamily="34" charset="-122"/>
                <a:cs typeface="Calibri" pitchFamily="34" charset="-120"/>
              </a:rPr>
              <a:t>Cause: </a:t>
            </a:r>
            <a:r>
              <a:rPr lang="en-US" sz="1133" kern="1200" dirty="0">
                <a:solidFill>
                  <a:srgbClr val="334155"/>
                </a:solidFill>
                <a:latin typeface="Calibri" pitchFamily="34" charset="0"/>
                <a:ea typeface="Calibri" pitchFamily="34" charset="-122"/>
                <a:cs typeface="Calibri" pitchFamily="34" charset="-120"/>
              </a:rPr>
              <a:t>Missing experimentalDecorators in tsconfig.json</a:t>
            </a:r>
            <a:endParaRPr lang="en-US" sz="1133" kern="1200" dirty="0">
              <a:solidFill>
                <a:prstClr val="black"/>
              </a:solidFill>
              <a:latin typeface="Calibri" panose="020F0502020204030204"/>
              <a:ea typeface="+mn-ea"/>
              <a:cs typeface="+mn-cs"/>
            </a:endParaRPr>
          </a:p>
        </p:txBody>
      </p:sp>
      <p:sp>
        <p:nvSpPr>
          <p:cNvPr id="23" name="Text 21"/>
          <p:cNvSpPr/>
          <p:nvPr/>
        </p:nvSpPr>
        <p:spPr>
          <a:xfrm>
            <a:off x="633818" y="4254793"/>
            <a:ext cx="5424027" cy="511931"/>
          </a:xfrm>
          <a:prstGeom prst="rect">
            <a:avLst/>
          </a:prstGeom>
          <a:noFill/>
          <a:ln/>
        </p:spPr>
        <p:txBody>
          <a:bodyPr wrap="square" lIns="0" tIns="0" rIns="0" bIns="0" rtlCol="0" anchor="ctr"/>
          <a:lstStyle/>
          <a:p>
            <a:pPr defTabSz="1218895">
              <a:buClrTx/>
            </a:pPr>
            <a:r>
              <a:rPr lang="en-US" sz="1133" b="1" kern="1200" dirty="0">
                <a:solidFill>
                  <a:srgbClr val="0D9488"/>
                </a:solidFill>
                <a:latin typeface="Calibri" pitchFamily="34" charset="0"/>
                <a:ea typeface="Calibri" pitchFamily="34" charset="-122"/>
                <a:cs typeface="Calibri" pitchFamily="34" charset="-120"/>
              </a:rPr>
              <a:t>Fix: </a:t>
            </a:r>
            <a:r>
              <a:rPr lang="en-US" sz="1133" kern="1200" dirty="0">
                <a:solidFill>
                  <a:srgbClr val="334155"/>
                </a:solidFill>
                <a:latin typeface="Calibri" pitchFamily="34" charset="0"/>
                <a:ea typeface="Calibri" pitchFamily="34" charset="-122"/>
                <a:cs typeface="Calibri" pitchFamily="34" charset="-120"/>
              </a:rPr>
              <a:t>Add "experimentalDecorators": true to compilerOptions in tsconfig.json</a:t>
            </a:r>
            <a:endParaRPr lang="en-US" sz="1133" kern="1200" dirty="0">
              <a:solidFill>
                <a:prstClr val="black"/>
              </a:solidFill>
              <a:latin typeface="Calibri" panose="020F0502020204030204"/>
              <a:ea typeface="+mn-ea"/>
              <a:cs typeface="+mn-cs"/>
            </a:endParaRPr>
          </a:p>
        </p:txBody>
      </p:sp>
      <p:sp>
        <p:nvSpPr>
          <p:cNvPr id="24" name="Shape 22"/>
          <p:cNvSpPr/>
          <p:nvPr/>
        </p:nvSpPr>
        <p:spPr>
          <a:xfrm>
            <a:off x="6399132" y="3157799"/>
            <a:ext cx="5667804" cy="1682058"/>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5" name="Shape 23"/>
          <p:cNvSpPr/>
          <p:nvPr/>
        </p:nvSpPr>
        <p:spPr>
          <a:xfrm>
            <a:off x="6399132" y="3157799"/>
            <a:ext cx="5667804" cy="365665"/>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6" name="Text 24"/>
          <p:cNvSpPr/>
          <p:nvPr/>
        </p:nvSpPr>
        <p:spPr>
          <a:xfrm>
            <a:off x="6521021" y="3157799"/>
            <a:ext cx="5545915" cy="365665"/>
          </a:xfrm>
          <a:prstGeom prst="rect">
            <a:avLst/>
          </a:prstGeom>
          <a:noFill/>
          <a:ln/>
        </p:spPr>
        <p:txBody>
          <a:bodyPr wrap="square" lIns="0" tIns="0" rIns="0" bIns="0" rtlCol="0" anchor="ctr"/>
          <a:lstStyle/>
          <a:p>
            <a:pPr defTabSz="1218895">
              <a:buClrTx/>
            </a:pPr>
            <a:r>
              <a:rPr lang="en-US" sz="1266" b="1" kern="1200" dirty="0">
                <a:solidFill>
                  <a:srgbClr val="FFFFFF"/>
                </a:solidFill>
                <a:latin typeface="Calibri" pitchFamily="34" charset="0"/>
                <a:ea typeface="Calibri" pitchFamily="34" charset="-122"/>
                <a:cs typeface="Calibri" pitchFamily="34" charset="-120"/>
              </a:rPr>
              <a:t>B – Decorators</a:t>
            </a:r>
            <a:endParaRPr lang="en-US" sz="1266" kern="1200" dirty="0">
              <a:solidFill>
                <a:prstClr val="black"/>
              </a:solidFill>
              <a:latin typeface="Calibri" panose="020F0502020204030204"/>
              <a:ea typeface="+mn-ea"/>
              <a:cs typeface="+mn-cs"/>
            </a:endParaRPr>
          </a:p>
        </p:txBody>
      </p:sp>
      <p:sp>
        <p:nvSpPr>
          <p:cNvPr id="27" name="Text 25"/>
          <p:cNvSpPr/>
          <p:nvPr/>
        </p:nvSpPr>
        <p:spPr>
          <a:xfrm>
            <a:off x="6545399" y="3560030"/>
            <a:ext cx="5424027" cy="316909"/>
          </a:xfrm>
          <a:prstGeom prst="rect">
            <a:avLst/>
          </a:prstGeom>
          <a:noFill/>
          <a:ln/>
        </p:spPr>
        <p:txBody>
          <a:bodyPr wrap="square" lIns="0" tIns="0" rIns="0" bIns="0" rtlCol="0" anchor="ctr"/>
          <a:lstStyle/>
          <a:p>
            <a:pPr defTabSz="1218895">
              <a:buClrTx/>
            </a:pPr>
            <a:r>
              <a:rPr lang="en-US" sz="1133" b="1" kern="1200" dirty="0">
                <a:solidFill>
                  <a:srgbClr val="DC2626"/>
                </a:solidFill>
                <a:latin typeface="Consolas" pitchFamily="34" charset="0"/>
                <a:ea typeface="Consolas" pitchFamily="34" charset="-122"/>
                <a:cs typeface="Consolas" pitchFamily="34" charset="-120"/>
              </a:rPr>
              <a:t>'this' is lost inside the wrapper function</a:t>
            </a:r>
            <a:endParaRPr lang="en-US" sz="1133" kern="1200" dirty="0">
              <a:solidFill>
                <a:prstClr val="black"/>
              </a:solidFill>
              <a:latin typeface="Calibri" panose="020F0502020204030204"/>
              <a:ea typeface="+mn-ea"/>
              <a:cs typeface="+mn-cs"/>
            </a:endParaRPr>
          </a:p>
        </p:txBody>
      </p:sp>
      <p:sp>
        <p:nvSpPr>
          <p:cNvPr id="28" name="Text 26"/>
          <p:cNvSpPr/>
          <p:nvPr/>
        </p:nvSpPr>
        <p:spPr>
          <a:xfrm>
            <a:off x="6545399" y="3889128"/>
            <a:ext cx="5424027" cy="341287"/>
          </a:xfrm>
          <a:prstGeom prst="rect">
            <a:avLst/>
          </a:prstGeom>
          <a:noFill/>
          <a:ln/>
        </p:spPr>
        <p:txBody>
          <a:bodyPr wrap="square" lIns="0" tIns="0" rIns="0" bIns="0" rtlCol="0" anchor="ctr"/>
          <a:lstStyle/>
          <a:p>
            <a:pPr defTabSz="1218895">
              <a:buClrTx/>
            </a:pPr>
            <a:r>
              <a:rPr lang="en-US" sz="1133" b="1" kern="1200" dirty="0">
                <a:solidFill>
                  <a:srgbClr val="334155"/>
                </a:solidFill>
                <a:latin typeface="Calibri" pitchFamily="34" charset="0"/>
                <a:ea typeface="Calibri" pitchFamily="34" charset="-122"/>
                <a:cs typeface="Calibri" pitchFamily="34" charset="-120"/>
              </a:rPr>
              <a:t>Cause: </a:t>
            </a:r>
            <a:r>
              <a:rPr lang="en-US" sz="1133" kern="1200" dirty="0">
                <a:solidFill>
                  <a:srgbClr val="334155"/>
                </a:solidFill>
                <a:latin typeface="Calibri" pitchFamily="34" charset="0"/>
                <a:ea typeface="Calibri" pitchFamily="34" charset="-122"/>
                <a:cs typeface="Calibri" pitchFamily="34" charset="-120"/>
              </a:rPr>
              <a:t>Using function() {} loses 'this' binding from the class instance</a:t>
            </a:r>
            <a:endParaRPr lang="en-US" sz="1133" kern="1200" dirty="0">
              <a:solidFill>
                <a:prstClr val="black"/>
              </a:solidFill>
              <a:latin typeface="Calibri" panose="020F0502020204030204"/>
              <a:ea typeface="+mn-ea"/>
              <a:cs typeface="+mn-cs"/>
            </a:endParaRPr>
          </a:p>
        </p:txBody>
      </p:sp>
      <p:sp>
        <p:nvSpPr>
          <p:cNvPr id="29" name="Text 27"/>
          <p:cNvSpPr/>
          <p:nvPr/>
        </p:nvSpPr>
        <p:spPr>
          <a:xfrm>
            <a:off x="6545399" y="4254793"/>
            <a:ext cx="5424027" cy="511931"/>
          </a:xfrm>
          <a:prstGeom prst="rect">
            <a:avLst/>
          </a:prstGeom>
          <a:noFill/>
          <a:ln/>
        </p:spPr>
        <p:txBody>
          <a:bodyPr wrap="square" lIns="0" tIns="0" rIns="0" bIns="0" rtlCol="0" anchor="ctr"/>
          <a:lstStyle/>
          <a:p>
            <a:pPr defTabSz="1218895">
              <a:buClrTx/>
            </a:pPr>
            <a:r>
              <a:rPr lang="en-US" sz="1133" b="1" kern="1200" dirty="0">
                <a:solidFill>
                  <a:srgbClr val="0D9488"/>
                </a:solidFill>
                <a:latin typeface="Calibri" pitchFamily="34" charset="0"/>
                <a:ea typeface="Calibri" pitchFamily="34" charset="-122"/>
                <a:cs typeface="Calibri" pitchFamily="34" charset="-120"/>
              </a:rPr>
              <a:t>Fix: </a:t>
            </a:r>
            <a:r>
              <a:rPr lang="en-US" sz="1133" kern="1200" dirty="0">
                <a:solidFill>
                  <a:srgbClr val="334155"/>
                </a:solidFill>
                <a:latin typeface="Calibri" pitchFamily="34" charset="0"/>
                <a:ea typeface="Calibri" pitchFamily="34" charset="-122"/>
                <a:cs typeface="Calibri" pitchFamily="34" charset="-120"/>
              </a:rPr>
              <a:t>Always use original.apply(this, args) — never original(...args) alone</a:t>
            </a:r>
            <a:endParaRPr lang="en-US" sz="1133" kern="1200" dirty="0">
              <a:solidFill>
                <a:prstClr val="black"/>
              </a:solidFill>
              <a:latin typeface="Calibri" panose="020F0502020204030204"/>
              <a:ea typeface="+mn-ea"/>
              <a:cs typeface="+mn-cs"/>
            </a:endParaRPr>
          </a:p>
        </p:txBody>
      </p:sp>
      <p:sp>
        <p:nvSpPr>
          <p:cNvPr id="30" name="Shape 28"/>
          <p:cNvSpPr/>
          <p:nvPr/>
        </p:nvSpPr>
        <p:spPr>
          <a:xfrm>
            <a:off x="487552" y="4912989"/>
            <a:ext cx="5667804" cy="1682058"/>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1" name="Shape 29"/>
          <p:cNvSpPr/>
          <p:nvPr/>
        </p:nvSpPr>
        <p:spPr>
          <a:xfrm>
            <a:off x="487552" y="4912989"/>
            <a:ext cx="5667804" cy="365665"/>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2" name="Text 30"/>
          <p:cNvSpPr/>
          <p:nvPr/>
        </p:nvSpPr>
        <p:spPr>
          <a:xfrm>
            <a:off x="609441" y="4912989"/>
            <a:ext cx="5545915" cy="365665"/>
          </a:xfrm>
          <a:prstGeom prst="rect">
            <a:avLst/>
          </a:prstGeom>
          <a:noFill/>
          <a:ln/>
        </p:spPr>
        <p:txBody>
          <a:bodyPr wrap="square" lIns="0" tIns="0" rIns="0" bIns="0" rtlCol="0" anchor="ctr"/>
          <a:lstStyle/>
          <a:p>
            <a:pPr defTabSz="1218895">
              <a:buClrTx/>
            </a:pPr>
            <a:r>
              <a:rPr lang="en-US" sz="1266" b="1" kern="1200" dirty="0">
                <a:solidFill>
                  <a:srgbClr val="FFFFFF"/>
                </a:solidFill>
                <a:latin typeface="Calibri" pitchFamily="34" charset="0"/>
                <a:ea typeface="Calibri" pitchFamily="34" charset="-122"/>
                <a:cs typeface="Calibri" pitchFamily="34" charset="-120"/>
              </a:rPr>
              <a:t>C – Utility Types</a:t>
            </a:r>
            <a:endParaRPr lang="en-US" sz="1266" kern="1200" dirty="0">
              <a:solidFill>
                <a:prstClr val="black"/>
              </a:solidFill>
              <a:latin typeface="Calibri" panose="020F0502020204030204"/>
              <a:ea typeface="+mn-ea"/>
              <a:cs typeface="+mn-cs"/>
            </a:endParaRPr>
          </a:p>
        </p:txBody>
      </p:sp>
      <p:sp>
        <p:nvSpPr>
          <p:cNvPr id="33" name="Text 31"/>
          <p:cNvSpPr/>
          <p:nvPr/>
        </p:nvSpPr>
        <p:spPr>
          <a:xfrm>
            <a:off x="633818" y="5315221"/>
            <a:ext cx="5424027" cy="316909"/>
          </a:xfrm>
          <a:prstGeom prst="rect">
            <a:avLst/>
          </a:prstGeom>
          <a:noFill/>
          <a:ln/>
        </p:spPr>
        <p:txBody>
          <a:bodyPr wrap="square" lIns="0" tIns="0" rIns="0" bIns="0" rtlCol="0" anchor="ctr"/>
          <a:lstStyle/>
          <a:p>
            <a:pPr defTabSz="1218895">
              <a:buClrTx/>
            </a:pPr>
            <a:r>
              <a:rPr lang="en-US" sz="1133" b="1" kern="1200" dirty="0">
                <a:solidFill>
                  <a:srgbClr val="DC2626"/>
                </a:solidFill>
                <a:latin typeface="Consolas" pitchFamily="34" charset="0"/>
                <a:ea typeface="Consolas" pitchFamily="34" charset="-122"/>
                <a:cs typeface="Consolas" pitchFamily="34" charset="-120"/>
              </a:rPr>
              <a:t>TS2339: Property 'id' does not exist on CreateOrderPayload</a:t>
            </a:r>
            <a:endParaRPr lang="en-US" sz="1133" kern="1200" dirty="0">
              <a:solidFill>
                <a:prstClr val="black"/>
              </a:solidFill>
              <a:latin typeface="Calibri" panose="020F0502020204030204"/>
              <a:ea typeface="+mn-ea"/>
              <a:cs typeface="+mn-cs"/>
            </a:endParaRPr>
          </a:p>
        </p:txBody>
      </p:sp>
      <p:sp>
        <p:nvSpPr>
          <p:cNvPr id="34" name="Text 32"/>
          <p:cNvSpPr/>
          <p:nvPr/>
        </p:nvSpPr>
        <p:spPr>
          <a:xfrm>
            <a:off x="633818" y="5644319"/>
            <a:ext cx="5424027" cy="341287"/>
          </a:xfrm>
          <a:prstGeom prst="rect">
            <a:avLst/>
          </a:prstGeom>
          <a:noFill/>
          <a:ln/>
        </p:spPr>
        <p:txBody>
          <a:bodyPr wrap="square" lIns="0" tIns="0" rIns="0" bIns="0" rtlCol="0" anchor="ctr"/>
          <a:lstStyle/>
          <a:p>
            <a:pPr defTabSz="1218895">
              <a:buClrTx/>
            </a:pPr>
            <a:r>
              <a:rPr lang="en-US" sz="1133" b="1" kern="1200" dirty="0">
                <a:solidFill>
                  <a:srgbClr val="334155"/>
                </a:solidFill>
                <a:latin typeface="Calibri" pitchFamily="34" charset="0"/>
                <a:ea typeface="Calibri" pitchFamily="34" charset="-122"/>
                <a:cs typeface="Calibri" pitchFamily="34" charset="-120"/>
              </a:rPr>
              <a:t>Cause: </a:t>
            </a:r>
            <a:r>
              <a:rPr lang="en-US" sz="1133" kern="1200" dirty="0">
                <a:solidFill>
                  <a:srgbClr val="334155"/>
                </a:solidFill>
                <a:latin typeface="Calibri" pitchFamily="34" charset="0"/>
                <a:ea typeface="Calibri" pitchFamily="34" charset="-122"/>
                <a:cs typeface="Calibri" pitchFamily="34" charset="-120"/>
              </a:rPr>
              <a:t>This is intentional! Omit removed 'id' from the type.</a:t>
            </a:r>
            <a:endParaRPr lang="en-US" sz="1133" kern="1200" dirty="0">
              <a:solidFill>
                <a:prstClr val="black"/>
              </a:solidFill>
              <a:latin typeface="Calibri" panose="020F0502020204030204"/>
              <a:ea typeface="+mn-ea"/>
              <a:cs typeface="+mn-cs"/>
            </a:endParaRPr>
          </a:p>
        </p:txBody>
      </p:sp>
      <p:sp>
        <p:nvSpPr>
          <p:cNvPr id="35" name="Text 33"/>
          <p:cNvSpPr/>
          <p:nvPr/>
        </p:nvSpPr>
        <p:spPr>
          <a:xfrm>
            <a:off x="633818" y="6009984"/>
            <a:ext cx="5424027" cy="511931"/>
          </a:xfrm>
          <a:prstGeom prst="rect">
            <a:avLst/>
          </a:prstGeom>
          <a:noFill/>
          <a:ln/>
        </p:spPr>
        <p:txBody>
          <a:bodyPr wrap="square" lIns="0" tIns="0" rIns="0" bIns="0" rtlCol="0" anchor="ctr"/>
          <a:lstStyle/>
          <a:p>
            <a:pPr defTabSz="1218895">
              <a:buClrTx/>
            </a:pPr>
            <a:r>
              <a:rPr lang="en-US" sz="1133" b="1" kern="1200" dirty="0">
                <a:solidFill>
                  <a:srgbClr val="D97706"/>
                </a:solidFill>
                <a:latin typeface="Calibri" pitchFamily="34" charset="0"/>
                <a:ea typeface="Calibri" pitchFamily="34" charset="-122"/>
                <a:cs typeface="Calibri" pitchFamily="34" charset="-120"/>
              </a:rPr>
              <a:t>Fix: </a:t>
            </a:r>
            <a:r>
              <a:rPr lang="en-US" sz="1133" kern="1200" dirty="0">
                <a:solidFill>
                  <a:srgbClr val="334155"/>
                </a:solidFill>
                <a:latin typeface="Calibri" pitchFamily="34" charset="0"/>
                <a:ea typeface="Calibri" pitchFamily="34" charset="-122"/>
                <a:cs typeface="Calibri" pitchFamily="34" charset="-120"/>
              </a:rPr>
              <a:t>This IS the correct compiler behaviour — do not add id to the create payload</a:t>
            </a:r>
            <a:endParaRPr lang="en-US" sz="1133" kern="1200" dirty="0">
              <a:solidFill>
                <a:prstClr val="black"/>
              </a:solidFill>
              <a:latin typeface="Calibri" panose="020F0502020204030204"/>
              <a:ea typeface="+mn-ea"/>
              <a:cs typeface="+mn-cs"/>
            </a:endParaRPr>
          </a:p>
        </p:txBody>
      </p:sp>
      <p:sp>
        <p:nvSpPr>
          <p:cNvPr id="36" name="Shape 34"/>
          <p:cNvSpPr/>
          <p:nvPr/>
        </p:nvSpPr>
        <p:spPr>
          <a:xfrm>
            <a:off x="6399132" y="4912989"/>
            <a:ext cx="5667804" cy="1682058"/>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7" name="Shape 35"/>
          <p:cNvSpPr/>
          <p:nvPr/>
        </p:nvSpPr>
        <p:spPr>
          <a:xfrm>
            <a:off x="6399132" y="4912989"/>
            <a:ext cx="5667804" cy="365665"/>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8" name="Text 36"/>
          <p:cNvSpPr/>
          <p:nvPr/>
        </p:nvSpPr>
        <p:spPr>
          <a:xfrm>
            <a:off x="6521021" y="4912989"/>
            <a:ext cx="5545915" cy="365665"/>
          </a:xfrm>
          <a:prstGeom prst="rect">
            <a:avLst/>
          </a:prstGeom>
          <a:noFill/>
          <a:ln/>
        </p:spPr>
        <p:txBody>
          <a:bodyPr wrap="square" lIns="0" tIns="0" rIns="0" bIns="0" rtlCol="0" anchor="ctr"/>
          <a:lstStyle/>
          <a:p>
            <a:pPr defTabSz="1218895">
              <a:buClrTx/>
            </a:pPr>
            <a:r>
              <a:rPr lang="en-US" sz="1266" b="1" kern="1200" dirty="0">
                <a:solidFill>
                  <a:srgbClr val="FFFFFF"/>
                </a:solidFill>
                <a:latin typeface="Calibri" pitchFamily="34" charset="0"/>
                <a:ea typeface="Calibri" pitchFamily="34" charset="-122"/>
                <a:cs typeface="Calibri" pitchFamily="34" charset="-120"/>
              </a:rPr>
              <a:t>C – Utility Types</a:t>
            </a:r>
            <a:endParaRPr lang="en-US" sz="1266" kern="1200" dirty="0">
              <a:solidFill>
                <a:prstClr val="black"/>
              </a:solidFill>
              <a:latin typeface="Calibri" panose="020F0502020204030204"/>
              <a:ea typeface="+mn-ea"/>
              <a:cs typeface="+mn-cs"/>
            </a:endParaRPr>
          </a:p>
        </p:txBody>
      </p:sp>
      <p:sp>
        <p:nvSpPr>
          <p:cNvPr id="39" name="Text 37"/>
          <p:cNvSpPr/>
          <p:nvPr/>
        </p:nvSpPr>
        <p:spPr>
          <a:xfrm>
            <a:off x="6545399" y="5315221"/>
            <a:ext cx="5424027" cy="316909"/>
          </a:xfrm>
          <a:prstGeom prst="rect">
            <a:avLst/>
          </a:prstGeom>
          <a:noFill/>
          <a:ln/>
        </p:spPr>
        <p:txBody>
          <a:bodyPr wrap="square" lIns="0" tIns="0" rIns="0" bIns="0" rtlCol="0" anchor="ctr"/>
          <a:lstStyle/>
          <a:p>
            <a:pPr defTabSz="1218895">
              <a:buClrTx/>
            </a:pPr>
            <a:r>
              <a:rPr lang="en-US" sz="1133" b="1" kern="1200" dirty="0">
                <a:solidFill>
                  <a:srgbClr val="DC2626"/>
                </a:solidFill>
                <a:latin typeface="Consolas" pitchFamily="34" charset="0"/>
                <a:ea typeface="Consolas" pitchFamily="34" charset="-122"/>
                <a:cs typeface="Consolas" pitchFamily="34" charset="-120"/>
              </a:rPr>
              <a:t>Cannot assign to 'x' because it is a read-only property</a:t>
            </a:r>
            <a:endParaRPr lang="en-US" sz="1133" kern="1200" dirty="0">
              <a:solidFill>
                <a:prstClr val="black"/>
              </a:solidFill>
              <a:latin typeface="Calibri" panose="020F0502020204030204"/>
              <a:ea typeface="+mn-ea"/>
              <a:cs typeface="+mn-cs"/>
            </a:endParaRPr>
          </a:p>
        </p:txBody>
      </p:sp>
      <p:sp>
        <p:nvSpPr>
          <p:cNvPr id="40" name="Text 38"/>
          <p:cNvSpPr/>
          <p:nvPr/>
        </p:nvSpPr>
        <p:spPr>
          <a:xfrm>
            <a:off x="6545399" y="5644319"/>
            <a:ext cx="5424027" cy="341287"/>
          </a:xfrm>
          <a:prstGeom prst="rect">
            <a:avLst/>
          </a:prstGeom>
          <a:noFill/>
          <a:ln/>
        </p:spPr>
        <p:txBody>
          <a:bodyPr wrap="square" lIns="0" tIns="0" rIns="0" bIns="0" rtlCol="0" anchor="ctr"/>
          <a:lstStyle/>
          <a:p>
            <a:pPr defTabSz="1218895">
              <a:buClrTx/>
            </a:pPr>
            <a:r>
              <a:rPr lang="en-US" sz="1133" b="1" kern="1200" dirty="0">
                <a:solidFill>
                  <a:srgbClr val="334155"/>
                </a:solidFill>
                <a:latin typeface="Calibri" pitchFamily="34" charset="0"/>
                <a:ea typeface="Calibri" pitchFamily="34" charset="-122"/>
                <a:cs typeface="Calibri" pitchFamily="34" charset="-120"/>
              </a:rPr>
              <a:t>Cause: </a:t>
            </a:r>
            <a:r>
              <a:rPr lang="en-US" sz="1133" kern="1200" dirty="0">
                <a:solidFill>
                  <a:srgbClr val="334155"/>
                </a:solidFill>
                <a:latin typeface="Calibri" pitchFamily="34" charset="0"/>
                <a:ea typeface="Calibri" pitchFamily="34" charset="-122"/>
                <a:cs typeface="Calibri" pitchFamily="34" charset="-120"/>
              </a:rPr>
              <a:t>Trying to mutate a field on a Readonly&lt;T&gt; derived type</a:t>
            </a:r>
            <a:endParaRPr lang="en-US" sz="1133" kern="1200" dirty="0">
              <a:solidFill>
                <a:prstClr val="black"/>
              </a:solidFill>
              <a:latin typeface="Calibri" panose="020F0502020204030204"/>
              <a:ea typeface="+mn-ea"/>
              <a:cs typeface="+mn-cs"/>
            </a:endParaRPr>
          </a:p>
        </p:txBody>
      </p:sp>
      <p:sp>
        <p:nvSpPr>
          <p:cNvPr id="41" name="Text 39"/>
          <p:cNvSpPr/>
          <p:nvPr/>
        </p:nvSpPr>
        <p:spPr>
          <a:xfrm>
            <a:off x="6545399" y="6009984"/>
            <a:ext cx="5424027" cy="511931"/>
          </a:xfrm>
          <a:prstGeom prst="rect">
            <a:avLst/>
          </a:prstGeom>
          <a:noFill/>
          <a:ln/>
        </p:spPr>
        <p:txBody>
          <a:bodyPr wrap="square" lIns="0" tIns="0" rIns="0" bIns="0" rtlCol="0" anchor="ctr"/>
          <a:lstStyle/>
          <a:p>
            <a:pPr defTabSz="1218895">
              <a:buClrTx/>
            </a:pPr>
            <a:r>
              <a:rPr lang="en-US" sz="1133" b="1" kern="1200" dirty="0">
                <a:solidFill>
                  <a:srgbClr val="D97706"/>
                </a:solidFill>
                <a:latin typeface="Calibri" pitchFamily="34" charset="0"/>
                <a:ea typeface="Calibri" pitchFamily="34" charset="-122"/>
                <a:cs typeface="Calibri" pitchFamily="34" charset="-120"/>
              </a:rPr>
              <a:t>Fix: </a:t>
            </a:r>
            <a:r>
              <a:rPr lang="en-US" sz="1133" kern="1200" dirty="0">
                <a:solidFill>
                  <a:srgbClr val="334155"/>
                </a:solidFill>
                <a:latin typeface="Calibri" pitchFamily="34" charset="0"/>
                <a:ea typeface="Calibri" pitchFamily="34" charset="-122"/>
                <a:cs typeface="Calibri" pitchFamily="34" charset="-120"/>
              </a:rPr>
              <a:t>Readonly types are immutable — create a new object instead of mutating</a:t>
            </a:r>
            <a:endParaRPr lang="en-US" sz="1133" kern="1200" dirty="0">
              <a:solidFill>
                <a:prstClr val="black"/>
              </a:solidFill>
              <a:latin typeface="Calibri" panose="020F0502020204030204"/>
              <a:ea typeface="+mn-ea"/>
              <a:cs typeface="+mn-cs"/>
            </a:endParaRPr>
          </a:p>
        </p:txBody>
      </p:sp>
      <p:pic>
        <p:nvPicPr>
          <p:cNvPr id="42" name="Google Shape;497;p1">
            <a:extLst>
              <a:ext uri="{FF2B5EF4-FFF2-40B4-BE49-F238E27FC236}">
                <a16:creationId xmlns:a16="http://schemas.microsoft.com/office/drawing/2014/main" id="{E5E3A6E7-5651-48DA-9748-570AD262B60F}"/>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557071" y="244669"/>
            <a:ext cx="4875530" cy="6338189"/>
          </a:xfrm>
          <a:prstGeom prst="rect">
            <a:avLst/>
          </a:prstGeom>
          <a:noFill/>
          <a:ln/>
        </p:spPr>
        <p:txBody>
          <a:bodyPr wrap="square" lIns="0" tIns="0" rIns="0" bIns="0" rtlCol="0" anchor="ctr"/>
          <a:lstStyle/>
          <a:p>
            <a:pPr defTabSz="1218895">
              <a:buClrTx/>
            </a:pPr>
            <a:r>
              <a:rPr lang="en-US" sz="26660" b="1" kern="1200" dirty="0">
                <a:solidFill>
                  <a:srgbClr val="818CF8">
                    <a:alpha val="12000"/>
                  </a:srgbClr>
                </a:solidFill>
                <a:latin typeface="Consolas" pitchFamily="34" charset="0"/>
                <a:ea typeface="Consolas" pitchFamily="34" charset="-122"/>
                <a:cs typeface="Consolas" pitchFamily="34" charset="-120"/>
              </a:rPr>
              <a:t>{}</a:t>
            </a:r>
            <a:endParaRPr lang="en-US" sz="26660" kern="1200" dirty="0">
              <a:solidFill>
                <a:prstClr val="black"/>
              </a:solidFill>
              <a:latin typeface="Calibri" panose="020F0502020204030204"/>
              <a:ea typeface="+mn-ea"/>
              <a:cs typeface="+mn-cs"/>
            </a:endParaRPr>
          </a:p>
        </p:txBody>
      </p:sp>
      <p:sp>
        <p:nvSpPr>
          <p:cNvPr id="3" name="Shape 1"/>
          <p:cNvSpPr/>
          <p:nvPr/>
        </p:nvSpPr>
        <p:spPr>
          <a:xfrm>
            <a:off x="-1" y="893"/>
            <a:ext cx="219399" cy="6856214"/>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609441" y="671279"/>
            <a:ext cx="9751060" cy="670385"/>
          </a:xfrm>
          <a:prstGeom prst="rect">
            <a:avLst/>
          </a:prstGeom>
          <a:noFill/>
          <a:ln/>
        </p:spPr>
        <p:txBody>
          <a:bodyPr wrap="square" lIns="0" tIns="0" rIns="0" bIns="0" rtlCol="0" anchor="ctr"/>
          <a:lstStyle/>
          <a:p>
            <a:pPr defTabSz="1218895">
              <a:buClrTx/>
            </a:pPr>
            <a:r>
              <a:rPr lang="en-US" sz="3999" b="1" kern="1200" dirty="0">
                <a:solidFill>
                  <a:srgbClr val="FFFFFF"/>
                </a:solidFill>
                <a:latin typeface="Calibri" pitchFamily="34" charset="0"/>
                <a:ea typeface="Calibri" pitchFamily="34" charset="-122"/>
                <a:cs typeface="Calibri" pitchFamily="34" charset="-120"/>
              </a:rPr>
              <a:t>Workshop Complete 🎉</a:t>
            </a:r>
            <a:endParaRPr lang="en-US" sz="3999" kern="1200" dirty="0">
              <a:solidFill>
                <a:prstClr val="black"/>
              </a:solidFill>
              <a:latin typeface="Calibri" panose="020F0502020204030204"/>
              <a:ea typeface="+mn-ea"/>
              <a:cs typeface="+mn-cs"/>
            </a:endParaRPr>
          </a:p>
        </p:txBody>
      </p:sp>
      <p:sp>
        <p:nvSpPr>
          <p:cNvPr id="5" name="Text 3"/>
          <p:cNvSpPr/>
          <p:nvPr/>
        </p:nvSpPr>
        <p:spPr>
          <a:xfrm>
            <a:off x="609441" y="1439174"/>
            <a:ext cx="9141619" cy="585064"/>
          </a:xfrm>
          <a:prstGeom prst="rect">
            <a:avLst/>
          </a:prstGeom>
          <a:noFill/>
          <a:ln/>
        </p:spPr>
        <p:txBody>
          <a:bodyPr wrap="square" lIns="0" tIns="0" rIns="0" bIns="0" rtlCol="0" anchor="ctr"/>
          <a:lstStyle/>
          <a:p>
            <a:pPr defTabSz="1218895">
              <a:buClrTx/>
            </a:pPr>
            <a:r>
              <a:rPr lang="en-US" sz="1733" kern="1200" dirty="0">
                <a:solidFill>
                  <a:srgbClr val="A5B4FC"/>
                </a:solidFill>
                <a:latin typeface="Calibri" pitchFamily="34" charset="0"/>
                <a:ea typeface="Calibri" pitchFamily="34" charset="-122"/>
                <a:cs typeface="Calibri" pitchFamily="34" charset="-120"/>
              </a:rPr>
              <a:t>You now have three patterns that have no JavaScript equivalent — ready for production BTP services.</a:t>
            </a:r>
            <a:endParaRPr lang="en-US" sz="1733" kern="1200" dirty="0">
              <a:solidFill>
                <a:prstClr val="black"/>
              </a:solidFill>
              <a:latin typeface="Calibri" panose="020F0502020204030204"/>
              <a:ea typeface="+mn-ea"/>
              <a:cs typeface="+mn-cs"/>
            </a:endParaRPr>
          </a:p>
        </p:txBody>
      </p:sp>
      <p:sp>
        <p:nvSpPr>
          <p:cNvPr id="6" name="Shape 4"/>
          <p:cNvSpPr/>
          <p:nvPr/>
        </p:nvSpPr>
        <p:spPr>
          <a:xfrm>
            <a:off x="609441" y="2097371"/>
            <a:ext cx="633819" cy="633819"/>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609441" y="2097371"/>
            <a:ext cx="633819" cy="633819"/>
          </a:xfrm>
          <a:prstGeom prst="rect">
            <a:avLst/>
          </a:prstGeom>
          <a:noFill/>
          <a:ln/>
        </p:spPr>
        <p:txBody>
          <a:bodyPr wrap="square" lIns="0" tIns="0" rIns="0" bIns="0" rtlCol="0" anchor="ctr"/>
          <a:lstStyle/>
          <a:p>
            <a:pPr algn="ctr" defTabSz="1218895">
              <a:buClrTx/>
            </a:pPr>
            <a:r>
              <a:rPr lang="en-US" sz="2000" b="1" kern="1200" dirty="0">
                <a:solidFill>
                  <a:srgbClr val="FFFFFF"/>
                </a:solidFill>
                <a:latin typeface="Calibri" pitchFamily="34" charset="0"/>
                <a:ea typeface="Calibri" pitchFamily="34" charset="-122"/>
                <a:cs typeface="Calibri" pitchFamily="34" charset="-120"/>
              </a:rPr>
              <a:t>A</a:t>
            </a:r>
            <a:endParaRPr lang="en-US" sz="2000" kern="1200" dirty="0">
              <a:solidFill>
                <a:prstClr val="black"/>
              </a:solidFill>
              <a:latin typeface="Calibri" panose="020F0502020204030204"/>
              <a:ea typeface="+mn-ea"/>
              <a:cs typeface="+mn-cs"/>
            </a:endParaRPr>
          </a:p>
        </p:txBody>
      </p:sp>
      <p:sp>
        <p:nvSpPr>
          <p:cNvPr id="8" name="Text 6"/>
          <p:cNvSpPr/>
          <p:nvPr/>
        </p:nvSpPr>
        <p:spPr>
          <a:xfrm>
            <a:off x="1401714" y="2158315"/>
            <a:ext cx="2437765" cy="414420"/>
          </a:xfrm>
          <a:prstGeom prst="rect">
            <a:avLst/>
          </a:prstGeom>
          <a:noFill/>
          <a:ln/>
        </p:spPr>
        <p:txBody>
          <a:bodyPr wrap="square" lIns="0" tIns="0" rIns="0" bIns="0" rtlCol="0" anchor="ctr"/>
          <a:lstStyle/>
          <a:p>
            <a:pPr defTabSz="1218895">
              <a:buClrTx/>
            </a:pPr>
            <a:r>
              <a:rPr lang="en-US" sz="1733" b="1" kern="1200" dirty="0">
                <a:solidFill>
                  <a:srgbClr val="7C3AED"/>
                </a:solidFill>
                <a:latin typeface="Calibri" pitchFamily="34" charset="0"/>
                <a:ea typeface="Calibri" pitchFamily="34" charset="-122"/>
                <a:cs typeface="Calibri" pitchFamily="34" charset="-120"/>
              </a:rPr>
              <a:t>Generics</a:t>
            </a:r>
            <a:endParaRPr lang="en-US" sz="1733" kern="1200" dirty="0">
              <a:solidFill>
                <a:prstClr val="black"/>
              </a:solidFill>
              <a:latin typeface="Calibri" panose="020F0502020204030204"/>
              <a:ea typeface="+mn-ea"/>
              <a:cs typeface="+mn-cs"/>
            </a:endParaRPr>
          </a:p>
        </p:txBody>
      </p:sp>
      <p:sp>
        <p:nvSpPr>
          <p:cNvPr id="9" name="Text 7"/>
          <p:cNvSpPr/>
          <p:nvPr/>
        </p:nvSpPr>
        <p:spPr>
          <a:xfrm>
            <a:off x="1401714" y="2584924"/>
            <a:ext cx="9507284" cy="292532"/>
          </a:xfrm>
          <a:prstGeom prst="rect">
            <a:avLst/>
          </a:prstGeom>
          <a:noFill/>
          <a:ln/>
        </p:spPr>
        <p:txBody>
          <a:bodyPr wrap="square" lIns="0" tIns="0" rIns="0" bIns="0" rtlCol="0" anchor="ctr"/>
          <a:lstStyle/>
          <a:p>
            <a:pPr defTabSz="1218895">
              <a:buClrTx/>
            </a:pPr>
            <a:r>
              <a:rPr lang="en-US" sz="1266" b="1" kern="1200" dirty="0">
                <a:solidFill>
                  <a:srgbClr val="7C3AED"/>
                </a:solidFill>
                <a:latin typeface="Calibri" pitchFamily="34" charset="0"/>
                <a:ea typeface="Calibri" pitchFamily="34" charset="-122"/>
                <a:cs typeface="Calibri" pitchFamily="34" charset="-120"/>
              </a:rPr>
              <a:t>✓  </a:t>
            </a:r>
            <a:r>
              <a:rPr lang="en-US" sz="1266" kern="1200" dirty="0">
                <a:solidFill>
                  <a:srgbClr val="CBD5E1"/>
                </a:solidFill>
                <a:latin typeface="Calibri" pitchFamily="34" charset="0"/>
                <a:ea typeface="Calibri" pitchFamily="34" charset="-122"/>
                <a:cs typeface="Calibri" pitchFamily="34" charset="-120"/>
              </a:rPr>
              <a:t>ConfigLoader&lt;T&gt; implemented for any config shape</a:t>
            </a:r>
            <a:endParaRPr lang="en-US" sz="1266" kern="1200" dirty="0">
              <a:solidFill>
                <a:prstClr val="black"/>
              </a:solidFill>
              <a:latin typeface="Calibri" panose="020F0502020204030204"/>
              <a:ea typeface="+mn-ea"/>
              <a:cs typeface="+mn-cs"/>
            </a:endParaRPr>
          </a:p>
        </p:txBody>
      </p:sp>
      <p:sp>
        <p:nvSpPr>
          <p:cNvPr id="10" name="Text 8"/>
          <p:cNvSpPr/>
          <p:nvPr/>
        </p:nvSpPr>
        <p:spPr>
          <a:xfrm>
            <a:off x="1401714" y="2877456"/>
            <a:ext cx="9507284" cy="292532"/>
          </a:xfrm>
          <a:prstGeom prst="rect">
            <a:avLst/>
          </a:prstGeom>
          <a:noFill/>
          <a:ln/>
        </p:spPr>
        <p:txBody>
          <a:bodyPr wrap="square" lIns="0" tIns="0" rIns="0" bIns="0" rtlCol="0" anchor="ctr"/>
          <a:lstStyle/>
          <a:p>
            <a:pPr defTabSz="1218895">
              <a:buClrTx/>
            </a:pPr>
            <a:r>
              <a:rPr lang="en-US" sz="1266" b="1" kern="1200" dirty="0">
                <a:solidFill>
                  <a:srgbClr val="7C3AED"/>
                </a:solidFill>
                <a:latin typeface="Calibri" pitchFamily="34" charset="0"/>
                <a:ea typeface="Calibri" pitchFamily="34" charset="-122"/>
                <a:cs typeface="Calibri" pitchFamily="34" charset="-120"/>
              </a:rPr>
              <a:t>✓  </a:t>
            </a:r>
            <a:r>
              <a:rPr lang="en-US" sz="1266" kern="1200" dirty="0">
                <a:solidFill>
                  <a:srgbClr val="CBD5E1"/>
                </a:solidFill>
                <a:latin typeface="Calibri" pitchFamily="34" charset="0"/>
                <a:ea typeface="Calibri" pitchFamily="34" charset="-122"/>
                <a:cs typeface="Calibri" pitchFamily="34" charset="-120"/>
              </a:rPr>
              <a:t>Generic constraints with extends object</a:t>
            </a:r>
            <a:endParaRPr lang="en-US" sz="1266" kern="1200" dirty="0">
              <a:solidFill>
                <a:prstClr val="black"/>
              </a:solidFill>
              <a:latin typeface="Calibri" panose="020F0502020204030204"/>
              <a:ea typeface="+mn-ea"/>
              <a:cs typeface="+mn-cs"/>
            </a:endParaRPr>
          </a:p>
        </p:txBody>
      </p:sp>
      <p:sp>
        <p:nvSpPr>
          <p:cNvPr id="11" name="Text 9"/>
          <p:cNvSpPr/>
          <p:nvPr/>
        </p:nvSpPr>
        <p:spPr>
          <a:xfrm>
            <a:off x="1401714" y="3169987"/>
            <a:ext cx="9507284" cy="292532"/>
          </a:xfrm>
          <a:prstGeom prst="rect">
            <a:avLst/>
          </a:prstGeom>
          <a:noFill/>
          <a:ln/>
        </p:spPr>
        <p:txBody>
          <a:bodyPr wrap="square" lIns="0" tIns="0" rIns="0" bIns="0" rtlCol="0" anchor="ctr"/>
          <a:lstStyle/>
          <a:p>
            <a:pPr defTabSz="1218895">
              <a:buClrTx/>
            </a:pPr>
            <a:r>
              <a:rPr lang="en-US" sz="1266" b="1" kern="1200" dirty="0">
                <a:solidFill>
                  <a:srgbClr val="7C3AED"/>
                </a:solidFill>
                <a:latin typeface="Calibri" pitchFamily="34" charset="0"/>
                <a:ea typeface="Calibri" pitchFamily="34" charset="-122"/>
                <a:cs typeface="Calibri" pitchFamily="34" charset="-120"/>
              </a:rPr>
              <a:t>✓  </a:t>
            </a:r>
            <a:r>
              <a:rPr lang="en-US" sz="1266" kern="1200" dirty="0">
                <a:solidFill>
                  <a:srgbClr val="CBD5E1"/>
                </a:solidFill>
                <a:latin typeface="Calibri" pitchFamily="34" charset="0"/>
                <a:ea typeface="Calibri" pitchFamily="34" charset="-122"/>
                <a:cs typeface="Calibri" pitchFamily="34" charset="-120"/>
              </a:rPr>
              <a:t>Type inference at the call site — no explicit annotation needed</a:t>
            </a:r>
            <a:endParaRPr lang="en-US" sz="1266" kern="1200" dirty="0">
              <a:solidFill>
                <a:prstClr val="black"/>
              </a:solidFill>
              <a:latin typeface="Calibri" panose="020F0502020204030204"/>
              <a:ea typeface="+mn-ea"/>
              <a:cs typeface="+mn-cs"/>
            </a:endParaRPr>
          </a:p>
        </p:txBody>
      </p:sp>
      <p:sp>
        <p:nvSpPr>
          <p:cNvPr id="12" name="Shape 10"/>
          <p:cNvSpPr/>
          <p:nvPr/>
        </p:nvSpPr>
        <p:spPr>
          <a:xfrm>
            <a:off x="609441" y="3462519"/>
            <a:ext cx="633819" cy="633819"/>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Text 11"/>
          <p:cNvSpPr/>
          <p:nvPr/>
        </p:nvSpPr>
        <p:spPr>
          <a:xfrm>
            <a:off x="609441" y="3462519"/>
            <a:ext cx="633819" cy="633819"/>
          </a:xfrm>
          <a:prstGeom prst="rect">
            <a:avLst/>
          </a:prstGeom>
          <a:noFill/>
          <a:ln/>
        </p:spPr>
        <p:txBody>
          <a:bodyPr wrap="square" lIns="0" tIns="0" rIns="0" bIns="0" rtlCol="0" anchor="ctr"/>
          <a:lstStyle/>
          <a:p>
            <a:pPr algn="ctr" defTabSz="1218895">
              <a:buClrTx/>
            </a:pPr>
            <a:r>
              <a:rPr lang="en-US" sz="2000" b="1" kern="1200" dirty="0">
                <a:solidFill>
                  <a:srgbClr val="FFFFFF"/>
                </a:solidFill>
                <a:latin typeface="Calibri" pitchFamily="34" charset="0"/>
                <a:ea typeface="Calibri" pitchFamily="34" charset="-122"/>
                <a:cs typeface="Calibri" pitchFamily="34" charset="-120"/>
              </a:rPr>
              <a:t>B</a:t>
            </a:r>
            <a:endParaRPr lang="en-US" sz="2000" kern="1200" dirty="0">
              <a:solidFill>
                <a:prstClr val="black"/>
              </a:solidFill>
              <a:latin typeface="Calibri" panose="020F0502020204030204"/>
              <a:ea typeface="+mn-ea"/>
              <a:cs typeface="+mn-cs"/>
            </a:endParaRPr>
          </a:p>
        </p:txBody>
      </p:sp>
      <p:sp>
        <p:nvSpPr>
          <p:cNvPr id="14" name="Text 12"/>
          <p:cNvSpPr/>
          <p:nvPr/>
        </p:nvSpPr>
        <p:spPr>
          <a:xfrm>
            <a:off x="1401714" y="3523463"/>
            <a:ext cx="2437765" cy="414420"/>
          </a:xfrm>
          <a:prstGeom prst="rect">
            <a:avLst/>
          </a:prstGeom>
          <a:noFill/>
          <a:ln/>
        </p:spPr>
        <p:txBody>
          <a:bodyPr wrap="square" lIns="0" tIns="0" rIns="0" bIns="0" rtlCol="0" anchor="ctr"/>
          <a:lstStyle/>
          <a:p>
            <a:pPr defTabSz="1218895">
              <a:buClrTx/>
            </a:pPr>
            <a:r>
              <a:rPr lang="en-US" sz="1733" b="1" kern="1200" dirty="0">
                <a:solidFill>
                  <a:srgbClr val="0D9488"/>
                </a:solidFill>
                <a:latin typeface="Calibri" pitchFamily="34" charset="0"/>
                <a:ea typeface="Calibri" pitchFamily="34" charset="-122"/>
                <a:cs typeface="Calibri" pitchFamily="34" charset="-120"/>
              </a:rPr>
              <a:t>Decorators</a:t>
            </a:r>
            <a:endParaRPr lang="en-US" sz="1733" kern="1200" dirty="0">
              <a:solidFill>
                <a:prstClr val="black"/>
              </a:solidFill>
              <a:latin typeface="Calibri" panose="020F0502020204030204"/>
              <a:ea typeface="+mn-ea"/>
              <a:cs typeface="+mn-cs"/>
            </a:endParaRPr>
          </a:p>
        </p:txBody>
      </p:sp>
      <p:sp>
        <p:nvSpPr>
          <p:cNvPr id="15" name="Text 13"/>
          <p:cNvSpPr/>
          <p:nvPr/>
        </p:nvSpPr>
        <p:spPr>
          <a:xfrm>
            <a:off x="1401714" y="3950072"/>
            <a:ext cx="9507284" cy="292532"/>
          </a:xfrm>
          <a:prstGeom prst="rect">
            <a:avLst/>
          </a:prstGeom>
          <a:noFill/>
          <a:ln/>
        </p:spPr>
        <p:txBody>
          <a:bodyPr wrap="square" lIns="0" tIns="0" rIns="0" bIns="0" rtlCol="0" anchor="ctr"/>
          <a:lstStyle/>
          <a:p>
            <a:pPr defTabSz="1218895">
              <a:buClrTx/>
            </a:pPr>
            <a:r>
              <a:rPr lang="en-US" sz="1266" b="1" kern="1200" dirty="0">
                <a:solidFill>
                  <a:srgbClr val="0D9488"/>
                </a:solidFill>
                <a:latin typeface="Calibri" pitchFamily="34" charset="0"/>
                <a:ea typeface="Calibri" pitchFamily="34" charset="-122"/>
                <a:cs typeface="Calibri" pitchFamily="34" charset="-120"/>
              </a:rPr>
              <a:t>✓  </a:t>
            </a:r>
            <a:r>
              <a:rPr lang="en-US" sz="1266" kern="1200" dirty="0">
                <a:solidFill>
                  <a:srgbClr val="CBD5E1"/>
                </a:solidFill>
                <a:latin typeface="Calibri" pitchFamily="34" charset="0"/>
                <a:ea typeface="Calibri" pitchFamily="34" charset="-122"/>
                <a:cs typeface="Calibri" pitchFamily="34" charset="-120"/>
              </a:rPr>
              <a:t>@LogRequest logs name, args, and execution time</a:t>
            </a:r>
            <a:endParaRPr lang="en-US" sz="1266" kern="1200" dirty="0">
              <a:solidFill>
                <a:prstClr val="black"/>
              </a:solidFill>
              <a:latin typeface="Calibri" panose="020F0502020204030204"/>
              <a:ea typeface="+mn-ea"/>
              <a:cs typeface="+mn-cs"/>
            </a:endParaRPr>
          </a:p>
        </p:txBody>
      </p:sp>
      <p:sp>
        <p:nvSpPr>
          <p:cNvPr id="16" name="Text 14"/>
          <p:cNvSpPr/>
          <p:nvPr/>
        </p:nvSpPr>
        <p:spPr>
          <a:xfrm>
            <a:off x="1401714" y="4242604"/>
            <a:ext cx="9507284" cy="292532"/>
          </a:xfrm>
          <a:prstGeom prst="rect">
            <a:avLst/>
          </a:prstGeom>
          <a:noFill/>
          <a:ln/>
        </p:spPr>
        <p:txBody>
          <a:bodyPr wrap="square" lIns="0" tIns="0" rIns="0" bIns="0" rtlCol="0" anchor="ctr"/>
          <a:lstStyle/>
          <a:p>
            <a:pPr defTabSz="1218895">
              <a:buClrTx/>
            </a:pPr>
            <a:r>
              <a:rPr lang="en-US" sz="1266" b="1" kern="1200" dirty="0">
                <a:solidFill>
                  <a:srgbClr val="0D9488"/>
                </a:solidFill>
                <a:latin typeface="Calibri" pitchFamily="34" charset="0"/>
                <a:ea typeface="Calibri" pitchFamily="34" charset="-122"/>
                <a:cs typeface="Calibri" pitchFamily="34" charset="-120"/>
              </a:rPr>
              <a:t>✓  </a:t>
            </a:r>
            <a:r>
              <a:rPr lang="en-US" sz="1266" kern="1200" dirty="0">
                <a:solidFill>
                  <a:srgbClr val="CBD5E1"/>
                </a:solidFill>
                <a:latin typeface="Calibri" pitchFamily="34" charset="0"/>
                <a:ea typeface="Calibri" pitchFamily="34" charset="-122"/>
                <a:cs typeface="Calibri" pitchFamily="34" charset="-120"/>
              </a:rPr>
              <a:t>Method decorator anatomy: target / methodName / descriptor</a:t>
            </a:r>
            <a:endParaRPr lang="en-US" sz="1266" kern="1200" dirty="0">
              <a:solidFill>
                <a:prstClr val="black"/>
              </a:solidFill>
              <a:latin typeface="Calibri" panose="020F0502020204030204"/>
              <a:ea typeface="+mn-ea"/>
              <a:cs typeface="+mn-cs"/>
            </a:endParaRPr>
          </a:p>
        </p:txBody>
      </p:sp>
      <p:sp>
        <p:nvSpPr>
          <p:cNvPr id="17" name="Text 15"/>
          <p:cNvSpPr/>
          <p:nvPr/>
        </p:nvSpPr>
        <p:spPr>
          <a:xfrm>
            <a:off x="1401714" y="4535136"/>
            <a:ext cx="9507284" cy="292532"/>
          </a:xfrm>
          <a:prstGeom prst="rect">
            <a:avLst/>
          </a:prstGeom>
          <a:noFill/>
          <a:ln/>
        </p:spPr>
        <p:txBody>
          <a:bodyPr wrap="square" lIns="0" tIns="0" rIns="0" bIns="0" rtlCol="0" anchor="ctr"/>
          <a:lstStyle/>
          <a:p>
            <a:pPr defTabSz="1218895">
              <a:buClrTx/>
            </a:pPr>
            <a:r>
              <a:rPr lang="en-US" sz="1266" b="1" kern="1200" dirty="0">
                <a:solidFill>
                  <a:srgbClr val="0D9488"/>
                </a:solidFill>
                <a:latin typeface="Calibri" pitchFamily="34" charset="0"/>
                <a:ea typeface="Calibri" pitchFamily="34" charset="-122"/>
                <a:cs typeface="Calibri" pitchFamily="34" charset="-120"/>
              </a:rPr>
              <a:t>✓  </a:t>
            </a:r>
            <a:r>
              <a:rPr lang="en-US" sz="1266" kern="1200" dirty="0">
                <a:solidFill>
                  <a:srgbClr val="CBD5E1"/>
                </a:solidFill>
                <a:latin typeface="Calibri" pitchFamily="34" charset="0"/>
                <a:ea typeface="Calibri" pitchFamily="34" charset="-122"/>
                <a:cs typeface="Calibri" pitchFamily="34" charset="-120"/>
              </a:rPr>
              <a:t>Applied to a real CAP handler class — zero handler code change</a:t>
            </a:r>
            <a:endParaRPr lang="en-US" sz="1266" kern="1200" dirty="0">
              <a:solidFill>
                <a:prstClr val="black"/>
              </a:solidFill>
              <a:latin typeface="Calibri" panose="020F0502020204030204"/>
              <a:ea typeface="+mn-ea"/>
              <a:cs typeface="+mn-cs"/>
            </a:endParaRPr>
          </a:p>
        </p:txBody>
      </p:sp>
      <p:sp>
        <p:nvSpPr>
          <p:cNvPr id="18" name="Shape 16"/>
          <p:cNvSpPr/>
          <p:nvPr/>
        </p:nvSpPr>
        <p:spPr>
          <a:xfrm>
            <a:off x="609441" y="4827668"/>
            <a:ext cx="633819" cy="633819"/>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Text 17"/>
          <p:cNvSpPr/>
          <p:nvPr/>
        </p:nvSpPr>
        <p:spPr>
          <a:xfrm>
            <a:off x="609441" y="4827668"/>
            <a:ext cx="633819" cy="633819"/>
          </a:xfrm>
          <a:prstGeom prst="rect">
            <a:avLst/>
          </a:prstGeom>
          <a:noFill/>
          <a:ln/>
        </p:spPr>
        <p:txBody>
          <a:bodyPr wrap="square" lIns="0" tIns="0" rIns="0" bIns="0" rtlCol="0" anchor="ctr"/>
          <a:lstStyle/>
          <a:p>
            <a:pPr algn="ctr" defTabSz="1218895">
              <a:buClrTx/>
            </a:pPr>
            <a:r>
              <a:rPr lang="en-US" sz="2000" b="1" kern="1200" dirty="0">
                <a:solidFill>
                  <a:srgbClr val="FFFFFF"/>
                </a:solidFill>
                <a:latin typeface="Calibri" pitchFamily="34" charset="0"/>
                <a:ea typeface="Calibri" pitchFamily="34" charset="-122"/>
                <a:cs typeface="Calibri" pitchFamily="34" charset="-120"/>
              </a:rPr>
              <a:t>C</a:t>
            </a:r>
            <a:endParaRPr lang="en-US" sz="2000" kern="1200" dirty="0">
              <a:solidFill>
                <a:prstClr val="black"/>
              </a:solidFill>
              <a:latin typeface="Calibri" panose="020F0502020204030204"/>
              <a:ea typeface="+mn-ea"/>
              <a:cs typeface="+mn-cs"/>
            </a:endParaRPr>
          </a:p>
        </p:txBody>
      </p:sp>
      <p:sp>
        <p:nvSpPr>
          <p:cNvPr id="20" name="Text 18"/>
          <p:cNvSpPr/>
          <p:nvPr/>
        </p:nvSpPr>
        <p:spPr>
          <a:xfrm>
            <a:off x="1401714" y="4888612"/>
            <a:ext cx="2437765" cy="414420"/>
          </a:xfrm>
          <a:prstGeom prst="rect">
            <a:avLst/>
          </a:prstGeom>
          <a:noFill/>
          <a:ln/>
        </p:spPr>
        <p:txBody>
          <a:bodyPr wrap="square" lIns="0" tIns="0" rIns="0" bIns="0" rtlCol="0" anchor="ctr"/>
          <a:lstStyle/>
          <a:p>
            <a:pPr defTabSz="1218895">
              <a:buClrTx/>
            </a:pPr>
            <a:r>
              <a:rPr lang="en-US" sz="1733" b="1" kern="1200" dirty="0">
                <a:solidFill>
                  <a:srgbClr val="D97706"/>
                </a:solidFill>
                <a:latin typeface="Calibri" pitchFamily="34" charset="0"/>
                <a:ea typeface="Calibri" pitchFamily="34" charset="-122"/>
                <a:cs typeface="Calibri" pitchFamily="34" charset="-120"/>
              </a:rPr>
              <a:t>Utility Types</a:t>
            </a:r>
            <a:endParaRPr lang="en-US" sz="1733" kern="1200" dirty="0">
              <a:solidFill>
                <a:prstClr val="black"/>
              </a:solidFill>
              <a:latin typeface="Calibri" panose="020F0502020204030204"/>
              <a:ea typeface="+mn-ea"/>
              <a:cs typeface="+mn-cs"/>
            </a:endParaRPr>
          </a:p>
        </p:txBody>
      </p:sp>
      <p:sp>
        <p:nvSpPr>
          <p:cNvPr id="21" name="Text 19"/>
          <p:cNvSpPr/>
          <p:nvPr/>
        </p:nvSpPr>
        <p:spPr>
          <a:xfrm>
            <a:off x="1401714" y="5315221"/>
            <a:ext cx="9507284" cy="292532"/>
          </a:xfrm>
          <a:prstGeom prst="rect">
            <a:avLst/>
          </a:prstGeom>
          <a:noFill/>
          <a:ln/>
        </p:spPr>
        <p:txBody>
          <a:bodyPr wrap="square" lIns="0" tIns="0" rIns="0" bIns="0" rtlCol="0" anchor="ctr"/>
          <a:lstStyle/>
          <a:p>
            <a:pPr defTabSz="1218895">
              <a:buClrTx/>
            </a:pPr>
            <a:r>
              <a:rPr lang="en-US" sz="1266" b="1" kern="1200" dirty="0">
                <a:solidFill>
                  <a:srgbClr val="D97706"/>
                </a:solidFill>
                <a:latin typeface="Calibri" pitchFamily="34" charset="0"/>
                <a:ea typeface="Calibri" pitchFamily="34" charset="-122"/>
                <a:cs typeface="Calibri" pitchFamily="34" charset="-120"/>
              </a:rPr>
              <a:t>✓  </a:t>
            </a:r>
            <a:r>
              <a:rPr lang="en-US" sz="1266" kern="1200" dirty="0">
                <a:solidFill>
                  <a:srgbClr val="CBD5E1"/>
                </a:solidFill>
                <a:latin typeface="Calibri" pitchFamily="34" charset="0"/>
                <a:ea typeface="Calibri" pitchFamily="34" charset="-122"/>
                <a:cs typeface="Calibri" pitchFamily="34" charset="-120"/>
              </a:rPr>
              <a:t>ReadOnlyOrder, CreateOrderPayload, UpdateOrderPayload derived</a:t>
            </a:r>
            <a:endParaRPr lang="en-US" sz="1266" kern="1200" dirty="0">
              <a:solidFill>
                <a:prstClr val="black"/>
              </a:solidFill>
              <a:latin typeface="Calibri" panose="020F0502020204030204"/>
              <a:ea typeface="+mn-ea"/>
              <a:cs typeface="+mn-cs"/>
            </a:endParaRPr>
          </a:p>
        </p:txBody>
      </p:sp>
      <p:sp>
        <p:nvSpPr>
          <p:cNvPr id="22" name="Text 20"/>
          <p:cNvSpPr/>
          <p:nvPr/>
        </p:nvSpPr>
        <p:spPr>
          <a:xfrm>
            <a:off x="1401714" y="5607752"/>
            <a:ext cx="9507284" cy="292532"/>
          </a:xfrm>
          <a:prstGeom prst="rect">
            <a:avLst/>
          </a:prstGeom>
          <a:noFill/>
          <a:ln/>
        </p:spPr>
        <p:txBody>
          <a:bodyPr wrap="square" lIns="0" tIns="0" rIns="0" bIns="0" rtlCol="0" anchor="ctr"/>
          <a:lstStyle/>
          <a:p>
            <a:pPr defTabSz="1218895">
              <a:buClrTx/>
            </a:pPr>
            <a:r>
              <a:rPr lang="en-US" sz="1266" b="1" kern="1200" dirty="0">
                <a:solidFill>
                  <a:srgbClr val="D97706"/>
                </a:solidFill>
                <a:latin typeface="Calibri" pitchFamily="34" charset="0"/>
                <a:ea typeface="Calibri" pitchFamily="34" charset="-122"/>
                <a:cs typeface="Calibri" pitchFamily="34" charset="-120"/>
              </a:rPr>
              <a:t>✓  </a:t>
            </a:r>
            <a:r>
              <a:rPr lang="en-US" sz="1266" kern="1200" dirty="0">
                <a:solidFill>
                  <a:srgbClr val="CBD5E1"/>
                </a:solidFill>
                <a:latin typeface="Calibri" pitchFamily="34" charset="0"/>
                <a:ea typeface="Calibri" pitchFamily="34" charset="-122"/>
                <a:cs typeface="Calibri" pitchFamily="34" charset="-120"/>
              </a:rPr>
              <a:t>Readonly&lt;T&gt;, Omit&lt;T,K&gt;, Partial&lt;T&gt; — no property duplication</a:t>
            </a:r>
            <a:endParaRPr lang="en-US" sz="1266" kern="1200" dirty="0">
              <a:solidFill>
                <a:prstClr val="black"/>
              </a:solidFill>
              <a:latin typeface="Calibri" panose="020F0502020204030204"/>
              <a:ea typeface="+mn-ea"/>
              <a:cs typeface="+mn-cs"/>
            </a:endParaRPr>
          </a:p>
        </p:txBody>
      </p:sp>
      <p:sp>
        <p:nvSpPr>
          <p:cNvPr id="23" name="Text 21"/>
          <p:cNvSpPr/>
          <p:nvPr/>
        </p:nvSpPr>
        <p:spPr>
          <a:xfrm>
            <a:off x="1401714" y="5900284"/>
            <a:ext cx="9507284" cy="292532"/>
          </a:xfrm>
          <a:prstGeom prst="rect">
            <a:avLst/>
          </a:prstGeom>
          <a:noFill/>
          <a:ln/>
        </p:spPr>
        <p:txBody>
          <a:bodyPr wrap="square" lIns="0" tIns="0" rIns="0" bIns="0" rtlCol="0" anchor="ctr"/>
          <a:lstStyle/>
          <a:p>
            <a:pPr defTabSz="1218895">
              <a:buClrTx/>
            </a:pPr>
            <a:r>
              <a:rPr lang="en-US" sz="1266" b="1" kern="1200" dirty="0">
                <a:solidFill>
                  <a:srgbClr val="D97706"/>
                </a:solidFill>
                <a:latin typeface="Calibri" pitchFamily="34" charset="0"/>
                <a:ea typeface="Calibri" pitchFamily="34" charset="-122"/>
                <a:cs typeface="Calibri" pitchFamily="34" charset="-120"/>
              </a:rPr>
              <a:t>✓  </a:t>
            </a:r>
            <a:r>
              <a:rPr lang="en-US" sz="1266" kern="1200" dirty="0">
                <a:solidFill>
                  <a:srgbClr val="CBD5E1"/>
                </a:solidFill>
                <a:latin typeface="Calibri" pitchFamily="34" charset="0"/>
                <a:ea typeface="Calibri" pitchFamily="34" charset="-122"/>
                <a:cs typeface="Calibri" pitchFamily="34" charset="-120"/>
              </a:rPr>
              <a:t>One source interface drives all variants automatically</a:t>
            </a:r>
            <a:endParaRPr lang="en-US" sz="1266" kern="1200" dirty="0">
              <a:solidFill>
                <a:prstClr val="black"/>
              </a:solidFill>
              <a:latin typeface="Calibri" panose="020F0502020204030204"/>
              <a:ea typeface="+mn-ea"/>
              <a:cs typeface="+mn-cs"/>
            </a:endParaRPr>
          </a:p>
        </p:txBody>
      </p:sp>
      <p:sp>
        <p:nvSpPr>
          <p:cNvPr id="24" name="Shape 22"/>
          <p:cNvSpPr/>
          <p:nvPr/>
        </p:nvSpPr>
        <p:spPr>
          <a:xfrm>
            <a:off x="609441" y="6436593"/>
            <a:ext cx="10969943" cy="329098"/>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5" name="Text 23"/>
          <p:cNvSpPr/>
          <p:nvPr/>
        </p:nvSpPr>
        <p:spPr>
          <a:xfrm>
            <a:off x="609441" y="6436593"/>
            <a:ext cx="10969943" cy="329098"/>
          </a:xfrm>
          <a:prstGeom prst="rect">
            <a:avLst/>
          </a:prstGeom>
          <a:noFill/>
          <a:ln/>
        </p:spPr>
        <p:txBody>
          <a:bodyPr wrap="square" lIns="0" tIns="0" rIns="0" bIns="0" rtlCol="0" anchor="ctr"/>
          <a:lstStyle/>
          <a:p>
            <a:pPr algn="ctr" defTabSz="1218895">
              <a:buClrTx/>
            </a:pPr>
            <a:r>
              <a:rPr lang="en-US" sz="1333" kern="1200" dirty="0">
                <a:solidFill>
                  <a:srgbClr val="FFFFFF"/>
                </a:solidFill>
                <a:latin typeface="Calibri" pitchFamily="34" charset="0"/>
                <a:ea typeface="Calibri" pitchFamily="34" charset="-122"/>
                <a:cs typeface="Calibri" pitchFamily="34" charset="-120"/>
              </a:rPr>
              <a:t>Next: Conditional Types  |  infer keyword  |  Template Literal Types  |  Discriminated Unions</a:t>
            </a:r>
            <a:endParaRPr lang="en-US" sz="1333" kern="1200" dirty="0">
              <a:solidFill>
                <a:prstClr val="black"/>
              </a:solidFill>
              <a:latin typeface="Calibri" panose="020F0502020204030204"/>
              <a:ea typeface="+mn-ea"/>
              <a:cs typeface="+mn-cs"/>
            </a:endParaRPr>
          </a:p>
        </p:txBody>
      </p:sp>
      <p:pic>
        <p:nvPicPr>
          <p:cNvPr id="26" name="Google Shape;497;p1">
            <a:extLst>
              <a:ext uri="{FF2B5EF4-FFF2-40B4-BE49-F238E27FC236}">
                <a16:creationId xmlns:a16="http://schemas.microsoft.com/office/drawing/2014/main" id="{78220026-46D2-C772-9AD1-68EFFE6D5343}"/>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8EA02-2871-554B-3DAE-2BFB3E42B387}"/>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05E98330-DA1E-3C92-FB80-EB0B879A034E}"/>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Title</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9CB7DBB7-8CD3-414B-DA4F-4F4BE3619AED}"/>
              </a:ext>
            </a:extLst>
          </p:cNvPr>
          <p:cNvSpPr txBox="1"/>
          <p:nvPr/>
        </p:nvSpPr>
        <p:spPr>
          <a:xfrm>
            <a:off x="142630" y="655071"/>
            <a:ext cx="11483853" cy="1785050"/>
          </a:xfrm>
          <a:prstGeom prst="rect">
            <a:avLst/>
          </a:prstGeom>
          <a:noFill/>
        </p:spPr>
        <p:txBody>
          <a:bodyPr wrap="square" lIns="121867" tIns="60933" rIns="121867" bIns="60933" rtlCol="0">
            <a:spAutoFit/>
          </a:bodyPr>
          <a:lstStyle/>
          <a:p>
            <a:pPr lvl="0" defTabSz="914126">
              <a:buClrTx/>
              <a:defRPr/>
            </a:pPr>
            <a:r>
              <a:rPr lang="en-IN" sz="1800" dirty="0">
                <a:latin typeface="Amasis MT Pro" panose="02040504050005020304" pitchFamily="18" charset="0"/>
              </a:rPr>
              <a:t>cds-typer is a tool in the SAP CAP (Cloud Application Programming) ecosystem that </a:t>
            </a:r>
            <a:r>
              <a:rPr lang="en-IN" sz="1800" b="1" dirty="0">
                <a:latin typeface="Amasis MT Pro" panose="02040504050005020304" pitchFamily="18" charset="0"/>
              </a:rPr>
              <a:t>generates TypeScript type definitions from your CDS models</a:t>
            </a:r>
            <a:r>
              <a:rPr lang="en-IN" sz="1800" dirty="0">
                <a:latin typeface="Amasis MT Pro" panose="02040504050005020304" pitchFamily="18" charset="0"/>
              </a:rPr>
              <a:t>.</a:t>
            </a:r>
          </a:p>
          <a:p>
            <a:pPr lvl="0" defTabSz="914126">
              <a:buClrTx/>
              <a:defRPr/>
            </a:pPr>
            <a:endParaRPr kumimoji="0" lang="en-IN" sz="1800" b="0" i="0" u="none" strike="noStrike" kern="1200" cap="none" spc="0" normalizeH="0" baseline="0" noProof="0" dirty="0">
              <a:ln>
                <a:noFill/>
              </a:ln>
              <a:solidFill>
                <a:prstClr val="black"/>
              </a:solidFill>
              <a:effectLst/>
              <a:uLnTx/>
              <a:uFillTx/>
              <a:latin typeface="Amasis MT Pro" panose="02040504050005020304" pitchFamily="18" charset="0"/>
              <a:ea typeface="+mn-ea"/>
              <a:sym typeface="Arial"/>
            </a:endParaRPr>
          </a:p>
          <a:p>
            <a:pPr lvl="0" defTabSz="914126">
              <a:buClrTx/>
              <a:defRPr/>
            </a:pPr>
            <a:r>
              <a:rPr lang="en-IN" sz="1800" u="sng" kern="1200" dirty="0">
                <a:solidFill>
                  <a:prstClr val="black"/>
                </a:solidFill>
                <a:latin typeface="Amasis MT Pro" panose="02040504050005020304" pitchFamily="18" charset="0"/>
                <a:ea typeface="+mn-ea"/>
              </a:rPr>
              <a:t>In simple terms</a:t>
            </a:r>
          </a:p>
          <a:p>
            <a:pPr lvl="0" defTabSz="914126">
              <a:buClrTx/>
              <a:defRPr/>
            </a:pPr>
            <a:r>
              <a:rPr lang="en-IN" sz="1800" dirty="0">
                <a:latin typeface="Amasis MT Pro" panose="02040504050005020304" pitchFamily="18" charset="0"/>
              </a:rPr>
              <a:t>You write your data model in </a:t>
            </a:r>
            <a:r>
              <a:rPr lang="en-IN" dirty="0">
                <a:latin typeface="Amasis MT Pro" panose="02040504050005020304" pitchFamily="18" charset="0"/>
              </a:rPr>
              <a:t>.cds</a:t>
            </a:r>
            <a:r>
              <a:rPr lang="en-IN" sz="1800" dirty="0">
                <a:latin typeface="Amasis MT Pro" panose="02040504050005020304" pitchFamily="18" charset="0"/>
              </a:rPr>
              <a:t> files, and </a:t>
            </a:r>
            <a:r>
              <a:rPr lang="en-IN" dirty="0">
                <a:latin typeface="Amasis MT Pro" panose="02040504050005020304" pitchFamily="18" charset="0"/>
              </a:rPr>
              <a:t>cds-typer</a:t>
            </a:r>
            <a:r>
              <a:rPr lang="en-IN" sz="1800" dirty="0">
                <a:latin typeface="Amasis MT Pro" panose="02040504050005020304" pitchFamily="18" charset="0"/>
              </a:rPr>
              <a:t> automatically creates TypeScript interfaces/types so your code gets autocomplete, compile-time checking, and fewer runtime errors.</a:t>
            </a:r>
            <a:endParaRPr kumimoji="0" lang="en-IN" sz="1799" b="0" i="0" u="none" strike="noStrike" kern="1200" cap="none" spc="0" normalizeH="0" baseline="0" noProof="0" dirty="0">
              <a:ln>
                <a:noFill/>
              </a:ln>
              <a:solidFill>
                <a:prstClr val="black"/>
              </a:solidFill>
              <a:effectLst/>
              <a:uLnTx/>
              <a:uFillTx/>
              <a:latin typeface="Amasis MT Pro" panose="02040504050005020304" pitchFamily="18" charset="0"/>
              <a:ea typeface="+mn-ea"/>
              <a:sym typeface="Arial"/>
            </a:endParaRPr>
          </a:p>
        </p:txBody>
      </p:sp>
      <p:sp>
        <p:nvSpPr>
          <p:cNvPr id="4" name="TextBox 3">
            <a:extLst>
              <a:ext uri="{FF2B5EF4-FFF2-40B4-BE49-F238E27FC236}">
                <a16:creationId xmlns:a16="http://schemas.microsoft.com/office/drawing/2014/main" id="{DDAECCF9-0156-D1E4-D017-6ADC112294AD}"/>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95561B79-7273-D5FF-3FA5-7A1FB58B2083}"/>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A8F5D821-0343-757B-96BF-FFF5BD7705EF}"/>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83B7D3D4-C359-D74B-6100-5CEA13C33092}"/>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pic>
        <p:nvPicPr>
          <p:cNvPr id="9" name="Picture 8">
            <a:extLst>
              <a:ext uri="{FF2B5EF4-FFF2-40B4-BE49-F238E27FC236}">
                <a16:creationId xmlns:a16="http://schemas.microsoft.com/office/drawing/2014/main" id="{DFE22029-9E29-DA3B-28FB-2BBDD66A0092}"/>
              </a:ext>
            </a:extLst>
          </p:cNvPr>
          <p:cNvPicPr>
            <a:picLocks noChangeAspect="1"/>
          </p:cNvPicPr>
          <p:nvPr/>
        </p:nvPicPr>
        <p:blipFill>
          <a:blip r:embed="rId3"/>
          <a:stretch>
            <a:fillRect/>
          </a:stretch>
        </p:blipFill>
        <p:spPr>
          <a:xfrm>
            <a:off x="230069" y="2440121"/>
            <a:ext cx="3702217" cy="2128310"/>
          </a:xfrm>
          <a:prstGeom prst="rect">
            <a:avLst/>
          </a:prstGeom>
        </p:spPr>
      </p:pic>
      <p:pic>
        <p:nvPicPr>
          <p:cNvPr id="11" name="Picture 10">
            <a:extLst>
              <a:ext uri="{FF2B5EF4-FFF2-40B4-BE49-F238E27FC236}">
                <a16:creationId xmlns:a16="http://schemas.microsoft.com/office/drawing/2014/main" id="{89448552-C266-B2FD-5CC1-8F822E025FED}"/>
              </a:ext>
            </a:extLst>
          </p:cNvPr>
          <p:cNvPicPr>
            <a:picLocks noChangeAspect="1"/>
          </p:cNvPicPr>
          <p:nvPr/>
        </p:nvPicPr>
        <p:blipFill>
          <a:blip r:embed="rId4"/>
          <a:stretch>
            <a:fillRect/>
          </a:stretch>
        </p:blipFill>
        <p:spPr>
          <a:xfrm>
            <a:off x="230069" y="4621096"/>
            <a:ext cx="3702217" cy="2112933"/>
          </a:xfrm>
          <a:prstGeom prst="rect">
            <a:avLst/>
          </a:prstGeom>
        </p:spPr>
      </p:pic>
      <p:pic>
        <p:nvPicPr>
          <p:cNvPr id="13" name="Picture 12">
            <a:extLst>
              <a:ext uri="{FF2B5EF4-FFF2-40B4-BE49-F238E27FC236}">
                <a16:creationId xmlns:a16="http://schemas.microsoft.com/office/drawing/2014/main" id="{DE451214-549D-2A6C-CED5-3719CBCF7074}"/>
              </a:ext>
            </a:extLst>
          </p:cNvPr>
          <p:cNvPicPr>
            <a:picLocks noChangeAspect="1"/>
          </p:cNvPicPr>
          <p:nvPr/>
        </p:nvPicPr>
        <p:blipFill>
          <a:blip r:embed="rId5"/>
          <a:stretch>
            <a:fillRect/>
          </a:stretch>
        </p:blipFill>
        <p:spPr>
          <a:xfrm>
            <a:off x="5502185" y="2446158"/>
            <a:ext cx="6167160" cy="4270468"/>
          </a:xfrm>
          <a:prstGeom prst="rect">
            <a:avLst/>
          </a:prstGeom>
        </p:spPr>
      </p:pic>
    </p:spTree>
    <p:extLst>
      <p:ext uri="{BB962C8B-B14F-4D97-AF65-F5344CB8AC3E}">
        <p14:creationId xmlns:p14="http://schemas.microsoft.com/office/powerpoint/2010/main" val="1654195888"/>
      </p:ext>
    </p:extLst>
  </p:cSld>
  <p:clrMapOvr>
    <a:masterClrMapping/>
  </p:clrMapOvr>
</p:sld>
</file>

<file path=ppt/theme/theme1.xml><?xml version="1.0" encoding="utf-8"?>
<a:theme xmlns:a="http://schemas.openxmlformats.org/drawingml/2006/main" name="1_Office Theme">
  <a:themeElements>
    <a:clrScheme name="Custom 51">
      <a:dk1>
        <a:sysClr val="windowText" lastClr="000000"/>
      </a:dk1>
      <a:lt1>
        <a:sysClr val="window" lastClr="FFFFFF"/>
      </a:lt1>
      <a:dk2>
        <a:srgbClr val="0E2841"/>
      </a:dk2>
      <a:lt2>
        <a:srgbClr val="E8E8E8"/>
      </a:lt2>
      <a:accent1>
        <a:srgbClr val="3B31A9"/>
      </a:accent1>
      <a:accent2>
        <a:srgbClr val="5047C9"/>
      </a:accent2>
      <a:accent3>
        <a:srgbClr val="625ACE"/>
      </a:accent3>
      <a:accent4>
        <a:srgbClr val="817AD8"/>
      </a:accent4>
      <a:accent5>
        <a:srgbClr val="AAA5E5"/>
      </a:accent5>
      <a:accent6>
        <a:srgbClr val="CAC7EF"/>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1756</TotalTime>
  <Words>8308</Words>
  <Application>Microsoft Office PowerPoint</Application>
  <PresentationFormat>Custom</PresentationFormat>
  <Paragraphs>1188</Paragraphs>
  <Slides>35</Slides>
  <Notes>34</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35</vt:i4>
      </vt:variant>
    </vt:vector>
  </HeadingPairs>
  <TitlesOfParts>
    <vt:vector size="46" baseType="lpstr">
      <vt:lpstr>Aptos Display</vt:lpstr>
      <vt:lpstr>Consolas</vt:lpstr>
      <vt:lpstr>Segoe UI</vt:lpstr>
      <vt:lpstr>Arial Black</vt:lpstr>
      <vt:lpstr>Calibri</vt:lpstr>
      <vt:lpstr>Aptos</vt:lpstr>
      <vt:lpstr>Cooper Black</vt:lpstr>
      <vt:lpstr>Arial</vt:lpstr>
      <vt:lpstr>Amasis MT Pro</vt:lpstr>
      <vt:lpstr>1_Office Theme</vt:lpstr>
      <vt:lpstr>4_Office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61</cp:revision>
  <dcterms:created xsi:type="dcterms:W3CDTF">2023-10-03T21:33:12Z</dcterms:created>
  <dcterms:modified xsi:type="dcterms:W3CDTF">2026-06-16T05:18:34Z</dcterms:modified>
</cp:coreProperties>
</file>