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3.xml" ContentType="application/vnd.openxmlformats-officedocument.theme+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theme/theme4.xml" ContentType="application/vnd.openxmlformats-officedocument.theme+xml"/>
  <Override PartName="/ppt/slideLayouts/slideLayout62.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1" r:id="rId2"/>
    <p:sldMasterId id="2147483709" r:id="rId3"/>
    <p:sldMasterId id="2147483741" r:id="rId4"/>
    <p:sldMasterId id="2147483764" r:id="rId5"/>
  </p:sldMasterIdLst>
  <p:notesMasterIdLst>
    <p:notesMasterId r:id="rId64"/>
  </p:notesMasterIdLst>
  <p:sldIdLst>
    <p:sldId id="256" r:id="rId6"/>
    <p:sldId id="402" r:id="rId7"/>
    <p:sldId id="423" r:id="rId8"/>
    <p:sldId id="259" r:id="rId9"/>
    <p:sldId id="456" r:id="rId10"/>
    <p:sldId id="457" r:id="rId11"/>
    <p:sldId id="458" r:id="rId12"/>
    <p:sldId id="459" r:id="rId13"/>
    <p:sldId id="460" r:id="rId14"/>
    <p:sldId id="424" r:id="rId15"/>
    <p:sldId id="425" r:id="rId16"/>
    <p:sldId id="426" r:id="rId17"/>
    <p:sldId id="427" r:id="rId18"/>
    <p:sldId id="428" r:id="rId19"/>
    <p:sldId id="443" r:id="rId20"/>
    <p:sldId id="257" r:id="rId21"/>
    <p:sldId id="258" r:id="rId22"/>
    <p:sldId id="444" r:id="rId23"/>
    <p:sldId id="260" r:id="rId24"/>
    <p:sldId id="262" r:id="rId25"/>
    <p:sldId id="261" r:id="rId26"/>
    <p:sldId id="263" r:id="rId27"/>
    <p:sldId id="264" r:id="rId28"/>
    <p:sldId id="265" r:id="rId29"/>
    <p:sldId id="445" r:id="rId30"/>
    <p:sldId id="446" r:id="rId31"/>
    <p:sldId id="447" r:id="rId32"/>
    <p:sldId id="448" r:id="rId33"/>
    <p:sldId id="449" r:id="rId34"/>
    <p:sldId id="450" r:id="rId35"/>
    <p:sldId id="272" r:id="rId36"/>
    <p:sldId id="273" r:id="rId37"/>
    <p:sldId id="433" r:id="rId38"/>
    <p:sldId id="434" r:id="rId39"/>
    <p:sldId id="435" r:id="rId40"/>
    <p:sldId id="436" r:id="rId41"/>
    <p:sldId id="437" r:id="rId42"/>
    <p:sldId id="438" r:id="rId43"/>
    <p:sldId id="439" r:id="rId44"/>
    <p:sldId id="440" r:id="rId45"/>
    <p:sldId id="441" r:id="rId46"/>
    <p:sldId id="442" r:id="rId47"/>
    <p:sldId id="266" r:id="rId48"/>
    <p:sldId id="267" r:id="rId49"/>
    <p:sldId id="268" r:id="rId50"/>
    <p:sldId id="269" r:id="rId51"/>
    <p:sldId id="270" r:id="rId52"/>
    <p:sldId id="271" r:id="rId53"/>
    <p:sldId id="429" r:id="rId54"/>
    <p:sldId id="451" r:id="rId55"/>
    <p:sldId id="430" r:id="rId56"/>
    <p:sldId id="452" r:id="rId57"/>
    <p:sldId id="453" r:id="rId58"/>
    <p:sldId id="454" r:id="rId59"/>
    <p:sldId id="455" r:id="rId60"/>
    <p:sldId id="406" r:id="rId61"/>
    <p:sldId id="407" r:id="rId62"/>
    <p:sldId id="409" r:id="rId63"/>
  </p:sldIdLst>
  <p:sldSz cx="12188825" cy="6858000"/>
  <p:notesSz cx="6858000" cy="9144000"/>
  <p:embeddedFontLst>
    <p:embeddedFont>
      <p:font typeface="Amasis MT Pro" panose="02040504050005020304" pitchFamily="18" charset="0"/>
      <p:regular r:id="rId65"/>
      <p:bold r:id="rId66"/>
    </p:embeddedFont>
    <p:embeddedFont>
      <p:font typeface="Arial Black" panose="020B0A04020102020204" pitchFamily="34" charset="0"/>
      <p:regular r:id="rId67"/>
      <p:bold r:id="rId68"/>
    </p:embeddedFont>
    <p:embeddedFont>
      <p:font typeface="Cambria" panose="02040503050406030204" pitchFamily="18" charset="0"/>
      <p:regular r:id="rId69"/>
      <p:bold r:id="rId70"/>
      <p:italic r:id="rId71"/>
      <p:boldItalic r:id="rId72"/>
    </p:embeddedFont>
    <p:embeddedFont>
      <p:font typeface="Consolas" panose="020B0609020204030204" pitchFamily="49" charset="0"/>
      <p:regular r:id="rId73"/>
      <p:bold r:id="rId74"/>
      <p:italic r:id="rId75"/>
      <p:boldItalic r:id="rId76"/>
    </p:embeddedFont>
    <p:embeddedFont>
      <p:font typeface="Cooper Black" panose="0208090404030B020404" pitchFamily="18" charset="0"/>
      <p:regular r:id="rId77"/>
    </p:embeddedFont>
    <p:embeddedFont>
      <p:font typeface="Corben" panose="020B0604020202020204" charset="0"/>
      <p:bold r:id="rId78"/>
    </p:embeddedFont>
    <p:embeddedFont>
      <p:font typeface="Gill Sans" panose="020B0604020202020204" charset="0"/>
      <p:regular r:id="rId79"/>
      <p:bold r:id="rId80"/>
    </p:embeddedFont>
    <p:embeddedFont>
      <p:font typeface="Open Sans" panose="020B0606030504020204" pitchFamily="34" charset="0"/>
      <p:regular r:id="rId81"/>
      <p:bold r:id="rId82"/>
      <p:italic r:id="rId83"/>
      <p:boldItalic r:id="rId84"/>
    </p:embeddedFont>
    <p:embeddedFont>
      <p:font typeface="Quattrocento Sans" panose="020B0502050000020003" pitchFamily="34" charset="0"/>
      <p:regular r:id="rId85"/>
      <p:bold r:id="rId86"/>
      <p:italic r:id="rId87"/>
      <p:boldItalic r:id="rId88"/>
    </p:embeddedFont>
    <p:embeddedFont>
      <p:font typeface="Segoe UI" panose="020B0502040204020203" pitchFamily="34" charset="0"/>
      <p:regular r:id="rId89"/>
      <p:bold r:id="rId90"/>
      <p:italic r:id="rId91"/>
      <p:boldItalic r:id="rId92"/>
    </p:embeddedFont>
    <p:embeddedFont>
      <p:font typeface="Segoe UI Light" panose="020B0502040204020203" pitchFamily="34" charset="0"/>
      <p:regular r:id="rId93"/>
      <p:italic r:id="rId9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03" roundtripDataSignature="AMtx7mjDuvg+AJ5SXhqS019oXJCQRER+/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83E6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288" y="80"/>
      </p:cViewPr>
      <p:guideLst>
        <p:guide orient="horz" pos="2160"/>
        <p:guide pos="3839"/>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font" Target="fonts/font4.fntdata"/><Relationship Id="rId84" Type="http://schemas.openxmlformats.org/officeDocument/2006/relationships/font" Target="fonts/font20.fntdata"/><Relationship Id="rId89" Type="http://schemas.openxmlformats.org/officeDocument/2006/relationships/font" Target="fonts/font25.fntdata"/><Relationship Id="rId205" Type="http://schemas.openxmlformats.org/officeDocument/2006/relationships/viewProps" Target="viewProps.xml"/><Relationship Id="rId16" Type="http://schemas.openxmlformats.org/officeDocument/2006/relationships/slide" Target="slides/slide1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font" Target="fonts/font10.fntdata"/><Relationship Id="rId79" Type="http://schemas.openxmlformats.org/officeDocument/2006/relationships/font" Target="fonts/font15.fntdata"/><Relationship Id="rId5" Type="http://schemas.openxmlformats.org/officeDocument/2006/relationships/slideMaster" Target="slideMasters/slideMaster5.xml"/><Relationship Id="rId90" Type="http://schemas.openxmlformats.org/officeDocument/2006/relationships/font" Target="fonts/font26.fntdata"/><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notesMaster" Target="notesMasters/notesMaster1.xml"/><Relationship Id="rId69" Type="http://schemas.openxmlformats.org/officeDocument/2006/relationships/font" Target="fonts/font5.fntdata"/><Relationship Id="rId80" Type="http://schemas.openxmlformats.org/officeDocument/2006/relationships/font" Target="fonts/font16.fntdata"/><Relationship Id="rId85" Type="http://schemas.openxmlformats.org/officeDocument/2006/relationships/font" Target="fonts/font21.fntdata"/><Relationship Id="rId206"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font" Target="fonts/font3.fntdata"/><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font" Target="fonts/font6.fntdata"/><Relationship Id="rId75" Type="http://schemas.openxmlformats.org/officeDocument/2006/relationships/font" Target="fonts/font11.fntdata"/><Relationship Id="rId83" Type="http://schemas.openxmlformats.org/officeDocument/2006/relationships/font" Target="fonts/font19.fntdata"/><Relationship Id="rId88" Type="http://schemas.openxmlformats.org/officeDocument/2006/relationships/font" Target="fonts/font24.fntdata"/><Relationship Id="rId91" Type="http://schemas.openxmlformats.org/officeDocument/2006/relationships/font" Target="fonts/font27.fntdata"/><Relationship Id="rId1" Type="http://schemas.openxmlformats.org/officeDocument/2006/relationships/slideMaster" Target="slideMasters/slideMaster1.xml"/><Relationship Id="rId6" Type="http://schemas.openxmlformats.org/officeDocument/2006/relationships/slide" Target="slides/slide1.xml"/><Relationship Id="rId204" Type="http://schemas.openxmlformats.org/officeDocument/2006/relationships/presProps" Target="presProps.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font" Target="fonts/font1.fntdata"/><Relationship Id="rId73" Type="http://schemas.openxmlformats.org/officeDocument/2006/relationships/font" Target="fonts/font9.fntdata"/><Relationship Id="rId78" Type="http://schemas.openxmlformats.org/officeDocument/2006/relationships/font" Target="fonts/font14.fntdata"/><Relationship Id="rId81" Type="http://schemas.openxmlformats.org/officeDocument/2006/relationships/font" Target="fonts/font17.fntdata"/><Relationship Id="rId86" Type="http://schemas.openxmlformats.org/officeDocument/2006/relationships/font" Target="fonts/font22.fntdata"/><Relationship Id="rId94" Type="http://schemas.openxmlformats.org/officeDocument/2006/relationships/font" Target="fonts/font30.fntdata"/><Relationship Id="rId4" Type="http://schemas.openxmlformats.org/officeDocument/2006/relationships/slideMaster" Target="slideMasters/slideMaster4.xml"/><Relationship Id="rId9" Type="http://schemas.openxmlformats.org/officeDocument/2006/relationships/slide" Target="slides/slide4.xml"/><Relationship Id="rId207" Type="http://schemas.openxmlformats.org/officeDocument/2006/relationships/tableStyles" Target="tableStyles.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font" Target="fonts/font12.fntdata"/><Relationship Id="rId7" Type="http://schemas.openxmlformats.org/officeDocument/2006/relationships/slide" Target="slides/slide2.xml"/><Relationship Id="rId71" Type="http://schemas.openxmlformats.org/officeDocument/2006/relationships/font" Target="fonts/font7.fntdata"/><Relationship Id="rId92" Type="http://schemas.openxmlformats.org/officeDocument/2006/relationships/font" Target="fonts/font28.fntdata"/><Relationship Id="rId2" Type="http://schemas.openxmlformats.org/officeDocument/2006/relationships/slideMaster" Target="slideMasters/slideMaster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font" Target="fonts/font2.fntdata"/><Relationship Id="rId87" Type="http://schemas.openxmlformats.org/officeDocument/2006/relationships/font" Target="fonts/font23.fntdata"/><Relationship Id="rId61" Type="http://schemas.openxmlformats.org/officeDocument/2006/relationships/slide" Target="slides/slide56.xml"/><Relationship Id="rId82" Type="http://schemas.openxmlformats.org/officeDocument/2006/relationships/font" Target="fonts/font18.fntdata"/><Relationship Id="rId203" Type="http://customschemas.google.com/relationships/presentationmetadata" Target="metadata"/><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font" Target="fonts/font13.fntdata"/><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font" Target="fonts/font8.fntdata"/><Relationship Id="rId93" Type="http://schemas.openxmlformats.org/officeDocument/2006/relationships/font" Target="fonts/font29.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3" name="Google Shape;493;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4" name="Google Shape;494;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p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04" name="Google Shape;50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479084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p:cNvGrpSpPr/>
        <p:nvPr/>
      </p:nvGrpSpPr>
      <p:grpSpPr>
        <a:xfrm>
          <a:off x="0" y="0"/>
          <a:ext cx="0" cy="0"/>
          <a:chOff x="0" y="0"/>
          <a:chExt cx="0" cy="0"/>
        </a:xfrm>
      </p:grpSpPr>
      <p:sp>
        <p:nvSpPr>
          <p:cNvPr id="573" name="Google Shape;573;p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74" name="Google Shape;574;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66B8D726-D0BC-B240-A677-46F99704B74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58</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538230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15"/>
        <p:cNvGrpSpPr/>
        <p:nvPr/>
      </p:nvGrpSpPr>
      <p:grpSpPr>
        <a:xfrm>
          <a:off x="0" y="0"/>
          <a:ext cx="0" cy="0"/>
          <a:chOff x="0" y="0"/>
          <a:chExt cx="0" cy="0"/>
        </a:xfrm>
      </p:grpSpPr>
      <p:sp>
        <p:nvSpPr>
          <p:cNvPr id="16" name="Google Shape;16;p146"/>
          <p:cNvSpPr/>
          <p:nvPr/>
        </p:nvSpPr>
        <p:spPr>
          <a:xfrm flipH="1">
            <a:off x="-2" y="3058359"/>
            <a:ext cx="7462565" cy="3799641"/>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7" name="Google Shape;17;p146"/>
          <p:cNvSpPr/>
          <p:nvPr/>
        </p:nvSpPr>
        <p:spPr>
          <a:xfrm>
            <a:off x="-6" y="1124744"/>
            <a:ext cx="12188831" cy="5733256"/>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ABD98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8" name="Google Shape;18;p146"/>
          <p:cNvSpPr/>
          <p:nvPr/>
        </p:nvSpPr>
        <p:spPr>
          <a:xfrm flipH="1">
            <a:off x="-2" y="1995614"/>
            <a:ext cx="12188827" cy="4862387"/>
          </a:xfrm>
          <a:custGeom>
            <a:avLst/>
            <a:gdLst/>
            <a:ahLst/>
            <a:cxnLst/>
            <a:rect l="l" t="t" r="r" b="b"/>
            <a:pathLst>
              <a:path w="12188827" h="4862387" extrusionOk="0">
                <a:moveTo>
                  <a:pt x="0" y="0"/>
                </a:moveTo>
                <a:lnTo>
                  <a:pt x="0" y="4862387"/>
                </a:lnTo>
                <a:lnTo>
                  <a:pt x="12188827" y="4862387"/>
                </a:lnTo>
                <a:lnTo>
                  <a:pt x="12188827" y="3248211"/>
                </a:lnTo>
                <a:lnTo>
                  <a:pt x="12065043" y="3174555"/>
                </a:lnTo>
                <a:cubicBezTo>
                  <a:pt x="11174911" y="2698247"/>
                  <a:pt x="10218900" y="3245765"/>
                  <a:pt x="8632675" y="4232925"/>
                </a:cubicBezTo>
                <a:cubicBezTo>
                  <a:pt x="5990931" y="5869126"/>
                  <a:pt x="4783278" y="2123831"/>
                  <a:pt x="103619" y="43113"/>
                </a:cubicBezTo>
                <a:close/>
              </a:path>
            </a:pathLst>
          </a:custGeom>
          <a:gradFill>
            <a:gsLst>
              <a:gs pos="0">
                <a:schemeClr val="accent1"/>
              </a:gs>
              <a:gs pos="100000">
                <a:schemeClr val="accent3"/>
              </a:gs>
            </a:gsLst>
            <a:lin ang="24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b="0" i="0" u="none" strike="noStrike" cap="none">
              <a:solidFill>
                <a:schemeClr val="dk1"/>
              </a:solidFill>
              <a:latin typeface="Quattrocento Sans"/>
              <a:ea typeface="Quattrocento Sans"/>
              <a:cs typeface="Quattrocento Sans"/>
              <a:sym typeface="Quattrocento Sans"/>
            </a:endParaRPr>
          </a:p>
        </p:txBody>
      </p:sp>
      <p:sp>
        <p:nvSpPr>
          <p:cNvPr id="19" name="Google Shape;19;p146"/>
          <p:cNvSpPr txBox="1">
            <a:spLocks noGrp="1"/>
          </p:cNvSpPr>
          <p:nvPr>
            <p:ph type="ctrTitle"/>
          </p:nvPr>
        </p:nvSpPr>
        <p:spPr>
          <a:xfrm>
            <a:off x="914162" y="1257197"/>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accent1"/>
              </a:buClr>
              <a:buSzPts val="4800"/>
              <a:buFont typeface="Quattrocento Sans"/>
              <a:buNone/>
              <a:defRPr sz="48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146"/>
          <p:cNvSpPr txBox="1">
            <a:spLocks noGrp="1"/>
          </p:cNvSpPr>
          <p:nvPr>
            <p:ph type="subTitle" idx="1"/>
          </p:nvPr>
        </p:nvSpPr>
        <p:spPr>
          <a:xfrm>
            <a:off x="914163" y="2765323"/>
            <a:ext cx="6980449" cy="612775"/>
          </a:xfrm>
          <a:prstGeom prst="rect">
            <a:avLst/>
          </a:prstGeom>
          <a:noFill/>
          <a:ln>
            <a:noFill/>
          </a:ln>
        </p:spPr>
        <p:txBody>
          <a:bodyPr spcFirstLastPara="1" wrap="square" lIns="0" tIns="60925" rIns="0" bIns="60925" anchor="t" anchorCtr="0">
            <a:noAutofit/>
          </a:bodyPr>
          <a:lstStyle>
            <a:lvl1pPr lvl="0" algn="l">
              <a:spcBef>
                <a:spcPts val="560"/>
              </a:spcBef>
              <a:spcAft>
                <a:spcPts val="0"/>
              </a:spcAft>
              <a:buClr>
                <a:srgbClr val="7F7F7F"/>
              </a:buClr>
              <a:buSzPts val="2800"/>
              <a:buNone/>
              <a:defRPr sz="2800">
                <a:solidFill>
                  <a:srgbClr val="7F7F7F"/>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21" name="Google Shape;21;p146"/>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146"/>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146"/>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 name="Google Shape;24;p146"/>
          <p:cNvSpPr txBox="1">
            <a:spLocks noGrp="1"/>
          </p:cNvSpPr>
          <p:nvPr>
            <p:ph type="body" idx="2"/>
          </p:nvPr>
        </p:nvSpPr>
        <p:spPr>
          <a:xfrm>
            <a:off x="7462563" y="5085184"/>
            <a:ext cx="4141693" cy="1156343"/>
          </a:xfrm>
          <a:prstGeom prst="rect">
            <a:avLst/>
          </a:prstGeom>
          <a:noFill/>
          <a:ln>
            <a:noFill/>
          </a:ln>
        </p:spPr>
        <p:txBody>
          <a:bodyPr spcFirstLastPara="1" wrap="square" lIns="0" tIns="60925" rIns="0" bIns="60925" anchor="b" anchorCtr="0">
            <a:noAutofit/>
          </a:bodyPr>
          <a:lstStyle>
            <a:lvl1pPr marL="457200" lvl="0" indent="-228600" algn="r">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 name="Google Shape;25;p146"/>
          <p:cNvSpPr/>
          <p:nvPr/>
        </p:nvSpPr>
        <p:spPr>
          <a:xfrm>
            <a:off x="0" y="0"/>
            <a:ext cx="1125860" cy="1052736"/>
          </a:xfrm>
          <a:custGeom>
            <a:avLst/>
            <a:gdLst/>
            <a:ahLst/>
            <a:cxnLst/>
            <a:rect l="l" t="t" r="r" b="b"/>
            <a:pathLst>
              <a:path w="1125860" h="1052736" extrusionOk="0">
                <a:moveTo>
                  <a:pt x="0" y="0"/>
                </a:moveTo>
                <a:lnTo>
                  <a:pt x="1078411" y="0"/>
                </a:lnTo>
                <a:lnTo>
                  <a:pt x="1109768" y="101015"/>
                </a:lnTo>
                <a:cubicBezTo>
                  <a:pt x="1120319" y="152578"/>
                  <a:pt x="1125860" y="205966"/>
                  <a:pt x="1125860" y="260648"/>
                </a:cubicBezTo>
                <a:cubicBezTo>
                  <a:pt x="1125860" y="698106"/>
                  <a:pt x="771230" y="1052736"/>
                  <a:pt x="333772" y="1052736"/>
                </a:cubicBezTo>
                <a:cubicBezTo>
                  <a:pt x="224408" y="1052736"/>
                  <a:pt x="120220" y="1030572"/>
                  <a:pt x="25456" y="990490"/>
                </a:cubicBezTo>
                <a:lnTo>
                  <a:pt x="0" y="976673"/>
                </a:lnTo>
                <a:close/>
              </a:path>
            </a:pathLst>
          </a:cu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6" name="Google Shape;26;p146"/>
          <p:cNvSpPr/>
          <p:nvPr/>
        </p:nvSpPr>
        <p:spPr>
          <a:xfrm>
            <a:off x="1413892" y="398372"/>
            <a:ext cx="472244" cy="472244"/>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7" name="Google Shape;27;p146"/>
          <p:cNvSpPr/>
          <p:nvPr/>
        </p:nvSpPr>
        <p:spPr>
          <a:xfrm>
            <a:off x="9367155" y="1301823"/>
            <a:ext cx="1406894" cy="1406894"/>
          </a:xfrm>
          <a:prstGeom prst="ellipse">
            <a:avLst/>
          </a:prstGeom>
          <a:solidFill>
            <a:srgbClr val="ACD98C"/>
          </a:solidFill>
          <a:ln w="1016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8" name="Google Shape;28;p146"/>
          <p:cNvSpPr/>
          <p:nvPr/>
        </p:nvSpPr>
        <p:spPr>
          <a:xfrm>
            <a:off x="10532246" y="729678"/>
            <a:ext cx="483606" cy="483606"/>
          </a:xfrm>
          <a:prstGeom prst="ellipse">
            <a:avLst/>
          </a:pr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Title Only">
  <p:cSld name="1_Title Only">
    <p:spTree>
      <p:nvGrpSpPr>
        <p:cNvPr id="1" name="Shape 29"/>
        <p:cNvGrpSpPr/>
        <p:nvPr/>
      </p:nvGrpSpPr>
      <p:grpSpPr>
        <a:xfrm>
          <a:off x="0" y="0"/>
          <a:ext cx="0" cy="0"/>
          <a:chOff x="0" y="0"/>
          <a:chExt cx="0" cy="0"/>
        </a:xfrm>
      </p:grpSpPr>
      <p:sp>
        <p:nvSpPr>
          <p:cNvPr id="30" name="Google Shape;30;p147"/>
          <p:cNvSpPr/>
          <p:nvPr/>
        </p:nvSpPr>
        <p:spPr>
          <a:xfrm>
            <a:off x="-2889" y="0"/>
            <a:ext cx="5373429" cy="6858001"/>
          </a:xfrm>
          <a:custGeom>
            <a:avLst/>
            <a:gdLst/>
            <a:ahLst/>
            <a:cxnLst/>
            <a:rect l="l" t="t" r="r" b="b"/>
            <a:pathLst>
              <a:path w="5373429" h="6858001" extrusionOk="0">
                <a:moveTo>
                  <a:pt x="0" y="0"/>
                </a:moveTo>
                <a:lnTo>
                  <a:pt x="3009869" y="0"/>
                </a:lnTo>
                <a:lnTo>
                  <a:pt x="3067925" y="33382"/>
                </a:lnTo>
                <a:cubicBezTo>
                  <a:pt x="4450129" y="873229"/>
                  <a:pt x="5373429" y="2393122"/>
                  <a:pt x="5373429" y="4128662"/>
                </a:cubicBezTo>
                <a:cubicBezTo>
                  <a:pt x="5373429" y="5120400"/>
                  <a:pt x="5071943" y="6041721"/>
                  <a:pt x="4555623" y="6805976"/>
                </a:cubicBezTo>
                <a:lnTo>
                  <a:pt x="4518627" y="6858001"/>
                </a:lnTo>
                <a:lnTo>
                  <a:pt x="0" y="6858001"/>
                </a:lnTo>
                <a:close/>
              </a:path>
            </a:pathLst>
          </a:custGeom>
          <a:gradFill>
            <a:gsLst>
              <a:gs pos="0">
                <a:schemeClr val="accent1"/>
              </a:gs>
              <a:gs pos="100000">
                <a:schemeClr val="accent6"/>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1" name="Google Shape;31;p147"/>
          <p:cNvSpPr/>
          <p:nvPr/>
        </p:nvSpPr>
        <p:spPr>
          <a:xfrm>
            <a:off x="1" y="0"/>
            <a:ext cx="4749901" cy="6858000"/>
          </a:xfrm>
          <a:custGeom>
            <a:avLst/>
            <a:gdLst/>
            <a:ahLst/>
            <a:cxnLst/>
            <a:rect l="l" t="t" r="r" b="b"/>
            <a:pathLst>
              <a:path w="4749901" h="6858000" extrusionOk="0">
                <a:moveTo>
                  <a:pt x="0" y="0"/>
                </a:moveTo>
                <a:lnTo>
                  <a:pt x="2930208" y="0"/>
                </a:lnTo>
                <a:lnTo>
                  <a:pt x="3243158" y="234020"/>
                </a:lnTo>
                <a:cubicBezTo>
                  <a:pt x="4163364" y="993441"/>
                  <a:pt x="4749901" y="2142724"/>
                  <a:pt x="4749901" y="3429000"/>
                </a:cubicBezTo>
                <a:cubicBezTo>
                  <a:pt x="4749901" y="4715276"/>
                  <a:pt x="4163364" y="5864559"/>
                  <a:pt x="3243158" y="6623981"/>
                </a:cubicBezTo>
                <a:lnTo>
                  <a:pt x="2930208" y="6858000"/>
                </a:lnTo>
                <a:lnTo>
                  <a:pt x="0" y="6858000"/>
                </a:ln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2" name="Google Shape;32;p147"/>
          <p:cNvSpPr txBox="1">
            <a:spLocks noGrp="1"/>
          </p:cNvSpPr>
          <p:nvPr>
            <p:ph type="title"/>
          </p:nvPr>
        </p:nvSpPr>
        <p:spPr>
          <a:xfrm>
            <a:off x="582007" y="1700808"/>
            <a:ext cx="4432285" cy="1900971"/>
          </a:xfrm>
          <a:prstGeom prst="rect">
            <a:avLst/>
          </a:prstGeom>
          <a:noFill/>
          <a:ln>
            <a:noFill/>
          </a:ln>
        </p:spPr>
        <p:txBody>
          <a:bodyPr spcFirstLastPara="1" wrap="square" lIns="0" tIns="60925" rIns="0" bIns="60925" anchor="b" anchorCtr="0">
            <a:noAutofit/>
          </a:bodyPr>
          <a:lstStyle>
            <a:lvl1pPr lvl="0" algn="l">
              <a:spcBef>
                <a:spcPts val="0"/>
              </a:spcBef>
              <a:spcAft>
                <a:spcPts val="0"/>
              </a:spcAft>
              <a:buClr>
                <a:schemeClr val="lt1"/>
              </a:buClr>
              <a:buSzPts val="4400"/>
              <a:buFont typeface="Quattrocento Sans"/>
              <a:buNone/>
              <a:defRPr sz="4400" b="1">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147"/>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147"/>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147"/>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36" name="Google Shape;36;p147"/>
          <p:cNvSpPr txBox="1">
            <a:spLocks noGrp="1"/>
          </p:cNvSpPr>
          <p:nvPr>
            <p:ph type="body" idx="1"/>
          </p:nvPr>
        </p:nvSpPr>
        <p:spPr>
          <a:xfrm>
            <a:off x="582613" y="3602206"/>
            <a:ext cx="3279775" cy="1900237"/>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lt1"/>
              </a:buClr>
              <a:buSzPts val="1600"/>
              <a:buNone/>
              <a:defRPr sz="1600">
                <a:solidFill>
                  <a:schemeClr val="lt1"/>
                </a:solidFill>
              </a:defRPr>
            </a:lvl1pPr>
            <a:lvl2pPr marL="914400" lvl="1" indent="-228600" algn="l">
              <a:spcBef>
                <a:spcPts val="320"/>
              </a:spcBef>
              <a:spcAft>
                <a:spcPts val="0"/>
              </a:spcAft>
              <a:buClr>
                <a:schemeClr val="lt1"/>
              </a:buClr>
              <a:buSzPts val="1600"/>
              <a:buNone/>
              <a:defRPr sz="1600">
                <a:solidFill>
                  <a:schemeClr val="lt1"/>
                </a:solidFill>
              </a:defRPr>
            </a:lvl2pPr>
            <a:lvl3pPr marL="1371600" lvl="2" indent="-228600" algn="l">
              <a:spcBef>
                <a:spcPts val="320"/>
              </a:spcBef>
              <a:spcAft>
                <a:spcPts val="0"/>
              </a:spcAft>
              <a:buClr>
                <a:schemeClr val="lt1"/>
              </a:buClr>
              <a:buSzPts val="1600"/>
              <a:buNone/>
              <a:defRPr sz="1600">
                <a:solidFill>
                  <a:schemeClr val="lt1"/>
                </a:solidFill>
              </a:defRPr>
            </a:lvl3pPr>
            <a:lvl4pPr marL="1828800" lvl="3" indent="-228600" algn="l">
              <a:spcBef>
                <a:spcPts val="320"/>
              </a:spcBef>
              <a:spcAft>
                <a:spcPts val="0"/>
              </a:spcAft>
              <a:buClr>
                <a:schemeClr val="lt1"/>
              </a:buClr>
              <a:buSzPts val="1600"/>
              <a:buNone/>
              <a:defRPr sz="1600">
                <a:solidFill>
                  <a:schemeClr val="lt1"/>
                </a:solidFill>
              </a:defRPr>
            </a:lvl4pPr>
            <a:lvl5pPr marL="2286000" lvl="4" indent="-228600" algn="l">
              <a:spcBef>
                <a:spcPts val="320"/>
              </a:spcBef>
              <a:spcAft>
                <a:spcPts val="0"/>
              </a:spcAft>
              <a:buClr>
                <a:schemeClr val="lt1"/>
              </a:buClr>
              <a:buSzPts val="1600"/>
              <a:buNone/>
              <a:defRPr sz="1600">
                <a:solidFill>
                  <a:schemeClr val="lt1"/>
                </a:solidFill>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4_Title Only">
  <p:cSld name="4_Title Only">
    <p:spTree>
      <p:nvGrpSpPr>
        <p:cNvPr id="1" name="Shape 46"/>
        <p:cNvGrpSpPr/>
        <p:nvPr/>
      </p:nvGrpSpPr>
      <p:grpSpPr>
        <a:xfrm>
          <a:off x="0" y="0"/>
          <a:ext cx="0" cy="0"/>
          <a:chOff x="0" y="0"/>
          <a:chExt cx="0" cy="0"/>
        </a:xfrm>
      </p:grpSpPr>
      <p:sp>
        <p:nvSpPr>
          <p:cNvPr id="47" name="Google Shape;47;p149"/>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149"/>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149"/>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50" name="Google Shape;50;p149"/>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t"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149"/>
          <p:cNvSpPr txBox="1">
            <a:spLocks noGrp="1"/>
          </p:cNvSpPr>
          <p:nvPr>
            <p:ph type="body" idx="1"/>
          </p:nvPr>
        </p:nvSpPr>
        <p:spPr>
          <a:xfrm>
            <a:off x="609600" y="188913"/>
            <a:ext cx="5700713" cy="360362"/>
          </a:xfrm>
          <a:prstGeom prst="rect">
            <a:avLst/>
          </a:prstGeom>
          <a:noFill/>
          <a:ln>
            <a:noFill/>
          </a:ln>
        </p:spPr>
        <p:txBody>
          <a:bodyPr spcFirstLastPara="1" wrap="square" lIns="0" tIns="60925" rIns="0" bIns="60925" anchor="t" anchorCtr="0">
            <a:noAutofit/>
          </a:bodyPr>
          <a:lstStyle>
            <a:lvl1pPr marL="457200" lvl="0" indent="-228600" algn="l">
              <a:spcBef>
                <a:spcPts val="400"/>
              </a:spcBef>
              <a:spcAft>
                <a:spcPts val="0"/>
              </a:spcAft>
              <a:buClr>
                <a:schemeClr val="dk1"/>
              </a:buClr>
              <a:buSzPts val="2000"/>
              <a:buNone/>
              <a:defRPr sz="2000"/>
            </a:lvl1pPr>
            <a:lvl2pPr marL="914400" lvl="1" indent="-228600" algn="l">
              <a:spcBef>
                <a:spcPts val="400"/>
              </a:spcBef>
              <a:spcAft>
                <a:spcPts val="0"/>
              </a:spcAft>
              <a:buClr>
                <a:schemeClr val="dk1"/>
              </a:buClr>
              <a:buSzPts val="2000"/>
              <a:buNone/>
              <a:defRPr sz="2000"/>
            </a:lvl2pPr>
            <a:lvl3pPr marL="1371600" lvl="2" indent="-228600" algn="l">
              <a:spcBef>
                <a:spcPts val="400"/>
              </a:spcBef>
              <a:spcAft>
                <a:spcPts val="0"/>
              </a:spcAft>
              <a:buClr>
                <a:schemeClr val="dk1"/>
              </a:buClr>
              <a:buSzPts val="2000"/>
              <a:buNone/>
              <a:defRPr sz="2000"/>
            </a:lvl3pPr>
            <a:lvl4pPr marL="1828800" lvl="3" indent="-228600" algn="l">
              <a:spcBef>
                <a:spcPts val="400"/>
              </a:spcBef>
              <a:spcAft>
                <a:spcPts val="0"/>
              </a:spcAft>
              <a:buClr>
                <a:schemeClr val="dk1"/>
              </a:buClr>
              <a:buSzPts val="2000"/>
              <a:buNone/>
              <a:defRPr sz="2000"/>
            </a:lvl4pPr>
            <a:lvl5pPr marL="2286000" lvl="4" indent="-228600" algn="l">
              <a:spcBef>
                <a:spcPts val="400"/>
              </a:spcBef>
              <a:spcAft>
                <a:spcPts val="0"/>
              </a:spcAft>
              <a:buClr>
                <a:schemeClr val="dk1"/>
              </a:buClr>
              <a:buSzPts val="2000"/>
              <a:buNone/>
              <a:defRPr sz="20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_Title Slide">
  <p:cSld name="2_Title Slide">
    <p:spTree>
      <p:nvGrpSpPr>
        <p:cNvPr id="1" name="Shape 79"/>
        <p:cNvGrpSpPr/>
        <p:nvPr/>
      </p:nvGrpSpPr>
      <p:grpSpPr>
        <a:xfrm>
          <a:off x="0" y="0"/>
          <a:ext cx="0" cy="0"/>
          <a:chOff x="0" y="0"/>
          <a:chExt cx="0" cy="0"/>
        </a:xfrm>
      </p:grpSpPr>
      <p:sp>
        <p:nvSpPr>
          <p:cNvPr id="80" name="Google Shape;80;p170"/>
          <p:cNvSpPr txBox="1">
            <a:spLocks noGrp="1"/>
          </p:cNvSpPr>
          <p:nvPr>
            <p:ph type="ctrTitle"/>
          </p:nvPr>
        </p:nvSpPr>
        <p:spPr>
          <a:xfrm>
            <a:off x="914162" y="1226215"/>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lt1"/>
              </a:buClr>
              <a:buSzPts val="4800"/>
              <a:buFont typeface="Quattrocento Sans"/>
              <a:buNone/>
              <a:defRPr sz="4800" cap="none">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1" name="Google Shape;81;p170"/>
          <p:cNvSpPr txBox="1">
            <a:spLocks noGrp="1"/>
          </p:cNvSpPr>
          <p:nvPr>
            <p:ph type="subTitle" idx="1"/>
          </p:nvPr>
        </p:nvSpPr>
        <p:spPr>
          <a:xfrm>
            <a:off x="914163" y="2734341"/>
            <a:ext cx="5396273" cy="1080120"/>
          </a:xfrm>
          <a:prstGeom prst="rect">
            <a:avLst/>
          </a:prstGeom>
          <a:noFill/>
          <a:ln>
            <a:noFill/>
          </a:ln>
        </p:spPr>
        <p:txBody>
          <a:bodyPr spcFirstLastPara="1" wrap="square" lIns="0" tIns="60925" rIns="0" bIns="60925" anchor="t" anchorCtr="0">
            <a:normAutofit/>
          </a:bodyPr>
          <a:lstStyle>
            <a:lvl1pPr lvl="0" algn="l">
              <a:spcBef>
                <a:spcPts val="720"/>
              </a:spcBef>
              <a:spcAft>
                <a:spcPts val="0"/>
              </a:spcAft>
              <a:buClr>
                <a:schemeClr val="lt1"/>
              </a:buClr>
              <a:buSzPts val="3600"/>
              <a:buNone/>
              <a:defRPr>
                <a:solidFill>
                  <a:schemeClr val="lt1"/>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82" name="Google Shape;82;p170"/>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70"/>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70"/>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85" name="Google Shape;85;p170"/>
          <p:cNvSpPr txBox="1">
            <a:spLocks noGrp="1"/>
          </p:cNvSpPr>
          <p:nvPr>
            <p:ph type="body" idx="2"/>
          </p:nvPr>
        </p:nvSpPr>
        <p:spPr>
          <a:xfrm>
            <a:off x="914400" y="3933825"/>
            <a:ext cx="5827713" cy="612775"/>
          </a:xfrm>
          <a:prstGeom prst="rect">
            <a:avLst/>
          </a:prstGeom>
          <a:noFill/>
          <a:ln>
            <a:noFill/>
          </a:ln>
        </p:spPr>
        <p:txBody>
          <a:bodyPr spcFirstLastPara="1" wrap="square" lIns="0" tIns="60925" rIns="0" bIns="60925" anchor="ctr" anchorCtr="0">
            <a:noAutofit/>
          </a:bodyPr>
          <a:lstStyle>
            <a:lvl1pPr marL="457200" lvl="0" indent="-228600" algn="l">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6" name="Google Shape;86;p170"/>
          <p:cNvSpPr>
            <a:spLocks noGrp="1"/>
          </p:cNvSpPr>
          <p:nvPr>
            <p:ph type="pic" idx="3"/>
          </p:nvPr>
        </p:nvSpPr>
        <p:spPr>
          <a:xfrm>
            <a:off x="5208376" y="0"/>
            <a:ext cx="6980449" cy="6858000"/>
          </a:xfrm>
          <a:prstGeom prst="rect">
            <a:avLst/>
          </a:prstGeom>
          <a:noFill/>
          <a:ln>
            <a:noFill/>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7"/>
        <p:cNvGrpSpPr/>
        <p:nvPr/>
      </p:nvGrpSpPr>
      <p:grpSpPr>
        <a:xfrm>
          <a:off x="0" y="0"/>
          <a:ext cx="0" cy="0"/>
          <a:chOff x="0" y="0"/>
          <a:chExt cx="0" cy="0"/>
        </a:xfrm>
      </p:grpSpPr>
      <p:sp>
        <p:nvSpPr>
          <p:cNvPr id="88" name="Google Shape;88;p171"/>
          <p:cNvSpPr txBox="1">
            <a:spLocks noGrp="1"/>
          </p:cNvSpPr>
          <p:nvPr>
            <p:ph type="title"/>
          </p:nvPr>
        </p:nvSpPr>
        <p:spPr>
          <a:xfrm>
            <a:off x="962833" y="4406901"/>
            <a:ext cx="10360501" cy="1362075"/>
          </a:xfrm>
          <a:prstGeom prst="rect">
            <a:avLst/>
          </a:prstGeom>
          <a:noFill/>
          <a:ln>
            <a:noFill/>
          </a:ln>
        </p:spPr>
        <p:txBody>
          <a:bodyPr spcFirstLastPara="1" wrap="square" lIns="0" tIns="60925" rIns="0" bIns="60925" anchor="t" anchorCtr="0">
            <a:normAutofit/>
          </a:bodyPr>
          <a:lstStyle>
            <a:lvl1pPr lvl="0" algn="l">
              <a:spcBef>
                <a:spcPts val="0"/>
              </a:spcBef>
              <a:spcAft>
                <a:spcPts val="0"/>
              </a:spcAft>
              <a:buClr>
                <a:schemeClr val="accent1"/>
              </a:buClr>
              <a:buSzPts val="5300"/>
              <a:buFont typeface="Quattrocento Sans"/>
              <a:buNone/>
              <a:defRPr sz="53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9" name="Google Shape;89;p171"/>
          <p:cNvSpPr txBox="1">
            <a:spLocks noGrp="1"/>
          </p:cNvSpPr>
          <p:nvPr>
            <p:ph type="body" idx="1"/>
          </p:nvPr>
        </p:nvSpPr>
        <p:spPr>
          <a:xfrm>
            <a:off x="962833" y="2906713"/>
            <a:ext cx="10360501" cy="1500187"/>
          </a:xfrm>
          <a:prstGeom prst="rect">
            <a:avLst/>
          </a:prstGeom>
          <a:noFill/>
          <a:ln>
            <a:noFill/>
          </a:ln>
        </p:spPr>
        <p:txBody>
          <a:bodyPr spcFirstLastPara="1" wrap="square" lIns="0" tIns="60925" rIns="0" bIns="60925" anchor="b" anchorCtr="0">
            <a:normAutofit/>
          </a:bodyPr>
          <a:lstStyle>
            <a:lvl1pPr marL="457200" lvl="0" indent="-228600" algn="l">
              <a:spcBef>
                <a:spcPts val="540"/>
              </a:spcBef>
              <a:spcAft>
                <a:spcPts val="0"/>
              </a:spcAft>
              <a:buClr>
                <a:srgbClr val="918E8D"/>
              </a:buClr>
              <a:buSzPts val="2700"/>
              <a:buNone/>
              <a:defRPr sz="2700">
                <a:solidFill>
                  <a:srgbClr val="918E8D"/>
                </a:solidFill>
              </a:defRPr>
            </a:lvl1pPr>
            <a:lvl2pPr marL="914400" lvl="1" indent="-228600" algn="l">
              <a:spcBef>
                <a:spcPts val="480"/>
              </a:spcBef>
              <a:spcAft>
                <a:spcPts val="0"/>
              </a:spcAft>
              <a:buClr>
                <a:srgbClr val="918E8D"/>
              </a:buClr>
              <a:buSzPts val="2400"/>
              <a:buNone/>
              <a:defRPr sz="2400">
                <a:solidFill>
                  <a:srgbClr val="918E8D"/>
                </a:solidFill>
              </a:defRPr>
            </a:lvl2pPr>
            <a:lvl3pPr marL="1371600" lvl="2" indent="-228600" algn="l">
              <a:spcBef>
                <a:spcPts val="420"/>
              </a:spcBef>
              <a:spcAft>
                <a:spcPts val="0"/>
              </a:spcAft>
              <a:buClr>
                <a:srgbClr val="918E8D"/>
              </a:buClr>
              <a:buSzPts val="2100"/>
              <a:buNone/>
              <a:defRPr sz="2100">
                <a:solidFill>
                  <a:srgbClr val="918E8D"/>
                </a:solidFill>
              </a:defRPr>
            </a:lvl3pPr>
            <a:lvl4pPr marL="1828800" lvl="3" indent="-228600" algn="l">
              <a:spcBef>
                <a:spcPts val="380"/>
              </a:spcBef>
              <a:spcAft>
                <a:spcPts val="0"/>
              </a:spcAft>
              <a:buClr>
                <a:srgbClr val="918E8D"/>
              </a:buClr>
              <a:buSzPts val="1900"/>
              <a:buNone/>
              <a:defRPr sz="1900">
                <a:solidFill>
                  <a:srgbClr val="918E8D"/>
                </a:solidFill>
              </a:defRPr>
            </a:lvl4pPr>
            <a:lvl5pPr marL="2286000" lvl="4" indent="-228600" algn="l">
              <a:spcBef>
                <a:spcPts val="380"/>
              </a:spcBef>
              <a:spcAft>
                <a:spcPts val="0"/>
              </a:spcAft>
              <a:buClr>
                <a:srgbClr val="918E8D"/>
              </a:buClr>
              <a:buSzPts val="1900"/>
              <a:buNone/>
              <a:defRPr sz="1900">
                <a:solidFill>
                  <a:srgbClr val="918E8D"/>
                </a:solidFill>
              </a:defRPr>
            </a:lvl5pPr>
            <a:lvl6pPr marL="2743200" lvl="5" indent="-228600" algn="l">
              <a:spcBef>
                <a:spcPts val="380"/>
              </a:spcBef>
              <a:spcAft>
                <a:spcPts val="0"/>
              </a:spcAft>
              <a:buClr>
                <a:srgbClr val="918E8D"/>
              </a:buClr>
              <a:buSzPts val="1900"/>
              <a:buNone/>
              <a:defRPr sz="1900">
                <a:solidFill>
                  <a:srgbClr val="918E8D"/>
                </a:solidFill>
              </a:defRPr>
            </a:lvl6pPr>
            <a:lvl7pPr marL="3200400" lvl="6" indent="-228600" algn="l">
              <a:spcBef>
                <a:spcPts val="380"/>
              </a:spcBef>
              <a:spcAft>
                <a:spcPts val="0"/>
              </a:spcAft>
              <a:buClr>
                <a:srgbClr val="918E8D"/>
              </a:buClr>
              <a:buSzPts val="1900"/>
              <a:buNone/>
              <a:defRPr sz="1900">
                <a:solidFill>
                  <a:srgbClr val="918E8D"/>
                </a:solidFill>
              </a:defRPr>
            </a:lvl7pPr>
            <a:lvl8pPr marL="3657600" lvl="7" indent="-228600" algn="l">
              <a:spcBef>
                <a:spcPts val="380"/>
              </a:spcBef>
              <a:spcAft>
                <a:spcPts val="0"/>
              </a:spcAft>
              <a:buClr>
                <a:srgbClr val="918E8D"/>
              </a:buClr>
              <a:buSzPts val="1900"/>
              <a:buNone/>
              <a:defRPr sz="1900">
                <a:solidFill>
                  <a:srgbClr val="918E8D"/>
                </a:solidFill>
              </a:defRPr>
            </a:lvl8pPr>
            <a:lvl9pPr marL="4114800" lvl="8" indent="-228600" algn="l">
              <a:spcBef>
                <a:spcPts val="380"/>
              </a:spcBef>
              <a:spcAft>
                <a:spcPts val="0"/>
              </a:spcAft>
              <a:buClr>
                <a:srgbClr val="918E8D"/>
              </a:buClr>
              <a:buSzPts val="1900"/>
              <a:buNone/>
              <a:defRPr sz="1900">
                <a:solidFill>
                  <a:srgbClr val="918E8D"/>
                </a:solidFill>
              </a:defRPr>
            </a:lvl9pPr>
          </a:lstStyle>
          <a:p>
            <a:endParaRPr/>
          </a:p>
        </p:txBody>
      </p:sp>
      <p:sp>
        <p:nvSpPr>
          <p:cNvPr id="90" name="Google Shape;90;p171"/>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1" name="Google Shape;91;p171"/>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2" name="Google Shape;92;p171"/>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93"/>
        <p:cNvGrpSpPr/>
        <p:nvPr/>
      </p:nvGrpSpPr>
      <p:grpSpPr>
        <a:xfrm>
          <a:off x="0" y="0"/>
          <a:ext cx="0" cy="0"/>
          <a:chOff x="0" y="0"/>
          <a:chExt cx="0" cy="0"/>
        </a:xfrm>
      </p:grpSpPr>
      <p:sp>
        <p:nvSpPr>
          <p:cNvPr id="94" name="Google Shape;94;p172"/>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172"/>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6" name="Google Shape;96;p172"/>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97" name="Google Shape;97;p172"/>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3_Title Only">
  <p:cSld name="3_Title Only">
    <p:spTree>
      <p:nvGrpSpPr>
        <p:cNvPr id="1" name="Shape 98"/>
        <p:cNvGrpSpPr/>
        <p:nvPr/>
      </p:nvGrpSpPr>
      <p:grpSpPr>
        <a:xfrm>
          <a:off x="0" y="0"/>
          <a:ext cx="0" cy="0"/>
          <a:chOff x="0" y="0"/>
          <a:chExt cx="0" cy="0"/>
        </a:xfrm>
      </p:grpSpPr>
      <p:sp>
        <p:nvSpPr>
          <p:cNvPr id="99" name="Google Shape;99;p173"/>
          <p:cNvSpPr/>
          <p:nvPr/>
        </p:nvSpPr>
        <p:spPr>
          <a:xfrm>
            <a:off x="0" y="4581128"/>
            <a:ext cx="5163566" cy="2276872"/>
          </a:xfrm>
          <a:custGeom>
            <a:avLst/>
            <a:gdLst/>
            <a:ahLst/>
            <a:cxnLst/>
            <a:rect l="l" t="t" r="r" b="b"/>
            <a:pathLst>
              <a:path w="5163566" h="2276872" extrusionOk="0">
                <a:moveTo>
                  <a:pt x="2035697" y="0"/>
                </a:moveTo>
                <a:cubicBezTo>
                  <a:pt x="3397576" y="0"/>
                  <a:pt x="4566062" y="828016"/>
                  <a:pt x="5065187" y="2008081"/>
                </a:cubicBezTo>
                <a:lnTo>
                  <a:pt x="5163566" y="2276872"/>
                </a:lnTo>
                <a:lnTo>
                  <a:pt x="0" y="2276872"/>
                </a:lnTo>
                <a:lnTo>
                  <a:pt x="0" y="706170"/>
                </a:lnTo>
                <a:lnTo>
                  <a:pt x="5811" y="701257"/>
                </a:lnTo>
                <a:cubicBezTo>
                  <a:pt x="564774" y="261990"/>
                  <a:pt x="1269640" y="0"/>
                  <a:pt x="2035697" y="0"/>
                </a:cubicBezTo>
                <a:close/>
              </a:path>
            </a:pathLst>
          </a:custGeom>
          <a:gradFill>
            <a:gsLst>
              <a:gs pos="0">
                <a:schemeClr val="accent1"/>
              </a:gs>
              <a:gs pos="100000">
                <a:srgbClr val="ACD98C"/>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0" name="Google Shape;100;p173"/>
          <p:cNvSpPr/>
          <p:nvPr/>
        </p:nvSpPr>
        <p:spPr>
          <a:xfrm rot="5400000">
            <a:off x="-662523" y="1957214"/>
            <a:ext cx="5179585" cy="3854541"/>
          </a:xfrm>
          <a:prstGeom prst="round2SameRect">
            <a:avLst>
              <a:gd name="adj1" fmla="val 10983"/>
              <a:gd name="adj2" fmla="val 0"/>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1" name="Google Shape;101;p173"/>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p173"/>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3" name="Google Shape;103;p173"/>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4" name="Google Shape;104;p173"/>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05" name="Google Shape;105;p173"/>
          <p:cNvSpPr/>
          <p:nvPr/>
        </p:nvSpPr>
        <p:spPr>
          <a:xfrm rot="5400000">
            <a:off x="-766723" y="1858237"/>
            <a:ext cx="5179585" cy="3646140"/>
          </a:xfrm>
          <a:prstGeom prst="round2SameRect">
            <a:avLst>
              <a:gd name="adj1" fmla="val 10983"/>
              <a:gd name="adj2" fmla="val 0"/>
            </a:avLst>
          </a:prstGeom>
          <a:gradFill>
            <a:gsLst>
              <a:gs pos="0">
                <a:schemeClr val="accent1"/>
              </a:gs>
              <a:gs pos="100000">
                <a:schemeClr val="accent3"/>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6" name="Google Shape;106;p173"/>
          <p:cNvSpPr txBox="1">
            <a:spLocks noGrp="1"/>
          </p:cNvSpPr>
          <p:nvPr>
            <p:ph type="body" idx="1"/>
          </p:nvPr>
        </p:nvSpPr>
        <p:spPr>
          <a:xfrm>
            <a:off x="609600" y="1508576"/>
            <a:ext cx="2676525" cy="1152153"/>
          </a:xfrm>
          <a:prstGeom prst="rect">
            <a:avLst/>
          </a:prstGeom>
          <a:noFill/>
          <a:ln>
            <a:noFill/>
          </a:ln>
        </p:spPr>
        <p:txBody>
          <a:bodyPr spcFirstLastPara="1" wrap="square" lIns="61200" tIns="60925" rIns="61200" bIns="60925" anchor="ctr" anchorCtr="0">
            <a:noAutofit/>
          </a:bodyPr>
          <a:lstStyle>
            <a:lvl1pPr marL="457200" lvl="0" indent="-228600" algn="l">
              <a:lnSpc>
                <a:spcPct val="80000"/>
              </a:lnSpc>
              <a:spcBef>
                <a:spcPts val="0"/>
              </a:spcBef>
              <a:spcAft>
                <a:spcPts val="0"/>
              </a:spcAft>
              <a:buClr>
                <a:schemeClr val="lt1"/>
              </a:buClr>
              <a:buSzPts val="2800"/>
              <a:buNone/>
              <a:defRPr sz="2800" b="1">
                <a:solidFill>
                  <a:schemeClr val="lt1"/>
                </a:solidFill>
              </a:defRPr>
            </a:lvl1pPr>
            <a:lvl2pPr marL="914400" lvl="1" indent="-228600" algn="l">
              <a:spcBef>
                <a:spcPts val="480"/>
              </a:spcBef>
              <a:spcAft>
                <a:spcPts val="0"/>
              </a:spcAft>
              <a:buClr>
                <a:schemeClr val="dk1"/>
              </a:buClr>
              <a:buSzPts val="2400"/>
              <a:buNone/>
              <a:defRPr sz="2400"/>
            </a:lvl2pPr>
            <a:lvl3pPr marL="1371600" lvl="2" indent="-228600" algn="l">
              <a:spcBef>
                <a:spcPts val="480"/>
              </a:spcBef>
              <a:spcAft>
                <a:spcPts val="0"/>
              </a:spcAft>
              <a:buClr>
                <a:schemeClr val="dk1"/>
              </a:buClr>
              <a:buSzPts val="2400"/>
              <a:buNone/>
              <a:defRPr sz="2400"/>
            </a:lvl3pPr>
            <a:lvl4pPr marL="1828800" lvl="3" indent="-228600" algn="l">
              <a:spcBef>
                <a:spcPts val="480"/>
              </a:spcBef>
              <a:spcAft>
                <a:spcPts val="0"/>
              </a:spcAft>
              <a:buClr>
                <a:schemeClr val="dk1"/>
              </a:buClr>
              <a:buSzPts val="2400"/>
              <a:buNone/>
              <a:defRPr sz="2400"/>
            </a:lvl4pPr>
            <a:lvl5pPr marL="2286000" lvl="4" indent="-228600" algn="l">
              <a:spcBef>
                <a:spcPts val="480"/>
              </a:spcBef>
              <a:spcAft>
                <a:spcPts val="0"/>
              </a:spcAft>
              <a:buClr>
                <a:schemeClr val="dk1"/>
              </a:buClr>
              <a:buSzPts val="2400"/>
              <a:buNone/>
              <a:defRPr sz="24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3243911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D1176A7-B091-469C-82C8-89C693043C40}" type="datetimeFigureOut">
              <a:rPr lang="en-US" smtClean="0"/>
              <a:pPr/>
              <a:t>6/22/2026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939B1FA-81F2-4940-9AF3-5EAFB5D6669B}" type="slidenum">
              <a:rPr lang="en-US" smtClean="0"/>
              <a:pPr/>
              <a:t>‹#›</a:t>
            </a:fld>
            <a:endParaRPr lang="en-US"/>
          </a:p>
        </p:txBody>
      </p:sp>
    </p:spTree>
    <p:extLst>
      <p:ext uri="{BB962C8B-B14F-4D97-AF65-F5344CB8AC3E}">
        <p14:creationId xmlns:p14="http://schemas.microsoft.com/office/powerpoint/2010/main" val="7472769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2"/>
        <p:cNvGrpSpPr/>
        <p:nvPr/>
      </p:nvGrpSpPr>
      <p:grpSpPr>
        <a:xfrm>
          <a:off x="0" y="0"/>
          <a:ext cx="0" cy="0"/>
          <a:chOff x="0" y="0"/>
          <a:chExt cx="0" cy="0"/>
        </a:xfrm>
      </p:grpSpPr>
      <p:grpSp>
        <p:nvGrpSpPr>
          <p:cNvPr id="133" name="Google Shape;133;p185"/>
          <p:cNvGrpSpPr/>
          <p:nvPr/>
        </p:nvGrpSpPr>
        <p:grpSpPr>
          <a:xfrm rot="10800000">
            <a:off x="9586912" y="4027941"/>
            <a:ext cx="2601913" cy="2833688"/>
            <a:chOff x="0" y="0"/>
            <a:chExt cx="2601913" cy="2833688"/>
          </a:xfrm>
        </p:grpSpPr>
        <p:sp>
          <p:nvSpPr>
            <p:cNvPr id="134" name="Google Shape;134;p185"/>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5" name="Google Shape;135;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6" name="Google Shape;136;p185"/>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7" name="Google Shape;137;p185"/>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8" name="Google Shape;138;p185"/>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9" name="Google Shape;139;p185"/>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0" name="Google Shape;140;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1" name="Google Shape;141;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2" name="Google Shape;142;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3" name="Google Shape;143;p185"/>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4" name="Google Shape;144;p185"/>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5" name="Google Shape;145;p185"/>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6" name="Google Shape;146;p185"/>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7" name="Google Shape;147;p185"/>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8" name="Google Shape;148;p185"/>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9" name="Google Shape;149;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0" name="Google Shape;150;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1" name="Google Shape;151;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2" name="Google Shape;152;p185"/>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3" name="Google Shape;153;p185"/>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4" name="Google Shape;154;p185"/>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155" name="Google Shape;155;p185"/>
          <p:cNvSpPr/>
          <p:nvPr/>
        </p:nvSpPr>
        <p:spPr>
          <a:xfrm>
            <a:off x="0" y="0"/>
            <a:ext cx="6094412"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6" name="Google Shape;156;p185"/>
          <p:cNvSpPr/>
          <p:nvPr/>
        </p:nvSpPr>
        <p:spPr>
          <a:xfrm rot="5400000">
            <a:off x="10179373" y="-118464"/>
            <a:ext cx="1890988" cy="2127916"/>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7" name="Google Shape;157;p185"/>
          <p:cNvSpPr txBox="1">
            <a:spLocks noGrp="1"/>
          </p:cNvSpPr>
          <p:nvPr>
            <p:ph type="ctrTitle"/>
          </p:nvPr>
        </p:nvSpPr>
        <p:spPr>
          <a:xfrm>
            <a:off x="1828323" y="2576512"/>
            <a:ext cx="8532178" cy="1392378"/>
          </a:xfrm>
          <a:prstGeom prst="rect">
            <a:avLst/>
          </a:prstGeom>
          <a:noFill/>
          <a:ln>
            <a:noFill/>
          </a:ln>
        </p:spPr>
        <p:txBody>
          <a:bodyPr spcFirstLastPara="1" wrap="square" lIns="121875" tIns="60925" rIns="121875" bIns="60925" anchor="b" anchorCtr="0">
            <a:noAutofit/>
          </a:bodyPr>
          <a:lstStyle>
            <a:lvl1pPr lvl="0" algn="ctr">
              <a:spcBef>
                <a:spcPts val="0"/>
              </a:spcBef>
              <a:spcAft>
                <a:spcPts val="0"/>
              </a:spcAft>
              <a:buClr>
                <a:schemeClr val="accent3"/>
              </a:buClr>
              <a:buSzPts val="8000"/>
              <a:buFont typeface="Open Sans"/>
              <a:buNone/>
              <a:defRPr sz="8000" b="1">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8" name="Google Shape;158;p185"/>
          <p:cNvSpPr txBox="1">
            <a:spLocks noGrp="1"/>
          </p:cNvSpPr>
          <p:nvPr>
            <p:ph type="subTitle" idx="1"/>
          </p:nvPr>
        </p:nvSpPr>
        <p:spPr>
          <a:xfrm>
            <a:off x="1828324" y="4027941"/>
            <a:ext cx="8532178" cy="764440"/>
          </a:xfrm>
          <a:prstGeom prst="rect">
            <a:avLst/>
          </a:prstGeom>
          <a:noFill/>
          <a:ln>
            <a:noFill/>
          </a:ln>
        </p:spPr>
        <p:txBody>
          <a:bodyPr spcFirstLastPara="1" wrap="square" lIns="121875" tIns="60925" rIns="121875" bIns="60925" anchor="t" anchorCtr="0">
            <a:normAutofit/>
          </a:bodyPr>
          <a:lstStyle>
            <a:lvl1pPr lvl="0" algn="ctr">
              <a:spcBef>
                <a:spcPts val="480"/>
              </a:spcBef>
              <a:spcAft>
                <a:spcPts val="0"/>
              </a:spcAft>
              <a:buClr>
                <a:srgbClr val="595959"/>
              </a:buClr>
              <a:buSzPts val="2400"/>
              <a:buNone/>
              <a:defRPr sz="2400">
                <a:solidFill>
                  <a:srgbClr val="595959"/>
                </a:solidFill>
                <a:latin typeface="Open Sans"/>
                <a:ea typeface="Open Sans"/>
                <a:cs typeface="Open Sans"/>
                <a:sym typeface="Open Sans"/>
              </a:defRPr>
            </a:lvl1pPr>
            <a:lvl2pPr lvl="1" algn="ctr">
              <a:spcBef>
                <a:spcPts val="640"/>
              </a:spcBef>
              <a:spcAft>
                <a:spcPts val="0"/>
              </a:spcAft>
              <a:buClr>
                <a:srgbClr val="888888"/>
              </a:buClr>
              <a:buSzPts val="32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540"/>
              </a:spcBef>
              <a:spcAft>
                <a:spcPts val="0"/>
              </a:spcAft>
              <a:buClr>
                <a:srgbClr val="888888"/>
              </a:buClr>
              <a:buSzPts val="2700"/>
              <a:buNone/>
              <a:defRPr>
                <a:solidFill>
                  <a:srgbClr val="888888"/>
                </a:solidFill>
              </a:defRPr>
            </a:lvl6pPr>
            <a:lvl7pPr lvl="6" algn="ctr">
              <a:spcBef>
                <a:spcPts val="540"/>
              </a:spcBef>
              <a:spcAft>
                <a:spcPts val="0"/>
              </a:spcAft>
              <a:buClr>
                <a:srgbClr val="888888"/>
              </a:buClr>
              <a:buSzPts val="2700"/>
              <a:buNone/>
              <a:defRPr>
                <a:solidFill>
                  <a:srgbClr val="888888"/>
                </a:solidFill>
              </a:defRPr>
            </a:lvl7pPr>
            <a:lvl8pPr lvl="7" algn="ctr">
              <a:spcBef>
                <a:spcPts val="540"/>
              </a:spcBef>
              <a:spcAft>
                <a:spcPts val="0"/>
              </a:spcAft>
              <a:buClr>
                <a:srgbClr val="888888"/>
              </a:buClr>
              <a:buSzPts val="2700"/>
              <a:buNone/>
              <a:defRPr>
                <a:solidFill>
                  <a:srgbClr val="888888"/>
                </a:solidFill>
              </a:defRPr>
            </a:lvl8pPr>
            <a:lvl9pPr lvl="8" algn="ctr">
              <a:spcBef>
                <a:spcPts val="540"/>
              </a:spcBef>
              <a:spcAft>
                <a:spcPts val="0"/>
              </a:spcAft>
              <a:buClr>
                <a:srgbClr val="888888"/>
              </a:buClr>
              <a:buSzPts val="2700"/>
              <a:buNone/>
              <a:defRPr>
                <a:solidFill>
                  <a:srgbClr val="888888"/>
                </a:solidFill>
              </a:defRPr>
            </a:lvl9pPr>
          </a:lstStyle>
          <a:p>
            <a:endParaRPr/>
          </a:p>
        </p:txBody>
      </p:sp>
      <p:sp>
        <p:nvSpPr>
          <p:cNvPr id="159" name="Google Shape;159;p18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0" name="Google Shape;160;p18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1" name="Google Shape;161;p18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grpSp>
        <p:nvGrpSpPr>
          <p:cNvPr id="162" name="Google Shape;162;p185"/>
          <p:cNvGrpSpPr/>
          <p:nvPr/>
        </p:nvGrpSpPr>
        <p:grpSpPr>
          <a:xfrm>
            <a:off x="0" y="0"/>
            <a:ext cx="3445202" cy="4727575"/>
            <a:chOff x="0" y="0"/>
            <a:chExt cx="3445202" cy="4727575"/>
          </a:xfrm>
        </p:grpSpPr>
        <p:grpSp>
          <p:nvGrpSpPr>
            <p:cNvPr id="163" name="Google Shape;163;p185"/>
            <p:cNvGrpSpPr/>
            <p:nvPr/>
          </p:nvGrpSpPr>
          <p:grpSpPr>
            <a:xfrm rot="10800000">
              <a:off x="0" y="0"/>
              <a:ext cx="2913063" cy="4727575"/>
              <a:chOff x="9275762" y="2130425"/>
              <a:chExt cx="2913063" cy="4727575"/>
            </a:xfrm>
          </p:grpSpPr>
          <p:sp>
            <p:nvSpPr>
              <p:cNvPr id="164" name="Google Shape;164;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5" name="Google Shape;165;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6" name="Google Shape;166;p185"/>
              <p:cNvSpPr/>
              <p:nvPr/>
            </p:nvSpPr>
            <p:spPr>
              <a:xfrm>
                <a:off x="10785475" y="5818187"/>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7" name="Google Shape;167;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8" name="Google Shape;168;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9" name="Google Shape;169;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0" name="Google Shape;170;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1" name="Google Shape;171;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2" name="Google Shape;172;p185"/>
              <p:cNvSpPr/>
              <p:nvPr/>
            </p:nvSpPr>
            <p:spPr>
              <a:xfrm>
                <a:off x="9377362" y="3389312"/>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3" name="Google Shape;173;p185"/>
              <p:cNvSpPr/>
              <p:nvPr/>
            </p:nvSpPr>
            <p:spPr>
              <a:xfrm>
                <a:off x="10079037" y="4198937"/>
                <a:ext cx="706438" cy="809625"/>
              </a:xfrm>
              <a:custGeom>
                <a:avLst/>
                <a:gdLst/>
                <a:ahLst/>
                <a:cxnLst/>
                <a:rect l="l" t="t" r="r" b="b"/>
                <a:pathLst>
                  <a:path w="445" h="510" extrusionOk="0">
                    <a:moveTo>
                      <a:pt x="445" y="254"/>
                    </a:moveTo>
                    <a:lnTo>
                      <a:pt x="0" y="510"/>
                    </a:lnTo>
                    <a:lnTo>
                      <a:pt x="0" y="0"/>
                    </a:lnTo>
                    <a:lnTo>
                      <a:pt x="0" y="0"/>
                    </a:lnTo>
                    <a:lnTo>
                      <a:pt x="445" y="254"/>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4" name="Google Shape;174;p185"/>
              <p:cNvSpPr/>
              <p:nvPr/>
            </p:nvSpPr>
            <p:spPr>
              <a:xfrm>
                <a:off x="9275762" y="4414837"/>
                <a:ext cx="325438" cy="377825"/>
              </a:xfrm>
              <a:custGeom>
                <a:avLst/>
                <a:gdLst/>
                <a:ahLst/>
                <a:cxnLst/>
                <a:rect l="l" t="t" r="r" b="b"/>
                <a:pathLst>
                  <a:path w="205" h="238" extrusionOk="0">
                    <a:moveTo>
                      <a:pt x="205" y="118"/>
                    </a:moveTo>
                    <a:lnTo>
                      <a:pt x="0" y="238"/>
                    </a:lnTo>
                    <a:lnTo>
                      <a:pt x="0" y="0"/>
                    </a:lnTo>
                    <a:lnTo>
                      <a:pt x="0" y="0"/>
                    </a:lnTo>
                    <a:lnTo>
                      <a:pt x="205" y="11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5" name="Google Shape;175;p185"/>
              <p:cNvSpPr/>
              <p:nvPr/>
            </p:nvSpPr>
            <p:spPr>
              <a:xfrm>
                <a:off x="9371012" y="3322637"/>
                <a:ext cx="223838" cy="257175"/>
              </a:xfrm>
              <a:custGeom>
                <a:avLst/>
                <a:gdLst/>
                <a:ahLst/>
                <a:cxnLst/>
                <a:rect l="l" t="t" r="r" b="b"/>
                <a:pathLst>
                  <a:path w="141" h="162" extrusionOk="0">
                    <a:moveTo>
                      <a:pt x="141" y="80"/>
                    </a:moveTo>
                    <a:lnTo>
                      <a:pt x="0" y="162"/>
                    </a:lnTo>
                    <a:lnTo>
                      <a:pt x="0" y="0"/>
                    </a:lnTo>
                    <a:lnTo>
                      <a:pt x="0" y="0"/>
                    </a:lnTo>
                    <a:lnTo>
                      <a:pt x="141" y="8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6" name="Google Shape;176;p185"/>
              <p:cNvSpPr/>
              <p:nvPr/>
            </p:nvSpPr>
            <p:spPr>
              <a:xfrm>
                <a:off x="10079037" y="3792537"/>
                <a:ext cx="706438" cy="809625"/>
              </a:xfrm>
              <a:custGeom>
                <a:avLst/>
                <a:gdLst/>
                <a:ahLst/>
                <a:cxnLst/>
                <a:rect l="l" t="t" r="r" b="b"/>
                <a:pathLst>
                  <a:path w="445" h="510" extrusionOk="0">
                    <a:moveTo>
                      <a:pt x="445" y="0"/>
                    </a:moveTo>
                    <a:lnTo>
                      <a:pt x="445" y="510"/>
                    </a:lnTo>
                    <a:lnTo>
                      <a:pt x="445" y="510"/>
                    </a:lnTo>
                    <a:lnTo>
                      <a:pt x="0" y="256"/>
                    </a:lnTo>
                    <a:lnTo>
                      <a:pt x="445"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7" name="Google Shape;177;p185"/>
              <p:cNvSpPr/>
              <p:nvPr/>
            </p:nvSpPr>
            <p:spPr>
              <a:xfrm>
                <a:off x="10079037" y="3389312"/>
                <a:ext cx="706438" cy="809625"/>
              </a:xfrm>
              <a:custGeom>
                <a:avLst/>
                <a:gdLst/>
                <a:ahLst/>
                <a:cxnLst/>
                <a:rect l="l" t="t" r="r" b="b"/>
                <a:pathLst>
                  <a:path w="445" h="510" extrusionOk="0">
                    <a:moveTo>
                      <a:pt x="445" y="254"/>
                    </a:moveTo>
                    <a:lnTo>
                      <a:pt x="445" y="254"/>
                    </a:lnTo>
                    <a:lnTo>
                      <a:pt x="0"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8" name="Google Shape;178;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9" name="Google Shape;179;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0" name="Google Shape;180;p185"/>
              <p:cNvSpPr/>
              <p:nvPr/>
            </p:nvSpPr>
            <p:spPr>
              <a:xfrm>
                <a:off x="10083800" y="5414962"/>
                <a:ext cx="701675" cy="806450"/>
              </a:xfrm>
              <a:custGeom>
                <a:avLst/>
                <a:gdLst/>
                <a:ahLst/>
                <a:cxnLst/>
                <a:rect l="l" t="t" r="r" b="b"/>
                <a:pathLst>
                  <a:path w="442" h="508" extrusionOk="0">
                    <a:moveTo>
                      <a:pt x="442" y="0"/>
                    </a:moveTo>
                    <a:lnTo>
                      <a:pt x="442" y="508"/>
                    </a:lnTo>
                    <a:lnTo>
                      <a:pt x="0" y="254"/>
                    </a:lnTo>
                    <a:lnTo>
                      <a:pt x="442"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1" name="Google Shape;181;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2" name="Google Shape;182;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3" name="Google Shape;183;p185"/>
              <p:cNvSpPr/>
              <p:nvPr/>
            </p:nvSpPr>
            <p:spPr>
              <a:xfrm>
                <a:off x="10785475" y="6221412"/>
                <a:ext cx="701675" cy="636588"/>
              </a:xfrm>
              <a:custGeom>
                <a:avLst/>
                <a:gdLst/>
                <a:ahLst/>
                <a:cxnLst/>
                <a:rect l="l" t="t" r="r" b="b"/>
                <a:pathLst>
                  <a:path w="442" h="401" extrusionOk="0">
                    <a:moveTo>
                      <a:pt x="442" y="256"/>
                    </a:moveTo>
                    <a:lnTo>
                      <a:pt x="0" y="0"/>
                    </a:lnTo>
                    <a:lnTo>
                      <a:pt x="0" y="2"/>
                    </a:lnTo>
                    <a:lnTo>
                      <a:pt x="0" y="401"/>
                    </a:lnTo>
                    <a:lnTo>
                      <a:pt x="192" y="401"/>
                    </a:lnTo>
                    <a:lnTo>
                      <a:pt x="442" y="256"/>
                    </a:lnTo>
                    <a:lnTo>
                      <a:pt x="442" y="256"/>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4" name="Google Shape;184;p185"/>
              <p:cNvSpPr/>
              <p:nvPr/>
            </p:nvSpPr>
            <p:spPr>
              <a:xfrm>
                <a:off x="11090275" y="6627812"/>
                <a:ext cx="396875" cy="230188"/>
              </a:xfrm>
              <a:custGeom>
                <a:avLst/>
                <a:gdLst/>
                <a:ahLst/>
                <a:cxnLst/>
                <a:rect l="l" t="t" r="r" b="b"/>
                <a:pathLst>
                  <a:path w="250" h="145" extrusionOk="0">
                    <a:moveTo>
                      <a:pt x="0" y="145"/>
                    </a:moveTo>
                    <a:lnTo>
                      <a:pt x="250" y="145"/>
                    </a:lnTo>
                    <a:lnTo>
                      <a:pt x="250" y="0"/>
                    </a:lnTo>
                    <a:lnTo>
                      <a:pt x="0" y="145"/>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5" name="Google Shape;185;p185"/>
              <p:cNvSpPr/>
              <p:nvPr/>
            </p:nvSpPr>
            <p:spPr>
              <a:xfrm>
                <a:off x="11487150" y="6627812"/>
                <a:ext cx="396875" cy="230188"/>
              </a:xfrm>
              <a:custGeom>
                <a:avLst/>
                <a:gdLst/>
                <a:ahLst/>
                <a:cxnLst/>
                <a:rect l="l" t="t" r="r" b="b"/>
                <a:pathLst>
                  <a:path w="250" h="145" extrusionOk="0">
                    <a:moveTo>
                      <a:pt x="0" y="0"/>
                    </a:moveTo>
                    <a:lnTo>
                      <a:pt x="0" y="145"/>
                    </a:lnTo>
                    <a:lnTo>
                      <a:pt x="250" y="145"/>
                    </a:lnTo>
                    <a:lnTo>
                      <a:pt x="0"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6" name="Google Shape;186;p185"/>
              <p:cNvSpPr/>
              <p:nvPr/>
            </p:nvSpPr>
            <p:spPr>
              <a:xfrm>
                <a:off x="11487150" y="6232525"/>
                <a:ext cx="687388" cy="625475"/>
              </a:xfrm>
              <a:custGeom>
                <a:avLst/>
                <a:gdLst/>
                <a:ahLst/>
                <a:cxnLst/>
                <a:rect l="l" t="t" r="r" b="b"/>
                <a:pathLst>
                  <a:path w="433" h="394" extrusionOk="0">
                    <a:moveTo>
                      <a:pt x="250" y="394"/>
                    </a:moveTo>
                    <a:lnTo>
                      <a:pt x="433" y="394"/>
                    </a:lnTo>
                    <a:lnTo>
                      <a:pt x="433" y="0"/>
                    </a:lnTo>
                    <a:lnTo>
                      <a:pt x="0" y="249"/>
                    </a:lnTo>
                    <a:lnTo>
                      <a:pt x="250" y="39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7" name="Google Shape;187;p185"/>
              <p:cNvSpPr/>
              <p:nvPr/>
            </p:nvSpPr>
            <p:spPr>
              <a:xfrm>
                <a:off x="9377362" y="5818187"/>
                <a:ext cx="701675" cy="809625"/>
              </a:xfrm>
              <a:custGeom>
                <a:avLst/>
                <a:gdLst/>
                <a:ahLst/>
                <a:cxnLst/>
                <a:rect l="l" t="t" r="r" b="b"/>
                <a:pathLst>
                  <a:path w="442" h="510" extrusionOk="0">
                    <a:moveTo>
                      <a:pt x="0" y="254"/>
                    </a:moveTo>
                    <a:lnTo>
                      <a:pt x="0" y="254"/>
                    </a:lnTo>
                    <a:lnTo>
                      <a:pt x="442" y="510"/>
                    </a:lnTo>
                    <a:lnTo>
                      <a:pt x="442" y="0"/>
                    </a:lnTo>
                    <a:lnTo>
                      <a:pt x="0" y="254"/>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8" name="Google Shape;188;p185"/>
              <p:cNvSpPr/>
              <p:nvPr/>
            </p:nvSpPr>
            <p:spPr>
              <a:xfrm>
                <a:off x="10079037" y="6627812"/>
                <a:ext cx="396875" cy="230188"/>
              </a:xfrm>
              <a:custGeom>
                <a:avLst/>
                <a:gdLst/>
                <a:ahLst/>
                <a:cxnLst/>
                <a:rect l="l" t="t" r="r" b="b"/>
                <a:pathLst>
                  <a:path w="250" h="145" extrusionOk="0">
                    <a:moveTo>
                      <a:pt x="0" y="0"/>
                    </a:moveTo>
                    <a:lnTo>
                      <a:pt x="0" y="0"/>
                    </a:lnTo>
                    <a:lnTo>
                      <a:pt x="0" y="145"/>
                    </a:lnTo>
                    <a:lnTo>
                      <a:pt x="250" y="145"/>
                    </a:lnTo>
                    <a:lnTo>
                      <a:pt x="0"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9" name="Google Shape;189;p185"/>
              <p:cNvSpPr/>
              <p:nvPr/>
            </p:nvSpPr>
            <p:spPr>
              <a:xfrm>
                <a:off x="10079037" y="6224587"/>
                <a:ext cx="706438" cy="633413"/>
              </a:xfrm>
              <a:custGeom>
                <a:avLst/>
                <a:gdLst/>
                <a:ahLst/>
                <a:cxnLst/>
                <a:rect l="l" t="t" r="r" b="b"/>
                <a:pathLst>
                  <a:path w="445" h="399" extrusionOk="0">
                    <a:moveTo>
                      <a:pt x="0" y="254"/>
                    </a:moveTo>
                    <a:lnTo>
                      <a:pt x="250" y="399"/>
                    </a:lnTo>
                    <a:lnTo>
                      <a:pt x="445" y="399"/>
                    </a:lnTo>
                    <a:lnTo>
                      <a:pt x="445" y="0"/>
                    </a:lnTo>
                    <a:lnTo>
                      <a:pt x="0" y="254"/>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0" name="Google Shape;190;p185"/>
              <p:cNvSpPr/>
              <p:nvPr/>
            </p:nvSpPr>
            <p:spPr>
              <a:xfrm>
                <a:off x="10079037" y="5818187"/>
                <a:ext cx="706438" cy="809625"/>
              </a:xfrm>
              <a:custGeom>
                <a:avLst/>
                <a:gdLst/>
                <a:ahLst/>
                <a:cxnLst/>
                <a:rect l="l" t="t" r="r" b="b"/>
                <a:pathLst>
                  <a:path w="445" h="510" extrusionOk="0">
                    <a:moveTo>
                      <a:pt x="445" y="254"/>
                    </a:moveTo>
                    <a:lnTo>
                      <a:pt x="445" y="254"/>
                    </a:lnTo>
                    <a:lnTo>
                      <a:pt x="0" y="0"/>
                    </a:lnTo>
                    <a:lnTo>
                      <a:pt x="0" y="510"/>
                    </a:lnTo>
                    <a:lnTo>
                      <a:pt x="0" y="510"/>
                    </a:lnTo>
                    <a:lnTo>
                      <a:pt x="445" y="256"/>
                    </a:lnTo>
                    <a:lnTo>
                      <a:pt x="445"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1" name="Google Shape;191;p185"/>
              <p:cNvSpPr/>
              <p:nvPr/>
            </p:nvSpPr>
            <p:spPr>
              <a:xfrm>
                <a:off x="10785475" y="3389312"/>
                <a:ext cx="701675" cy="809625"/>
              </a:xfrm>
              <a:custGeom>
                <a:avLst/>
                <a:gdLst/>
                <a:ahLst/>
                <a:cxnLst/>
                <a:rect l="l" t="t" r="r" b="b"/>
                <a:pathLst>
                  <a:path w="442" h="510" extrusionOk="0">
                    <a:moveTo>
                      <a:pt x="442" y="0"/>
                    </a:moveTo>
                    <a:lnTo>
                      <a:pt x="0" y="254"/>
                    </a:lnTo>
                    <a:lnTo>
                      <a:pt x="0" y="254"/>
                    </a:lnTo>
                    <a:lnTo>
                      <a:pt x="442" y="510"/>
                    </a:lnTo>
                    <a:lnTo>
                      <a:pt x="442"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2" name="Google Shape;192;p185"/>
              <p:cNvSpPr/>
              <p:nvPr/>
            </p:nvSpPr>
            <p:spPr>
              <a:xfrm>
                <a:off x="10785475" y="3792537"/>
                <a:ext cx="701675" cy="809625"/>
              </a:xfrm>
              <a:custGeom>
                <a:avLst/>
                <a:gdLst/>
                <a:ahLst/>
                <a:cxnLst/>
                <a:rect l="l" t="t" r="r" b="b"/>
                <a:pathLst>
                  <a:path w="442" h="510" extrusionOk="0">
                    <a:moveTo>
                      <a:pt x="442" y="256"/>
                    </a:moveTo>
                    <a:lnTo>
                      <a:pt x="0" y="0"/>
                    </a:lnTo>
                    <a:lnTo>
                      <a:pt x="0" y="510"/>
                    </a:lnTo>
                    <a:lnTo>
                      <a:pt x="0" y="510"/>
                    </a:lnTo>
                    <a:lnTo>
                      <a:pt x="442" y="256"/>
                    </a:lnTo>
                    <a:lnTo>
                      <a:pt x="442" y="256"/>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3" name="Google Shape;193;p185"/>
              <p:cNvSpPr/>
              <p:nvPr/>
            </p:nvSpPr>
            <p:spPr>
              <a:xfrm>
                <a:off x="10785475" y="4198937"/>
                <a:ext cx="701675" cy="809625"/>
              </a:xfrm>
              <a:custGeom>
                <a:avLst/>
                <a:gdLst/>
                <a:ahLst/>
                <a:cxnLst/>
                <a:rect l="l" t="t" r="r" b="b"/>
                <a:pathLst>
                  <a:path w="442" h="510" extrusionOk="0">
                    <a:moveTo>
                      <a:pt x="0" y="254"/>
                    </a:moveTo>
                    <a:lnTo>
                      <a:pt x="442" y="510"/>
                    </a:lnTo>
                    <a:lnTo>
                      <a:pt x="442" y="0"/>
                    </a:lnTo>
                    <a:lnTo>
                      <a:pt x="0" y="25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4" name="Google Shape;194;p185"/>
              <p:cNvSpPr/>
              <p:nvPr/>
            </p:nvSpPr>
            <p:spPr>
              <a:xfrm>
                <a:off x="11487150" y="4198937"/>
                <a:ext cx="687388" cy="809625"/>
              </a:xfrm>
              <a:custGeom>
                <a:avLst/>
                <a:gdLst/>
                <a:ahLst/>
                <a:cxnLst/>
                <a:rect l="l" t="t" r="r" b="b"/>
                <a:pathLst>
                  <a:path w="433" h="510" extrusionOk="0">
                    <a:moveTo>
                      <a:pt x="0" y="0"/>
                    </a:moveTo>
                    <a:lnTo>
                      <a:pt x="0" y="0"/>
                    </a:lnTo>
                    <a:lnTo>
                      <a:pt x="0" y="510"/>
                    </a:lnTo>
                    <a:lnTo>
                      <a:pt x="433" y="261"/>
                    </a:lnTo>
                    <a:lnTo>
                      <a:pt x="433" y="249"/>
                    </a:lnTo>
                    <a:lnTo>
                      <a:pt x="0"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5" name="Google Shape;195;p185"/>
              <p:cNvSpPr/>
              <p:nvPr/>
            </p:nvSpPr>
            <p:spPr>
              <a:xfrm>
                <a:off x="11487150" y="3803650"/>
                <a:ext cx="687388" cy="790575"/>
              </a:xfrm>
              <a:custGeom>
                <a:avLst/>
                <a:gdLst/>
                <a:ahLst/>
                <a:cxnLst/>
                <a:rect l="l" t="t" r="r" b="b"/>
                <a:pathLst>
                  <a:path w="433" h="498" extrusionOk="0">
                    <a:moveTo>
                      <a:pt x="433" y="0"/>
                    </a:moveTo>
                    <a:lnTo>
                      <a:pt x="0" y="249"/>
                    </a:lnTo>
                    <a:lnTo>
                      <a:pt x="433" y="498"/>
                    </a:lnTo>
                    <a:lnTo>
                      <a:pt x="433"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6" name="Google Shape;196;p185"/>
              <p:cNvSpPr/>
              <p:nvPr/>
            </p:nvSpPr>
            <p:spPr>
              <a:xfrm>
                <a:off x="11737975" y="2130425"/>
                <a:ext cx="201613" cy="233363"/>
              </a:xfrm>
              <a:custGeom>
                <a:avLst/>
                <a:gdLst/>
                <a:ahLst/>
                <a:cxnLst/>
                <a:rect l="l" t="t" r="r" b="b"/>
                <a:pathLst>
                  <a:path w="127" h="147" extrusionOk="0">
                    <a:moveTo>
                      <a:pt x="127" y="147"/>
                    </a:moveTo>
                    <a:lnTo>
                      <a:pt x="127" y="0"/>
                    </a:lnTo>
                    <a:lnTo>
                      <a:pt x="0" y="73"/>
                    </a:lnTo>
                    <a:lnTo>
                      <a:pt x="127" y="147"/>
                    </a:lnTo>
                    <a:lnTo>
                      <a:pt x="127" y="147"/>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7" name="Google Shape;197;p185"/>
              <p:cNvSpPr/>
              <p:nvPr/>
            </p:nvSpPr>
            <p:spPr>
              <a:xfrm>
                <a:off x="11487150" y="2576512"/>
                <a:ext cx="701675" cy="812800"/>
              </a:xfrm>
              <a:custGeom>
                <a:avLst/>
                <a:gdLst/>
                <a:ahLst/>
                <a:cxnLst/>
                <a:rect l="l" t="t" r="r" b="b"/>
                <a:pathLst>
                  <a:path w="442" h="512" extrusionOk="0">
                    <a:moveTo>
                      <a:pt x="0" y="0"/>
                    </a:moveTo>
                    <a:lnTo>
                      <a:pt x="0" y="510"/>
                    </a:lnTo>
                    <a:lnTo>
                      <a:pt x="0" y="512"/>
                    </a:lnTo>
                    <a:lnTo>
                      <a:pt x="442" y="256"/>
                    </a:lnTo>
                    <a:lnTo>
                      <a:pt x="442" y="256"/>
                    </a:lnTo>
                    <a:lnTo>
                      <a:pt x="0"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8" name="Google Shape;198;p185"/>
              <p:cNvSpPr/>
              <p:nvPr/>
            </p:nvSpPr>
            <p:spPr>
              <a:xfrm>
                <a:off x="11487150" y="5818187"/>
                <a:ext cx="687388" cy="809625"/>
              </a:xfrm>
              <a:custGeom>
                <a:avLst/>
                <a:gdLst/>
                <a:ahLst/>
                <a:cxnLst/>
                <a:rect l="l" t="t" r="r" b="b"/>
                <a:pathLst>
                  <a:path w="433" h="510" extrusionOk="0">
                    <a:moveTo>
                      <a:pt x="125" y="72"/>
                    </a:moveTo>
                    <a:lnTo>
                      <a:pt x="0" y="0"/>
                    </a:lnTo>
                    <a:lnTo>
                      <a:pt x="0" y="510"/>
                    </a:lnTo>
                    <a:lnTo>
                      <a:pt x="0" y="510"/>
                    </a:lnTo>
                    <a:lnTo>
                      <a:pt x="433" y="261"/>
                    </a:lnTo>
                    <a:lnTo>
                      <a:pt x="433" y="250"/>
                    </a:lnTo>
                    <a:lnTo>
                      <a:pt x="125" y="72"/>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9" name="Google Shape;199;p185"/>
              <p:cNvSpPr/>
              <p:nvPr/>
            </p:nvSpPr>
            <p:spPr>
              <a:xfrm>
                <a:off x="11487150" y="4613275"/>
                <a:ext cx="687388" cy="792163"/>
              </a:xfrm>
              <a:custGeom>
                <a:avLst/>
                <a:gdLst/>
                <a:ahLst/>
                <a:cxnLst/>
                <a:rect l="l" t="t" r="r" b="b"/>
                <a:pathLst>
                  <a:path w="433" h="499" extrusionOk="0">
                    <a:moveTo>
                      <a:pt x="433" y="0"/>
                    </a:moveTo>
                    <a:lnTo>
                      <a:pt x="0" y="249"/>
                    </a:lnTo>
                    <a:lnTo>
                      <a:pt x="0" y="249"/>
                    </a:lnTo>
                    <a:lnTo>
                      <a:pt x="433" y="499"/>
                    </a:lnTo>
                    <a:lnTo>
                      <a:pt x="433"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0" name="Google Shape;200;p185"/>
              <p:cNvSpPr/>
              <p:nvPr/>
            </p:nvSpPr>
            <p:spPr>
              <a:xfrm>
                <a:off x="11487150" y="5008562"/>
                <a:ext cx="687388" cy="809625"/>
              </a:xfrm>
              <a:custGeom>
                <a:avLst/>
                <a:gdLst/>
                <a:ahLst/>
                <a:cxnLst/>
                <a:rect l="l" t="t" r="r" b="b"/>
                <a:pathLst>
                  <a:path w="433" h="510" extrusionOk="0">
                    <a:moveTo>
                      <a:pt x="433" y="250"/>
                    </a:moveTo>
                    <a:lnTo>
                      <a:pt x="0" y="0"/>
                    </a:lnTo>
                    <a:lnTo>
                      <a:pt x="0" y="510"/>
                    </a:lnTo>
                    <a:lnTo>
                      <a:pt x="0" y="510"/>
                    </a:lnTo>
                    <a:lnTo>
                      <a:pt x="433" y="261"/>
                    </a:lnTo>
                    <a:lnTo>
                      <a:pt x="433" y="25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1" name="Google Shape;201;p185"/>
              <p:cNvSpPr/>
              <p:nvPr/>
            </p:nvSpPr>
            <p:spPr>
              <a:xfrm>
                <a:off x="11487150" y="5422900"/>
                <a:ext cx="687388" cy="792163"/>
              </a:xfrm>
              <a:custGeom>
                <a:avLst/>
                <a:gdLst/>
                <a:ahLst/>
                <a:cxnLst/>
                <a:rect l="l" t="t" r="r" b="b"/>
                <a:pathLst>
                  <a:path w="433" h="499" extrusionOk="0">
                    <a:moveTo>
                      <a:pt x="433" y="0"/>
                    </a:moveTo>
                    <a:lnTo>
                      <a:pt x="0" y="249"/>
                    </a:lnTo>
                    <a:lnTo>
                      <a:pt x="125" y="321"/>
                    </a:lnTo>
                    <a:lnTo>
                      <a:pt x="433" y="499"/>
                    </a:lnTo>
                    <a:lnTo>
                      <a:pt x="433"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2" name="Google Shape;202;p185"/>
              <p:cNvSpPr/>
              <p:nvPr/>
            </p:nvSpPr>
            <p:spPr>
              <a:xfrm>
                <a:off x="11685587" y="5932487"/>
                <a:ext cx="488950" cy="282575"/>
              </a:xfrm>
              <a:custGeom>
                <a:avLst/>
                <a:gdLst/>
                <a:ahLst/>
                <a:cxnLst/>
                <a:rect l="l" t="t" r="r" b="b"/>
                <a:pathLst>
                  <a:path w="308" h="178" extrusionOk="0">
                    <a:moveTo>
                      <a:pt x="308" y="178"/>
                    </a:moveTo>
                    <a:lnTo>
                      <a:pt x="0" y="0"/>
                    </a:lnTo>
                    <a:lnTo>
                      <a:pt x="308" y="178"/>
                    </a:lnTo>
                    <a:lnTo>
                      <a:pt x="308" y="178"/>
                    </a:lnTo>
                    <a:close/>
                  </a:path>
                </a:pathLst>
              </a:custGeom>
              <a:solidFill>
                <a:srgbClr val="00A6A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03" name="Google Shape;203;p185"/>
            <p:cNvSpPr/>
            <p:nvPr/>
          </p:nvSpPr>
          <p:spPr>
            <a:xfrm rot="10800000">
              <a:off x="2853998" y="686979"/>
              <a:ext cx="591204" cy="690398"/>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rgbClr val="C4C4C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Our Service">
  <p:cSld name="Our Service">
    <p:spTree>
      <p:nvGrpSpPr>
        <p:cNvPr id="1" name="Shape 204"/>
        <p:cNvGrpSpPr/>
        <p:nvPr/>
      </p:nvGrpSpPr>
      <p:grpSpPr>
        <a:xfrm>
          <a:off x="0" y="0"/>
          <a:ext cx="0" cy="0"/>
          <a:chOff x="0" y="0"/>
          <a:chExt cx="0" cy="0"/>
        </a:xfrm>
      </p:grpSpPr>
      <p:sp>
        <p:nvSpPr>
          <p:cNvPr id="205" name="Google Shape;205;p18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6" name="Google Shape;206;p18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7" name="Google Shape;207;p18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08" name="Google Shape;208;p186"/>
          <p:cNvSpPr/>
          <p:nvPr/>
        </p:nvSpPr>
        <p:spPr>
          <a:xfrm>
            <a:off x="0" y="708746"/>
            <a:ext cx="6094411"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09" name="Google Shape;209;p186"/>
          <p:cNvSpPr/>
          <p:nvPr/>
        </p:nvSpPr>
        <p:spPr>
          <a:xfrm>
            <a:off x="616764" y="1532063"/>
            <a:ext cx="10947963" cy="2880320"/>
          </a:xfrm>
          <a:prstGeom prst="rect">
            <a:avLst/>
          </a:prstGeom>
          <a:solidFill>
            <a:schemeClr val="lt1">
              <a:alpha val="49803"/>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0" name="Google Shape;210;p186"/>
          <p:cNvSpPr>
            <a:spLocks noGrp="1"/>
          </p:cNvSpPr>
          <p:nvPr>
            <p:ph type="pic" idx="2"/>
          </p:nvPr>
        </p:nvSpPr>
        <p:spPr>
          <a:xfrm>
            <a:off x="1295633" y="2078160"/>
            <a:ext cx="4458409" cy="1800225"/>
          </a:xfrm>
          <a:prstGeom prst="rect">
            <a:avLst/>
          </a:prstGeom>
          <a:solidFill>
            <a:srgbClr val="D8D8D8"/>
          </a:solidFill>
          <a:ln>
            <a:noFill/>
          </a:ln>
        </p:spPr>
      </p:sp>
      <p:sp>
        <p:nvSpPr>
          <p:cNvPr id="211" name="Google Shape;211;p186"/>
          <p:cNvSpPr>
            <a:spLocks noGrp="1"/>
          </p:cNvSpPr>
          <p:nvPr>
            <p:ph type="pic" idx="3"/>
          </p:nvPr>
        </p:nvSpPr>
        <p:spPr>
          <a:xfrm>
            <a:off x="6420125" y="2078160"/>
            <a:ext cx="4458409" cy="1800225"/>
          </a:xfrm>
          <a:prstGeom prst="rect">
            <a:avLst/>
          </a:prstGeom>
          <a:solidFill>
            <a:srgbClr val="D8D8D8"/>
          </a:solidFill>
          <a:ln>
            <a:noFill/>
          </a:ln>
        </p:spPr>
      </p:sp>
      <p:sp>
        <p:nvSpPr>
          <p:cNvPr id="212" name="Google Shape;212;p186"/>
          <p:cNvSpPr txBox="1">
            <a:spLocks noGrp="1"/>
          </p:cNvSpPr>
          <p:nvPr>
            <p:ph type="body" idx="1"/>
          </p:nvPr>
        </p:nvSpPr>
        <p:spPr>
          <a:xfrm>
            <a:off x="0" y="794684"/>
            <a:ext cx="5754688"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3" name="Google Shape;213;p186"/>
          <p:cNvSpPr txBox="1">
            <a:spLocks noGrp="1"/>
          </p:cNvSpPr>
          <p:nvPr>
            <p:ph type="body" idx="4"/>
          </p:nvPr>
        </p:nvSpPr>
        <p:spPr>
          <a:xfrm>
            <a:off x="1295633"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4" name="Google Shape;214;p186"/>
          <p:cNvSpPr txBox="1">
            <a:spLocks noGrp="1"/>
          </p:cNvSpPr>
          <p:nvPr>
            <p:ph type="body" idx="5"/>
          </p:nvPr>
        </p:nvSpPr>
        <p:spPr>
          <a:xfrm>
            <a:off x="1295633"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5" name="Google Shape;215;p186"/>
          <p:cNvSpPr txBox="1">
            <a:spLocks noGrp="1"/>
          </p:cNvSpPr>
          <p:nvPr>
            <p:ph type="body" idx="6"/>
          </p:nvPr>
        </p:nvSpPr>
        <p:spPr>
          <a:xfrm>
            <a:off x="6391740"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6" name="Google Shape;216;p186"/>
          <p:cNvSpPr txBox="1">
            <a:spLocks noGrp="1"/>
          </p:cNvSpPr>
          <p:nvPr>
            <p:ph type="body" idx="7"/>
          </p:nvPr>
        </p:nvSpPr>
        <p:spPr>
          <a:xfrm>
            <a:off x="6391740"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he Team">
  <p:cSld name="The Team">
    <p:spTree>
      <p:nvGrpSpPr>
        <p:cNvPr id="1" name="Shape 217"/>
        <p:cNvGrpSpPr/>
        <p:nvPr/>
      </p:nvGrpSpPr>
      <p:grpSpPr>
        <a:xfrm>
          <a:off x="0" y="0"/>
          <a:ext cx="0" cy="0"/>
          <a:chOff x="0" y="0"/>
          <a:chExt cx="0" cy="0"/>
        </a:xfrm>
      </p:grpSpPr>
      <p:sp>
        <p:nvSpPr>
          <p:cNvPr id="218" name="Google Shape;218;p187"/>
          <p:cNvSpPr/>
          <p:nvPr/>
        </p:nvSpPr>
        <p:spPr>
          <a:xfrm>
            <a:off x="-41943" y="0"/>
            <a:ext cx="4402929" cy="68580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9" name="Google Shape;219;p18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0" name="Google Shape;220;p18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1" name="Google Shape;221;p187"/>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22" name="Google Shape;222;p187"/>
          <p:cNvSpPr txBox="1">
            <a:spLocks noGrp="1"/>
          </p:cNvSpPr>
          <p:nvPr>
            <p:ph type="body" idx="1"/>
          </p:nvPr>
        </p:nvSpPr>
        <p:spPr>
          <a:xfrm>
            <a:off x="602805" y="1060150"/>
            <a:ext cx="3547750" cy="649288"/>
          </a:xfrm>
          <a:prstGeom prst="rect">
            <a:avLst/>
          </a:prstGeom>
          <a:noFill/>
          <a:ln>
            <a:noFill/>
          </a:ln>
        </p:spPr>
        <p:txBody>
          <a:bodyPr spcFirstLastPara="1" wrap="square" lIns="121875" tIns="60925" rIns="121875" bIns="60925" anchor="ctr" anchorCtr="0">
            <a:noAutofit/>
          </a:bodyPr>
          <a:lstStyle>
            <a:lvl1pPr marL="457200" lvl="0" indent="-228600" algn="r">
              <a:lnSpc>
                <a:spcPct val="80000"/>
              </a:lnSpc>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23" name="Google Shape;223;p187"/>
          <p:cNvSpPr>
            <a:spLocks noGrp="1"/>
          </p:cNvSpPr>
          <p:nvPr>
            <p:ph type="pic" idx="2"/>
          </p:nvPr>
        </p:nvSpPr>
        <p:spPr>
          <a:xfrm>
            <a:off x="4364494" y="2060843"/>
            <a:ext cx="1352103" cy="1352103"/>
          </a:xfrm>
          <a:prstGeom prst="rect">
            <a:avLst/>
          </a:prstGeom>
          <a:noFill/>
          <a:ln>
            <a:noFill/>
          </a:ln>
        </p:spPr>
      </p:sp>
      <p:sp>
        <p:nvSpPr>
          <p:cNvPr id="224" name="Google Shape;224;p187"/>
          <p:cNvSpPr>
            <a:spLocks noGrp="1"/>
          </p:cNvSpPr>
          <p:nvPr>
            <p:ph type="pic" idx="3"/>
          </p:nvPr>
        </p:nvSpPr>
        <p:spPr>
          <a:xfrm>
            <a:off x="5720105" y="2060843"/>
            <a:ext cx="1352103" cy="1352103"/>
          </a:xfrm>
          <a:prstGeom prst="rect">
            <a:avLst/>
          </a:prstGeom>
          <a:noFill/>
          <a:ln>
            <a:noFill/>
          </a:ln>
        </p:spPr>
      </p:sp>
      <p:sp>
        <p:nvSpPr>
          <p:cNvPr id="225" name="Google Shape;225;p187"/>
          <p:cNvSpPr>
            <a:spLocks noGrp="1"/>
          </p:cNvSpPr>
          <p:nvPr>
            <p:ph type="pic" idx="4"/>
          </p:nvPr>
        </p:nvSpPr>
        <p:spPr>
          <a:xfrm>
            <a:off x="8819301" y="724645"/>
            <a:ext cx="1352103" cy="1352103"/>
          </a:xfrm>
          <a:prstGeom prst="rect">
            <a:avLst/>
          </a:prstGeom>
          <a:noFill/>
          <a:ln>
            <a:noFill/>
          </a:ln>
        </p:spPr>
      </p:sp>
      <p:sp>
        <p:nvSpPr>
          <p:cNvPr id="226" name="Google Shape;226;p187"/>
          <p:cNvSpPr>
            <a:spLocks noGrp="1"/>
          </p:cNvSpPr>
          <p:nvPr>
            <p:ph type="pic" idx="5"/>
          </p:nvPr>
        </p:nvSpPr>
        <p:spPr>
          <a:xfrm>
            <a:off x="5722876" y="4760031"/>
            <a:ext cx="1352103" cy="1352103"/>
          </a:xfrm>
          <a:prstGeom prst="rect">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ompany Profile">
  <p:cSld name="Company Profile">
    <p:spTree>
      <p:nvGrpSpPr>
        <p:cNvPr id="1" name="Shape 227"/>
        <p:cNvGrpSpPr/>
        <p:nvPr/>
      </p:nvGrpSpPr>
      <p:grpSpPr>
        <a:xfrm>
          <a:off x="0" y="0"/>
          <a:ext cx="0" cy="0"/>
          <a:chOff x="0" y="0"/>
          <a:chExt cx="0" cy="0"/>
        </a:xfrm>
      </p:grpSpPr>
      <p:sp>
        <p:nvSpPr>
          <p:cNvPr id="228" name="Google Shape;228;p18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9" name="Google Shape;229;p18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0" name="Google Shape;230;p188"/>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1" name="Google Shape;231;p188"/>
          <p:cNvSpPr/>
          <p:nvPr/>
        </p:nvSpPr>
        <p:spPr>
          <a:xfrm>
            <a:off x="1" y="708746"/>
            <a:ext cx="4942284" cy="821288"/>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2" name="Google Shape;232;p188"/>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33" name="Google Shape;233;p188"/>
          <p:cNvSpPr>
            <a:spLocks noGrp="1"/>
          </p:cNvSpPr>
          <p:nvPr>
            <p:ph type="pic" idx="2"/>
          </p:nvPr>
        </p:nvSpPr>
        <p:spPr>
          <a:xfrm>
            <a:off x="0" y="1529910"/>
            <a:ext cx="4942284" cy="3411257"/>
          </a:xfrm>
          <a:prstGeom prst="rect">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Project Two Column">
  <p:cSld name="Project Two Column">
    <p:spTree>
      <p:nvGrpSpPr>
        <p:cNvPr id="1" name="Shape 234"/>
        <p:cNvGrpSpPr/>
        <p:nvPr/>
      </p:nvGrpSpPr>
      <p:grpSpPr>
        <a:xfrm>
          <a:off x="0" y="0"/>
          <a:ext cx="0" cy="0"/>
          <a:chOff x="0" y="0"/>
          <a:chExt cx="0" cy="0"/>
        </a:xfrm>
      </p:grpSpPr>
      <p:sp>
        <p:nvSpPr>
          <p:cNvPr id="235" name="Google Shape;235;p18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6" name="Google Shape;236;p18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7" name="Google Shape;237;p189"/>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8" name="Google Shape;238;p189"/>
          <p:cNvSpPr/>
          <p:nvPr/>
        </p:nvSpPr>
        <p:spPr>
          <a:xfrm>
            <a:off x="1" y="708746"/>
            <a:ext cx="4942284" cy="821288"/>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9" name="Google Shape;239;p189"/>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0" name="Google Shape;240;p189"/>
          <p:cNvSpPr>
            <a:spLocks noGrp="1"/>
          </p:cNvSpPr>
          <p:nvPr>
            <p:ph type="pic" idx="2"/>
          </p:nvPr>
        </p:nvSpPr>
        <p:spPr>
          <a:xfrm>
            <a:off x="609599" y="1529909"/>
            <a:ext cx="5439509" cy="4419363"/>
          </a:xfrm>
          <a:prstGeom prst="rect">
            <a:avLst/>
          </a:prstGeom>
          <a:noFill/>
          <a:ln>
            <a:noFill/>
          </a:ln>
        </p:spPr>
      </p:sp>
      <p:sp>
        <p:nvSpPr>
          <p:cNvPr id="241" name="Google Shape;241;p189"/>
          <p:cNvSpPr>
            <a:spLocks noGrp="1"/>
          </p:cNvSpPr>
          <p:nvPr>
            <p:ph type="pic" idx="3"/>
          </p:nvPr>
        </p:nvSpPr>
        <p:spPr>
          <a:xfrm>
            <a:off x="6131169" y="1529909"/>
            <a:ext cx="5439509" cy="4419363"/>
          </a:xfrm>
          <a:prstGeom prst="rect">
            <a:avLst/>
          </a:prstGeom>
          <a:noFill/>
          <a:ln>
            <a:noFill/>
          </a:ln>
        </p:spPr>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Our Appraoch">
  <p:cSld name="Our Appraoch">
    <p:spTree>
      <p:nvGrpSpPr>
        <p:cNvPr id="1" name="Shape 242"/>
        <p:cNvGrpSpPr/>
        <p:nvPr/>
      </p:nvGrpSpPr>
      <p:grpSpPr>
        <a:xfrm>
          <a:off x="0" y="0"/>
          <a:ext cx="0" cy="0"/>
          <a:chOff x="0" y="0"/>
          <a:chExt cx="0" cy="0"/>
        </a:xfrm>
      </p:grpSpPr>
      <p:sp>
        <p:nvSpPr>
          <p:cNvPr id="243" name="Google Shape;243;p19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4" name="Google Shape;244;p19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5" name="Google Shape;245;p190"/>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6" name="Google Shape;246;p190"/>
          <p:cNvSpPr/>
          <p:nvPr/>
        </p:nvSpPr>
        <p:spPr>
          <a:xfrm>
            <a:off x="1" y="708746"/>
            <a:ext cx="4942284" cy="821288"/>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47" name="Google Shape;247;p190"/>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8" name="Google Shape;248;p190"/>
          <p:cNvSpPr>
            <a:spLocks noGrp="1"/>
          </p:cNvSpPr>
          <p:nvPr>
            <p:ph type="pic" idx="2"/>
          </p:nvPr>
        </p:nvSpPr>
        <p:spPr>
          <a:xfrm>
            <a:off x="609599" y="1529909"/>
            <a:ext cx="10961079" cy="2475155"/>
          </a:xfrm>
          <a:prstGeom prst="rect">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Project Tree Column">
  <p:cSld name="Project Tree Column">
    <p:spTree>
      <p:nvGrpSpPr>
        <p:cNvPr id="1" name="Shape 249"/>
        <p:cNvGrpSpPr/>
        <p:nvPr/>
      </p:nvGrpSpPr>
      <p:grpSpPr>
        <a:xfrm>
          <a:off x="0" y="0"/>
          <a:ext cx="0" cy="0"/>
          <a:chOff x="0" y="0"/>
          <a:chExt cx="0" cy="0"/>
        </a:xfrm>
      </p:grpSpPr>
      <p:sp>
        <p:nvSpPr>
          <p:cNvPr id="250" name="Google Shape;250;p19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1" name="Google Shape;251;p19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2" name="Google Shape;252;p191"/>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53" name="Google Shape;253;p191"/>
          <p:cNvSpPr/>
          <p:nvPr/>
        </p:nvSpPr>
        <p:spPr>
          <a:xfrm>
            <a:off x="1" y="708746"/>
            <a:ext cx="4942284"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54" name="Google Shape;254;p191"/>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5" name="Google Shape;255;p191"/>
          <p:cNvSpPr>
            <a:spLocks noGrp="1"/>
          </p:cNvSpPr>
          <p:nvPr>
            <p:ph type="pic" idx="2"/>
          </p:nvPr>
        </p:nvSpPr>
        <p:spPr>
          <a:xfrm>
            <a:off x="609441" y="1529909"/>
            <a:ext cx="3605855" cy="4419363"/>
          </a:xfrm>
          <a:prstGeom prst="rect">
            <a:avLst/>
          </a:prstGeom>
          <a:noFill/>
          <a:ln>
            <a:noFill/>
          </a:ln>
        </p:spPr>
      </p:sp>
      <p:sp>
        <p:nvSpPr>
          <p:cNvPr id="256" name="Google Shape;256;p191"/>
          <p:cNvSpPr>
            <a:spLocks noGrp="1"/>
          </p:cNvSpPr>
          <p:nvPr>
            <p:ph type="pic" idx="3"/>
          </p:nvPr>
        </p:nvSpPr>
        <p:spPr>
          <a:xfrm>
            <a:off x="4298073" y="1529909"/>
            <a:ext cx="3605855" cy="4419363"/>
          </a:xfrm>
          <a:prstGeom prst="rect">
            <a:avLst/>
          </a:prstGeom>
          <a:noFill/>
          <a:ln>
            <a:noFill/>
          </a:ln>
        </p:spPr>
      </p:sp>
      <p:sp>
        <p:nvSpPr>
          <p:cNvPr id="257" name="Google Shape;257;p191"/>
          <p:cNvSpPr>
            <a:spLocks noGrp="1"/>
          </p:cNvSpPr>
          <p:nvPr>
            <p:ph type="pic" idx="4"/>
          </p:nvPr>
        </p:nvSpPr>
        <p:spPr>
          <a:xfrm>
            <a:off x="7986705" y="1529909"/>
            <a:ext cx="3605855" cy="4419363"/>
          </a:xfrm>
          <a:prstGeom prst="rect">
            <a:avLst/>
          </a:prstGeom>
          <a:noFill/>
          <a:ln>
            <a:noFill/>
          </a:ln>
        </p:spPr>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8"/>
        <p:cNvGrpSpPr/>
        <p:nvPr/>
      </p:nvGrpSpPr>
      <p:grpSpPr>
        <a:xfrm>
          <a:off x="0" y="0"/>
          <a:ext cx="0" cy="0"/>
          <a:chOff x="0" y="0"/>
          <a:chExt cx="0" cy="0"/>
        </a:xfrm>
      </p:grpSpPr>
      <p:sp>
        <p:nvSpPr>
          <p:cNvPr id="259" name="Google Shape;259;p192"/>
          <p:cNvSpPr/>
          <p:nvPr/>
        </p:nvSpPr>
        <p:spPr>
          <a:xfrm flipH="1">
            <a:off x="4294212" y="0"/>
            <a:ext cx="7876318"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60" name="Google Shape;260;p192"/>
          <p:cNvSpPr/>
          <p:nvPr/>
        </p:nvSpPr>
        <p:spPr>
          <a:xfrm>
            <a:off x="-39608" y="-3"/>
            <a:ext cx="4333820" cy="4876818"/>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grpSp>
        <p:nvGrpSpPr>
          <p:cNvPr id="261" name="Google Shape;261;p192"/>
          <p:cNvGrpSpPr/>
          <p:nvPr/>
        </p:nvGrpSpPr>
        <p:grpSpPr>
          <a:xfrm>
            <a:off x="1" y="0"/>
            <a:ext cx="2601913" cy="2833688"/>
            <a:chOff x="0" y="0"/>
            <a:chExt cx="2601913" cy="2833688"/>
          </a:xfrm>
        </p:grpSpPr>
        <p:sp>
          <p:nvSpPr>
            <p:cNvPr id="262" name="Google Shape;262;p192"/>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3" name="Google Shape;263;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4" name="Google Shape;264;p192"/>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5" name="Google Shape;265;p192"/>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6" name="Google Shape;266;p192"/>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7" name="Google Shape;267;p192"/>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8" name="Google Shape;268;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9" name="Google Shape;269;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0" name="Google Shape;270;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1" name="Google Shape;271;p192"/>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2" name="Google Shape;272;p192"/>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3" name="Google Shape;273;p192"/>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4" name="Google Shape;274;p192"/>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5" name="Google Shape;275;p192"/>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6" name="Google Shape;276;p192"/>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7" name="Google Shape;277;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8" name="Google Shape;278;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9" name="Google Shape;279;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0" name="Google Shape;280;p192"/>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1" name="Google Shape;281;p192"/>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2" name="Google Shape;282;p192"/>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83" name="Google Shape;283;p192"/>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4" name="Google Shape;284;p192"/>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5" name="Google Shape;285;p192"/>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86" name="Google Shape;286;p192"/>
          <p:cNvSpPr txBox="1">
            <a:spLocks noGrp="1"/>
          </p:cNvSpPr>
          <p:nvPr>
            <p:ph type="title"/>
          </p:nvPr>
        </p:nvSpPr>
        <p:spPr>
          <a:xfrm>
            <a:off x="6094412" y="3789040"/>
            <a:ext cx="5491606" cy="1362075"/>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accent3"/>
              </a:buClr>
              <a:buSzPts val="5300"/>
              <a:buFont typeface="Open Sans"/>
              <a:buNone/>
              <a:defRPr sz="5300" b="1" cap="none">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7" name="Google Shape;287;p192"/>
          <p:cNvSpPr txBox="1">
            <a:spLocks noGrp="1"/>
          </p:cNvSpPr>
          <p:nvPr>
            <p:ph type="body" idx="1"/>
          </p:nvPr>
        </p:nvSpPr>
        <p:spPr>
          <a:xfrm>
            <a:off x="6094412" y="5319823"/>
            <a:ext cx="5521484" cy="828007"/>
          </a:xfrm>
          <a:prstGeom prst="rect">
            <a:avLst/>
          </a:prstGeom>
          <a:noFill/>
          <a:ln>
            <a:noFill/>
          </a:ln>
        </p:spPr>
        <p:txBody>
          <a:bodyPr spcFirstLastPara="1" wrap="square" lIns="121875" tIns="0" rIns="121875" bIns="0" anchor="t" anchorCtr="0">
            <a:normAutofit/>
          </a:bodyPr>
          <a:lstStyle>
            <a:lvl1pPr marL="457200" lvl="0" indent="-228600" algn="l">
              <a:spcBef>
                <a:spcPts val="320"/>
              </a:spcBef>
              <a:spcAft>
                <a:spcPts val="0"/>
              </a:spcAft>
              <a:buClr>
                <a:schemeClr val="accent3"/>
              </a:buClr>
              <a:buSzPts val="1600"/>
              <a:buNone/>
              <a:defRPr sz="1600">
                <a:solidFill>
                  <a:schemeClr val="accent3"/>
                </a:solidFill>
                <a:latin typeface="Open Sans"/>
                <a:ea typeface="Open Sans"/>
                <a:cs typeface="Open Sans"/>
                <a:sym typeface="Open Sans"/>
              </a:defRPr>
            </a:lvl1pPr>
            <a:lvl2pPr marL="914400" lvl="1" indent="-228600" algn="l">
              <a:spcBef>
                <a:spcPts val="480"/>
              </a:spcBef>
              <a:spcAft>
                <a:spcPts val="0"/>
              </a:spcAft>
              <a:buClr>
                <a:srgbClr val="888888"/>
              </a:buClr>
              <a:buSzPts val="2400"/>
              <a:buNone/>
              <a:defRPr sz="2400">
                <a:solidFill>
                  <a:srgbClr val="888888"/>
                </a:solidFill>
              </a:defRPr>
            </a:lvl2pPr>
            <a:lvl3pPr marL="1371600" lvl="2" indent="-228600" algn="l">
              <a:spcBef>
                <a:spcPts val="420"/>
              </a:spcBef>
              <a:spcAft>
                <a:spcPts val="0"/>
              </a:spcAft>
              <a:buClr>
                <a:srgbClr val="888888"/>
              </a:buClr>
              <a:buSzPts val="2100"/>
              <a:buNone/>
              <a:defRPr sz="2100">
                <a:solidFill>
                  <a:srgbClr val="888888"/>
                </a:solidFill>
              </a:defRPr>
            </a:lvl3pPr>
            <a:lvl4pPr marL="1828800" lvl="3" indent="-228600" algn="l">
              <a:spcBef>
                <a:spcPts val="380"/>
              </a:spcBef>
              <a:spcAft>
                <a:spcPts val="0"/>
              </a:spcAft>
              <a:buClr>
                <a:srgbClr val="888888"/>
              </a:buClr>
              <a:buSzPts val="1900"/>
              <a:buNone/>
              <a:defRPr sz="1900">
                <a:solidFill>
                  <a:srgbClr val="888888"/>
                </a:solidFill>
              </a:defRPr>
            </a:lvl4pPr>
            <a:lvl5pPr marL="2286000" lvl="4" indent="-228600" algn="l">
              <a:spcBef>
                <a:spcPts val="380"/>
              </a:spcBef>
              <a:spcAft>
                <a:spcPts val="0"/>
              </a:spcAft>
              <a:buClr>
                <a:srgbClr val="888888"/>
              </a:buClr>
              <a:buSzPts val="1900"/>
              <a:buNone/>
              <a:defRPr sz="1900">
                <a:solidFill>
                  <a:srgbClr val="888888"/>
                </a:solidFill>
              </a:defRPr>
            </a:lvl5pPr>
            <a:lvl6pPr marL="2743200" lvl="5" indent="-228600" algn="l">
              <a:spcBef>
                <a:spcPts val="380"/>
              </a:spcBef>
              <a:spcAft>
                <a:spcPts val="0"/>
              </a:spcAft>
              <a:buClr>
                <a:srgbClr val="888888"/>
              </a:buClr>
              <a:buSzPts val="1900"/>
              <a:buNone/>
              <a:defRPr sz="1900">
                <a:solidFill>
                  <a:srgbClr val="888888"/>
                </a:solidFill>
              </a:defRPr>
            </a:lvl6pPr>
            <a:lvl7pPr marL="3200400" lvl="6" indent="-228600" algn="l">
              <a:spcBef>
                <a:spcPts val="380"/>
              </a:spcBef>
              <a:spcAft>
                <a:spcPts val="0"/>
              </a:spcAft>
              <a:buClr>
                <a:srgbClr val="888888"/>
              </a:buClr>
              <a:buSzPts val="1900"/>
              <a:buNone/>
              <a:defRPr sz="1900">
                <a:solidFill>
                  <a:srgbClr val="888888"/>
                </a:solidFill>
              </a:defRPr>
            </a:lvl7pPr>
            <a:lvl8pPr marL="3657600" lvl="7" indent="-228600" algn="l">
              <a:spcBef>
                <a:spcPts val="380"/>
              </a:spcBef>
              <a:spcAft>
                <a:spcPts val="0"/>
              </a:spcAft>
              <a:buClr>
                <a:srgbClr val="888888"/>
              </a:buClr>
              <a:buSzPts val="1900"/>
              <a:buNone/>
              <a:defRPr sz="1900">
                <a:solidFill>
                  <a:srgbClr val="888888"/>
                </a:solidFill>
              </a:defRPr>
            </a:lvl8pPr>
            <a:lvl9pPr marL="4114800" lvl="8" indent="-228600" algn="l">
              <a:spcBef>
                <a:spcPts val="380"/>
              </a:spcBef>
              <a:spcAft>
                <a:spcPts val="0"/>
              </a:spcAft>
              <a:buClr>
                <a:srgbClr val="888888"/>
              </a:buClr>
              <a:buSzPts val="1900"/>
              <a:buNone/>
              <a:defRPr sz="1900">
                <a:solidFill>
                  <a:srgbClr val="888888"/>
                </a:solidFill>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Graph">
  <p:cSld name="Graph">
    <p:spTree>
      <p:nvGrpSpPr>
        <p:cNvPr id="1" name="Shape 288"/>
        <p:cNvGrpSpPr/>
        <p:nvPr/>
      </p:nvGrpSpPr>
      <p:grpSpPr>
        <a:xfrm>
          <a:off x="0" y="0"/>
          <a:ext cx="0" cy="0"/>
          <a:chOff x="0" y="0"/>
          <a:chExt cx="0" cy="0"/>
        </a:xfrm>
      </p:grpSpPr>
      <p:sp>
        <p:nvSpPr>
          <p:cNvPr id="289" name="Google Shape;289;p193"/>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dk1"/>
              </a:buClr>
              <a:buSzPts val="3600"/>
              <a:buFont typeface="Open Sans"/>
              <a:buNone/>
              <a:defRPr sz="3600">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0" name="Google Shape;290;p19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1" name="Google Shape;291;p19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2" name="Google Shape;292;p19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93"/>
        <p:cNvGrpSpPr/>
        <p:nvPr/>
      </p:nvGrpSpPr>
      <p:grpSpPr>
        <a:xfrm>
          <a:off x="0" y="0"/>
          <a:ext cx="0" cy="0"/>
          <a:chOff x="0" y="0"/>
          <a:chExt cx="0" cy="0"/>
        </a:xfrm>
      </p:grpSpPr>
      <p:sp>
        <p:nvSpPr>
          <p:cNvPr id="294" name="Google Shape;294;p194"/>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5" name="Google Shape;295;p194"/>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96" name="Google Shape;296;p194"/>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7" name="Google Shape;297;p194"/>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8" name="Google Shape;298;p194"/>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9"/>
        <p:cNvGrpSpPr/>
        <p:nvPr/>
      </p:nvGrpSpPr>
      <p:grpSpPr>
        <a:xfrm>
          <a:off x="0" y="0"/>
          <a:ext cx="0" cy="0"/>
          <a:chOff x="0" y="0"/>
          <a:chExt cx="0" cy="0"/>
        </a:xfrm>
      </p:grpSpPr>
      <p:sp>
        <p:nvSpPr>
          <p:cNvPr id="300" name="Google Shape;300;p195"/>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1" name="Google Shape;301;p195"/>
          <p:cNvSpPr txBox="1">
            <a:spLocks noGrp="1"/>
          </p:cNvSpPr>
          <p:nvPr>
            <p:ph type="body" idx="1"/>
          </p:nvPr>
        </p:nvSpPr>
        <p:spPr>
          <a:xfrm>
            <a:off x="609441"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2" name="Google Shape;302;p195"/>
          <p:cNvSpPr txBox="1">
            <a:spLocks noGrp="1"/>
          </p:cNvSpPr>
          <p:nvPr>
            <p:ph type="body" idx="2"/>
          </p:nvPr>
        </p:nvSpPr>
        <p:spPr>
          <a:xfrm>
            <a:off x="6195986"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3" name="Google Shape;303;p19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4" name="Google Shape;304;p19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5" name="Google Shape;305;p19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06"/>
        <p:cNvGrpSpPr/>
        <p:nvPr/>
      </p:nvGrpSpPr>
      <p:grpSpPr>
        <a:xfrm>
          <a:off x="0" y="0"/>
          <a:ext cx="0" cy="0"/>
          <a:chOff x="0" y="0"/>
          <a:chExt cx="0" cy="0"/>
        </a:xfrm>
      </p:grpSpPr>
      <p:sp>
        <p:nvSpPr>
          <p:cNvPr id="307" name="Google Shape;307;p196"/>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36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8" name="Google Shape;308;p196"/>
          <p:cNvSpPr txBox="1">
            <a:spLocks noGrp="1"/>
          </p:cNvSpPr>
          <p:nvPr>
            <p:ph type="body" idx="1"/>
          </p:nvPr>
        </p:nvSpPr>
        <p:spPr>
          <a:xfrm>
            <a:off x="609441" y="1535113"/>
            <a:ext cx="5385514"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09" name="Google Shape;309;p196"/>
          <p:cNvSpPr txBox="1">
            <a:spLocks noGrp="1"/>
          </p:cNvSpPr>
          <p:nvPr>
            <p:ph type="body" idx="2"/>
          </p:nvPr>
        </p:nvSpPr>
        <p:spPr>
          <a:xfrm>
            <a:off x="609441" y="2174875"/>
            <a:ext cx="5385514"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0" name="Google Shape;310;p196"/>
          <p:cNvSpPr txBox="1">
            <a:spLocks noGrp="1"/>
          </p:cNvSpPr>
          <p:nvPr>
            <p:ph type="body" idx="3"/>
          </p:nvPr>
        </p:nvSpPr>
        <p:spPr>
          <a:xfrm>
            <a:off x="6191756" y="1535113"/>
            <a:ext cx="5387630"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11" name="Google Shape;311;p196"/>
          <p:cNvSpPr txBox="1">
            <a:spLocks noGrp="1"/>
          </p:cNvSpPr>
          <p:nvPr>
            <p:ph type="body" idx="4"/>
          </p:nvPr>
        </p:nvSpPr>
        <p:spPr>
          <a:xfrm>
            <a:off x="6191756" y="2174875"/>
            <a:ext cx="5387630"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2" name="Google Shape;312;p19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3" name="Google Shape;313;p19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4" name="Google Shape;314;p19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15"/>
        <p:cNvGrpSpPr/>
        <p:nvPr/>
      </p:nvGrpSpPr>
      <p:grpSpPr>
        <a:xfrm>
          <a:off x="0" y="0"/>
          <a:ext cx="0" cy="0"/>
          <a:chOff x="0" y="0"/>
          <a:chExt cx="0" cy="0"/>
        </a:xfrm>
      </p:grpSpPr>
      <p:sp>
        <p:nvSpPr>
          <p:cNvPr id="316" name="Google Shape;316;p19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7" name="Google Shape;317;p19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8" name="Google Shape;318;p197"/>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19"/>
        <p:cNvGrpSpPr/>
        <p:nvPr/>
      </p:nvGrpSpPr>
      <p:grpSpPr>
        <a:xfrm>
          <a:off x="0" y="0"/>
          <a:ext cx="0" cy="0"/>
          <a:chOff x="0" y="0"/>
          <a:chExt cx="0" cy="0"/>
        </a:xfrm>
      </p:grpSpPr>
      <p:sp>
        <p:nvSpPr>
          <p:cNvPr id="320" name="Google Shape;320;p198"/>
          <p:cNvSpPr txBox="1">
            <a:spLocks noGrp="1"/>
          </p:cNvSpPr>
          <p:nvPr>
            <p:ph type="title"/>
          </p:nvPr>
        </p:nvSpPr>
        <p:spPr>
          <a:xfrm>
            <a:off x="609443" y="273049"/>
            <a:ext cx="4010039" cy="1162051"/>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1" name="Google Shape;321;p198"/>
          <p:cNvSpPr txBox="1">
            <a:spLocks noGrp="1"/>
          </p:cNvSpPr>
          <p:nvPr>
            <p:ph type="body" idx="1"/>
          </p:nvPr>
        </p:nvSpPr>
        <p:spPr>
          <a:xfrm>
            <a:off x="4765492" y="273052"/>
            <a:ext cx="6813892" cy="5853113"/>
          </a:xfrm>
          <a:prstGeom prst="rect">
            <a:avLst/>
          </a:prstGeom>
          <a:noFill/>
          <a:ln>
            <a:noFill/>
          </a:ln>
        </p:spPr>
        <p:txBody>
          <a:bodyPr spcFirstLastPara="1" wrap="square" lIns="121875" tIns="60925" rIns="121875" bIns="60925" anchor="t" anchorCtr="0">
            <a:normAutofit/>
          </a:bodyPr>
          <a:lstStyle>
            <a:lvl1pPr marL="457200" lvl="0" indent="-501650" algn="l">
              <a:spcBef>
                <a:spcPts val="860"/>
              </a:spcBef>
              <a:spcAft>
                <a:spcPts val="0"/>
              </a:spcAft>
              <a:buClr>
                <a:schemeClr val="dk1"/>
              </a:buClr>
              <a:buSzPts val="4300"/>
              <a:buChar char="•"/>
              <a:defRPr sz="4300"/>
            </a:lvl1pPr>
            <a:lvl2pPr marL="914400" lvl="1" indent="-463550" algn="l">
              <a:spcBef>
                <a:spcPts val="740"/>
              </a:spcBef>
              <a:spcAft>
                <a:spcPts val="0"/>
              </a:spcAft>
              <a:buClr>
                <a:schemeClr val="dk1"/>
              </a:buClr>
              <a:buSzPts val="3700"/>
              <a:buChar char="–"/>
              <a:defRPr sz="3700"/>
            </a:lvl2pPr>
            <a:lvl3pPr marL="1371600" lvl="2" indent="-431800" algn="l">
              <a:spcBef>
                <a:spcPts val="640"/>
              </a:spcBef>
              <a:spcAft>
                <a:spcPts val="0"/>
              </a:spcAft>
              <a:buClr>
                <a:schemeClr val="dk1"/>
              </a:buClr>
              <a:buSzPts val="3200"/>
              <a:buChar char="•"/>
              <a:defRPr sz="3200"/>
            </a:lvl3pPr>
            <a:lvl4pPr marL="1828800" lvl="3" indent="-400050" algn="l">
              <a:spcBef>
                <a:spcPts val="540"/>
              </a:spcBef>
              <a:spcAft>
                <a:spcPts val="0"/>
              </a:spcAft>
              <a:buClr>
                <a:schemeClr val="dk1"/>
              </a:buClr>
              <a:buSzPts val="2700"/>
              <a:buChar char="–"/>
              <a:defRPr sz="2700"/>
            </a:lvl4pPr>
            <a:lvl5pPr marL="2286000" lvl="4" indent="-400050" algn="l">
              <a:spcBef>
                <a:spcPts val="540"/>
              </a:spcBef>
              <a:spcAft>
                <a:spcPts val="0"/>
              </a:spcAft>
              <a:buClr>
                <a:schemeClr val="dk1"/>
              </a:buClr>
              <a:buSzPts val="2700"/>
              <a:buChar char="»"/>
              <a:defRPr sz="2700"/>
            </a:lvl5pPr>
            <a:lvl6pPr marL="2743200" lvl="5" indent="-400050" algn="l">
              <a:spcBef>
                <a:spcPts val="540"/>
              </a:spcBef>
              <a:spcAft>
                <a:spcPts val="0"/>
              </a:spcAft>
              <a:buClr>
                <a:schemeClr val="dk1"/>
              </a:buClr>
              <a:buSzPts val="2700"/>
              <a:buChar char="•"/>
              <a:defRPr sz="2700"/>
            </a:lvl6pPr>
            <a:lvl7pPr marL="3200400" lvl="6" indent="-400050" algn="l">
              <a:spcBef>
                <a:spcPts val="540"/>
              </a:spcBef>
              <a:spcAft>
                <a:spcPts val="0"/>
              </a:spcAft>
              <a:buClr>
                <a:schemeClr val="dk1"/>
              </a:buClr>
              <a:buSzPts val="2700"/>
              <a:buChar char="•"/>
              <a:defRPr sz="2700"/>
            </a:lvl7pPr>
            <a:lvl8pPr marL="3657600" lvl="7" indent="-400050" algn="l">
              <a:spcBef>
                <a:spcPts val="540"/>
              </a:spcBef>
              <a:spcAft>
                <a:spcPts val="0"/>
              </a:spcAft>
              <a:buClr>
                <a:schemeClr val="dk1"/>
              </a:buClr>
              <a:buSzPts val="2700"/>
              <a:buChar char="•"/>
              <a:defRPr sz="2700"/>
            </a:lvl8pPr>
            <a:lvl9pPr marL="4114800" lvl="8" indent="-400050" algn="l">
              <a:spcBef>
                <a:spcPts val="540"/>
              </a:spcBef>
              <a:spcAft>
                <a:spcPts val="0"/>
              </a:spcAft>
              <a:buClr>
                <a:schemeClr val="dk1"/>
              </a:buClr>
              <a:buSzPts val="2700"/>
              <a:buChar char="•"/>
              <a:defRPr sz="2700"/>
            </a:lvl9pPr>
          </a:lstStyle>
          <a:p>
            <a:endParaRPr/>
          </a:p>
        </p:txBody>
      </p:sp>
      <p:sp>
        <p:nvSpPr>
          <p:cNvPr id="322" name="Google Shape;322;p198"/>
          <p:cNvSpPr txBox="1">
            <a:spLocks noGrp="1"/>
          </p:cNvSpPr>
          <p:nvPr>
            <p:ph type="body" idx="2"/>
          </p:nvPr>
        </p:nvSpPr>
        <p:spPr>
          <a:xfrm>
            <a:off x="609443" y="1435102"/>
            <a:ext cx="4010039" cy="46910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23" name="Google Shape;323;p19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4" name="Google Shape;324;p19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5" name="Google Shape;325;p198"/>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326"/>
        <p:cNvGrpSpPr/>
        <p:nvPr/>
      </p:nvGrpSpPr>
      <p:grpSpPr>
        <a:xfrm>
          <a:off x="0" y="0"/>
          <a:ext cx="0" cy="0"/>
          <a:chOff x="0" y="0"/>
          <a:chExt cx="0" cy="0"/>
        </a:xfrm>
      </p:grpSpPr>
      <p:sp>
        <p:nvSpPr>
          <p:cNvPr id="327" name="Google Shape;327;p199"/>
          <p:cNvSpPr txBox="1">
            <a:spLocks noGrp="1"/>
          </p:cNvSpPr>
          <p:nvPr>
            <p:ph type="title"/>
          </p:nvPr>
        </p:nvSpPr>
        <p:spPr>
          <a:xfrm>
            <a:off x="2389095" y="4800600"/>
            <a:ext cx="7313295" cy="566739"/>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8" name="Google Shape;328;p199"/>
          <p:cNvSpPr>
            <a:spLocks noGrp="1"/>
          </p:cNvSpPr>
          <p:nvPr>
            <p:ph type="pic" idx="2"/>
          </p:nvPr>
        </p:nvSpPr>
        <p:spPr>
          <a:xfrm>
            <a:off x="2389095" y="612775"/>
            <a:ext cx="7313295" cy="4114800"/>
          </a:xfrm>
          <a:prstGeom prst="rect">
            <a:avLst/>
          </a:prstGeom>
          <a:noFill/>
          <a:ln>
            <a:noFill/>
          </a:ln>
        </p:spPr>
      </p:sp>
      <p:sp>
        <p:nvSpPr>
          <p:cNvPr id="329" name="Google Shape;329;p199"/>
          <p:cNvSpPr txBox="1">
            <a:spLocks noGrp="1"/>
          </p:cNvSpPr>
          <p:nvPr>
            <p:ph type="body" idx="1"/>
          </p:nvPr>
        </p:nvSpPr>
        <p:spPr>
          <a:xfrm>
            <a:off x="2389095" y="5367338"/>
            <a:ext cx="7313295" cy="8048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30" name="Google Shape;330;p19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1" name="Google Shape;331;p19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2" name="Google Shape;332;p199"/>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333"/>
        <p:cNvGrpSpPr/>
        <p:nvPr/>
      </p:nvGrpSpPr>
      <p:grpSpPr>
        <a:xfrm>
          <a:off x="0" y="0"/>
          <a:ext cx="0" cy="0"/>
          <a:chOff x="0" y="0"/>
          <a:chExt cx="0" cy="0"/>
        </a:xfrm>
      </p:grpSpPr>
      <p:sp>
        <p:nvSpPr>
          <p:cNvPr id="334" name="Google Shape;334;p200"/>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5" name="Google Shape;335;p200"/>
          <p:cNvSpPr txBox="1">
            <a:spLocks noGrp="1"/>
          </p:cNvSpPr>
          <p:nvPr>
            <p:ph type="body" idx="1"/>
          </p:nvPr>
        </p:nvSpPr>
        <p:spPr>
          <a:xfrm rot="5400000">
            <a:off x="3600543" y="-1852677"/>
            <a:ext cx="4987739" cy="10969943"/>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36" name="Google Shape;336;p20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7" name="Google Shape;337;p20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8" name="Google Shape;338;p200"/>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339"/>
        <p:cNvGrpSpPr/>
        <p:nvPr/>
      </p:nvGrpSpPr>
      <p:grpSpPr>
        <a:xfrm>
          <a:off x="0" y="0"/>
          <a:ext cx="0" cy="0"/>
          <a:chOff x="0" y="0"/>
          <a:chExt cx="0" cy="0"/>
        </a:xfrm>
      </p:grpSpPr>
      <p:sp>
        <p:nvSpPr>
          <p:cNvPr id="340" name="Google Shape;340;p201"/>
          <p:cNvSpPr txBox="1">
            <a:spLocks noGrp="1"/>
          </p:cNvSpPr>
          <p:nvPr>
            <p:ph type="title"/>
          </p:nvPr>
        </p:nvSpPr>
        <p:spPr>
          <a:xfrm rot="5400000">
            <a:off x="7282379" y="1829159"/>
            <a:ext cx="5851525" cy="2742486"/>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1" name="Google Shape;341;p201"/>
          <p:cNvSpPr txBox="1">
            <a:spLocks noGrp="1"/>
          </p:cNvSpPr>
          <p:nvPr>
            <p:ph type="body" idx="1"/>
          </p:nvPr>
        </p:nvSpPr>
        <p:spPr>
          <a:xfrm rot="5400000">
            <a:off x="1695834" y="-811754"/>
            <a:ext cx="5851525" cy="8024310"/>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42" name="Google Shape;342;p20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3" name="Google Shape;343;p20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4" name="Google Shape;344;p201"/>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40_Full Blank">
  <p:cSld name="40_Full Blank">
    <p:spTree>
      <p:nvGrpSpPr>
        <p:cNvPr id="1" name="Shape 345"/>
        <p:cNvGrpSpPr/>
        <p:nvPr/>
      </p:nvGrpSpPr>
      <p:grpSpPr>
        <a:xfrm>
          <a:off x="0" y="0"/>
          <a:ext cx="0" cy="0"/>
          <a:chOff x="0" y="0"/>
          <a:chExt cx="0" cy="0"/>
        </a:xfrm>
      </p:grpSpPr>
      <p:sp>
        <p:nvSpPr>
          <p:cNvPr id="346" name="Google Shape;346;p202"/>
          <p:cNvSpPr/>
          <p:nvPr/>
        </p:nvSpPr>
        <p:spPr>
          <a:xfrm>
            <a:off x="0" y="-981"/>
            <a:ext cx="12188825" cy="6867857"/>
          </a:xfrm>
          <a:prstGeom prst="rect">
            <a:avLst/>
          </a:prstGeom>
          <a:solidFill>
            <a:srgbClr val="262626">
              <a:alpha val="96862"/>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47" name="Google Shape;347;p202"/>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nvGrpSpPr>
          <p:cNvPr id="348" name="Google Shape;348;p202"/>
          <p:cNvGrpSpPr/>
          <p:nvPr/>
        </p:nvGrpSpPr>
        <p:grpSpPr>
          <a:xfrm>
            <a:off x="531756" y="6037713"/>
            <a:ext cx="495031" cy="493336"/>
            <a:chOff x="5489575" y="1343025"/>
            <a:chExt cx="1724025" cy="1717676"/>
          </a:xfrm>
        </p:grpSpPr>
        <p:sp>
          <p:nvSpPr>
            <p:cNvPr id="349" name="Google Shape;349;p202"/>
            <p:cNvSpPr/>
            <p:nvPr/>
          </p:nvSpPr>
          <p:spPr>
            <a:xfrm>
              <a:off x="6137275" y="1343025"/>
              <a:ext cx="1076325" cy="1074738"/>
            </a:xfrm>
            <a:prstGeom prst="ellipse">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0" name="Google Shape;350;p202"/>
            <p:cNvSpPr/>
            <p:nvPr/>
          </p:nvSpPr>
          <p:spPr>
            <a:xfrm>
              <a:off x="5489575" y="2201863"/>
              <a:ext cx="754063" cy="754063"/>
            </a:xfrm>
            <a:custGeom>
              <a:avLst/>
              <a:gdLst/>
              <a:ahLst/>
              <a:cxnLst/>
              <a:rect l="l" t="t" r="r" b="b"/>
              <a:pathLst>
                <a:path w="199" h="199" extrusionOk="0">
                  <a:moveTo>
                    <a:pt x="100" y="0"/>
                  </a:moveTo>
                  <a:cubicBezTo>
                    <a:pt x="45" y="0"/>
                    <a:pt x="0" y="45"/>
                    <a:pt x="0" y="100"/>
                  </a:cubicBezTo>
                  <a:cubicBezTo>
                    <a:pt x="0" y="154"/>
                    <a:pt x="45" y="199"/>
                    <a:pt x="100" y="199"/>
                  </a:cubicBezTo>
                  <a:cubicBezTo>
                    <a:pt x="154" y="199"/>
                    <a:pt x="199" y="154"/>
                    <a:pt x="199" y="100"/>
                  </a:cubicBezTo>
                  <a:cubicBezTo>
                    <a:pt x="199" y="45"/>
                    <a:pt x="154" y="0"/>
                    <a:pt x="100" y="0"/>
                  </a:cubicBezTo>
                  <a:close/>
                  <a:moveTo>
                    <a:pt x="100" y="171"/>
                  </a:moveTo>
                  <a:cubicBezTo>
                    <a:pt x="60" y="171"/>
                    <a:pt x="29" y="139"/>
                    <a:pt x="29" y="100"/>
                  </a:cubicBezTo>
                  <a:cubicBezTo>
                    <a:pt x="29" y="60"/>
                    <a:pt x="60" y="28"/>
                    <a:pt x="100" y="28"/>
                  </a:cubicBezTo>
                  <a:cubicBezTo>
                    <a:pt x="139" y="28"/>
                    <a:pt x="171" y="60"/>
                    <a:pt x="171" y="100"/>
                  </a:cubicBezTo>
                  <a:cubicBezTo>
                    <a:pt x="171" y="139"/>
                    <a:pt x="139" y="171"/>
                    <a:pt x="100" y="171"/>
                  </a:cubicBezTo>
                  <a:close/>
                  <a:moveTo>
                    <a:pt x="100" y="171"/>
                  </a:moveTo>
                  <a:cubicBezTo>
                    <a:pt x="100" y="171"/>
                    <a:pt x="100" y="171"/>
                    <a:pt x="100" y="171"/>
                  </a:cubicBezTo>
                </a:path>
              </a:pathLst>
            </a:custGeom>
            <a:solidFill>
              <a:srgbClr val="D8D8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1" name="Google Shape;351;p202"/>
            <p:cNvSpPr/>
            <p:nvPr/>
          </p:nvSpPr>
          <p:spPr>
            <a:xfrm>
              <a:off x="6459538" y="2633663"/>
              <a:ext cx="431800" cy="427038"/>
            </a:xfrm>
            <a:custGeom>
              <a:avLst/>
              <a:gdLst/>
              <a:ahLst/>
              <a:cxnLst/>
              <a:rect l="l" t="t" r="r" b="b"/>
              <a:pathLst>
                <a:path w="114" h="113" extrusionOk="0">
                  <a:moveTo>
                    <a:pt x="57" y="0"/>
                  </a:moveTo>
                  <a:cubicBezTo>
                    <a:pt x="25" y="0"/>
                    <a:pt x="0" y="25"/>
                    <a:pt x="0" y="57"/>
                  </a:cubicBezTo>
                  <a:cubicBezTo>
                    <a:pt x="0" y="88"/>
                    <a:pt x="25" y="113"/>
                    <a:pt x="57" y="113"/>
                  </a:cubicBezTo>
                  <a:cubicBezTo>
                    <a:pt x="88" y="113"/>
                    <a:pt x="114" y="88"/>
                    <a:pt x="114" y="57"/>
                  </a:cubicBezTo>
                  <a:cubicBezTo>
                    <a:pt x="114" y="25"/>
                    <a:pt x="88" y="0"/>
                    <a:pt x="57" y="0"/>
                  </a:cubicBezTo>
                  <a:close/>
                  <a:moveTo>
                    <a:pt x="57" y="85"/>
                  </a:moveTo>
                  <a:cubicBezTo>
                    <a:pt x="41" y="85"/>
                    <a:pt x="28" y="72"/>
                    <a:pt x="28" y="57"/>
                  </a:cubicBezTo>
                  <a:cubicBezTo>
                    <a:pt x="28" y="41"/>
                    <a:pt x="41" y="28"/>
                    <a:pt x="57" y="28"/>
                  </a:cubicBezTo>
                  <a:cubicBezTo>
                    <a:pt x="73" y="28"/>
                    <a:pt x="85" y="41"/>
                    <a:pt x="85" y="57"/>
                  </a:cubicBezTo>
                  <a:cubicBezTo>
                    <a:pt x="85" y="72"/>
                    <a:pt x="73" y="85"/>
                    <a:pt x="57" y="85"/>
                  </a:cubicBezTo>
                  <a:close/>
                  <a:moveTo>
                    <a:pt x="57" y="85"/>
                  </a:moveTo>
                  <a:cubicBezTo>
                    <a:pt x="57" y="85"/>
                    <a:pt x="57" y="85"/>
                    <a:pt x="57" y="85"/>
                  </a:cubicBezTo>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grpSp>
      <p:sp>
        <p:nvSpPr>
          <p:cNvPr id="352" name="Google Shape;352;p202"/>
          <p:cNvSpPr>
            <a:spLocks noGrp="1"/>
          </p:cNvSpPr>
          <p:nvPr>
            <p:ph type="pic" idx="2"/>
          </p:nvPr>
        </p:nvSpPr>
        <p:spPr>
          <a:xfrm>
            <a:off x="4148224" y="1443883"/>
            <a:ext cx="1398803" cy="1564773"/>
          </a:xfrm>
          <a:prstGeom prst="rect">
            <a:avLst/>
          </a:prstGeom>
          <a:noFill/>
          <a:ln>
            <a:noFill/>
          </a:ln>
        </p:spPr>
      </p:sp>
      <p:sp>
        <p:nvSpPr>
          <p:cNvPr id="353" name="Google Shape;353;p202"/>
          <p:cNvSpPr>
            <a:spLocks noGrp="1"/>
          </p:cNvSpPr>
          <p:nvPr>
            <p:ph type="pic" idx="3"/>
          </p:nvPr>
        </p:nvSpPr>
        <p:spPr>
          <a:xfrm>
            <a:off x="941890" y="3346175"/>
            <a:ext cx="752211" cy="841303"/>
          </a:xfrm>
          <a:prstGeom prst="rect">
            <a:avLst/>
          </a:prstGeom>
          <a:noFill/>
          <a:ln>
            <a:noFill/>
          </a:ln>
        </p:spPr>
      </p:sp>
      <p:sp>
        <p:nvSpPr>
          <p:cNvPr id="354" name="Google Shape;354;p202"/>
          <p:cNvSpPr>
            <a:spLocks noGrp="1"/>
          </p:cNvSpPr>
          <p:nvPr>
            <p:ph type="pic" idx="4"/>
          </p:nvPr>
        </p:nvSpPr>
        <p:spPr>
          <a:xfrm>
            <a:off x="2116623" y="2548677"/>
            <a:ext cx="2843864" cy="3181350"/>
          </a:xfrm>
          <a:prstGeom prst="rect">
            <a:avLst/>
          </a:prstGeom>
          <a:noFill/>
          <a:ln>
            <a:noFill/>
          </a:ln>
        </p:spPr>
      </p:sp>
      <p:grpSp>
        <p:nvGrpSpPr>
          <p:cNvPr id="355" name="Google Shape;355;p202"/>
          <p:cNvGrpSpPr/>
          <p:nvPr/>
        </p:nvGrpSpPr>
        <p:grpSpPr>
          <a:xfrm>
            <a:off x="0" y="6658753"/>
            <a:ext cx="12188825" cy="208124"/>
            <a:chOff x="0" y="6606540"/>
            <a:chExt cx="11430000" cy="251459"/>
          </a:xfrm>
        </p:grpSpPr>
        <p:sp>
          <p:nvSpPr>
            <p:cNvPr id="356" name="Google Shape;356;p202"/>
            <p:cNvSpPr/>
            <p:nvPr/>
          </p:nvSpPr>
          <p:spPr>
            <a:xfrm>
              <a:off x="0" y="6606540"/>
              <a:ext cx="2286000" cy="251459"/>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7" name="Google Shape;357;p202"/>
            <p:cNvSpPr/>
            <p:nvPr/>
          </p:nvSpPr>
          <p:spPr>
            <a:xfrm>
              <a:off x="2286000" y="6606540"/>
              <a:ext cx="2286000" cy="251459"/>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8" name="Google Shape;358;p202"/>
            <p:cNvSpPr/>
            <p:nvPr/>
          </p:nvSpPr>
          <p:spPr>
            <a:xfrm>
              <a:off x="4572000" y="6606540"/>
              <a:ext cx="2286000" cy="251459"/>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9" name="Google Shape;359;p202"/>
            <p:cNvSpPr/>
            <p:nvPr/>
          </p:nvSpPr>
          <p:spPr>
            <a:xfrm>
              <a:off x="6858000" y="6606540"/>
              <a:ext cx="2286000" cy="251459"/>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60" name="Google Shape;360;p202"/>
            <p:cNvSpPr/>
            <p:nvPr/>
          </p:nvSpPr>
          <p:spPr>
            <a:xfrm>
              <a:off x="9144000" y="6606540"/>
              <a:ext cx="2286000" cy="251459"/>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39_Full Blank">
  <p:cSld name="39_Full Blank">
    <p:spTree>
      <p:nvGrpSpPr>
        <p:cNvPr id="1" name="Shape 361"/>
        <p:cNvGrpSpPr/>
        <p:nvPr/>
      </p:nvGrpSpPr>
      <p:grpSpPr>
        <a:xfrm>
          <a:off x="0" y="0"/>
          <a:ext cx="0" cy="0"/>
          <a:chOff x="0" y="0"/>
          <a:chExt cx="0" cy="0"/>
        </a:xfrm>
      </p:grpSpPr>
      <p:sp>
        <p:nvSpPr>
          <p:cNvPr id="362" name="Google Shape;362;p203"/>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6/22/2026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710825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6/22/2026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245349110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7828256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324134753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9266656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319141609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22504774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6/22/2026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145230934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6/22/2026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66395774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359946853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230967579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86378C3B-E184-A1ED-97D3-9127CD494699}"/>
              </a:ext>
            </a:extLst>
          </p:cNvPr>
          <p:cNvSpPr>
            <a:spLocks noGrp="1"/>
          </p:cNvSpPr>
          <p:nvPr>
            <p:ph type="pic" sz="quarter" idx="10"/>
          </p:nvPr>
        </p:nvSpPr>
        <p:spPr>
          <a:xfrm>
            <a:off x="6306710" y="1325486"/>
            <a:ext cx="5002372" cy="4247185"/>
          </a:xfrm>
          <a:custGeom>
            <a:avLst/>
            <a:gdLst>
              <a:gd name="connsiteX0" fmla="*/ 2017799 w 5003675"/>
              <a:gd name="connsiteY0" fmla="*/ 3 h 4247185"/>
              <a:gd name="connsiteX1" fmla="*/ 2666935 w 5003675"/>
              <a:gd name="connsiteY1" fmla="*/ 270746 h 4247185"/>
              <a:gd name="connsiteX2" fmla="*/ 5003675 w 5003675"/>
              <a:gd name="connsiteY2" fmla="*/ 2618943 h 4247185"/>
              <a:gd name="connsiteX3" fmla="*/ 3636329 w 5003675"/>
              <a:gd name="connsiteY3" fmla="*/ 3979618 h 4247185"/>
              <a:gd name="connsiteX4" fmla="*/ 2336740 w 5003675"/>
              <a:gd name="connsiteY4" fmla="*/ 3976439 h 4247185"/>
              <a:gd name="connsiteX5" fmla="*/ 0 w 5003675"/>
              <a:gd name="connsiteY5" fmla="*/ 1628243 h 4247185"/>
              <a:gd name="connsiteX6" fmla="*/ 1367347 w 5003675"/>
              <a:gd name="connsiteY6" fmla="*/ 267568 h 4247185"/>
              <a:gd name="connsiteX7" fmla="*/ 2017799 w 5003675"/>
              <a:gd name="connsiteY7" fmla="*/ 3 h 4247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003675" h="4247185">
                <a:moveTo>
                  <a:pt x="2017799" y="3"/>
                </a:moveTo>
                <a:cubicBezTo>
                  <a:pt x="2252978" y="578"/>
                  <a:pt x="2487938" y="90871"/>
                  <a:pt x="2666935" y="270746"/>
                </a:cubicBezTo>
                <a:lnTo>
                  <a:pt x="5003675" y="2618943"/>
                </a:lnTo>
                <a:lnTo>
                  <a:pt x="3636329" y="3979618"/>
                </a:lnTo>
                <a:cubicBezTo>
                  <a:pt x="3276579" y="4337612"/>
                  <a:pt x="2694734" y="4336189"/>
                  <a:pt x="2336740" y="3976439"/>
                </a:cubicBezTo>
                <a:lnTo>
                  <a:pt x="0" y="1628243"/>
                </a:lnTo>
                <a:lnTo>
                  <a:pt x="1367347" y="267568"/>
                </a:lnTo>
                <a:cubicBezTo>
                  <a:pt x="1547222" y="88571"/>
                  <a:pt x="1782620" y="-572"/>
                  <a:pt x="2017799" y="3"/>
                </a:cubicBezTo>
                <a:close/>
              </a:path>
            </a:pathLst>
          </a:custGeom>
        </p:spPr>
        <p:txBody>
          <a:bodyPr wrap="square">
            <a:noAutofit/>
          </a:bodyPr>
          <a:lstStyle/>
          <a:p>
            <a:endParaRPr lang="en-PK"/>
          </a:p>
        </p:txBody>
      </p:sp>
    </p:spTree>
    <p:extLst>
      <p:ext uri="{BB962C8B-B14F-4D97-AF65-F5344CB8AC3E}">
        <p14:creationId xmlns:p14="http://schemas.microsoft.com/office/powerpoint/2010/main" val="145423824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CE35D361-ABEE-D79C-865F-AA6BA02832C6}"/>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414881939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6C5DDD57-31F3-A936-88B6-B56E3475F2DD}"/>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11" name="Picture Placeholder 10">
            <a:extLst>
              <a:ext uri="{FF2B5EF4-FFF2-40B4-BE49-F238E27FC236}">
                <a16:creationId xmlns:a16="http://schemas.microsoft.com/office/drawing/2014/main" id="{45E843CF-E274-2A06-E086-3AB252A4C96D}"/>
              </a:ext>
            </a:extLst>
          </p:cNvPr>
          <p:cNvSpPr>
            <a:spLocks noGrp="1"/>
          </p:cNvSpPr>
          <p:nvPr>
            <p:ph type="pic" sz="quarter" idx="11"/>
          </p:nvPr>
        </p:nvSpPr>
        <p:spPr>
          <a:xfrm>
            <a:off x="7017008" y="680012"/>
            <a:ext cx="4191362" cy="5497976"/>
          </a:xfrm>
          <a:custGeom>
            <a:avLst/>
            <a:gdLst>
              <a:gd name="connsiteX0" fmla="*/ 2096227 w 4192454"/>
              <a:gd name="connsiteY0" fmla="*/ 0 h 5497976"/>
              <a:gd name="connsiteX1" fmla="*/ 4192454 w 4192454"/>
              <a:gd name="connsiteY1" fmla="*/ 0 h 5497976"/>
              <a:gd name="connsiteX2" fmla="*/ 4192454 w 4192454"/>
              <a:gd name="connsiteY2" fmla="*/ 3401749 h 5497976"/>
              <a:gd name="connsiteX3" fmla="*/ 2096227 w 4192454"/>
              <a:gd name="connsiteY3" fmla="*/ 5497976 h 5497976"/>
              <a:gd name="connsiteX4" fmla="*/ 0 w 4192454"/>
              <a:gd name="connsiteY4" fmla="*/ 5497976 h 5497976"/>
              <a:gd name="connsiteX5" fmla="*/ 0 w 4192454"/>
              <a:gd name="connsiteY5" fmla="*/ 2096227 h 5497976"/>
              <a:gd name="connsiteX6" fmla="*/ 2096227 w 4192454"/>
              <a:gd name="connsiteY6" fmla="*/ 0 h 54979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92454" h="5497976">
                <a:moveTo>
                  <a:pt x="2096227" y="0"/>
                </a:moveTo>
                <a:lnTo>
                  <a:pt x="4192454" y="0"/>
                </a:lnTo>
                <a:lnTo>
                  <a:pt x="4192454" y="3401749"/>
                </a:lnTo>
                <a:cubicBezTo>
                  <a:pt x="4192454" y="4559463"/>
                  <a:pt x="3253941" y="5497976"/>
                  <a:pt x="2096227" y="5497976"/>
                </a:cubicBezTo>
                <a:lnTo>
                  <a:pt x="0" y="5497976"/>
                </a:lnTo>
                <a:lnTo>
                  <a:pt x="0" y="2096227"/>
                </a:lnTo>
                <a:cubicBezTo>
                  <a:pt x="0" y="938513"/>
                  <a:pt x="938513" y="0"/>
                  <a:pt x="2096227" y="0"/>
                </a:cubicBezTo>
                <a:close/>
              </a:path>
            </a:pathLst>
          </a:custGeom>
        </p:spPr>
        <p:txBody>
          <a:bodyPr wrap="square">
            <a:noAutofit/>
          </a:bodyPr>
          <a:lstStyle/>
          <a:p>
            <a:endParaRPr lang="en-PK"/>
          </a:p>
        </p:txBody>
      </p:sp>
    </p:spTree>
    <p:extLst>
      <p:ext uri="{BB962C8B-B14F-4D97-AF65-F5344CB8AC3E}">
        <p14:creationId xmlns:p14="http://schemas.microsoft.com/office/powerpoint/2010/main" val="80536416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7EF7B7BF-954B-E717-9848-38C7072F5E5F}"/>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12" name="Picture Placeholder 11">
            <a:extLst>
              <a:ext uri="{FF2B5EF4-FFF2-40B4-BE49-F238E27FC236}">
                <a16:creationId xmlns:a16="http://schemas.microsoft.com/office/drawing/2014/main" id="{2693CE21-91E7-2D69-9690-1A156A79573C}"/>
              </a:ext>
            </a:extLst>
          </p:cNvPr>
          <p:cNvSpPr>
            <a:spLocks noGrp="1"/>
          </p:cNvSpPr>
          <p:nvPr>
            <p:ph type="pic" sz="quarter" idx="11"/>
          </p:nvPr>
        </p:nvSpPr>
        <p:spPr>
          <a:xfrm>
            <a:off x="839569" y="3871154"/>
            <a:ext cx="4992554" cy="2676124"/>
          </a:xfrm>
          <a:custGeom>
            <a:avLst/>
            <a:gdLst>
              <a:gd name="connsiteX0" fmla="*/ 446030 w 4993854"/>
              <a:gd name="connsiteY0" fmla="*/ 0 h 2676124"/>
              <a:gd name="connsiteX1" fmla="*/ 4993854 w 4993854"/>
              <a:gd name="connsiteY1" fmla="*/ 0 h 2676124"/>
              <a:gd name="connsiteX2" fmla="*/ 4993854 w 4993854"/>
              <a:gd name="connsiteY2" fmla="*/ 2230094 h 2676124"/>
              <a:gd name="connsiteX3" fmla="*/ 4547824 w 4993854"/>
              <a:gd name="connsiteY3" fmla="*/ 2676124 h 2676124"/>
              <a:gd name="connsiteX4" fmla="*/ 0 w 4993854"/>
              <a:gd name="connsiteY4" fmla="*/ 2676124 h 2676124"/>
              <a:gd name="connsiteX5" fmla="*/ 0 w 4993854"/>
              <a:gd name="connsiteY5" fmla="*/ 446030 h 2676124"/>
              <a:gd name="connsiteX6" fmla="*/ 446030 w 4993854"/>
              <a:gd name="connsiteY6" fmla="*/ 0 h 2676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3854" h="2676124">
                <a:moveTo>
                  <a:pt x="446030" y="0"/>
                </a:moveTo>
                <a:lnTo>
                  <a:pt x="4993854" y="0"/>
                </a:lnTo>
                <a:lnTo>
                  <a:pt x="4993854" y="2230094"/>
                </a:lnTo>
                <a:cubicBezTo>
                  <a:pt x="4993854" y="2476430"/>
                  <a:pt x="4794160" y="2676124"/>
                  <a:pt x="4547824" y="2676124"/>
                </a:cubicBezTo>
                <a:lnTo>
                  <a:pt x="0" y="2676124"/>
                </a:lnTo>
                <a:lnTo>
                  <a:pt x="0" y="446030"/>
                </a:lnTo>
                <a:cubicBezTo>
                  <a:pt x="0" y="199694"/>
                  <a:pt x="199694" y="0"/>
                  <a:pt x="446030" y="0"/>
                </a:cubicBezTo>
                <a:close/>
              </a:path>
            </a:pathLst>
          </a:custGeom>
        </p:spPr>
        <p:txBody>
          <a:bodyPr wrap="square">
            <a:noAutofit/>
          </a:bodyPr>
          <a:lstStyle/>
          <a:p>
            <a:endParaRPr lang="en-PK"/>
          </a:p>
        </p:txBody>
      </p:sp>
    </p:spTree>
    <p:extLst>
      <p:ext uri="{BB962C8B-B14F-4D97-AF65-F5344CB8AC3E}">
        <p14:creationId xmlns:p14="http://schemas.microsoft.com/office/powerpoint/2010/main" val="278981660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10" name="Text Placeholder 7">
            <a:extLst>
              <a:ext uri="{FF2B5EF4-FFF2-40B4-BE49-F238E27FC236}">
                <a16:creationId xmlns:a16="http://schemas.microsoft.com/office/drawing/2014/main" id="{43F07389-8932-42FB-F708-932E2263F576}"/>
              </a:ext>
            </a:extLst>
          </p:cNvPr>
          <p:cNvSpPr>
            <a:spLocks noGrp="1"/>
          </p:cNvSpPr>
          <p:nvPr>
            <p:ph type="body" sz="quarter" idx="10"/>
          </p:nvPr>
        </p:nvSpPr>
        <p:spPr>
          <a:xfrm>
            <a:off x="839570" y="2307014"/>
            <a:ext cx="3407233" cy="1121986"/>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58852347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82ADEE87-6030-E1DA-86A9-0872B31F167E}"/>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967952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5" name="Text Placeholder 7">
            <a:extLst>
              <a:ext uri="{FF2B5EF4-FFF2-40B4-BE49-F238E27FC236}">
                <a16:creationId xmlns:a16="http://schemas.microsoft.com/office/drawing/2014/main" id="{5EA10585-713E-0C3F-37FB-777EB8FFEF81}"/>
              </a:ext>
            </a:extLst>
          </p:cNvPr>
          <p:cNvSpPr>
            <a:spLocks noGrp="1"/>
          </p:cNvSpPr>
          <p:nvPr>
            <p:ph type="body" sz="quarter" idx="10"/>
          </p:nvPr>
        </p:nvSpPr>
        <p:spPr>
          <a:xfrm>
            <a:off x="839569" y="971551"/>
            <a:ext cx="5640565"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539593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6C680AFC-5A5D-E566-4767-30630FF921DC}"/>
              </a:ext>
            </a:extLst>
          </p:cNvPr>
          <p:cNvSpPr>
            <a:spLocks noGrp="1"/>
          </p:cNvSpPr>
          <p:nvPr>
            <p:ph type="body" sz="quarter" idx="10"/>
          </p:nvPr>
        </p:nvSpPr>
        <p:spPr>
          <a:xfrm>
            <a:off x="839569" y="971551"/>
            <a:ext cx="7225884"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354775757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52D4ED0-A469-1D30-D0B9-075007FDB1D1}"/>
              </a:ext>
            </a:extLst>
          </p:cNvPr>
          <p:cNvSpPr>
            <a:spLocks noGrp="1"/>
          </p:cNvSpPr>
          <p:nvPr>
            <p:ph type="body" sz="quarter" idx="10"/>
          </p:nvPr>
        </p:nvSpPr>
        <p:spPr>
          <a:xfrm>
            <a:off x="839569" y="1443990"/>
            <a:ext cx="3684954" cy="1077218"/>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9752458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A9D3FF98-2D57-B6D5-34A1-E29FC9D40A22}"/>
              </a:ext>
            </a:extLst>
          </p:cNvPr>
          <p:cNvSpPr>
            <a:spLocks noGrp="1"/>
          </p:cNvSpPr>
          <p:nvPr>
            <p:ph type="body" sz="quarter" idx="10"/>
          </p:nvPr>
        </p:nvSpPr>
        <p:spPr>
          <a:xfrm>
            <a:off x="839569" y="971551"/>
            <a:ext cx="5605271"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88804380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C53A74ED-76FC-8CC0-D7E9-B3BEDEC06882}"/>
              </a:ext>
            </a:extLst>
          </p:cNvPr>
          <p:cNvSpPr>
            <a:spLocks noGrp="1"/>
          </p:cNvSpPr>
          <p:nvPr>
            <p:ph type="body" sz="quarter" idx="10"/>
          </p:nvPr>
        </p:nvSpPr>
        <p:spPr>
          <a:xfrm>
            <a:off x="839569" y="971551"/>
            <a:ext cx="8255762"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54335494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9C9C5D43-2BAE-AA68-28A0-B95983F1434F}"/>
              </a:ext>
            </a:extLst>
          </p:cNvPr>
          <p:cNvSpPr>
            <a:spLocks noGrp="1"/>
          </p:cNvSpPr>
          <p:nvPr>
            <p:ph type="pic" sz="quarter" idx="11"/>
          </p:nvPr>
        </p:nvSpPr>
        <p:spPr>
          <a:xfrm>
            <a:off x="1378858"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7" name="Picture Placeholder 8">
            <a:extLst>
              <a:ext uri="{FF2B5EF4-FFF2-40B4-BE49-F238E27FC236}">
                <a16:creationId xmlns:a16="http://schemas.microsoft.com/office/drawing/2014/main" id="{5C439F7A-5536-B6C0-F563-E47C03FC5E9F}"/>
              </a:ext>
            </a:extLst>
          </p:cNvPr>
          <p:cNvSpPr>
            <a:spLocks noGrp="1"/>
          </p:cNvSpPr>
          <p:nvPr>
            <p:ph type="pic" sz="quarter" idx="12"/>
          </p:nvPr>
        </p:nvSpPr>
        <p:spPr>
          <a:xfrm>
            <a:off x="4093637"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8" name="Picture Placeholder 8">
            <a:extLst>
              <a:ext uri="{FF2B5EF4-FFF2-40B4-BE49-F238E27FC236}">
                <a16:creationId xmlns:a16="http://schemas.microsoft.com/office/drawing/2014/main" id="{CA5EEFA0-64F6-654A-EE27-E4ED44358947}"/>
              </a:ext>
            </a:extLst>
          </p:cNvPr>
          <p:cNvSpPr>
            <a:spLocks noGrp="1"/>
          </p:cNvSpPr>
          <p:nvPr>
            <p:ph type="pic" sz="quarter" idx="13"/>
          </p:nvPr>
        </p:nvSpPr>
        <p:spPr>
          <a:xfrm>
            <a:off x="6808424"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10" name="Picture Placeholder 8">
            <a:extLst>
              <a:ext uri="{FF2B5EF4-FFF2-40B4-BE49-F238E27FC236}">
                <a16:creationId xmlns:a16="http://schemas.microsoft.com/office/drawing/2014/main" id="{B336F180-1189-E865-EC9D-3A737DFE33B9}"/>
              </a:ext>
            </a:extLst>
          </p:cNvPr>
          <p:cNvSpPr>
            <a:spLocks noGrp="1"/>
          </p:cNvSpPr>
          <p:nvPr>
            <p:ph type="pic" sz="quarter" idx="14"/>
          </p:nvPr>
        </p:nvSpPr>
        <p:spPr>
          <a:xfrm>
            <a:off x="9523208"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6" name="Text Placeholder 7">
            <a:extLst>
              <a:ext uri="{FF2B5EF4-FFF2-40B4-BE49-F238E27FC236}">
                <a16:creationId xmlns:a16="http://schemas.microsoft.com/office/drawing/2014/main" id="{A1681684-B50D-931D-5AC8-80568BFA9AC7}"/>
              </a:ext>
            </a:extLst>
          </p:cNvPr>
          <p:cNvSpPr>
            <a:spLocks noGrp="1"/>
          </p:cNvSpPr>
          <p:nvPr>
            <p:ph type="body" sz="quarter" idx="10"/>
          </p:nvPr>
        </p:nvSpPr>
        <p:spPr>
          <a:xfrm>
            <a:off x="839569" y="971551"/>
            <a:ext cx="5941428"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9165101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67BF7C55-2A56-B649-6B81-0CD6A253F1F3}"/>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770D99CB-7D8E-D735-B5D0-393275D617F8}"/>
              </a:ext>
            </a:extLst>
          </p:cNvPr>
          <p:cNvSpPr>
            <a:spLocks noGrp="1"/>
          </p:cNvSpPr>
          <p:nvPr>
            <p:ph type="pic" sz="quarter" idx="11"/>
          </p:nvPr>
        </p:nvSpPr>
        <p:spPr>
          <a:xfrm>
            <a:off x="8175517" y="0"/>
            <a:ext cx="4013310" cy="6858000"/>
          </a:xfrm>
          <a:custGeom>
            <a:avLst/>
            <a:gdLst>
              <a:gd name="connsiteX0" fmla="*/ 0 w 4014355"/>
              <a:gd name="connsiteY0" fmla="*/ 0 h 6858000"/>
              <a:gd name="connsiteX1" fmla="*/ 4014355 w 4014355"/>
              <a:gd name="connsiteY1" fmla="*/ 0 h 6858000"/>
              <a:gd name="connsiteX2" fmla="*/ 4014355 w 4014355"/>
              <a:gd name="connsiteY2" fmla="*/ 6858000 h 6858000"/>
              <a:gd name="connsiteX3" fmla="*/ 0 w 40143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014355" h="6858000">
                <a:moveTo>
                  <a:pt x="0" y="0"/>
                </a:moveTo>
                <a:lnTo>
                  <a:pt x="4014355" y="0"/>
                </a:lnTo>
                <a:lnTo>
                  <a:pt x="4014355" y="6858000"/>
                </a:lnTo>
                <a:lnTo>
                  <a:pt x="0" y="6858000"/>
                </a:lnTo>
                <a:close/>
              </a:path>
            </a:pathLst>
          </a:custGeom>
        </p:spPr>
        <p:txBody>
          <a:bodyPr wrap="square">
            <a:noAutofit/>
          </a:bodyPr>
          <a:lstStyle/>
          <a:p>
            <a:endParaRPr lang="en-PK"/>
          </a:p>
        </p:txBody>
      </p:sp>
    </p:spTree>
    <p:extLst>
      <p:ext uri="{BB962C8B-B14F-4D97-AF65-F5344CB8AC3E}">
        <p14:creationId xmlns:p14="http://schemas.microsoft.com/office/powerpoint/2010/main" val="298211716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BD038D30-D0CE-FB58-3CB7-714B70054F10}"/>
              </a:ext>
            </a:extLst>
          </p:cNvPr>
          <p:cNvSpPr>
            <a:spLocks noGrp="1"/>
          </p:cNvSpPr>
          <p:nvPr>
            <p:ph type="body" sz="quarter" idx="10"/>
          </p:nvPr>
        </p:nvSpPr>
        <p:spPr>
          <a:xfrm>
            <a:off x="839569" y="971551"/>
            <a:ext cx="5803340"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399958852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FFD9CB8F-45B4-E333-AB67-85836ED65CEF}"/>
              </a:ext>
            </a:extLst>
          </p:cNvPr>
          <p:cNvSpPr>
            <a:spLocks noGrp="1"/>
          </p:cNvSpPr>
          <p:nvPr>
            <p:ph type="body" sz="quarter" idx="10"/>
          </p:nvPr>
        </p:nvSpPr>
        <p:spPr>
          <a:xfrm>
            <a:off x="839570" y="971551"/>
            <a:ext cx="5691609"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9492387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0D4F87C9-AFD5-D11D-A745-9B8F1A936BC0}"/>
              </a:ext>
            </a:extLst>
          </p:cNvPr>
          <p:cNvSpPr>
            <a:spLocks noGrp="1"/>
          </p:cNvSpPr>
          <p:nvPr>
            <p:ph type="body" sz="quarter" idx="10"/>
          </p:nvPr>
        </p:nvSpPr>
        <p:spPr>
          <a:xfrm>
            <a:off x="839569" y="2199501"/>
            <a:ext cx="4234029" cy="553998"/>
          </a:xfrm>
        </p:spPr>
        <p:txBody>
          <a:bodyPr lIns="0" tIns="0" rIns="0" bIns="0">
            <a:sp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CF7E5E00-74B3-AADD-0627-BA27887FE810}"/>
              </a:ext>
            </a:extLst>
          </p:cNvPr>
          <p:cNvSpPr>
            <a:spLocks noGrp="1"/>
          </p:cNvSpPr>
          <p:nvPr>
            <p:ph type="pic" sz="quarter" idx="11"/>
          </p:nvPr>
        </p:nvSpPr>
        <p:spPr>
          <a:xfrm>
            <a:off x="5903962" y="538775"/>
            <a:ext cx="2239697" cy="1783080"/>
          </a:xfrm>
          <a:custGeom>
            <a:avLst/>
            <a:gdLst>
              <a:gd name="connsiteX0" fmla="*/ 125600 w 2240280"/>
              <a:gd name="connsiteY0" fmla="*/ 0 h 1783080"/>
              <a:gd name="connsiteX1" fmla="*/ 2114680 w 2240280"/>
              <a:gd name="connsiteY1" fmla="*/ 0 h 1783080"/>
              <a:gd name="connsiteX2" fmla="*/ 2240280 w 2240280"/>
              <a:gd name="connsiteY2" fmla="*/ 125600 h 1783080"/>
              <a:gd name="connsiteX3" fmla="*/ 2240280 w 2240280"/>
              <a:gd name="connsiteY3" fmla="*/ 1657480 h 1783080"/>
              <a:gd name="connsiteX4" fmla="*/ 2114680 w 2240280"/>
              <a:gd name="connsiteY4" fmla="*/ 1783080 h 1783080"/>
              <a:gd name="connsiteX5" fmla="*/ 125600 w 2240280"/>
              <a:gd name="connsiteY5" fmla="*/ 1783080 h 1783080"/>
              <a:gd name="connsiteX6" fmla="*/ 0 w 2240280"/>
              <a:gd name="connsiteY6" fmla="*/ 1657480 h 1783080"/>
              <a:gd name="connsiteX7" fmla="*/ 0 w 2240280"/>
              <a:gd name="connsiteY7" fmla="*/ 125600 h 1783080"/>
              <a:gd name="connsiteX8" fmla="*/ 125600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25600" y="0"/>
                </a:moveTo>
                <a:lnTo>
                  <a:pt x="2114680" y="0"/>
                </a:lnTo>
                <a:cubicBezTo>
                  <a:pt x="2184047" y="0"/>
                  <a:pt x="2240280" y="56233"/>
                  <a:pt x="2240280" y="125600"/>
                </a:cubicBezTo>
                <a:lnTo>
                  <a:pt x="2240280" y="1657480"/>
                </a:lnTo>
                <a:cubicBezTo>
                  <a:pt x="2240280" y="1726847"/>
                  <a:pt x="2184047" y="1783080"/>
                  <a:pt x="2114680" y="1783080"/>
                </a:cubicBezTo>
                <a:lnTo>
                  <a:pt x="125600" y="1783080"/>
                </a:lnTo>
                <a:cubicBezTo>
                  <a:pt x="56233" y="1783080"/>
                  <a:pt x="0" y="1726847"/>
                  <a:pt x="0" y="1657480"/>
                </a:cubicBezTo>
                <a:lnTo>
                  <a:pt x="0" y="125600"/>
                </a:lnTo>
                <a:cubicBezTo>
                  <a:pt x="0" y="56233"/>
                  <a:pt x="56233" y="0"/>
                  <a:pt x="125600" y="0"/>
                </a:cubicBezTo>
                <a:close/>
              </a:path>
            </a:pathLst>
          </a:custGeom>
        </p:spPr>
        <p:txBody>
          <a:bodyPr wrap="square">
            <a:noAutofit/>
          </a:bodyPr>
          <a:lstStyle/>
          <a:p>
            <a:endParaRPr lang="en-US"/>
          </a:p>
        </p:txBody>
      </p:sp>
      <p:sp>
        <p:nvSpPr>
          <p:cNvPr id="9" name="Picture Placeholder 8">
            <a:extLst>
              <a:ext uri="{FF2B5EF4-FFF2-40B4-BE49-F238E27FC236}">
                <a16:creationId xmlns:a16="http://schemas.microsoft.com/office/drawing/2014/main" id="{888FFE2A-D715-1690-3C75-E65A19C6266F}"/>
              </a:ext>
            </a:extLst>
          </p:cNvPr>
          <p:cNvSpPr>
            <a:spLocks noGrp="1"/>
          </p:cNvSpPr>
          <p:nvPr>
            <p:ph type="pic" sz="quarter" idx="12"/>
          </p:nvPr>
        </p:nvSpPr>
        <p:spPr>
          <a:xfrm>
            <a:off x="5903962" y="2537460"/>
            <a:ext cx="2239697" cy="1783080"/>
          </a:xfrm>
          <a:custGeom>
            <a:avLst/>
            <a:gdLst>
              <a:gd name="connsiteX0" fmla="*/ 118539 w 2240280"/>
              <a:gd name="connsiteY0" fmla="*/ 0 h 1783080"/>
              <a:gd name="connsiteX1" fmla="*/ 2121741 w 2240280"/>
              <a:gd name="connsiteY1" fmla="*/ 0 h 1783080"/>
              <a:gd name="connsiteX2" fmla="*/ 2240280 w 2240280"/>
              <a:gd name="connsiteY2" fmla="*/ 118539 h 1783080"/>
              <a:gd name="connsiteX3" fmla="*/ 2240280 w 2240280"/>
              <a:gd name="connsiteY3" fmla="*/ 1664541 h 1783080"/>
              <a:gd name="connsiteX4" fmla="*/ 2121741 w 2240280"/>
              <a:gd name="connsiteY4" fmla="*/ 1783080 h 1783080"/>
              <a:gd name="connsiteX5" fmla="*/ 118539 w 2240280"/>
              <a:gd name="connsiteY5" fmla="*/ 1783080 h 1783080"/>
              <a:gd name="connsiteX6" fmla="*/ 0 w 2240280"/>
              <a:gd name="connsiteY6" fmla="*/ 1664541 h 1783080"/>
              <a:gd name="connsiteX7" fmla="*/ 0 w 2240280"/>
              <a:gd name="connsiteY7" fmla="*/ 118539 h 1783080"/>
              <a:gd name="connsiteX8" fmla="*/ 118539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18539" y="0"/>
                </a:moveTo>
                <a:lnTo>
                  <a:pt x="2121741" y="0"/>
                </a:lnTo>
                <a:cubicBezTo>
                  <a:pt x="2187208" y="0"/>
                  <a:pt x="2240280" y="53072"/>
                  <a:pt x="2240280" y="118539"/>
                </a:cubicBezTo>
                <a:lnTo>
                  <a:pt x="2240280" y="1664541"/>
                </a:lnTo>
                <a:cubicBezTo>
                  <a:pt x="2240280" y="1730008"/>
                  <a:pt x="2187208" y="1783080"/>
                  <a:pt x="2121741" y="1783080"/>
                </a:cubicBezTo>
                <a:lnTo>
                  <a:pt x="118539" y="1783080"/>
                </a:lnTo>
                <a:cubicBezTo>
                  <a:pt x="53072" y="1783080"/>
                  <a:pt x="0" y="1730008"/>
                  <a:pt x="0" y="1664541"/>
                </a:cubicBezTo>
                <a:lnTo>
                  <a:pt x="0" y="118539"/>
                </a:lnTo>
                <a:cubicBezTo>
                  <a:pt x="0" y="53072"/>
                  <a:pt x="53072" y="0"/>
                  <a:pt x="118539" y="0"/>
                </a:cubicBezTo>
                <a:close/>
              </a:path>
            </a:pathLst>
          </a:custGeom>
        </p:spPr>
        <p:txBody>
          <a:bodyPr wrap="square">
            <a:noAutofit/>
          </a:bodyPr>
          <a:lstStyle/>
          <a:p>
            <a:endParaRPr lang="en-US"/>
          </a:p>
        </p:txBody>
      </p:sp>
      <p:sp>
        <p:nvSpPr>
          <p:cNvPr id="11" name="Picture Placeholder 10">
            <a:extLst>
              <a:ext uri="{FF2B5EF4-FFF2-40B4-BE49-F238E27FC236}">
                <a16:creationId xmlns:a16="http://schemas.microsoft.com/office/drawing/2014/main" id="{69AEC7D6-C7F6-C6DD-7A93-7F15BDB694C2}"/>
              </a:ext>
            </a:extLst>
          </p:cNvPr>
          <p:cNvSpPr>
            <a:spLocks noGrp="1"/>
          </p:cNvSpPr>
          <p:nvPr>
            <p:ph type="pic" sz="quarter" idx="13"/>
          </p:nvPr>
        </p:nvSpPr>
        <p:spPr>
          <a:xfrm>
            <a:off x="5903962" y="4536145"/>
            <a:ext cx="2239697" cy="1783080"/>
          </a:xfrm>
          <a:custGeom>
            <a:avLst/>
            <a:gdLst>
              <a:gd name="connsiteX0" fmla="*/ 124459 w 2240280"/>
              <a:gd name="connsiteY0" fmla="*/ 0 h 1783080"/>
              <a:gd name="connsiteX1" fmla="*/ 2115821 w 2240280"/>
              <a:gd name="connsiteY1" fmla="*/ 0 h 1783080"/>
              <a:gd name="connsiteX2" fmla="*/ 2240280 w 2240280"/>
              <a:gd name="connsiteY2" fmla="*/ 124459 h 1783080"/>
              <a:gd name="connsiteX3" fmla="*/ 2240280 w 2240280"/>
              <a:gd name="connsiteY3" fmla="*/ 1658621 h 1783080"/>
              <a:gd name="connsiteX4" fmla="*/ 2115821 w 2240280"/>
              <a:gd name="connsiteY4" fmla="*/ 1783080 h 1783080"/>
              <a:gd name="connsiteX5" fmla="*/ 124459 w 2240280"/>
              <a:gd name="connsiteY5" fmla="*/ 1783080 h 1783080"/>
              <a:gd name="connsiteX6" fmla="*/ 0 w 2240280"/>
              <a:gd name="connsiteY6" fmla="*/ 1658621 h 1783080"/>
              <a:gd name="connsiteX7" fmla="*/ 0 w 2240280"/>
              <a:gd name="connsiteY7" fmla="*/ 124459 h 1783080"/>
              <a:gd name="connsiteX8" fmla="*/ 124459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24459" y="0"/>
                </a:moveTo>
                <a:lnTo>
                  <a:pt x="2115821" y="0"/>
                </a:lnTo>
                <a:cubicBezTo>
                  <a:pt x="2184558" y="0"/>
                  <a:pt x="2240280" y="55722"/>
                  <a:pt x="2240280" y="124459"/>
                </a:cubicBezTo>
                <a:lnTo>
                  <a:pt x="2240280" y="1658621"/>
                </a:lnTo>
                <a:cubicBezTo>
                  <a:pt x="2240280" y="1727358"/>
                  <a:pt x="2184558" y="1783080"/>
                  <a:pt x="2115821" y="1783080"/>
                </a:cubicBezTo>
                <a:lnTo>
                  <a:pt x="124459" y="1783080"/>
                </a:lnTo>
                <a:cubicBezTo>
                  <a:pt x="55722" y="1783080"/>
                  <a:pt x="0" y="1727358"/>
                  <a:pt x="0" y="1658621"/>
                </a:cubicBezTo>
                <a:lnTo>
                  <a:pt x="0" y="124459"/>
                </a:lnTo>
                <a:cubicBezTo>
                  <a:pt x="0" y="55722"/>
                  <a:pt x="55722" y="0"/>
                  <a:pt x="124459" y="0"/>
                </a:cubicBezTo>
                <a:close/>
              </a:path>
            </a:pathLst>
          </a:custGeom>
        </p:spPr>
        <p:txBody>
          <a:bodyPr wrap="square">
            <a:noAutofit/>
          </a:bodyPr>
          <a:lstStyle/>
          <a:p>
            <a:endParaRPr lang="en-US"/>
          </a:p>
        </p:txBody>
      </p:sp>
    </p:spTree>
    <p:extLst>
      <p:ext uri="{BB962C8B-B14F-4D97-AF65-F5344CB8AC3E}">
        <p14:creationId xmlns:p14="http://schemas.microsoft.com/office/powerpoint/2010/main" val="289507767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5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CEBD1DE8-A38D-041F-7BE7-63EB75067B36}"/>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0894CE71-D989-A01B-2541-02035A315D52}"/>
              </a:ext>
            </a:extLst>
          </p:cNvPr>
          <p:cNvSpPr>
            <a:spLocks noGrp="1"/>
          </p:cNvSpPr>
          <p:nvPr>
            <p:ph type="pic" sz="quarter" idx="11"/>
          </p:nvPr>
        </p:nvSpPr>
        <p:spPr>
          <a:xfrm>
            <a:off x="7191136" y="1"/>
            <a:ext cx="4997689" cy="6858000"/>
          </a:xfrm>
          <a:custGeom>
            <a:avLst/>
            <a:gdLst>
              <a:gd name="connsiteX0" fmla="*/ 2276199 w 4998991"/>
              <a:gd name="connsiteY0" fmla="*/ 0 h 6858000"/>
              <a:gd name="connsiteX1" fmla="*/ 4998991 w 4998991"/>
              <a:gd name="connsiteY1" fmla="*/ 0 h 6858000"/>
              <a:gd name="connsiteX2" fmla="*/ 4998991 w 4998991"/>
              <a:gd name="connsiteY2" fmla="*/ 6858000 h 6858000"/>
              <a:gd name="connsiteX3" fmla="*/ 3385646 w 4998991"/>
              <a:gd name="connsiteY3" fmla="*/ 6858000 h 6858000"/>
              <a:gd name="connsiteX4" fmla="*/ 568771 w 4998991"/>
              <a:gd name="connsiteY4" fmla="*/ 5231676 h 6858000"/>
              <a:gd name="connsiteX5" fmla="*/ 152541 w 4998991"/>
              <a:gd name="connsiteY5" fmla="*/ 367828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8991" h="6858000">
                <a:moveTo>
                  <a:pt x="2276199" y="0"/>
                </a:moveTo>
                <a:lnTo>
                  <a:pt x="4998991" y="0"/>
                </a:lnTo>
                <a:lnTo>
                  <a:pt x="4998991" y="6858000"/>
                </a:lnTo>
                <a:lnTo>
                  <a:pt x="3385646" y="6858000"/>
                </a:lnTo>
                <a:lnTo>
                  <a:pt x="568771" y="5231676"/>
                </a:lnTo>
                <a:cubicBezTo>
                  <a:pt x="24875" y="4917657"/>
                  <a:pt x="-161478" y="4222181"/>
                  <a:pt x="152541" y="3678285"/>
                </a:cubicBezTo>
                <a:close/>
              </a:path>
            </a:pathLst>
          </a:custGeom>
        </p:spPr>
        <p:txBody>
          <a:bodyPr wrap="square">
            <a:noAutofit/>
          </a:bodyPr>
          <a:lstStyle/>
          <a:p>
            <a:endParaRPr lang="en-PK"/>
          </a:p>
        </p:txBody>
      </p:sp>
    </p:spTree>
    <p:extLst>
      <p:ext uri="{BB962C8B-B14F-4D97-AF65-F5344CB8AC3E}">
        <p14:creationId xmlns:p14="http://schemas.microsoft.com/office/powerpoint/2010/main" val="3572369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6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10C56D3C-4260-8E27-5665-613701086D72}"/>
              </a:ext>
            </a:extLst>
          </p:cNvPr>
          <p:cNvSpPr>
            <a:spLocks noGrp="1"/>
          </p:cNvSpPr>
          <p:nvPr>
            <p:ph type="body" sz="quarter" idx="10"/>
          </p:nvPr>
        </p:nvSpPr>
        <p:spPr>
          <a:xfrm>
            <a:off x="839569" y="1793638"/>
            <a:ext cx="3522950" cy="1107996"/>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30662466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7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DB8B3CA3-442F-6635-C547-4290D042B76C}"/>
              </a:ext>
            </a:extLst>
          </p:cNvPr>
          <p:cNvSpPr>
            <a:spLocks noGrp="1"/>
          </p:cNvSpPr>
          <p:nvPr>
            <p:ph type="body" sz="quarter" idx="10"/>
          </p:nvPr>
        </p:nvSpPr>
        <p:spPr>
          <a:xfrm>
            <a:off x="839569" y="971551"/>
            <a:ext cx="6300150"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5900449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8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37687893-67B4-A936-3437-9722BD427319}"/>
              </a:ext>
            </a:extLst>
          </p:cNvPr>
          <p:cNvSpPr>
            <a:spLocks noGrp="1"/>
          </p:cNvSpPr>
          <p:nvPr>
            <p:ph type="body" sz="quarter" idx="10"/>
          </p:nvPr>
        </p:nvSpPr>
        <p:spPr>
          <a:xfrm>
            <a:off x="839569" y="971551"/>
            <a:ext cx="5715386"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8602288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9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53227017-0470-41EB-12C4-6E8CCAF5BCF1}"/>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2B77C54E-8E8F-1DF8-C6DB-2862B452F363}"/>
              </a:ext>
            </a:extLst>
          </p:cNvPr>
          <p:cNvSpPr>
            <a:spLocks noGrp="1"/>
          </p:cNvSpPr>
          <p:nvPr>
            <p:ph type="pic" sz="quarter" idx="11"/>
          </p:nvPr>
        </p:nvSpPr>
        <p:spPr>
          <a:xfrm>
            <a:off x="6751447" y="1911755"/>
            <a:ext cx="4597810" cy="3854275"/>
          </a:xfrm>
          <a:custGeom>
            <a:avLst/>
            <a:gdLst>
              <a:gd name="connsiteX0" fmla="*/ 642392 w 4599008"/>
              <a:gd name="connsiteY0" fmla="*/ 0 h 3854275"/>
              <a:gd name="connsiteX1" fmla="*/ 4599008 w 4599008"/>
              <a:gd name="connsiteY1" fmla="*/ 0 h 3854275"/>
              <a:gd name="connsiteX2" fmla="*/ 4599008 w 4599008"/>
              <a:gd name="connsiteY2" fmla="*/ 3211883 h 3854275"/>
              <a:gd name="connsiteX3" fmla="*/ 3956616 w 4599008"/>
              <a:gd name="connsiteY3" fmla="*/ 3854275 h 3854275"/>
              <a:gd name="connsiteX4" fmla="*/ 0 w 4599008"/>
              <a:gd name="connsiteY4" fmla="*/ 3854275 h 3854275"/>
              <a:gd name="connsiteX5" fmla="*/ 0 w 4599008"/>
              <a:gd name="connsiteY5" fmla="*/ 642392 h 3854275"/>
              <a:gd name="connsiteX6" fmla="*/ 642392 w 4599008"/>
              <a:gd name="connsiteY6" fmla="*/ 0 h 3854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99008" h="3854275">
                <a:moveTo>
                  <a:pt x="642392" y="0"/>
                </a:moveTo>
                <a:lnTo>
                  <a:pt x="4599008" y="0"/>
                </a:lnTo>
                <a:lnTo>
                  <a:pt x="4599008" y="3211883"/>
                </a:lnTo>
                <a:cubicBezTo>
                  <a:pt x="4599008" y="3566666"/>
                  <a:pt x="4311399" y="3854275"/>
                  <a:pt x="3956616" y="3854275"/>
                </a:cubicBezTo>
                <a:lnTo>
                  <a:pt x="0" y="3854275"/>
                </a:lnTo>
                <a:lnTo>
                  <a:pt x="0" y="642392"/>
                </a:lnTo>
                <a:cubicBezTo>
                  <a:pt x="0" y="287609"/>
                  <a:pt x="287609" y="0"/>
                  <a:pt x="642392" y="0"/>
                </a:cubicBezTo>
                <a:close/>
              </a:path>
            </a:pathLst>
          </a:custGeom>
        </p:spPr>
        <p:txBody>
          <a:bodyPr wrap="square">
            <a:noAutofit/>
          </a:bodyPr>
          <a:lstStyle/>
          <a:p>
            <a:endParaRPr lang="en-PK"/>
          </a:p>
        </p:txBody>
      </p:sp>
    </p:spTree>
    <p:extLst>
      <p:ext uri="{BB962C8B-B14F-4D97-AF65-F5344CB8AC3E}">
        <p14:creationId xmlns:p14="http://schemas.microsoft.com/office/powerpoint/2010/main" val="48169209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D1176A7-B091-469C-82C8-89C693043C40}" type="datetimeFigureOut">
              <a:rPr lang="en-US" smtClean="0"/>
              <a:pPr/>
              <a:t>6/22/2026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939B1FA-81F2-4940-9AF3-5EAFB5D6669B}" type="slidenum">
              <a:rPr lang="en-US" smtClean="0"/>
              <a:pPr/>
              <a:t>‹#›</a:t>
            </a:fld>
            <a:endParaRPr lang="en-US"/>
          </a:p>
        </p:txBody>
      </p:sp>
    </p:spTree>
    <p:extLst>
      <p:ext uri="{BB962C8B-B14F-4D97-AF65-F5344CB8AC3E}">
        <p14:creationId xmlns:p14="http://schemas.microsoft.com/office/powerpoint/2010/main" val="3097065392"/>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493146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7.xml"/><Relationship Id="rId13" Type="http://schemas.openxmlformats.org/officeDocument/2006/relationships/slideLayout" Target="../slideLayouts/slideLayout22.xml"/><Relationship Id="rId18" Type="http://schemas.openxmlformats.org/officeDocument/2006/relationships/slideLayout" Target="../slideLayouts/slideLayout27.xml"/><Relationship Id="rId3" Type="http://schemas.openxmlformats.org/officeDocument/2006/relationships/slideLayout" Target="../slideLayouts/slideLayout12.xml"/><Relationship Id="rId7" Type="http://schemas.openxmlformats.org/officeDocument/2006/relationships/slideLayout" Target="../slideLayouts/slideLayout16.xml"/><Relationship Id="rId12" Type="http://schemas.openxmlformats.org/officeDocument/2006/relationships/slideLayout" Target="../slideLayouts/slideLayout21.xml"/><Relationship Id="rId17" Type="http://schemas.openxmlformats.org/officeDocument/2006/relationships/slideLayout" Target="../slideLayouts/slideLayout26.xml"/><Relationship Id="rId2" Type="http://schemas.openxmlformats.org/officeDocument/2006/relationships/slideLayout" Target="../slideLayouts/slideLayout11.xml"/><Relationship Id="rId16" Type="http://schemas.openxmlformats.org/officeDocument/2006/relationships/slideLayout" Target="../slideLayouts/slideLayout25.xml"/><Relationship Id="rId20" Type="http://schemas.openxmlformats.org/officeDocument/2006/relationships/theme" Target="../theme/theme2.xml"/><Relationship Id="rId1" Type="http://schemas.openxmlformats.org/officeDocument/2006/relationships/slideLayout" Target="../slideLayouts/slideLayout10.xml"/><Relationship Id="rId6" Type="http://schemas.openxmlformats.org/officeDocument/2006/relationships/slideLayout" Target="../slideLayouts/slideLayout15.xml"/><Relationship Id="rId11" Type="http://schemas.openxmlformats.org/officeDocument/2006/relationships/slideLayout" Target="../slideLayouts/slideLayout20.xml"/><Relationship Id="rId5" Type="http://schemas.openxmlformats.org/officeDocument/2006/relationships/slideLayout" Target="../slideLayouts/slideLayout14.xml"/><Relationship Id="rId15" Type="http://schemas.openxmlformats.org/officeDocument/2006/relationships/slideLayout" Target="../slideLayouts/slideLayout24.xml"/><Relationship Id="rId10" Type="http://schemas.openxmlformats.org/officeDocument/2006/relationships/slideLayout" Target="../slideLayouts/slideLayout19.xml"/><Relationship Id="rId19" Type="http://schemas.openxmlformats.org/officeDocument/2006/relationships/slideLayout" Target="../slideLayouts/slideLayout28.xml"/><Relationship Id="rId4" Type="http://schemas.openxmlformats.org/officeDocument/2006/relationships/slideLayout" Target="../slideLayouts/slideLayout13.xml"/><Relationship Id="rId9" Type="http://schemas.openxmlformats.org/officeDocument/2006/relationships/slideLayout" Target="../slideLayouts/slideLayout18.xml"/><Relationship Id="rId14"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6.xml"/><Relationship Id="rId13" Type="http://schemas.openxmlformats.org/officeDocument/2006/relationships/image" Target="../media/image1.png"/><Relationship Id="rId3" Type="http://schemas.openxmlformats.org/officeDocument/2006/relationships/slideLayout" Target="../slideLayouts/slideLayout31.xml"/><Relationship Id="rId7" Type="http://schemas.openxmlformats.org/officeDocument/2006/relationships/slideLayout" Target="../slideLayouts/slideLayout35.xml"/><Relationship Id="rId12" Type="http://schemas.openxmlformats.org/officeDocument/2006/relationships/theme" Target="../theme/theme3.xml"/><Relationship Id="rId2" Type="http://schemas.openxmlformats.org/officeDocument/2006/relationships/slideLayout" Target="../slideLayouts/slideLayout30.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5" Type="http://schemas.openxmlformats.org/officeDocument/2006/relationships/slideLayout" Target="../slideLayouts/slideLayout33.xml"/><Relationship Id="rId10" Type="http://schemas.openxmlformats.org/officeDocument/2006/relationships/slideLayout" Target="../slideLayouts/slideLayout38.xml"/><Relationship Id="rId4" Type="http://schemas.openxmlformats.org/officeDocument/2006/relationships/slideLayout" Target="../slideLayouts/slideLayout32.xml"/><Relationship Id="rId9" Type="http://schemas.openxmlformats.org/officeDocument/2006/relationships/slideLayout" Target="../slideLayouts/slideLayout37.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7.xml"/><Relationship Id="rId13" Type="http://schemas.openxmlformats.org/officeDocument/2006/relationships/slideLayout" Target="../slideLayouts/slideLayout52.xml"/><Relationship Id="rId18" Type="http://schemas.openxmlformats.org/officeDocument/2006/relationships/slideLayout" Target="../slideLayouts/slideLayout57.xml"/><Relationship Id="rId3" Type="http://schemas.openxmlformats.org/officeDocument/2006/relationships/slideLayout" Target="../slideLayouts/slideLayout42.xml"/><Relationship Id="rId21" Type="http://schemas.openxmlformats.org/officeDocument/2006/relationships/slideLayout" Target="../slideLayouts/slideLayout60.xml"/><Relationship Id="rId7" Type="http://schemas.openxmlformats.org/officeDocument/2006/relationships/slideLayout" Target="../slideLayouts/slideLayout46.xml"/><Relationship Id="rId12" Type="http://schemas.openxmlformats.org/officeDocument/2006/relationships/slideLayout" Target="../slideLayouts/slideLayout51.xml"/><Relationship Id="rId17" Type="http://schemas.openxmlformats.org/officeDocument/2006/relationships/slideLayout" Target="../slideLayouts/slideLayout56.xml"/><Relationship Id="rId2" Type="http://schemas.openxmlformats.org/officeDocument/2006/relationships/slideLayout" Target="../slideLayouts/slideLayout41.xml"/><Relationship Id="rId16" Type="http://schemas.openxmlformats.org/officeDocument/2006/relationships/slideLayout" Target="../slideLayouts/slideLayout55.xml"/><Relationship Id="rId20" Type="http://schemas.openxmlformats.org/officeDocument/2006/relationships/slideLayout" Target="../slideLayouts/slideLayout59.xml"/><Relationship Id="rId1" Type="http://schemas.openxmlformats.org/officeDocument/2006/relationships/slideLayout" Target="../slideLayouts/slideLayout40.xml"/><Relationship Id="rId6" Type="http://schemas.openxmlformats.org/officeDocument/2006/relationships/slideLayout" Target="../slideLayouts/slideLayout45.xml"/><Relationship Id="rId11" Type="http://schemas.openxmlformats.org/officeDocument/2006/relationships/slideLayout" Target="../slideLayouts/slideLayout50.xml"/><Relationship Id="rId5" Type="http://schemas.openxmlformats.org/officeDocument/2006/relationships/slideLayout" Target="../slideLayouts/slideLayout44.xml"/><Relationship Id="rId15" Type="http://schemas.openxmlformats.org/officeDocument/2006/relationships/slideLayout" Target="../slideLayouts/slideLayout54.xml"/><Relationship Id="rId23" Type="http://schemas.openxmlformats.org/officeDocument/2006/relationships/theme" Target="../theme/theme4.xml"/><Relationship Id="rId10" Type="http://schemas.openxmlformats.org/officeDocument/2006/relationships/slideLayout" Target="../slideLayouts/slideLayout49.xml"/><Relationship Id="rId19" Type="http://schemas.openxmlformats.org/officeDocument/2006/relationships/slideLayout" Target="../slideLayouts/slideLayout58.xml"/><Relationship Id="rId4" Type="http://schemas.openxmlformats.org/officeDocument/2006/relationships/slideLayout" Target="../slideLayouts/slideLayout43.xml"/><Relationship Id="rId9" Type="http://schemas.openxmlformats.org/officeDocument/2006/relationships/slideLayout" Target="../slideLayouts/slideLayout48.xml"/><Relationship Id="rId14" Type="http://schemas.openxmlformats.org/officeDocument/2006/relationships/slideLayout" Target="../slideLayouts/slideLayout53.xml"/><Relationship Id="rId22" Type="http://schemas.openxmlformats.org/officeDocument/2006/relationships/slideLayout" Target="../slideLayouts/slideLayout61.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6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5"/>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rmAutofit/>
          </a:bodyPr>
          <a:lstStyle>
            <a:lvl1pPr marR="0" lvl="0" algn="l" rtl="0">
              <a:spcBef>
                <a:spcPts val="0"/>
              </a:spcBef>
              <a:spcAft>
                <a:spcPts val="0"/>
              </a:spcAft>
              <a:buClr>
                <a:schemeClr val="accent1"/>
              </a:buClr>
              <a:buSzPts val="3600"/>
              <a:buFont typeface="Quattrocento Sans"/>
              <a:buNone/>
              <a:defRPr sz="3600" b="1" i="0" u="none" strike="noStrike" cap="none">
                <a:solidFill>
                  <a:schemeClr val="accent1"/>
                </a:solidFill>
                <a:latin typeface="Quattrocento Sans"/>
                <a:ea typeface="Quattrocento Sans"/>
                <a:cs typeface="Quattrocento Sans"/>
                <a:sym typeface="Quattrocento Sa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45"/>
          <p:cNvSpPr txBox="1">
            <a:spLocks noGrp="1"/>
          </p:cNvSpPr>
          <p:nvPr>
            <p:ph type="body" idx="1"/>
          </p:nvPr>
        </p:nvSpPr>
        <p:spPr>
          <a:xfrm>
            <a:off x="609441" y="1138425"/>
            <a:ext cx="10969943" cy="4987739"/>
          </a:xfrm>
          <a:prstGeom prst="rect">
            <a:avLst/>
          </a:prstGeom>
          <a:noFill/>
          <a:ln>
            <a:noFill/>
          </a:ln>
        </p:spPr>
        <p:txBody>
          <a:bodyPr spcFirstLastPara="1" wrap="square" lIns="0" tIns="60925" rIns="0"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Quattrocento Sans"/>
                <a:ea typeface="Quattrocento Sans"/>
                <a:cs typeface="Quattrocento Sans"/>
                <a:sym typeface="Quattrocento Sans"/>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Quattrocento Sans"/>
                <a:ea typeface="Quattrocento Sans"/>
                <a:cs typeface="Quattrocento Sans"/>
                <a:sym typeface="Quattrocento Sans"/>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Quattrocento Sans"/>
                <a:ea typeface="Quattrocento Sans"/>
                <a:cs typeface="Quattrocento Sans"/>
                <a:sym typeface="Quattrocento Sans"/>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2" name="Google Shape;12;p145"/>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marR="0" lvl="0" algn="l"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3" name="Google Shape;13;p145"/>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marR="0" lvl="0" algn="ctr"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4" name="Google Shape;14;p145"/>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marR="0" lvl="0"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1pPr>
            <a:lvl2pPr marL="0" marR="0" lvl="1"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2pPr>
            <a:lvl3pPr marL="0" marR="0" lvl="2"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3pPr>
            <a:lvl4pPr marL="0" marR="0" lvl="3"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4pPr>
            <a:lvl5pPr marL="0" marR="0" lvl="4"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5pPr>
            <a:lvl6pPr marL="0" marR="0" lvl="5"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6pPr>
            <a:lvl7pPr marL="0" marR="0" lvl="6"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7pPr>
            <a:lvl8pPr marL="0" marR="0" lvl="7"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8pPr>
            <a:lvl9pPr marL="0" marR="0" lvl="8"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8" r:id="rId5"/>
    <p:sldLayoutId id="2147483659" r:id="rId6"/>
    <p:sldLayoutId id="2147483660" r:id="rId7"/>
    <p:sldLayoutId id="2147483707" r:id="rId8"/>
    <p:sldLayoutId id="2147483766"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Shape 107"/>
        <p:cNvGrpSpPr/>
        <p:nvPr/>
      </p:nvGrpSpPr>
      <p:grpSpPr>
        <a:xfrm>
          <a:off x="0" y="0"/>
          <a:ext cx="0" cy="0"/>
          <a:chOff x="0" y="0"/>
          <a:chExt cx="0" cy="0"/>
        </a:xfrm>
      </p:grpSpPr>
      <p:sp>
        <p:nvSpPr>
          <p:cNvPr id="108" name="Google Shape;108;p153"/>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marR="0" lvl="0" algn="l" rtl="0">
              <a:spcBef>
                <a:spcPts val="0"/>
              </a:spcBef>
              <a:spcAft>
                <a:spcPts val="0"/>
              </a:spcAft>
              <a:buClr>
                <a:schemeClr val="dk1"/>
              </a:buClr>
              <a:buSzPts val="3600"/>
              <a:buFont typeface="Calibri"/>
              <a:buNone/>
              <a:defRPr sz="36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9" name="Google Shape;109;p153"/>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Calibri"/>
                <a:ea typeface="Calibri"/>
                <a:cs typeface="Calibri"/>
                <a:sym typeface="Calibri"/>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9pPr>
          </a:lstStyle>
          <a:p>
            <a:endParaRPr/>
          </a:p>
        </p:txBody>
      </p:sp>
      <p:sp>
        <p:nvSpPr>
          <p:cNvPr id="110" name="Google Shape;110;p15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marR="0" lvl="0" algn="l"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1" name="Google Shape;111;p15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marR="0" lvl="0" algn="ctr"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2" name="Google Shape;112;p15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marR="0" lvl="0" indent="0" algn="r" rtl="0">
              <a:spcBef>
                <a:spcPts val="0"/>
              </a:spcBef>
              <a:buNone/>
              <a:defRPr sz="1600">
                <a:solidFill>
                  <a:srgbClr val="888888"/>
                </a:solidFill>
                <a:latin typeface="Calibri"/>
                <a:ea typeface="Calibri"/>
                <a:cs typeface="Calibri"/>
                <a:sym typeface="Calibri"/>
              </a:defRPr>
            </a:lvl1pPr>
            <a:lvl2pPr marL="0" marR="0" lvl="1" indent="0" algn="r" rtl="0">
              <a:spcBef>
                <a:spcPts val="0"/>
              </a:spcBef>
              <a:buNone/>
              <a:defRPr sz="1600">
                <a:solidFill>
                  <a:srgbClr val="888888"/>
                </a:solidFill>
                <a:latin typeface="Calibri"/>
                <a:ea typeface="Calibri"/>
                <a:cs typeface="Calibri"/>
                <a:sym typeface="Calibri"/>
              </a:defRPr>
            </a:lvl2pPr>
            <a:lvl3pPr marL="0" marR="0" lvl="2" indent="0" algn="r" rtl="0">
              <a:spcBef>
                <a:spcPts val="0"/>
              </a:spcBef>
              <a:buNone/>
              <a:defRPr sz="1600">
                <a:solidFill>
                  <a:srgbClr val="888888"/>
                </a:solidFill>
                <a:latin typeface="Calibri"/>
                <a:ea typeface="Calibri"/>
                <a:cs typeface="Calibri"/>
                <a:sym typeface="Calibri"/>
              </a:defRPr>
            </a:lvl3pPr>
            <a:lvl4pPr marL="0" marR="0" lvl="3" indent="0" algn="r" rtl="0">
              <a:spcBef>
                <a:spcPts val="0"/>
              </a:spcBef>
              <a:buNone/>
              <a:defRPr sz="1600">
                <a:solidFill>
                  <a:srgbClr val="888888"/>
                </a:solidFill>
                <a:latin typeface="Calibri"/>
                <a:ea typeface="Calibri"/>
                <a:cs typeface="Calibri"/>
                <a:sym typeface="Calibri"/>
              </a:defRPr>
            </a:lvl4pPr>
            <a:lvl5pPr marL="0" marR="0" lvl="4" indent="0" algn="r" rtl="0">
              <a:spcBef>
                <a:spcPts val="0"/>
              </a:spcBef>
              <a:buNone/>
              <a:defRPr sz="1600">
                <a:solidFill>
                  <a:srgbClr val="888888"/>
                </a:solidFill>
                <a:latin typeface="Calibri"/>
                <a:ea typeface="Calibri"/>
                <a:cs typeface="Calibri"/>
                <a:sym typeface="Calibri"/>
              </a:defRPr>
            </a:lvl5pPr>
            <a:lvl6pPr marL="0" marR="0" lvl="5" indent="0" algn="r" rtl="0">
              <a:spcBef>
                <a:spcPts val="0"/>
              </a:spcBef>
              <a:buNone/>
              <a:defRPr sz="1600">
                <a:solidFill>
                  <a:srgbClr val="888888"/>
                </a:solidFill>
                <a:latin typeface="Calibri"/>
                <a:ea typeface="Calibri"/>
                <a:cs typeface="Calibri"/>
                <a:sym typeface="Calibri"/>
              </a:defRPr>
            </a:lvl6pPr>
            <a:lvl7pPr marL="0" marR="0" lvl="6" indent="0" algn="r" rtl="0">
              <a:spcBef>
                <a:spcPts val="0"/>
              </a:spcBef>
              <a:buNone/>
              <a:defRPr sz="1600">
                <a:solidFill>
                  <a:srgbClr val="888888"/>
                </a:solidFill>
                <a:latin typeface="Calibri"/>
                <a:ea typeface="Calibri"/>
                <a:cs typeface="Calibri"/>
                <a:sym typeface="Calibri"/>
              </a:defRPr>
            </a:lvl7pPr>
            <a:lvl8pPr marL="0" marR="0" lvl="7" indent="0" algn="r" rtl="0">
              <a:spcBef>
                <a:spcPts val="0"/>
              </a:spcBef>
              <a:buNone/>
              <a:defRPr sz="1600">
                <a:solidFill>
                  <a:srgbClr val="888888"/>
                </a:solidFill>
                <a:latin typeface="Calibri"/>
                <a:ea typeface="Calibri"/>
                <a:cs typeface="Calibri"/>
                <a:sym typeface="Calibri"/>
              </a:defRPr>
            </a:lvl8pPr>
            <a:lvl9pPr marL="0" marR="0" lvl="8" indent="0" algn="r" rtl="0">
              <a:spcBef>
                <a:spcPts val="0"/>
              </a:spcBef>
              <a:buNone/>
              <a:defRPr sz="16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 id="2147483683"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6/22/2026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0113064"/>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37E282-A3FD-8FDF-6938-39CB1940284A}"/>
              </a:ext>
            </a:extLst>
          </p:cNvPr>
          <p:cNvSpPr>
            <a:spLocks noGrp="1"/>
          </p:cNvSpPr>
          <p:nvPr>
            <p:ph type="title"/>
          </p:nvPr>
        </p:nvSpPr>
        <p:spPr>
          <a:xfrm>
            <a:off x="837982" y="365126"/>
            <a:ext cx="10512862" cy="1325563"/>
          </a:xfrm>
          <a:prstGeom prst="rect">
            <a:avLst/>
          </a:prstGeom>
        </p:spPr>
        <p:txBody>
          <a:bodyPr vert="horz" lIns="91440" tIns="45720" rIns="91440" bIns="45720" rtlCol="0" anchor="ctr">
            <a:normAutofit/>
          </a:bodyPr>
          <a:lstStyle/>
          <a:p>
            <a:r>
              <a:rPr lang="en-US"/>
              <a:t>Click to edit Master title style</a:t>
            </a:r>
            <a:endParaRPr lang="en-PK"/>
          </a:p>
        </p:txBody>
      </p:sp>
      <p:sp>
        <p:nvSpPr>
          <p:cNvPr id="3" name="Text Placeholder 2">
            <a:extLst>
              <a:ext uri="{FF2B5EF4-FFF2-40B4-BE49-F238E27FC236}">
                <a16:creationId xmlns:a16="http://schemas.microsoft.com/office/drawing/2014/main" id="{D04E0A95-6555-5CE0-2B04-590BB8885859}"/>
              </a:ext>
            </a:extLst>
          </p:cNvPr>
          <p:cNvSpPr>
            <a:spLocks noGrp="1"/>
          </p:cNvSpPr>
          <p:nvPr>
            <p:ph type="body" idx="1"/>
          </p:nvPr>
        </p:nvSpPr>
        <p:spPr>
          <a:xfrm>
            <a:off x="837982" y="1825625"/>
            <a:ext cx="10512862"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Date Placeholder 3">
            <a:extLst>
              <a:ext uri="{FF2B5EF4-FFF2-40B4-BE49-F238E27FC236}">
                <a16:creationId xmlns:a16="http://schemas.microsoft.com/office/drawing/2014/main" id="{2FCD3B31-96C7-188A-7A1F-74625996BDF5}"/>
              </a:ext>
            </a:extLst>
          </p:cNvPr>
          <p:cNvSpPr>
            <a:spLocks noGrp="1"/>
          </p:cNvSpPr>
          <p:nvPr>
            <p:ph type="dt" sz="half" idx="2"/>
          </p:nvPr>
        </p:nvSpPr>
        <p:spPr>
          <a:xfrm>
            <a:off x="837982" y="6356351"/>
            <a:ext cx="2742486"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1B0145F-FA58-4242-A5B4-590FCCB69A0F}" type="datetimeFigureOut">
              <a:rPr lang="en-PK" smtClean="0"/>
              <a:t>06/22/2026</a:t>
            </a:fld>
            <a:endParaRPr lang="en-PK"/>
          </a:p>
        </p:txBody>
      </p:sp>
      <p:sp>
        <p:nvSpPr>
          <p:cNvPr id="5" name="Footer Placeholder 4">
            <a:extLst>
              <a:ext uri="{FF2B5EF4-FFF2-40B4-BE49-F238E27FC236}">
                <a16:creationId xmlns:a16="http://schemas.microsoft.com/office/drawing/2014/main" id="{62B98D10-484E-D76E-8BED-E65AE3160418}"/>
              </a:ext>
            </a:extLst>
          </p:cNvPr>
          <p:cNvSpPr>
            <a:spLocks noGrp="1"/>
          </p:cNvSpPr>
          <p:nvPr>
            <p:ph type="ftr" sz="quarter" idx="3"/>
          </p:nvPr>
        </p:nvSpPr>
        <p:spPr>
          <a:xfrm>
            <a:off x="4037549" y="6356351"/>
            <a:ext cx="4113728"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PK"/>
          </a:p>
        </p:txBody>
      </p:sp>
      <p:sp>
        <p:nvSpPr>
          <p:cNvPr id="6" name="Slide Number Placeholder 5">
            <a:extLst>
              <a:ext uri="{FF2B5EF4-FFF2-40B4-BE49-F238E27FC236}">
                <a16:creationId xmlns:a16="http://schemas.microsoft.com/office/drawing/2014/main" id="{46E80257-D808-F7F3-9DDC-7F1794A6BA5B}"/>
              </a:ext>
            </a:extLst>
          </p:cNvPr>
          <p:cNvSpPr>
            <a:spLocks noGrp="1"/>
          </p:cNvSpPr>
          <p:nvPr>
            <p:ph type="sldNum" sz="quarter" idx="4"/>
          </p:nvPr>
        </p:nvSpPr>
        <p:spPr>
          <a:xfrm>
            <a:off x="8608357" y="6356351"/>
            <a:ext cx="2742486"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DDFB9D-E974-4984-B692-DF7D1E2E45AF}" type="slidenum">
              <a:rPr lang="en-PK" smtClean="0"/>
              <a:t>‹#›</a:t>
            </a:fld>
            <a:endParaRPr lang="en-PK"/>
          </a:p>
        </p:txBody>
      </p:sp>
    </p:spTree>
    <p:extLst>
      <p:ext uri="{BB962C8B-B14F-4D97-AF65-F5344CB8AC3E}">
        <p14:creationId xmlns:p14="http://schemas.microsoft.com/office/powerpoint/2010/main" val="531121325"/>
      </p:ext>
    </p:extLst>
  </p:cSld>
  <p:clrMap bg1="lt1" tx1="dk1" bg2="lt2" tx2="dk2" accent1="accent1" accent2="accent2" accent3="accent3" accent4="accent4" accent5="accent5" accent6="accent6" hlink="hlink" folHlink="folHlink"/>
  <p:sldLayoutIdLst>
    <p:sldLayoutId id="2147483742" r:id="rId1"/>
    <p:sldLayoutId id="2147483743" r:id="rId2"/>
    <p:sldLayoutId id="2147483744" r:id="rId3"/>
    <p:sldLayoutId id="2147483745" r:id="rId4"/>
    <p:sldLayoutId id="2147483746" r:id="rId5"/>
    <p:sldLayoutId id="2147483747" r:id="rId6"/>
    <p:sldLayoutId id="2147483748" r:id="rId7"/>
    <p:sldLayoutId id="2147483749" r:id="rId8"/>
    <p:sldLayoutId id="2147483750" r:id="rId9"/>
    <p:sldLayoutId id="2147483751" r:id="rId10"/>
    <p:sldLayoutId id="2147483752" r:id="rId11"/>
    <p:sldLayoutId id="2147483753" r:id="rId12"/>
    <p:sldLayoutId id="2147483754" r:id="rId13"/>
    <p:sldLayoutId id="2147483755" r:id="rId14"/>
    <p:sldLayoutId id="2147483756" r:id="rId15"/>
    <p:sldLayoutId id="2147483757" r:id="rId16"/>
    <p:sldLayoutId id="2147483758" r:id="rId17"/>
    <p:sldLayoutId id="2147483759" r:id="rId18"/>
    <p:sldLayoutId id="2147483760" r:id="rId19"/>
    <p:sldLayoutId id="2147483761" r:id="rId20"/>
    <p:sldLayoutId id="2147483762" r:id="rId21"/>
    <p:sldLayoutId id="2147483763" r:id="rId22"/>
  </p:sldLayoutIdLst>
  <p:txStyles>
    <p:titleStyle>
      <a:lvl1pPr algn="l" defTabSz="914126" rtl="0" eaLnBrk="1" latinLnBrk="0" hangingPunct="1">
        <a:lnSpc>
          <a:spcPct val="90000"/>
        </a:lnSpc>
        <a:spcBef>
          <a:spcPct val="0"/>
        </a:spcBef>
        <a:buNone/>
        <a:defRPr sz="4399" kern="1200">
          <a:solidFill>
            <a:schemeClr val="tx1"/>
          </a:solidFill>
          <a:latin typeface="+mj-lt"/>
          <a:ea typeface="+mj-ea"/>
          <a:cs typeface="+mj-cs"/>
        </a:defRPr>
      </a:lvl1pPr>
    </p:titleStyle>
    <p:body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PK"/>
      </a:defPPr>
      <a:lvl1pPr marL="0" algn="l" defTabSz="914126" rtl="0" eaLnBrk="1" latinLnBrk="0" hangingPunct="1">
        <a:defRPr sz="1799" kern="1200">
          <a:solidFill>
            <a:schemeClr val="tx1"/>
          </a:solidFill>
          <a:latin typeface="+mn-lt"/>
          <a:ea typeface="+mn-ea"/>
          <a:cs typeface="+mn-cs"/>
        </a:defRPr>
      </a:lvl1pPr>
      <a:lvl2pPr marL="457063" algn="l" defTabSz="914126" rtl="0" eaLnBrk="1" latinLnBrk="0" hangingPunct="1">
        <a:defRPr sz="1799" kern="1200">
          <a:solidFill>
            <a:schemeClr val="tx1"/>
          </a:solidFill>
          <a:latin typeface="+mn-lt"/>
          <a:ea typeface="+mn-ea"/>
          <a:cs typeface="+mn-cs"/>
        </a:defRPr>
      </a:lvl2pPr>
      <a:lvl3pPr marL="914126" algn="l" defTabSz="914126" rtl="0" eaLnBrk="1" latinLnBrk="0" hangingPunct="1">
        <a:defRPr sz="1799" kern="1200">
          <a:solidFill>
            <a:schemeClr val="tx1"/>
          </a:solidFill>
          <a:latin typeface="+mn-lt"/>
          <a:ea typeface="+mn-ea"/>
          <a:cs typeface="+mn-cs"/>
        </a:defRPr>
      </a:lvl3pPr>
      <a:lvl4pPr marL="1371189" algn="l" defTabSz="914126" rtl="0" eaLnBrk="1" latinLnBrk="0" hangingPunct="1">
        <a:defRPr sz="1799" kern="1200">
          <a:solidFill>
            <a:schemeClr val="tx1"/>
          </a:solidFill>
          <a:latin typeface="+mn-lt"/>
          <a:ea typeface="+mn-ea"/>
          <a:cs typeface="+mn-cs"/>
        </a:defRPr>
      </a:lvl4pPr>
      <a:lvl5pPr marL="1828251" algn="l" defTabSz="914126" rtl="0" eaLnBrk="1" latinLnBrk="0" hangingPunct="1">
        <a:defRPr sz="1799" kern="1200">
          <a:solidFill>
            <a:schemeClr val="tx1"/>
          </a:solidFill>
          <a:latin typeface="+mn-lt"/>
          <a:ea typeface="+mn-ea"/>
          <a:cs typeface="+mn-cs"/>
        </a:defRPr>
      </a:lvl5pPr>
      <a:lvl6pPr marL="2285314" algn="l" defTabSz="914126" rtl="0" eaLnBrk="1" latinLnBrk="0" hangingPunct="1">
        <a:defRPr sz="1799" kern="1200">
          <a:solidFill>
            <a:schemeClr val="tx1"/>
          </a:solidFill>
          <a:latin typeface="+mn-lt"/>
          <a:ea typeface="+mn-ea"/>
          <a:cs typeface="+mn-cs"/>
        </a:defRPr>
      </a:lvl6pPr>
      <a:lvl7pPr marL="2742377" algn="l" defTabSz="914126" rtl="0" eaLnBrk="1" latinLnBrk="0" hangingPunct="1">
        <a:defRPr sz="1799" kern="1200">
          <a:solidFill>
            <a:schemeClr val="tx1"/>
          </a:solidFill>
          <a:latin typeface="+mn-lt"/>
          <a:ea typeface="+mn-ea"/>
          <a:cs typeface="+mn-cs"/>
        </a:defRPr>
      </a:lvl7pPr>
      <a:lvl8pPr marL="3199440" algn="l" defTabSz="914126" rtl="0" eaLnBrk="1" latinLnBrk="0" hangingPunct="1">
        <a:defRPr sz="1799" kern="1200">
          <a:solidFill>
            <a:schemeClr val="tx1"/>
          </a:solidFill>
          <a:latin typeface="+mn-lt"/>
          <a:ea typeface="+mn-ea"/>
          <a:cs typeface="+mn-cs"/>
        </a:defRPr>
      </a:lvl8pPr>
      <a:lvl9pPr marL="3656503" algn="l" defTabSz="914126" rtl="0" eaLnBrk="1" latinLnBrk="0" hangingPunct="1">
        <a:defRPr sz="1799"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507112"/>
      </p:ext>
    </p:extLst>
  </p:cSld>
  <p:clrMap bg1="lt1" tx1="dk1" bg2="lt2" tx2="dk2" accent1="accent1" accent2="accent2" accent3="accent3" accent4="accent4" accent5="accent5" accent6="accent6" hlink="hlink" folHlink="folHlink"/>
  <p:sldLayoutIdLst>
    <p:sldLayoutId id="2147483765" r:id="rId1"/>
  </p:sldLayoutIdLst>
  <p:hf sldNum="0" hdr="0" ftr="0" dt="0"/>
  <p:txStyles>
    <p:titleStyle>
      <a:lvl1pPr algn="ctr" defTabSz="1218895" rtl="0" eaLnBrk="1" latinLnBrk="0" hangingPunct="1">
        <a:spcBef>
          <a:spcPct val="0"/>
        </a:spcBef>
        <a:buNone/>
        <a:defRPr sz="5865" kern="1200">
          <a:solidFill>
            <a:schemeClr val="tx1"/>
          </a:solidFill>
          <a:latin typeface="+mj-lt"/>
          <a:ea typeface="+mj-ea"/>
          <a:cs typeface="+mj-cs"/>
        </a:defRPr>
      </a:lvl1pPr>
    </p:titleStyle>
    <p:bodyStyle>
      <a:lvl1pPr marL="457086" indent="-457086" algn="l" defTabSz="1218895" rtl="0" eaLnBrk="1" latinLnBrk="0" hangingPunct="1">
        <a:spcBef>
          <a:spcPct val="20000"/>
        </a:spcBef>
        <a:buFont typeface="Arial" pitchFamily="34" charset="0"/>
        <a:buChar char="•"/>
        <a:defRPr sz="4266" kern="1200">
          <a:solidFill>
            <a:schemeClr val="tx1"/>
          </a:solidFill>
          <a:latin typeface="+mn-lt"/>
          <a:ea typeface="+mn-ea"/>
          <a:cs typeface="+mn-cs"/>
        </a:defRPr>
      </a:lvl1pPr>
      <a:lvl2pPr marL="990352" indent="-380905" algn="l" defTabSz="1218895" rtl="0" eaLnBrk="1" latinLnBrk="0" hangingPunct="1">
        <a:spcBef>
          <a:spcPct val="20000"/>
        </a:spcBef>
        <a:buFont typeface="Arial" pitchFamily="34" charset="0"/>
        <a:buChar char="–"/>
        <a:defRPr sz="3732" kern="1200">
          <a:solidFill>
            <a:schemeClr val="tx1"/>
          </a:solidFill>
          <a:latin typeface="+mn-lt"/>
          <a:ea typeface="+mn-ea"/>
          <a:cs typeface="+mn-cs"/>
        </a:defRPr>
      </a:lvl2pPr>
      <a:lvl3pPr marL="1523619" indent="-304724" algn="l" defTabSz="1218895" rtl="0" eaLnBrk="1" latinLnBrk="0" hangingPunct="1">
        <a:spcBef>
          <a:spcPct val="20000"/>
        </a:spcBef>
        <a:buFont typeface="Arial" pitchFamily="34" charset="0"/>
        <a:buChar char="•"/>
        <a:defRPr sz="3199" kern="1200">
          <a:solidFill>
            <a:schemeClr val="tx1"/>
          </a:solidFill>
          <a:latin typeface="+mn-lt"/>
          <a:ea typeface="+mn-ea"/>
          <a:cs typeface="+mn-cs"/>
        </a:defRPr>
      </a:lvl3pPr>
      <a:lvl4pPr marL="2133067"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4pPr>
      <a:lvl5pPr marL="2742514"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5pPr>
      <a:lvl6pPr marL="3351962"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6pPr>
      <a:lvl7pPr marL="3961409"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7pPr>
      <a:lvl8pPr marL="4570857"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8pPr>
      <a:lvl9pPr marL="5180305"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9pPr>
    </p:bodyStyle>
    <p:otherStyle>
      <a:defPPr>
        <a:defRPr lang="en-US"/>
      </a:defPPr>
      <a:lvl1pPr marL="0" algn="l" defTabSz="1218895" rtl="0" eaLnBrk="1" latinLnBrk="0" hangingPunct="1">
        <a:defRPr sz="2399" kern="1200">
          <a:solidFill>
            <a:schemeClr val="tx1"/>
          </a:solidFill>
          <a:latin typeface="+mn-lt"/>
          <a:ea typeface="+mn-ea"/>
          <a:cs typeface="+mn-cs"/>
        </a:defRPr>
      </a:lvl1pPr>
      <a:lvl2pPr marL="609448" algn="l" defTabSz="1218895" rtl="0" eaLnBrk="1" latinLnBrk="0" hangingPunct="1">
        <a:defRPr sz="2399" kern="1200">
          <a:solidFill>
            <a:schemeClr val="tx1"/>
          </a:solidFill>
          <a:latin typeface="+mn-lt"/>
          <a:ea typeface="+mn-ea"/>
          <a:cs typeface="+mn-cs"/>
        </a:defRPr>
      </a:lvl2pPr>
      <a:lvl3pPr marL="1218895" algn="l" defTabSz="1218895" rtl="0" eaLnBrk="1" latinLnBrk="0" hangingPunct="1">
        <a:defRPr sz="2399" kern="1200">
          <a:solidFill>
            <a:schemeClr val="tx1"/>
          </a:solidFill>
          <a:latin typeface="+mn-lt"/>
          <a:ea typeface="+mn-ea"/>
          <a:cs typeface="+mn-cs"/>
        </a:defRPr>
      </a:lvl3pPr>
      <a:lvl4pPr marL="1828343" algn="l" defTabSz="1218895" rtl="0" eaLnBrk="1" latinLnBrk="0" hangingPunct="1">
        <a:defRPr sz="2399" kern="1200">
          <a:solidFill>
            <a:schemeClr val="tx1"/>
          </a:solidFill>
          <a:latin typeface="+mn-lt"/>
          <a:ea typeface="+mn-ea"/>
          <a:cs typeface="+mn-cs"/>
        </a:defRPr>
      </a:lvl4pPr>
      <a:lvl5pPr marL="2437790" algn="l" defTabSz="1218895" rtl="0" eaLnBrk="1" latinLnBrk="0" hangingPunct="1">
        <a:defRPr sz="2399" kern="1200">
          <a:solidFill>
            <a:schemeClr val="tx1"/>
          </a:solidFill>
          <a:latin typeface="+mn-lt"/>
          <a:ea typeface="+mn-ea"/>
          <a:cs typeface="+mn-cs"/>
        </a:defRPr>
      </a:lvl5pPr>
      <a:lvl6pPr marL="3047238" algn="l" defTabSz="1218895" rtl="0" eaLnBrk="1" latinLnBrk="0" hangingPunct="1">
        <a:defRPr sz="2399" kern="1200">
          <a:solidFill>
            <a:schemeClr val="tx1"/>
          </a:solidFill>
          <a:latin typeface="+mn-lt"/>
          <a:ea typeface="+mn-ea"/>
          <a:cs typeface="+mn-cs"/>
        </a:defRPr>
      </a:lvl6pPr>
      <a:lvl7pPr marL="3656686" algn="l" defTabSz="1218895" rtl="0" eaLnBrk="1" latinLnBrk="0" hangingPunct="1">
        <a:defRPr sz="2399" kern="1200">
          <a:solidFill>
            <a:schemeClr val="tx1"/>
          </a:solidFill>
          <a:latin typeface="+mn-lt"/>
          <a:ea typeface="+mn-ea"/>
          <a:cs typeface="+mn-cs"/>
        </a:defRPr>
      </a:lvl7pPr>
      <a:lvl8pPr marL="4266133" algn="l" defTabSz="1218895" rtl="0" eaLnBrk="1" latinLnBrk="0" hangingPunct="1">
        <a:defRPr sz="2399" kern="1200">
          <a:solidFill>
            <a:schemeClr val="tx1"/>
          </a:solidFill>
          <a:latin typeface="+mn-lt"/>
          <a:ea typeface="+mn-ea"/>
          <a:cs typeface="+mn-cs"/>
        </a:defRPr>
      </a:lvl8pPr>
      <a:lvl9pPr marL="4875581" algn="l" defTabSz="1218895" rtl="0" eaLnBrk="1" latinLnBrk="0" hangingPunct="1">
        <a:defRPr sz="23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61.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1.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png"/><Relationship Id="rId1" Type="http://schemas.openxmlformats.org/officeDocument/2006/relationships/slideLayout" Target="../slideLayouts/slideLayout61.xml"/><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Layout" Target="../slideLayouts/slideLayout61.xml"/><Relationship Id="rId5" Type="http://schemas.openxmlformats.org/officeDocument/2006/relationships/image" Target="../media/image13.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6.png"/><Relationship Id="rId1" Type="http://schemas.openxmlformats.org/officeDocument/2006/relationships/slideLayout" Target="../slideLayouts/slideLayout6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png"/><Relationship Id="rId1" Type="http://schemas.openxmlformats.org/officeDocument/2006/relationships/slideLayout" Target="../slideLayouts/slideLayout9.xml"/><Relationship Id="rId5" Type="http://schemas.openxmlformats.org/officeDocument/2006/relationships/image" Target="../media/image10.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Layout" Target="../slideLayouts/slideLayout9.xml"/><Relationship Id="rId5" Type="http://schemas.openxmlformats.org/officeDocument/2006/relationships/image" Target="../media/image13.pn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2.xml"/></Relationships>
</file>

<file path=ppt/slides/_rels/slide1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62.xml"/><Relationship Id="rId6" Type="http://schemas.openxmlformats.org/officeDocument/2006/relationships/image" Target="../media/image18.png"/><Relationship Id="rId5" Type="http://schemas.openxmlformats.org/officeDocument/2006/relationships/image" Target="../media/image17.png"/><Relationship Id="rId10" Type="http://schemas.openxmlformats.org/officeDocument/2006/relationships/image" Target="../media/image2.png"/><Relationship Id="rId4" Type="http://schemas.openxmlformats.org/officeDocument/2006/relationships/image" Target="../media/image16.png"/><Relationship Id="rId9" Type="http://schemas.openxmlformats.org/officeDocument/2006/relationships/image" Target="../media/image21.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62.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62.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62.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62.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62.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62.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62.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62.xm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62.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62.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62.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62.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62.xml"/></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62.xml"/></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62.xml"/></Relationships>
</file>

<file path=ppt/slides/_rels/slide32.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5.png"/><Relationship Id="rId7"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62.xml"/><Relationship Id="rId6" Type="http://schemas.openxmlformats.org/officeDocument/2006/relationships/image" Target="../media/image19.png"/><Relationship Id="rId5" Type="http://schemas.openxmlformats.org/officeDocument/2006/relationships/image" Target="../media/image17.png"/><Relationship Id="rId4" Type="http://schemas.openxmlformats.org/officeDocument/2006/relationships/image" Target="../media/image16.png"/><Relationship Id="rId9" Type="http://schemas.openxmlformats.org/officeDocument/2006/relationships/image" Target="../media/image2.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62.xml"/></Relationships>
</file>

<file path=ppt/slides/_rels/slide3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62.xml"/><Relationship Id="rId6" Type="http://schemas.openxmlformats.org/officeDocument/2006/relationships/image" Target="../media/image2.png"/><Relationship Id="rId5" Type="http://schemas.openxmlformats.org/officeDocument/2006/relationships/image" Target="../media/image24.png"/><Relationship Id="rId4" Type="http://schemas.openxmlformats.org/officeDocument/2006/relationships/image" Target="../media/image2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62.xml"/></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62.xml"/></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62.xml"/></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62.xml"/></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62.xml"/></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62.xml"/></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62.xml"/></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62.xml"/></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62.xml"/></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62.xml"/></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62.xml"/></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62.xml"/></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62.xml"/></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62.xml"/></Relationships>
</file>

<file path=ppt/slides/_rels/slide4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6.png"/><Relationship Id="rId1" Type="http://schemas.openxmlformats.org/officeDocument/2006/relationships/slideLayout" Target="../slideLayouts/slideLayout61.xml"/><Relationship Id="rId5" Type="http://schemas.openxmlformats.org/officeDocument/2006/relationships/image" Target="../media/image27.png"/><Relationship Id="rId4" Type="http://schemas.openxmlformats.org/officeDocument/2006/relationships/image" Target="../media/image26.png"/></Relationships>
</file>

<file path=ppt/slides/_rels/slide5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1.xml"/></Relationships>
</file>

<file path=ppt/slides/_rels/slide5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1.xml"/></Relationships>
</file>

<file path=ppt/slides/_rels/slide5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1.xml"/></Relationships>
</file>

<file path=ppt/slides/_rels/slide5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1.xml"/></Relationships>
</file>

<file path=ppt/slides/_rels/slide5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1.xml"/></Relationships>
</file>

<file path=ppt/slides/_rels/slide5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1.xml"/></Relationships>
</file>

<file path=ppt/slides/_rels/slide5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8.jpg"/><Relationship Id="rId1" Type="http://schemas.openxmlformats.org/officeDocument/2006/relationships/slideLayout" Target="../slideLayouts/slideLayout22.xml"/></Relationships>
</file>

<file path=ppt/slides/_rels/slide57.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22.xml"/><Relationship Id="rId5" Type="http://schemas.openxmlformats.org/officeDocument/2006/relationships/image" Target="../media/image4.png"/><Relationship Id="rId4" Type="http://schemas.openxmlformats.org/officeDocument/2006/relationships/hyperlink" Target="http://www.dribbble.com/" TargetMode="External"/></Relationships>
</file>

<file path=ppt/slides/_rels/slide58.xml.rels><?xml version="1.0" encoding="UTF-8" standalone="yes"?>
<Relationships xmlns="http://schemas.openxmlformats.org/package/2006/relationships"><Relationship Id="rId8" Type="http://schemas.openxmlformats.org/officeDocument/2006/relationships/image" Target="../media/image34.jpeg"/><Relationship Id="rId3" Type="http://schemas.openxmlformats.org/officeDocument/2006/relationships/image" Target="../media/image29.jpeg"/><Relationship Id="rId7" Type="http://schemas.openxmlformats.org/officeDocument/2006/relationships/image" Target="../media/image33.tiff"/><Relationship Id="rId2" Type="http://schemas.openxmlformats.org/officeDocument/2006/relationships/notesSlide" Target="../notesSlides/notesSlide38.xml"/><Relationship Id="rId1" Type="http://schemas.openxmlformats.org/officeDocument/2006/relationships/slideLayout" Target="../slideLayouts/slideLayout39.xml"/><Relationship Id="rId6" Type="http://schemas.openxmlformats.org/officeDocument/2006/relationships/image" Target="../media/image32.tiff"/><Relationship Id="rId5" Type="http://schemas.openxmlformats.org/officeDocument/2006/relationships/image" Target="../media/image31.tiff"/><Relationship Id="rId4" Type="http://schemas.openxmlformats.org/officeDocument/2006/relationships/image" Target="../media/image30.tiff"/><Relationship Id="rId9"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1"/>
          <p:cNvSpPr txBox="1">
            <a:spLocks noGrp="1"/>
          </p:cNvSpPr>
          <p:nvPr>
            <p:ph type="ctrTitle"/>
          </p:nvPr>
        </p:nvSpPr>
        <p:spPr>
          <a:xfrm>
            <a:off x="910460" y="1569141"/>
            <a:ext cx="9194620" cy="1979512"/>
          </a:xfrm>
          <a:prstGeom prst="rect">
            <a:avLst/>
          </a:prstGeom>
          <a:noFill/>
          <a:ln>
            <a:noFill/>
          </a:ln>
        </p:spPr>
        <p:txBody>
          <a:bodyPr spcFirstLastPara="1" wrap="square" lIns="0" tIns="60925" rIns="0" bIns="60925" anchor="ctr" anchorCtr="0">
            <a:noAutofit/>
          </a:bodyPr>
          <a:lstStyle/>
          <a:p>
            <a:pPr lvl="0" algn="ctr">
              <a:buClr>
                <a:srgbClr val="194060"/>
              </a:buClr>
            </a:pPr>
            <a:r>
              <a:rPr lang="en-US" dirty="0">
                <a:solidFill>
                  <a:srgbClr val="00B050"/>
                </a:solidFill>
                <a:latin typeface="Arial Black" panose="020B0A04020102020204" pitchFamily="34" charset="0"/>
              </a:rPr>
              <a:t>SAP BTP CAPM</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“TypeScript”</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for Developers</a:t>
            </a:r>
            <a:endParaRPr dirty="0">
              <a:solidFill>
                <a:srgbClr val="00B050"/>
              </a:solidFill>
            </a:endParaRPr>
          </a:p>
        </p:txBody>
      </p:sp>
      <p:pic>
        <p:nvPicPr>
          <p:cNvPr id="497" name="Google Shape;497;p1"/>
          <p:cNvPicPr preferRelativeResize="0"/>
          <p:nvPr/>
        </p:nvPicPr>
        <p:blipFill rotWithShape="1">
          <a:blip r:embed="rId3">
            <a:alphaModFix/>
          </a:blip>
          <a:srcRect/>
          <a:stretch/>
        </p:blipFill>
        <p:spPr>
          <a:xfrm>
            <a:off x="9262764" y="1268760"/>
            <a:ext cx="1733995" cy="1656184"/>
          </a:xfrm>
          <a:prstGeom prst="rect">
            <a:avLst/>
          </a:prstGeom>
          <a:noFill/>
          <a:ln>
            <a:noFill/>
          </a:ln>
        </p:spPr>
      </p:pic>
      <p:pic>
        <p:nvPicPr>
          <p:cNvPr id="498" name="Google Shape;498;p1"/>
          <p:cNvPicPr preferRelativeResize="0"/>
          <p:nvPr/>
        </p:nvPicPr>
        <p:blipFill rotWithShape="1">
          <a:blip r:embed="rId3">
            <a:alphaModFix/>
          </a:blip>
          <a:srcRect/>
          <a:stretch/>
        </p:blipFill>
        <p:spPr>
          <a:xfrm>
            <a:off x="133977" y="5551900"/>
            <a:ext cx="776483" cy="741639"/>
          </a:xfrm>
          <a:prstGeom prst="rect">
            <a:avLst/>
          </a:prstGeom>
          <a:noFill/>
          <a:ln>
            <a:noFill/>
          </a:ln>
        </p:spPr>
      </p:pic>
      <p:sp>
        <p:nvSpPr>
          <p:cNvPr id="500" name="Google Shape;500;p1"/>
          <p:cNvSpPr txBox="1"/>
          <p:nvPr/>
        </p:nvSpPr>
        <p:spPr>
          <a:xfrm>
            <a:off x="2698834" y="599964"/>
            <a:ext cx="6048672" cy="584775"/>
          </a:xfrm>
          <a:prstGeom prst="rect">
            <a:avLst/>
          </a:prstGeom>
          <a:gradFill>
            <a:gsLst>
              <a:gs pos="0">
                <a:srgbClr val="F3FCFF"/>
              </a:gs>
              <a:gs pos="35000">
                <a:srgbClr val="F6FCFF"/>
              </a:gs>
              <a:gs pos="100000">
                <a:srgbClr val="FBFFFF"/>
              </a:gs>
            </a:gsLst>
            <a:lin ang="16200000" scaled="0"/>
          </a:gra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0" i="0" u="none" strike="noStrike" cap="none" dirty="0">
                <a:solidFill>
                  <a:srgbClr val="579130"/>
                </a:solidFill>
                <a:latin typeface="Corben"/>
                <a:ea typeface="Corben"/>
                <a:cs typeface="Corben"/>
                <a:sym typeface="Corben"/>
              </a:rPr>
              <a:t>DAY-2 	</a:t>
            </a:r>
            <a:endParaRPr sz="3200" dirty="0">
              <a:solidFill>
                <a:srgbClr val="579130"/>
              </a:solidFill>
              <a:latin typeface="Corben"/>
              <a:ea typeface="Corben"/>
              <a:cs typeface="Corben"/>
              <a:sym typeface="Corben"/>
            </a:endParaRPr>
          </a:p>
        </p:txBody>
      </p:sp>
      <p:sp>
        <p:nvSpPr>
          <p:cNvPr id="2" name="TextBox 1"/>
          <p:cNvSpPr txBox="1"/>
          <p:nvPr/>
        </p:nvSpPr>
        <p:spPr>
          <a:xfrm>
            <a:off x="4589890" y="3524363"/>
            <a:ext cx="1835759" cy="338554"/>
          </a:xfrm>
          <a:prstGeom prst="rect">
            <a:avLst/>
          </a:prstGeom>
          <a:noFill/>
        </p:spPr>
        <p:txBody>
          <a:bodyPr wrap="none" rtlCol="0">
            <a:spAutoFit/>
          </a:bodyPr>
          <a:lstStyle/>
          <a:p>
            <a:r>
              <a:rPr lang="en-US" sz="1600" b="1" dirty="0">
                <a:solidFill>
                  <a:srgbClr val="283E69"/>
                </a:solidFill>
              </a:rPr>
              <a:t>Anubhav Oberoy</a:t>
            </a:r>
          </a:p>
        </p:txBody>
      </p:sp>
      <p:sp>
        <p:nvSpPr>
          <p:cNvPr id="9" name="Subtitle 736">
            <a:extLst>
              <a:ext uri="{FF2B5EF4-FFF2-40B4-BE49-F238E27FC236}">
                <a16:creationId xmlns:a16="http://schemas.microsoft.com/office/drawing/2014/main" id="{700EA347-9CC8-4879-9255-16687B0BED48}"/>
              </a:ext>
            </a:extLst>
          </p:cNvPr>
          <p:cNvSpPr txBox="1">
            <a:spLocks/>
          </p:cNvSpPr>
          <p:nvPr/>
        </p:nvSpPr>
        <p:spPr>
          <a:xfrm>
            <a:off x="2698834" y="4484357"/>
            <a:ext cx="5086633"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pPr>
              <a:buClrTx/>
            </a:pPr>
            <a:r>
              <a:rPr lang="en-IN" spc="100" dirty="0">
                <a:solidFill>
                  <a:srgbClr val="283E69"/>
                </a:solidFill>
                <a:latin typeface="Cooper Black" panose="0208090404030B020404" pitchFamily="18" charset="0"/>
              </a:rPr>
              <a:t>www.AnubhavTrainings.com</a:t>
            </a:r>
          </a:p>
        </p:txBody>
      </p:sp>
      <p:sp>
        <p:nvSpPr>
          <p:cNvPr id="11" name="TextBox 10">
            <a:extLst>
              <a:ext uri="{FF2B5EF4-FFF2-40B4-BE49-F238E27FC236}">
                <a16:creationId xmlns:a16="http://schemas.microsoft.com/office/drawing/2014/main" id="{66565992-7E12-89E4-D7DB-B3B44A1FB17D}"/>
              </a:ext>
            </a:extLst>
          </p:cNvPr>
          <p:cNvSpPr txBox="1"/>
          <p:nvPr/>
        </p:nvSpPr>
        <p:spPr>
          <a:xfrm>
            <a:off x="3388935" y="4846349"/>
            <a:ext cx="3963274" cy="338554"/>
          </a:xfrm>
          <a:prstGeom prst="rect">
            <a:avLst/>
          </a:prstGeom>
          <a:noFill/>
        </p:spPr>
        <p:txBody>
          <a:bodyPr wrap="square" rtlCol="0">
            <a:spAutoFit/>
          </a:bodyPr>
          <a:lstStyle/>
          <a:p>
            <a:pPr defTabSz="1218987">
              <a:buClrTx/>
              <a:buFontTx/>
              <a:buNone/>
            </a:pPr>
            <a:r>
              <a:rPr lang="en-US" sz="1600" b="1" kern="1200" dirty="0">
                <a:solidFill>
                  <a:srgbClr val="FFC000"/>
                </a:solidFill>
                <a:latin typeface="Segoe UI"/>
                <a:ea typeface="+mn-ea"/>
                <a:cs typeface="+mn-cs"/>
              </a:rPr>
              <a:t>Follow excellence with sheer passion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arn(inVertical)">
                                      <p:cBhvr>
                                        <p:cTn id="7" dur="500"/>
                                        <p:tgtEl>
                                          <p:spTgt spid="9"/>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500"/>
                                        </p:tgtEl>
                                        <p:attrNameLst>
                                          <p:attrName>style.visibility</p:attrName>
                                        </p:attrNameLst>
                                      </p:cBhvr>
                                      <p:to>
                                        <p:strVal val="visible"/>
                                      </p:to>
                                    </p:set>
                                    <p:animEffect transition="in" filter="barn(inVertical)">
                                      <p:cBhvr>
                                        <p:cTn id="15" dur="500"/>
                                        <p:tgtEl>
                                          <p:spTgt spid="500"/>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grpId="0" nodeType="clickEffect">
                                  <p:stCondLst>
                                    <p:cond delay="0"/>
                                  </p:stCondLst>
                                  <p:childTnLst>
                                    <p:set>
                                      <p:cBhvr>
                                        <p:cTn id="19" dur="1" fill="hold">
                                          <p:stCondLst>
                                            <p:cond delay="0"/>
                                          </p:stCondLst>
                                        </p:cTn>
                                        <p:tgtEl>
                                          <p:spTgt spid="496"/>
                                        </p:tgtEl>
                                        <p:attrNameLst>
                                          <p:attrName>style.visibility</p:attrName>
                                        </p:attrNameLst>
                                      </p:cBhvr>
                                      <p:to>
                                        <p:strVal val="visible"/>
                                      </p:to>
                                    </p:set>
                                    <p:animEffect transition="in" filter="barn(inVertical)">
                                      <p:cBhvr>
                                        <p:cTn id="20" dur="500"/>
                                        <p:tgtEl>
                                          <p:spTgt spid="496"/>
                                        </p:tgtEl>
                                      </p:cBhvr>
                                    </p:animEffect>
                                  </p:childTnLst>
                                </p:cTn>
                              </p:par>
                              <p:par>
                                <p:cTn id="21" presetID="16" presetClass="entr" presetSubtype="21"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barn(inVertical)">
                                      <p:cBhvr>
                                        <p:cTn id="23"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6" grpId="0"/>
      <p:bldP spid="500" grpId="0" animBg="1"/>
      <p:bldP spid="2" grpId="0"/>
      <p:bldP spid="9" grpId="0"/>
      <p:bldP spid="11"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3806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2"/>
          <p:cNvSpPr/>
          <p:nvPr/>
        </p:nvSpPr>
        <p:spPr>
          <a:xfrm>
            <a:off x="-21424" y="4797151"/>
            <a:ext cx="3729207" cy="2055451"/>
          </a:xfrm>
          <a:custGeom>
            <a:avLst/>
            <a:gdLst/>
            <a:ahLst/>
            <a:cxnLst/>
            <a:rect l="l" t="t" r="r" b="b"/>
            <a:pathLst>
              <a:path w="3278485" h="1905635" extrusionOk="0">
                <a:moveTo>
                  <a:pt x="1348581" y="0"/>
                </a:moveTo>
                <a:cubicBezTo>
                  <a:pt x="2348490" y="0"/>
                  <a:pt x="3170908" y="759925"/>
                  <a:pt x="3269805" y="1733741"/>
                </a:cubicBezTo>
                <a:lnTo>
                  <a:pt x="3278485" y="1905635"/>
                </a:lnTo>
                <a:lnTo>
                  <a:pt x="0" y="1905635"/>
                </a:lnTo>
                <a:lnTo>
                  <a:pt x="0" y="550202"/>
                </a:lnTo>
                <a:lnTo>
                  <a:pt x="120162" y="440991"/>
                </a:lnTo>
                <a:cubicBezTo>
                  <a:pt x="453987" y="165495"/>
                  <a:pt x="881957" y="0"/>
                  <a:pt x="1348581" y="0"/>
                </a:cubicBez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07" name="Google Shape;507;p2"/>
          <p:cNvSpPr/>
          <p:nvPr/>
        </p:nvSpPr>
        <p:spPr>
          <a:xfrm>
            <a:off x="-21424" y="4952366"/>
            <a:ext cx="3278485" cy="1905635"/>
          </a:xfrm>
          <a:custGeom>
            <a:avLst/>
            <a:gdLst/>
            <a:ahLst/>
            <a:cxnLst/>
            <a:rect l="l" t="t" r="r" b="b"/>
            <a:pathLst>
              <a:path w="3278485" h="1905635" extrusionOk="0">
                <a:moveTo>
                  <a:pt x="1348581" y="0"/>
                </a:moveTo>
                <a:cubicBezTo>
                  <a:pt x="2348490" y="0"/>
                  <a:pt x="3170908" y="759925"/>
                  <a:pt x="3269805" y="1733741"/>
                </a:cubicBezTo>
                <a:lnTo>
                  <a:pt x="3278485" y="1905635"/>
                </a:lnTo>
                <a:lnTo>
                  <a:pt x="0" y="1905635"/>
                </a:lnTo>
                <a:lnTo>
                  <a:pt x="0" y="550202"/>
                </a:lnTo>
                <a:lnTo>
                  <a:pt x="120162" y="440991"/>
                </a:lnTo>
                <a:cubicBezTo>
                  <a:pt x="453987" y="165495"/>
                  <a:pt x="881957" y="0"/>
                  <a:pt x="1348581" y="0"/>
                </a:cubicBez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08" name="Google Shape;508;p2"/>
          <p:cNvSpPr txBox="1">
            <a:spLocks noGrp="1"/>
          </p:cNvSpPr>
          <p:nvPr>
            <p:ph type="title"/>
          </p:nvPr>
        </p:nvSpPr>
        <p:spPr>
          <a:xfrm>
            <a:off x="682738" y="190775"/>
            <a:ext cx="4432285" cy="732234"/>
          </a:xfrm>
          <a:prstGeom prst="rect">
            <a:avLst/>
          </a:prstGeom>
          <a:noFill/>
          <a:ln>
            <a:noFill/>
          </a:ln>
        </p:spPr>
        <p:txBody>
          <a:bodyPr spcFirstLastPara="1" wrap="square" lIns="0" tIns="60925" rIns="0" bIns="60925" anchor="b" anchorCtr="0">
            <a:noAutofit/>
          </a:bodyPr>
          <a:lstStyle/>
          <a:p>
            <a:pPr marL="0" lvl="0" indent="0" algn="l" rtl="0">
              <a:spcBef>
                <a:spcPts val="0"/>
              </a:spcBef>
              <a:spcAft>
                <a:spcPts val="0"/>
              </a:spcAft>
              <a:buClr>
                <a:schemeClr val="lt1"/>
              </a:buClr>
              <a:buSzPts val="3600"/>
              <a:buFont typeface="Corben"/>
              <a:buNone/>
            </a:pPr>
            <a:r>
              <a:rPr lang="en-US" sz="3600" dirty="0">
                <a:latin typeface="Corben"/>
                <a:ea typeface="Corben"/>
                <a:cs typeface="Corben"/>
                <a:sym typeface="Corben"/>
              </a:rPr>
              <a:t>Agenda</a:t>
            </a:r>
            <a:r>
              <a:rPr lang="en-US" dirty="0"/>
              <a:t> </a:t>
            </a:r>
            <a:endParaRPr dirty="0"/>
          </a:p>
        </p:txBody>
      </p:sp>
      <p:grpSp>
        <p:nvGrpSpPr>
          <p:cNvPr id="509" name="Google Shape;509;p2"/>
          <p:cNvGrpSpPr/>
          <p:nvPr/>
        </p:nvGrpSpPr>
        <p:grpSpPr>
          <a:xfrm>
            <a:off x="3835664" y="440668"/>
            <a:ext cx="7505351" cy="859686"/>
            <a:chOff x="3657616" y="440668"/>
            <a:chExt cx="7505351" cy="859686"/>
          </a:xfrm>
        </p:grpSpPr>
        <p:sp>
          <p:nvSpPr>
            <p:cNvPr id="510" name="Google Shape;51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11" name="Google Shape;511;p2"/>
            <p:cNvSpPr txBox="1"/>
            <p:nvPr/>
          </p:nvSpPr>
          <p:spPr>
            <a:xfrm>
              <a:off x="4601587" y="636144"/>
              <a:ext cx="6561380" cy="46162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dirty="0">
                  <a:ln>
                    <a:noFill/>
                  </a:ln>
                  <a:solidFill>
                    <a:srgbClr val="1B294E"/>
                  </a:solidFill>
                  <a:effectLst/>
                  <a:uLnTx/>
                  <a:uFillTx/>
                  <a:latin typeface="Corben"/>
                  <a:ea typeface="Corben"/>
                  <a:cs typeface="Corben"/>
                  <a:sym typeface="Corben"/>
                </a:rPr>
                <a:t>Understanding sample project</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12" name="Google Shape;512;p2"/>
            <p:cNvGrpSpPr/>
            <p:nvPr/>
          </p:nvGrpSpPr>
          <p:grpSpPr>
            <a:xfrm>
              <a:off x="3657616" y="440668"/>
              <a:ext cx="852620" cy="852620"/>
              <a:chOff x="3657616" y="440668"/>
              <a:chExt cx="852620" cy="852620"/>
            </a:xfrm>
          </p:grpSpPr>
          <p:grpSp>
            <p:nvGrpSpPr>
              <p:cNvPr id="513" name="Google Shape;513;p2"/>
              <p:cNvGrpSpPr/>
              <p:nvPr/>
            </p:nvGrpSpPr>
            <p:grpSpPr>
              <a:xfrm>
                <a:off x="3657616" y="440668"/>
                <a:ext cx="852620" cy="852620"/>
                <a:chOff x="3657616" y="440668"/>
                <a:chExt cx="1008112" cy="1008112"/>
              </a:xfrm>
            </p:grpSpPr>
            <p:sp>
              <p:nvSpPr>
                <p:cNvPr id="514" name="Google Shape;51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15" name="Google Shape;515;p2"/>
                <p:cNvGrpSpPr/>
                <p:nvPr/>
              </p:nvGrpSpPr>
              <p:grpSpPr>
                <a:xfrm>
                  <a:off x="3765628" y="548680"/>
                  <a:ext cx="792088" cy="792088"/>
                  <a:chOff x="4197016" y="548680"/>
                  <a:chExt cx="792088" cy="792088"/>
                </a:xfrm>
              </p:grpSpPr>
              <p:sp>
                <p:nvSpPr>
                  <p:cNvPr id="516" name="Google Shape;51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17" name="Google Shape;51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18" name="Google Shape;51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01</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19" name="Google Shape;519;p2"/>
          <p:cNvGrpSpPr/>
          <p:nvPr/>
        </p:nvGrpSpPr>
        <p:grpSpPr>
          <a:xfrm>
            <a:off x="4716549" y="2138925"/>
            <a:ext cx="7195198" cy="859686"/>
            <a:chOff x="3657616" y="440668"/>
            <a:chExt cx="7195198" cy="859686"/>
          </a:xfrm>
        </p:grpSpPr>
        <p:sp>
          <p:nvSpPr>
            <p:cNvPr id="520" name="Google Shape;52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21" name="Google Shape;521;p2"/>
            <p:cNvSpPr txBox="1"/>
            <p:nvPr/>
          </p:nvSpPr>
          <p:spPr>
            <a:xfrm>
              <a:off x="4601587" y="636144"/>
              <a:ext cx="6251227" cy="461665"/>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Incremental migration</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22" name="Google Shape;522;p2"/>
            <p:cNvGrpSpPr/>
            <p:nvPr/>
          </p:nvGrpSpPr>
          <p:grpSpPr>
            <a:xfrm>
              <a:off x="3657616" y="440668"/>
              <a:ext cx="852620" cy="852620"/>
              <a:chOff x="3657616" y="440668"/>
              <a:chExt cx="852620" cy="852620"/>
            </a:xfrm>
          </p:grpSpPr>
          <p:grpSp>
            <p:nvGrpSpPr>
              <p:cNvPr id="523" name="Google Shape;523;p2"/>
              <p:cNvGrpSpPr/>
              <p:nvPr/>
            </p:nvGrpSpPr>
            <p:grpSpPr>
              <a:xfrm>
                <a:off x="3657616" y="440668"/>
                <a:ext cx="852620" cy="852620"/>
                <a:chOff x="3657616" y="440668"/>
                <a:chExt cx="1008112" cy="1008112"/>
              </a:xfrm>
            </p:grpSpPr>
            <p:sp>
              <p:nvSpPr>
                <p:cNvPr id="524" name="Google Shape;52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25" name="Google Shape;525;p2"/>
                <p:cNvGrpSpPr/>
                <p:nvPr/>
              </p:nvGrpSpPr>
              <p:grpSpPr>
                <a:xfrm>
                  <a:off x="3765628" y="548680"/>
                  <a:ext cx="792088" cy="792088"/>
                  <a:chOff x="4197016" y="548680"/>
                  <a:chExt cx="792088" cy="792088"/>
                </a:xfrm>
              </p:grpSpPr>
              <p:sp>
                <p:nvSpPr>
                  <p:cNvPr id="526" name="Google Shape;52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27" name="Google Shape;52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28" name="Google Shape;52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02</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29" name="Google Shape;529;p2"/>
          <p:cNvGrpSpPr/>
          <p:nvPr/>
        </p:nvGrpSpPr>
        <p:grpSpPr>
          <a:xfrm>
            <a:off x="5023671" y="3788587"/>
            <a:ext cx="6475255" cy="900677"/>
            <a:chOff x="3657616" y="399677"/>
            <a:chExt cx="5629459" cy="900677"/>
          </a:xfrm>
        </p:grpSpPr>
        <p:sp>
          <p:nvSpPr>
            <p:cNvPr id="530" name="Google Shape;53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31" name="Google Shape;531;p2"/>
            <p:cNvSpPr txBox="1"/>
            <p:nvPr/>
          </p:nvSpPr>
          <p:spPr>
            <a:xfrm>
              <a:off x="4479785" y="399677"/>
              <a:ext cx="4807290" cy="49847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2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1B294E"/>
                </a:solidFill>
                <a:effectLst/>
                <a:uLnTx/>
                <a:uFillTx/>
                <a:latin typeface="Corben"/>
                <a:ea typeface="Corben"/>
                <a:cs typeface="Corben"/>
                <a:sym typeface="Corben"/>
              </a:endParaRPr>
            </a:p>
          </p:txBody>
        </p:sp>
        <p:grpSp>
          <p:nvGrpSpPr>
            <p:cNvPr id="532" name="Google Shape;532;p2"/>
            <p:cNvGrpSpPr/>
            <p:nvPr/>
          </p:nvGrpSpPr>
          <p:grpSpPr>
            <a:xfrm>
              <a:off x="3657616" y="440668"/>
              <a:ext cx="852620" cy="852620"/>
              <a:chOff x="3657616" y="440668"/>
              <a:chExt cx="852620" cy="852620"/>
            </a:xfrm>
          </p:grpSpPr>
          <p:grpSp>
            <p:nvGrpSpPr>
              <p:cNvPr id="533" name="Google Shape;533;p2"/>
              <p:cNvGrpSpPr/>
              <p:nvPr/>
            </p:nvGrpSpPr>
            <p:grpSpPr>
              <a:xfrm>
                <a:off x="3657616" y="440668"/>
                <a:ext cx="852620" cy="852620"/>
                <a:chOff x="3657616" y="440668"/>
                <a:chExt cx="1008112" cy="1008112"/>
              </a:xfrm>
            </p:grpSpPr>
            <p:sp>
              <p:nvSpPr>
                <p:cNvPr id="534" name="Google Shape;53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35" name="Google Shape;535;p2"/>
                <p:cNvGrpSpPr/>
                <p:nvPr/>
              </p:nvGrpSpPr>
              <p:grpSpPr>
                <a:xfrm>
                  <a:off x="3765628" y="548680"/>
                  <a:ext cx="792088" cy="792088"/>
                  <a:chOff x="4197016" y="548680"/>
                  <a:chExt cx="792088" cy="792088"/>
                </a:xfrm>
              </p:grpSpPr>
              <p:sp>
                <p:nvSpPr>
                  <p:cNvPr id="536" name="Google Shape;53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37" name="Google Shape;53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38" name="Google Shape;53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03</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39" name="Google Shape;539;p2"/>
          <p:cNvGrpSpPr/>
          <p:nvPr/>
        </p:nvGrpSpPr>
        <p:grpSpPr>
          <a:xfrm>
            <a:off x="4831467" y="5520231"/>
            <a:ext cx="7195198" cy="859686"/>
            <a:chOff x="3657616" y="440668"/>
            <a:chExt cx="7195198" cy="859686"/>
          </a:xfrm>
        </p:grpSpPr>
        <p:sp>
          <p:nvSpPr>
            <p:cNvPr id="540" name="Google Shape;54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41" name="Google Shape;541;p2"/>
            <p:cNvSpPr txBox="1"/>
            <p:nvPr/>
          </p:nvSpPr>
          <p:spPr>
            <a:xfrm>
              <a:off x="4601587" y="636144"/>
              <a:ext cx="6251227" cy="46162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Generic decorators and utility</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42" name="Google Shape;542;p2"/>
            <p:cNvGrpSpPr/>
            <p:nvPr/>
          </p:nvGrpSpPr>
          <p:grpSpPr>
            <a:xfrm>
              <a:off x="3657616" y="440668"/>
              <a:ext cx="852620" cy="852620"/>
              <a:chOff x="3657616" y="440668"/>
              <a:chExt cx="852620" cy="852620"/>
            </a:xfrm>
          </p:grpSpPr>
          <p:grpSp>
            <p:nvGrpSpPr>
              <p:cNvPr id="543" name="Google Shape;543;p2"/>
              <p:cNvGrpSpPr/>
              <p:nvPr/>
            </p:nvGrpSpPr>
            <p:grpSpPr>
              <a:xfrm>
                <a:off x="3657616" y="440668"/>
                <a:ext cx="852620" cy="852620"/>
                <a:chOff x="3657616" y="440668"/>
                <a:chExt cx="1008112" cy="1008112"/>
              </a:xfrm>
            </p:grpSpPr>
            <p:sp>
              <p:nvSpPr>
                <p:cNvPr id="544" name="Google Shape;54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45" name="Google Shape;545;p2"/>
                <p:cNvGrpSpPr/>
                <p:nvPr/>
              </p:nvGrpSpPr>
              <p:grpSpPr>
                <a:xfrm>
                  <a:off x="3765628" y="548680"/>
                  <a:ext cx="792088" cy="792088"/>
                  <a:chOff x="4197016" y="548680"/>
                  <a:chExt cx="792088" cy="792088"/>
                </a:xfrm>
              </p:grpSpPr>
              <p:sp>
                <p:nvSpPr>
                  <p:cNvPr id="546" name="Google Shape;54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47" name="Google Shape;54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48" name="Google Shape;54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04</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pic>
        <p:nvPicPr>
          <p:cNvPr id="550" name="Google Shape;550;p2"/>
          <p:cNvPicPr preferRelativeResize="0"/>
          <p:nvPr/>
        </p:nvPicPr>
        <p:blipFill rotWithShape="1">
          <a:blip r:embed="rId3">
            <a:alphaModFix/>
          </a:blip>
          <a:srcRect/>
          <a:stretch/>
        </p:blipFill>
        <p:spPr>
          <a:xfrm>
            <a:off x="-37569" y="6255475"/>
            <a:ext cx="662338" cy="632616"/>
          </a:xfrm>
          <a:prstGeom prst="rect">
            <a:avLst/>
          </a:prstGeom>
          <a:noFill/>
          <a:ln>
            <a:noFill/>
          </a:ln>
        </p:spPr>
      </p:pic>
      <p:sp>
        <p:nvSpPr>
          <p:cNvPr id="552"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75C042"/>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75C042"/>
              </a:solidFill>
              <a:effectLst/>
              <a:uLnTx/>
              <a:uFillTx/>
              <a:latin typeface="Cambria" panose="02040503050406030204" pitchFamily="18" charset="0"/>
              <a:ea typeface="Cambria" panose="02040503050406030204" pitchFamily="18" charset="0"/>
              <a:cs typeface="Corben"/>
              <a:sym typeface="Corben"/>
            </a:endParaRPr>
          </a:p>
        </p:txBody>
      </p:sp>
      <p:sp>
        <p:nvSpPr>
          <p:cNvPr id="553" name="Google Shape;553;p2"/>
          <p:cNvSpPr txBox="1"/>
          <p:nvPr/>
        </p:nvSpPr>
        <p:spPr>
          <a:xfrm>
            <a:off x="5978935" y="4041964"/>
            <a:ext cx="5840759" cy="461665"/>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Migrate cap logic and units</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pic>
        <p:nvPicPr>
          <p:cNvPr id="50"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7306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08"/>
                                        </p:tgtEl>
                                        <p:attrNameLst>
                                          <p:attrName>style.visibility</p:attrName>
                                        </p:attrNameLst>
                                      </p:cBhvr>
                                      <p:to>
                                        <p:strVal val="visible"/>
                                      </p:to>
                                    </p:set>
                                    <p:animEffect transition="in" filter="barn(inVertical)">
                                      <p:cBhvr>
                                        <p:cTn id="7" dur="500"/>
                                        <p:tgtEl>
                                          <p:spTgt spid="508"/>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509"/>
                                        </p:tgtEl>
                                        <p:attrNameLst>
                                          <p:attrName>style.visibility</p:attrName>
                                        </p:attrNameLst>
                                      </p:cBhvr>
                                      <p:to>
                                        <p:strVal val="visible"/>
                                      </p:to>
                                    </p:set>
                                    <p:animEffect transition="in" filter="barn(inVertical)">
                                      <p:cBhvr>
                                        <p:cTn id="12" dur="500"/>
                                        <p:tgtEl>
                                          <p:spTgt spid="509"/>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519"/>
                                        </p:tgtEl>
                                        <p:attrNameLst>
                                          <p:attrName>style.visibility</p:attrName>
                                        </p:attrNameLst>
                                      </p:cBhvr>
                                      <p:to>
                                        <p:strVal val="visible"/>
                                      </p:to>
                                    </p:set>
                                    <p:animEffect transition="in" filter="barn(inVertical)">
                                      <p:cBhvr>
                                        <p:cTn id="17" dur="500"/>
                                        <p:tgtEl>
                                          <p:spTgt spid="519"/>
                                        </p:tgtEl>
                                      </p:cBhvr>
                                    </p:animEffect>
                                  </p:childTnLst>
                                </p:cTn>
                              </p:par>
                            </p:childTnLst>
                          </p:cTn>
                        </p:par>
                      </p:childTnLst>
                    </p:cTn>
                  </p:par>
                  <p:par>
                    <p:cTn id="18" fill="hold">
                      <p:stCondLst>
                        <p:cond delay="indefinite"/>
                      </p:stCondLst>
                      <p:childTnLst>
                        <p:par>
                          <p:cTn id="19" fill="hold">
                            <p:stCondLst>
                              <p:cond delay="0"/>
                            </p:stCondLst>
                            <p:childTnLst>
                              <p:par>
                                <p:cTn id="20" presetID="16" presetClass="entr" presetSubtype="21" fill="hold" grpId="0" nodeType="clickEffect">
                                  <p:stCondLst>
                                    <p:cond delay="0"/>
                                  </p:stCondLst>
                                  <p:childTnLst>
                                    <p:set>
                                      <p:cBhvr>
                                        <p:cTn id="21" dur="1" fill="hold">
                                          <p:stCondLst>
                                            <p:cond delay="0"/>
                                          </p:stCondLst>
                                        </p:cTn>
                                        <p:tgtEl>
                                          <p:spTgt spid="553"/>
                                        </p:tgtEl>
                                        <p:attrNameLst>
                                          <p:attrName>style.visibility</p:attrName>
                                        </p:attrNameLst>
                                      </p:cBhvr>
                                      <p:to>
                                        <p:strVal val="visible"/>
                                      </p:to>
                                    </p:set>
                                    <p:animEffect transition="in" filter="barn(inVertical)">
                                      <p:cBhvr>
                                        <p:cTn id="22" dur="500"/>
                                        <p:tgtEl>
                                          <p:spTgt spid="553"/>
                                        </p:tgtEl>
                                      </p:cBhvr>
                                    </p:animEffect>
                                  </p:childTnLst>
                                </p:cTn>
                              </p:par>
                              <p:par>
                                <p:cTn id="23" presetID="16" presetClass="entr" presetSubtype="21" fill="hold" nodeType="withEffect">
                                  <p:stCondLst>
                                    <p:cond delay="0"/>
                                  </p:stCondLst>
                                  <p:childTnLst>
                                    <p:set>
                                      <p:cBhvr>
                                        <p:cTn id="24" dur="1" fill="hold">
                                          <p:stCondLst>
                                            <p:cond delay="0"/>
                                          </p:stCondLst>
                                        </p:cTn>
                                        <p:tgtEl>
                                          <p:spTgt spid="529"/>
                                        </p:tgtEl>
                                        <p:attrNameLst>
                                          <p:attrName>style.visibility</p:attrName>
                                        </p:attrNameLst>
                                      </p:cBhvr>
                                      <p:to>
                                        <p:strVal val="visible"/>
                                      </p:to>
                                    </p:set>
                                    <p:animEffect transition="in" filter="barn(inVertical)">
                                      <p:cBhvr>
                                        <p:cTn id="25" dur="500"/>
                                        <p:tgtEl>
                                          <p:spTgt spid="529"/>
                                        </p:tgtEl>
                                      </p:cBhvr>
                                    </p:animEffect>
                                  </p:childTnLst>
                                </p:cTn>
                              </p:par>
                            </p:childTnLst>
                          </p:cTn>
                        </p:par>
                      </p:childTnLst>
                    </p:cTn>
                  </p:par>
                  <p:par>
                    <p:cTn id="26" fill="hold">
                      <p:stCondLst>
                        <p:cond delay="indefinite"/>
                      </p:stCondLst>
                      <p:childTnLst>
                        <p:par>
                          <p:cTn id="27" fill="hold">
                            <p:stCondLst>
                              <p:cond delay="0"/>
                            </p:stCondLst>
                            <p:childTnLst>
                              <p:par>
                                <p:cTn id="28" presetID="16" presetClass="entr" presetSubtype="21" fill="hold" nodeType="clickEffect">
                                  <p:stCondLst>
                                    <p:cond delay="0"/>
                                  </p:stCondLst>
                                  <p:childTnLst>
                                    <p:set>
                                      <p:cBhvr>
                                        <p:cTn id="29" dur="1" fill="hold">
                                          <p:stCondLst>
                                            <p:cond delay="0"/>
                                          </p:stCondLst>
                                        </p:cTn>
                                        <p:tgtEl>
                                          <p:spTgt spid="539"/>
                                        </p:tgtEl>
                                        <p:attrNameLst>
                                          <p:attrName>style.visibility</p:attrName>
                                        </p:attrNameLst>
                                      </p:cBhvr>
                                      <p:to>
                                        <p:strVal val="visible"/>
                                      </p:to>
                                    </p:set>
                                    <p:animEffect transition="in" filter="barn(inVertical)">
                                      <p:cBhvr>
                                        <p:cTn id="30" dur="500"/>
                                        <p:tgtEl>
                                          <p:spTgt spid="5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8" grpId="0"/>
      <p:bldP spid="55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75"/>
        <p:cNvGrpSpPr/>
        <p:nvPr/>
      </p:nvGrpSpPr>
      <p:grpSpPr>
        <a:xfrm>
          <a:off x="0" y="0"/>
          <a:ext cx="0" cy="0"/>
          <a:chOff x="0" y="0"/>
          <a:chExt cx="0" cy="0"/>
        </a:xfrm>
      </p:grpSpPr>
      <p:sp>
        <p:nvSpPr>
          <p:cNvPr id="576" name="Google Shape;576;p4"/>
          <p:cNvSpPr/>
          <p:nvPr/>
        </p:nvSpPr>
        <p:spPr>
          <a:xfrm>
            <a:off x="8658535"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7" name="Google Shape;577;p4"/>
          <p:cNvSpPr/>
          <p:nvPr/>
        </p:nvSpPr>
        <p:spPr>
          <a:xfrm>
            <a:off x="5797272"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8" name="Google Shape;578;p4"/>
          <p:cNvSpPr/>
          <p:nvPr/>
        </p:nvSpPr>
        <p:spPr>
          <a:xfrm>
            <a:off x="2755299"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9" name="Google Shape;579;p4"/>
          <p:cNvSpPr/>
          <p:nvPr/>
        </p:nvSpPr>
        <p:spPr>
          <a:xfrm>
            <a:off x="-77756"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0" name="Google Shape;580;p4"/>
          <p:cNvSpPr/>
          <p:nvPr/>
        </p:nvSpPr>
        <p:spPr>
          <a:xfrm>
            <a:off x="6369791" y="3519039"/>
            <a:ext cx="2530466" cy="3122025"/>
          </a:xfrm>
          <a:prstGeom prst="rect">
            <a:avLst/>
          </a:prstGeom>
          <a:gradFill>
            <a:gsLst>
              <a:gs pos="0">
                <a:schemeClr val="lt1"/>
              </a:gs>
              <a:gs pos="100000">
                <a:srgbClr val="E2F2D7"/>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1" name="Google Shape;581;p4"/>
          <p:cNvSpPr/>
          <p:nvPr/>
        </p:nvSpPr>
        <p:spPr>
          <a:xfrm>
            <a:off x="608637" y="3547062"/>
            <a:ext cx="2530466" cy="3122025"/>
          </a:xfrm>
          <a:prstGeom prst="rect">
            <a:avLst/>
          </a:prstGeom>
          <a:gradFill>
            <a:gsLst>
              <a:gs pos="0">
                <a:schemeClr val="lt1"/>
              </a:gs>
              <a:gs pos="100000">
                <a:srgbClr val="E2F2D7"/>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2" name="Google Shape;582;p4"/>
          <p:cNvSpPr/>
          <p:nvPr/>
        </p:nvSpPr>
        <p:spPr>
          <a:xfrm>
            <a:off x="0" y="3161586"/>
            <a:ext cx="12188825" cy="385476"/>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3" name="Google Shape;583;p4"/>
          <p:cNvSpPr/>
          <p:nvPr/>
        </p:nvSpPr>
        <p:spPr>
          <a:xfrm>
            <a:off x="7028729"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4" name="Google Shape;584;p4"/>
          <p:cNvSpPr/>
          <p:nvPr/>
        </p:nvSpPr>
        <p:spPr>
          <a:xfrm>
            <a:off x="6426329"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5" name="Google Shape;585;p4"/>
          <p:cNvSpPr txBox="1"/>
          <p:nvPr/>
        </p:nvSpPr>
        <p:spPr>
          <a:xfrm>
            <a:off x="6394048" y="1466844"/>
            <a:ext cx="2251909" cy="1015622"/>
          </a:xfrm>
          <a:prstGeom prst="rect">
            <a:avLst/>
          </a:prstGeom>
          <a:noFill/>
          <a:ln>
            <a:noFill/>
          </a:ln>
        </p:spPr>
        <p:txBody>
          <a:bodyPr spcFirstLastPara="1" wrap="square" lIns="91425" tIns="45700" rIns="91425" bIns="45700" anchor="t" anchorCtr="0">
            <a:spAutoFit/>
          </a:bodyPr>
          <a:lstStyle/>
          <a:p>
            <a:pPr lvl="0" algn="ctr"/>
            <a:r>
              <a:rPr lang="en-US" sz="2000" b="1" dirty="0">
                <a:solidFill>
                  <a:schemeClr val="lt1"/>
                </a:solidFill>
                <a:latin typeface="Gill Sans"/>
                <a:ea typeface="Gill Sans"/>
                <a:cs typeface="Gill Sans"/>
                <a:sym typeface="Gill Sans"/>
              </a:rPr>
              <a:t>SAP Cloud SDK &amp; Fiori/UI5 in TypeScript</a:t>
            </a:r>
            <a:endParaRPr sz="2000" b="1" dirty="0">
              <a:solidFill>
                <a:schemeClr val="lt1"/>
              </a:solidFill>
              <a:latin typeface="Gill Sans"/>
              <a:ea typeface="Gill Sans"/>
              <a:cs typeface="Gill Sans"/>
              <a:sym typeface="Gill Sans"/>
            </a:endParaRPr>
          </a:p>
        </p:txBody>
      </p:sp>
      <p:sp>
        <p:nvSpPr>
          <p:cNvPr id="586" name="Google Shape;586;p4"/>
          <p:cNvSpPr/>
          <p:nvPr/>
        </p:nvSpPr>
        <p:spPr>
          <a:xfrm rot="8090038" flipH="1">
            <a:off x="7079823"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587" name="Google Shape;587;p4"/>
          <p:cNvSpPr txBox="1">
            <a:spLocks noGrp="1"/>
          </p:cNvSpPr>
          <p:nvPr>
            <p:ph type="title"/>
          </p:nvPr>
        </p:nvSpPr>
        <p:spPr>
          <a:xfrm>
            <a:off x="444224" y="146584"/>
            <a:ext cx="10491783" cy="711081"/>
          </a:xfrm>
          <a:prstGeom prst="rect">
            <a:avLst/>
          </a:prstGeom>
          <a:noFill/>
          <a:ln>
            <a:noFill/>
          </a:ln>
        </p:spPr>
        <p:txBody>
          <a:bodyPr spcFirstLastPara="1" wrap="square" lIns="0" tIns="60925" rIns="0" bIns="60925" anchor="t" anchorCtr="0">
            <a:noAutofit/>
          </a:bodyPr>
          <a:lstStyle/>
          <a:p>
            <a:pPr marL="0" lvl="0" indent="0" algn="l" rtl="0">
              <a:spcBef>
                <a:spcPts val="0"/>
              </a:spcBef>
              <a:spcAft>
                <a:spcPts val="0"/>
              </a:spcAft>
              <a:buClr>
                <a:schemeClr val="accent1"/>
              </a:buClr>
              <a:buSzPts val="3600"/>
              <a:buFont typeface="Corben"/>
              <a:buNone/>
            </a:pPr>
            <a:r>
              <a:rPr lang="en-US" dirty="0">
                <a:solidFill>
                  <a:schemeClr val="tx1">
                    <a:lumMod val="50000"/>
                  </a:schemeClr>
                </a:solidFill>
                <a:latin typeface="Corben"/>
                <a:ea typeface="Corben"/>
                <a:cs typeface="Corben"/>
                <a:sym typeface="Corben"/>
              </a:rPr>
              <a:t>Course Outlook – 10 Hours</a:t>
            </a:r>
            <a:endParaRPr dirty="0">
              <a:solidFill>
                <a:schemeClr val="tx1">
                  <a:lumMod val="50000"/>
                </a:schemeClr>
              </a:solidFill>
            </a:endParaRPr>
          </a:p>
        </p:txBody>
      </p:sp>
      <p:grpSp>
        <p:nvGrpSpPr>
          <p:cNvPr id="588" name="Google Shape;588;p4"/>
          <p:cNvGrpSpPr/>
          <p:nvPr/>
        </p:nvGrpSpPr>
        <p:grpSpPr>
          <a:xfrm>
            <a:off x="2843798" y="2846872"/>
            <a:ext cx="620814" cy="620814"/>
            <a:chOff x="2892364" y="2878815"/>
            <a:chExt cx="385476" cy="385476"/>
          </a:xfrm>
        </p:grpSpPr>
        <p:sp>
          <p:nvSpPr>
            <p:cNvPr id="589" name="Google Shape;589;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590" name="Google Shape;590;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sp>
        <p:nvSpPr>
          <p:cNvPr id="591" name="Google Shape;591;p4"/>
          <p:cNvSpPr txBox="1"/>
          <p:nvPr/>
        </p:nvSpPr>
        <p:spPr>
          <a:xfrm>
            <a:off x="736637" y="4002834"/>
            <a:ext cx="2173035" cy="1938952"/>
          </a:xfrm>
          <a:prstGeom prst="rect">
            <a:avLst/>
          </a:prstGeom>
          <a:noFill/>
          <a:ln>
            <a:noFill/>
          </a:ln>
        </p:spPr>
        <p:txBody>
          <a:bodyPr spcFirstLastPara="1" wrap="square" lIns="91425" tIns="45700" rIns="91425" bIns="45700" anchor="t" anchorCtr="0">
            <a:spAutoFit/>
          </a:bodyPr>
          <a:lstStyle/>
          <a:p>
            <a:pPr lvl="0" algn="ctr"/>
            <a:r>
              <a:rPr lang="en-IN" sz="2000" dirty="0"/>
              <a:t>This module covers only the TypeScript concepts that do not exist in JavaScript.</a:t>
            </a:r>
            <a:endParaRPr sz="3200" dirty="0">
              <a:solidFill>
                <a:srgbClr val="322A27"/>
              </a:solidFill>
              <a:latin typeface="Gill Sans"/>
              <a:ea typeface="Gill Sans"/>
              <a:cs typeface="Gill Sans"/>
              <a:sym typeface="Gill Sans"/>
            </a:endParaRPr>
          </a:p>
        </p:txBody>
      </p:sp>
      <p:sp>
        <p:nvSpPr>
          <p:cNvPr id="592" name="Google Shape;592;p4"/>
          <p:cNvSpPr txBox="1"/>
          <p:nvPr/>
        </p:nvSpPr>
        <p:spPr>
          <a:xfrm>
            <a:off x="3569487" y="3989849"/>
            <a:ext cx="2173035" cy="2246729"/>
          </a:xfrm>
          <a:prstGeom prst="rect">
            <a:avLst/>
          </a:prstGeom>
          <a:noFill/>
          <a:ln>
            <a:noFill/>
          </a:ln>
        </p:spPr>
        <p:txBody>
          <a:bodyPr spcFirstLastPara="1" wrap="square" lIns="91425" tIns="45700" rIns="91425" bIns="45700" anchor="t" anchorCtr="0">
            <a:spAutoFit/>
          </a:bodyPr>
          <a:lstStyle/>
          <a:p>
            <a:pPr lvl="0" algn="ctr"/>
            <a:r>
              <a:rPr lang="en-IN" sz="2000" dirty="0">
                <a:solidFill>
                  <a:srgbClr val="2C2C2C"/>
                </a:solidFill>
                <a:latin typeface="Arial" panose="020B0604020202020204" pitchFamily="34" charset="0"/>
                <a:ea typeface="Arial" panose="020B0604020202020204" pitchFamily="34" charset="0"/>
              </a:rPr>
              <a:t>It focuses entirely on what changes when moving an existing CAP JavaScript project to TypeScript. </a:t>
            </a:r>
            <a:endParaRPr sz="2000" dirty="0">
              <a:solidFill>
                <a:srgbClr val="322A27"/>
              </a:solidFill>
              <a:latin typeface="Quattrocento Sans"/>
              <a:ea typeface="Quattrocento Sans"/>
              <a:cs typeface="Quattrocento Sans"/>
              <a:sym typeface="Quattrocento Sans"/>
            </a:endParaRPr>
          </a:p>
        </p:txBody>
      </p:sp>
      <p:sp>
        <p:nvSpPr>
          <p:cNvPr id="593" name="Google Shape;593;p4"/>
          <p:cNvSpPr txBox="1"/>
          <p:nvPr/>
        </p:nvSpPr>
        <p:spPr>
          <a:xfrm>
            <a:off x="6530824" y="4002834"/>
            <a:ext cx="2173035" cy="2308284"/>
          </a:xfrm>
          <a:prstGeom prst="rect">
            <a:avLst/>
          </a:prstGeom>
          <a:noFill/>
          <a:ln>
            <a:noFill/>
          </a:ln>
        </p:spPr>
        <p:txBody>
          <a:bodyPr spcFirstLastPara="1" wrap="square" lIns="91425" tIns="45700" rIns="91425" bIns="45700" anchor="t" anchorCtr="0">
            <a:spAutoFit/>
          </a:bodyPr>
          <a:lstStyle/>
          <a:p>
            <a:pPr lvl="0" algn="ctr"/>
            <a:r>
              <a:rPr lang="en-IN" sz="1600" dirty="0">
                <a:solidFill>
                  <a:srgbClr val="2C2C2C"/>
                </a:solidFill>
                <a:latin typeface="Arial" panose="020B0604020202020204" pitchFamily="34" charset="0"/>
                <a:ea typeface="Arial" panose="020B0604020202020204" pitchFamily="34" charset="0"/>
              </a:rPr>
              <a:t>This module covers the TypeScript-specific changes for two distinct areas: backend API consumption using the SAP Cloud SDK, and frontend Fiori/UI5 development</a:t>
            </a:r>
            <a:endParaRPr sz="1600" dirty="0">
              <a:solidFill>
                <a:srgbClr val="322A27"/>
              </a:solidFill>
              <a:latin typeface="Gill Sans"/>
              <a:ea typeface="Gill Sans"/>
              <a:cs typeface="Gill Sans"/>
              <a:sym typeface="Gill Sans"/>
            </a:endParaRPr>
          </a:p>
        </p:txBody>
      </p:sp>
      <p:sp>
        <p:nvSpPr>
          <p:cNvPr id="594" name="Google Shape;594;p4"/>
          <p:cNvSpPr txBox="1"/>
          <p:nvPr/>
        </p:nvSpPr>
        <p:spPr>
          <a:xfrm>
            <a:off x="9203121" y="3989849"/>
            <a:ext cx="2377067" cy="2031285"/>
          </a:xfrm>
          <a:prstGeom prst="rect">
            <a:avLst/>
          </a:prstGeom>
          <a:noFill/>
          <a:ln>
            <a:noFill/>
          </a:ln>
        </p:spPr>
        <p:txBody>
          <a:bodyPr spcFirstLastPara="1" wrap="square" lIns="91425" tIns="45700" rIns="91425" bIns="45700" anchor="t" anchorCtr="0">
            <a:spAutoFit/>
          </a:bodyPr>
          <a:lstStyle/>
          <a:p>
            <a:pPr lvl="0" algn="ctr"/>
            <a:r>
              <a:rPr lang="en-IN" sz="1800" dirty="0">
                <a:solidFill>
                  <a:srgbClr val="2C2C2C"/>
                </a:solidFill>
                <a:latin typeface="Arial" panose="020B0604020202020204" pitchFamily="34" charset="0"/>
                <a:ea typeface="Arial" panose="020B0604020202020204" pitchFamily="34" charset="0"/>
              </a:rPr>
              <a:t>The final module covers the deployment pipeline changes needed to support TypeScript in an existing BTP project. </a:t>
            </a:r>
            <a:endParaRPr sz="1800" dirty="0">
              <a:solidFill>
                <a:srgbClr val="322A27"/>
              </a:solidFill>
              <a:latin typeface="Gill Sans"/>
              <a:ea typeface="Gill Sans"/>
              <a:cs typeface="Gill Sans"/>
              <a:sym typeface="Gill Sans"/>
            </a:endParaRPr>
          </a:p>
        </p:txBody>
      </p:sp>
      <p:sp>
        <p:nvSpPr>
          <p:cNvPr id="595" name="Google Shape;595;p4"/>
          <p:cNvSpPr/>
          <p:nvPr/>
        </p:nvSpPr>
        <p:spPr>
          <a:xfrm>
            <a:off x="1211841"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96" name="Google Shape;596;p4"/>
          <p:cNvSpPr/>
          <p:nvPr/>
        </p:nvSpPr>
        <p:spPr>
          <a:xfrm>
            <a:off x="609441"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97" name="Google Shape;597;p4"/>
          <p:cNvSpPr txBox="1"/>
          <p:nvPr/>
        </p:nvSpPr>
        <p:spPr>
          <a:xfrm>
            <a:off x="608637" y="1327074"/>
            <a:ext cx="2134819" cy="1200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dirty="0">
                <a:solidFill>
                  <a:schemeClr val="lt1"/>
                </a:solidFill>
                <a:latin typeface="Gill Sans"/>
                <a:ea typeface="Gill Sans"/>
                <a:cs typeface="Gill Sans"/>
                <a:sym typeface="Gill Sans"/>
              </a:rPr>
              <a:t>Type Script Basics for Transition</a:t>
            </a:r>
            <a:endParaRPr sz="2400" b="1" dirty="0">
              <a:solidFill>
                <a:schemeClr val="lt1"/>
              </a:solidFill>
              <a:latin typeface="Gill Sans"/>
              <a:ea typeface="Gill Sans"/>
              <a:cs typeface="Gill Sans"/>
              <a:sym typeface="Gill Sans"/>
            </a:endParaRPr>
          </a:p>
        </p:txBody>
      </p:sp>
      <p:sp>
        <p:nvSpPr>
          <p:cNvPr id="598" name="Google Shape;598;p4"/>
          <p:cNvSpPr/>
          <p:nvPr/>
        </p:nvSpPr>
        <p:spPr>
          <a:xfrm rot="8090038" flipH="1">
            <a:off x="1262935"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599" name="Google Shape;599;p4"/>
          <p:cNvSpPr/>
          <p:nvPr/>
        </p:nvSpPr>
        <p:spPr>
          <a:xfrm>
            <a:off x="4120285"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57913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0" name="Google Shape;600;p4"/>
          <p:cNvSpPr/>
          <p:nvPr/>
        </p:nvSpPr>
        <p:spPr>
          <a:xfrm>
            <a:off x="3517885"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1" name="Google Shape;601;p4"/>
          <p:cNvSpPr txBox="1"/>
          <p:nvPr/>
        </p:nvSpPr>
        <p:spPr>
          <a:xfrm>
            <a:off x="3594050" y="1489788"/>
            <a:ext cx="2019899" cy="83095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dirty="0">
                <a:solidFill>
                  <a:schemeClr val="lt1"/>
                </a:solidFill>
                <a:latin typeface="Gill Sans"/>
                <a:ea typeface="Gill Sans"/>
                <a:cs typeface="Gill Sans"/>
                <a:sym typeface="Gill Sans"/>
              </a:rPr>
              <a:t>CAP in Type Script</a:t>
            </a:r>
            <a:endParaRPr sz="2400" b="1" dirty="0">
              <a:solidFill>
                <a:schemeClr val="lt1"/>
              </a:solidFill>
              <a:latin typeface="Gill Sans"/>
              <a:ea typeface="Gill Sans"/>
              <a:cs typeface="Gill Sans"/>
              <a:sym typeface="Gill Sans"/>
            </a:endParaRPr>
          </a:p>
        </p:txBody>
      </p:sp>
      <p:sp>
        <p:nvSpPr>
          <p:cNvPr id="602" name="Google Shape;602;p4"/>
          <p:cNvSpPr/>
          <p:nvPr/>
        </p:nvSpPr>
        <p:spPr>
          <a:xfrm rot="8090038" flipH="1">
            <a:off x="4171379"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grpSp>
        <p:nvGrpSpPr>
          <p:cNvPr id="603" name="Google Shape;603;p4"/>
          <p:cNvGrpSpPr/>
          <p:nvPr/>
        </p:nvGrpSpPr>
        <p:grpSpPr>
          <a:xfrm>
            <a:off x="5750339" y="2846872"/>
            <a:ext cx="620814" cy="620814"/>
            <a:chOff x="2892364" y="2878815"/>
            <a:chExt cx="385476" cy="385476"/>
          </a:xfrm>
        </p:grpSpPr>
        <p:sp>
          <p:nvSpPr>
            <p:cNvPr id="604" name="Google Shape;604;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605" name="Google Shape;605;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grpSp>
        <p:nvGrpSpPr>
          <p:cNvPr id="606" name="Google Shape;606;p4"/>
          <p:cNvGrpSpPr/>
          <p:nvPr/>
        </p:nvGrpSpPr>
        <p:grpSpPr>
          <a:xfrm>
            <a:off x="9393617" y="1176900"/>
            <a:ext cx="2172231" cy="2407496"/>
            <a:chOff x="4262167" y="1124744"/>
            <a:chExt cx="2172231" cy="2407496"/>
          </a:xfrm>
        </p:grpSpPr>
        <p:sp>
          <p:nvSpPr>
            <p:cNvPr id="607" name="Google Shape;607;p4"/>
            <p:cNvSpPr/>
            <p:nvPr/>
          </p:nvSpPr>
          <p:spPr>
            <a:xfrm>
              <a:off x="4864567" y="3095467"/>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57913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8" name="Google Shape;608;p4"/>
            <p:cNvSpPr/>
            <p:nvPr/>
          </p:nvSpPr>
          <p:spPr>
            <a:xfrm>
              <a:off x="4262167" y="1124744"/>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9" name="Google Shape;609;p4"/>
            <p:cNvSpPr txBox="1"/>
            <p:nvPr/>
          </p:nvSpPr>
          <p:spPr>
            <a:xfrm>
              <a:off x="4497166" y="1186280"/>
              <a:ext cx="1728192" cy="147728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800" b="1" dirty="0">
                  <a:solidFill>
                    <a:schemeClr val="lt1"/>
                  </a:solidFill>
                  <a:latin typeface="Gill Sans"/>
                  <a:ea typeface="Gill Sans"/>
                  <a:cs typeface="Gill Sans"/>
                  <a:sym typeface="Gill Sans"/>
                </a:rPr>
                <a:t>CI/CD pipeline &amp; TypeScript-aware deployment</a:t>
              </a:r>
              <a:endParaRPr dirty="0"/>
            </a:p>
          </p:txBody>
        </p:sp>
        <p:sp>
          <p:nvSpPr>
            <p:cNvPr id="610" name="Google Shape;610;p4"/>
            <p:cNvSpPr/>
            <p:nvPr/>
          </p:nvSpPr>
          <p:spPr>
            <a:xfrm rot="8090038" flipH="1">
              <a:off x="4915661" y="2635203"/>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grpSp>
      <p:grpSp>
        <p:nvGrpSpPr>
          <p:cNvPr id="611" name="Google Shape;611;p4"/>
          <p:cNvGrpSpPr/>
          <p:nvPr/>
        </p:nvGrpSpPr>
        <p:grpSpPr>
          <a:xfrm>
            <a:off x="8635461" y="2846872"/>
            <a:ext cx="620814" cy="620814"/>
            <a:chOff x="2892364" y="2878815"/>
            <a:chExt cx="385476" cy="385476"/>
          </a:xfrm>
        </p:grpSpPr>
        <p:sp>
          <p:nvSpPr>
            <p:cNvPr id="612" name="Google Shape;612;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613" name="Google Shape;613;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sp>
        <p:nvSpPr>
          <p:cNvPr id="614" name="Google Shape;614;p4"/>
          <p:cNvSpPr/>
          <p:nvPr/>
        </p:nvSpPr>
        <p:spPr>
          <a:xfrm>
            <a:off x="821812"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5" name="Google Shape;615;p4"/>
          <p:cNvSpPr/>
          <p:nvPr/>
        </p:nvSpPr>
        <p:spPr>
          <a:xfrm>
            <a:off x="3583616"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6" name="Google Shape;616;p4"/>
          <p:cNvSpPr/>
          <p:nvPr/>
        </p:nvSpPr>
        <p:spPr>
          <a:xfrm>
            <a:off x="6632969"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7" name="Google Shape;617;p4"/>
          <p:cNvSpPr/>
          <p:nvPr/>
        </p:nvSpPr>
        <p:spPr>
          <a:xfrm>
            <a:off x="9419144"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9" name="Google Shape;552;p2"/>
          <p:cNvSpPr txBox="1"/>
          <p:nvPr/>
        </p:nvSpPr>
        <p:spPr>
          <a:xfrm>
            <a:off x="9527526" y="6551489"/>
            <a:ext cx="3002568" cy="3385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chemeClr val="accent1"/>
                </a:solidFill>
                <a:latin typeface="Cambria" panose="02040503050406030204" pitchFamily="18" charset="0"/>
                <a:ea typeface="Cambria" panose="02040503050406030204" pitchFamily="18" charset="0"/>
                <a:cs typeface="Corben"/>
                <a:sym typeface="Corben"/>
              </a:rPr>
              <a:t>www.anubhavtrainings.com</a:t>
            </a:r>
            <a:endParaRPr sz="1600" dirty="0">
              <a:solidFill>
                <a:schemeClr val="accent1"/>
              </a:solidFill>
              <a:latin typeface="Cambria" panose="02040503050406030204" pitchFamily="18" charset="0"/>
              <a:ea typeface="Cambria" panose="02040503050406030204" pitchFamily="18" charset="0"/>
              <a:cs typeface="Corben"/>
              <a:sym typeface="Corben"/>
            </a:endParaRPr>
          </a:p>
        </p:txBody>
      </p:sp>
      <p:pic>
        <p:nvPicPr>
          <p:cNvPr id="50"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ECE12C55-61D0-FC48-6DB5-FB88F350564C}"/>
              </a:ext>
            </a:extLst>
          </p:cNvPr>
          <p:cNvSpPr/>
          <p:nvPr/>
        </p:nvSpPr>
        <p:spPr>
          <a:xfrm>
            <a:off x="3139103" y="994180"/>
            <a:ext cx="2908109" cy="5449087"/>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7"/>
                                        </p:tgtEl>
                                        <p:attrNameLst>
                                          <p:attrName>style.visibility</p:attrName>
                                        </p:attrNameLst>
                                      </p:cBhvr>
                                      <p:to>
                                        <p:strVal val="visible"/>
                                      </p:to>
                                    </p:set>
                                    <p:animEffect transition="in" filter="barn(inVertical)">
                                      <p:cBhvr>
                                        <p:cTn id="7" dur="500"/>
                                        <p:tgtEl>
                                          <p:spTgt spid="587"/>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595"/>
                                        </p:tgtEl>
                                        <p:attrNameLst>
                                          <p:attrName>style.visibility</p:attrName>
                                        </p:attrNameLst>
                                      </p:cBhvr>
                                      <p:to>
                                        <p:strVal val="visible"/>
                                      </p:to>
                                    </p:set>
                                    <p:animEffect transition="in" filter="barn(inVertical)">
                                      <p:cBhvr>
                                        <p:cTn id="12" dur="500"/>
                                        <p:tgtEl>
                                          <p:spTgt spid="595"/>
                                        </p:tgtEl>
                                      </p:cBhvr>
                                    </p:animEffect>
                                  </p:childTnLst>
                                </p:cTn>
                              </p:par>
                              <p:par>
                                <p:cTn id="13" presetID="16" presetClass="entr" presetSubtype="21" fill="hold" grpId="0" nodeType="withEffect">
                                  <p:stCondLst>
                                    <p:cond delay="0"/>
                                  </p:stCondLst>
                                  <p:childTnLst>
                                    <p:set>
                                      <p:cBhvr>
                                        <p:cTn id="14" dur="1" fill="hold">
                                          <p:stCondLst>
                                            <p:cond delay="0"/>
                                          </p:stCondLst>
                                        </p:cTn>
                                        <p:tgtEl>
                                          <p:spTgt spid="598"/>
                                        </p:tgtEl>
                                        <p:attrNameLst>
                                          <p:attrName>style.visibility</p:attrName>
                                        </p:attrNameLst>
                                      </p:cBhvr>
                                      <p:to>
                                        <p:strVal val="visible"/>
                                      </p:to>
                                    </p:set>
                                    <p:animEffect transition="in" filter="barn(inVertical)">
                                      <p:cBhvr>
                                        <p:cTn id="15" dur="500"/>
                                        <p:tgtEl>
                                          <p:spTgt spid="598"/>
                                        </p:tgtEl>
                                      </p:cBhvr>
                                    </p:animEffect>
                                  </p:childTnLst>
                                </p:cTn>
                              </p:par>
                              <p:par>
                                <p:cTn id="16" presetID="16" presetClass="entr" presetSubtype="21" fill="hold" grpId="0" nodeType="withEffect">
                                  <p:stCondLst>
                                    <p:cond delay="0"/>
                                  </p:stCondLst>
                                  <p:childTnLst>
                                    <p:set>
                                      <p:cBhvr>
                                        <p:cTn id="17" dur="1" fill="hold">
                                          <p:stCondLst>
                                            <p:cond delay="0"/>
                                          </p:stCondLst>
                                        </p:cTn>
                                        <p:tgtEl>
                                          <p:spTgt spid="597"/>
                                        </p:tgtEl>
                                        <p:attrNameLst>
                                          <p:attrName>style.visibility</p:attrName>
                                        </p:attrNameLst>
                                      </p:cBhvr>
                                      <p:to>
                                        <p:strVal val="visible"/>
                                      </p:to>
                                    </p:set>
                                    <p:animEffect transition="in" filter="barn(inVertical)">
                                      <p:cBhvr>
                                        <p:cTn id="18" dur="500"/>
                                        <p:tgtEl>
                                          <p:spTgt spid="597"/>
                                        </p:tgtEl>
                                      </p:cBhvr>
                                    </p:animEffect>
                                  </p:childTnLst>
                                </p:cTn>
                              </p:par>
                              <p:par>
                                <p:cTn id="19" presetID="16" presetClass="entr" presetSubtype="21" fill="hold" grpId="0" nodeType="withEffect">
                                  <p:stCondLst>
                                    <p:cond delay="0"/>
                                  </p:stCondLst>
                                  <p:childTnLst>
                                    <p:set>
                                      <p:cBhvr>
                                        <p:cTn id="20" dur="1" fill="hold">
                                          <p:stCondLst>
                                            <p:cond delay="0"/>
                                          </p:stCondLst>
                                        </p:cTn>
                                        <p:tgtEl>
                                          <p:spTgt spid="596"/>
                                        </p:tgtEl>
                                        <p:attrNameLst>
                                          <p:attrName>style.visibility</p:attrName>
                                        </p:attrNameLst>
                                      </p:cBhvr>
                                      <p:to>
                                        <p:strVal val="visible"/>
                                      </p:to>
                                    </p:set>
                                    <p:animEffect transition="in" filter="barn(inVertical)">
                                      <p:cBhvr>
                                        <p:cTn id="21" dur="500"/>
                                        <p:tgtEl>
                                          <p:spTgt spid="596"/>
                                        </p:tgtEl>
                                      </p:cBhvr>
                                    </p:animEffect>
                                  </p:childTnLst>
                                </p:cTn>
                              </p:par>
                              <p:par>
                                <p:cTn id="22" presetID="16" presetClass="entr" presetSubtype="21" fill="hold" grpId="0" nodeType="withEffect">
                                  <p:stCondLst>
                                    <p:cond delay="0"/>
                                  </p:stCondLst>
                                  <p:childTnLst>
                                    <p:set>
                                      <p:cBhvr>
                                        <p:cTn id="23" dur="1" fill="hold">
                                          <p:stCondLst>
                                            <p:cond delay="0"/>
                                          </p:stCondLst>
                                        </p:cTn>
                                        <p:tgtEl>
                                          <p:spTgt spid="579"/>
                                        </p:tgtEl>
                                        <p:attrNameLst>
                                          <p:attrName>style.visibility</p:attrName>
                                        </p:attrNameLst>
                                      </p:cBhvr>
                                      <p:to>
                                        <p:strVal val="visible"/>
                                      </p:to>
                                    </p:set>
                                    <p:animEffect transition="in" filter="barn(inVertical)">
                                      <p:cBhvr>
                                        <p:cTn id="24" dur="500"/>
                                        <p:tgtEl>
                                          <p:spTgt spid="579"/>
                                        </p:tgtEl>
                                      </p:cBhvr>
                                    </p:animEffect>
                                  </p:childTnLst>
                                </p:cTn>
                              </p:par>
                            </p:childTnLst>
                          </p:cTn>
                        </p:par>
                      </p:childTnLst>
                    </p:cTn>
                  </p:par>
                  <p:par>
                    <p:cTn id="25" fill="hold">
                      <p:stCondLst>
                        <p:cond delay="indefinite"/>
                      </p:stCondLst>
                      <p:childTnLst>
                        <p:par>
                          <p:cTn id="26" fill="hold">
                            <p:stCondLst>
                              <p:cond delay="0"/>
                            </p:stCondLst>
                            <p:childTnLst>
                              <p:par>
                                <p:cTn id="27" presetID="16" presetClass="entr" presetSubtype="21" fill="hold" grpId="0" nodeType="clickEffect">
                                  <p:stCondLst>
                                    <p:cond delay="0"/>
                                  </p:stCondLst>
                                  <p:childTnLst>
                                    <p:set>
                                      <p:cBhvr>
                                        <p:cTn id="28" dur="1" fill="hold">
                                          <p:stCondLst>
                                            <p:cond delay="0"/>
                                          </p:stCondLst>
                                        </p:cTn>
                                        <p:tgtEl>
                                          <p:spTgt spid="578"/>
                                        </p:tgtEl>
                                        <p:attrNameLst>
                                          <p:attrName>style.visibility</p:attrName>
                                        </p:attrNameLst>
                                      </p:cBhvr>
                                      <p:to>
                                        <p:strVal val="visible"/>
                                      </p:to>
                                    </p:set>
                                    <p:animEffect transition="in" filter="barn(inVertical)">
                                      <p:cBhvr>
                                        <p:cTn id="29" dur="500"/>
                                        <p:tgtEl>
                                          <p:spTgt spid="578"/>
                                        </p:tgtEl>
                                      </p:cBhvr>
                                    </p:animEffect>
                                  </p:childTnLst>
                                </p:cTn>
                              </p:par>
                              <p:par>
                                <p:cTn id="30" presetID="16" presetClass="entr" presetSubtype="21" fill="hold" grpId="0" nodeType="withEffect">
                                  <p:stCondLst>
                                    <p:cond delay="0"/>
                                  </p:stCondLst>
                                  <p:childTnLst>
                                    <p:set>
                                      <p:cBhvr>
                                        <p:cTn id="31" dur="1" fill="hold">
                                          <p:stCondLst>
                                            <p:cond delay="0"/>
                                          </p:stCondLst>
                                        </p:cTn>
                                        <p:tgtEl>
                                          <p:spTgt spid="600"/>
                                        </p:tgtEl>
                                        <p:attrNameLst>
                                          <p:attrName>style.visibility</p:attrName>
                                        </p:attrNameLst>
                                      </p:cBhvr>
                                      <p:to>
                                        <p:strVal val="visible"/>
                                      </p:to>
                                    </p:set>
                                    <p:animEffect transition="in" filter="barn(inVertical)">
                                      <p:cBhvr>
                                        <p:cTn id="32" dur="500"/>
                                        <p:tgtEl>
                                          <p:spTgt spid="600"/>
                                        </p:tgtEl>
                                      </p:cBhvr>
                                    </p:animEffect>
                                  </p:childTnLst>
                                </p:cTn>
                              </p:par>
                              <p:par>
                                <p:cTn id="33" presetID="16" presetClass="entr" presetSubtype="21" fill="hold" grpId="0" nodeType="withEffect">
                                  <p:stCondLst>
                                    <p:cond delay="0"/>
                                  </p:stCondLst>
                                  <p:childTnLst>
                                    <p:set>
                                      <p:cBhvr>
                                        <p:cTn id="34" dur="1" fill="hold">
                                          <p:stCondLst>
                                            <p:cond delay="0"/>
                                          </p:stCondLst>
                                        </p:cTn>
                                        <p:tgtEl>
                                          <p:spTgt spid="601"/>
                                        </p:tgtEl>
                                        <p:attrNameLst>
                                          <p:attrName>style.visibility</p:attrName>
                                        </p:attrNameLst>
                                      </p:cBhvr>
                                      <p:to>
                                        <p:strVal val="visible"/>
                                      </p:to>
                                    </p:set>
                                    <p:animEffect transition="in" filter="barn(inVertical)">
                                      <p:cBhvr>
                                        <p:cTn id="35" dur="500"/>
                                        <p:tgtEl>
                                          <p:spTgt spid="601"/>
                                        </p:tgtEl>
                                      </p:cBhvr>
                                    </p:animEffect>
                                  </p:childTnLst>
                                </p:cTn>
                              </p:par>
                              <p:par>
                                <p:cTn id="36" presetID="16" presetClass="entr" presetSubtype="21" fill="hold" grpId="0" nodeType="withEffect">
                                  <p:stCondLst>
                                    <p:cond delay="0"/>
                                  </p:stCondLst>
                                  <p:childTnLst>
                                    <p:set>
                                      <p:cBhvr>
                                        <p:cTn id="37" dur="1" fill="hold">
                                          <p:stCondLst>
                                            <p:cond delay="0"/>
                                          </p:stCondLst>
                                        </p:cTn>
                                        <p:tgtEl>
                                          <p:spTgt spid="602"/>
                                        </p:tgtEl>
                                        <p:attrNameLst>
                                          <p:attrName>style.visibility</p:attrName>
                                        </p:attrNameLst>
                                      </p:cBhvr>
                                      <p:to>
                                        <p:strVal val="visible"/>
                                      </p:to>
                                    </p:set>
                                    <p:animEffect transition="in" filter="barn(inVertical)">
                                      <p:cBhvr>
                                        <p:cTn id="38" dur="500"/>
                                        <p:tgtEl>
                                          <p:spTgt spid="602"/>
                                        </p:tgtEl>
                                      </p:cBhvr>
                                    </p:animEffect>
                                  </p:childTnLst>
                                </p:cTn>
                              </p:par>
                              <p:par>
                                <p:cTn id="39" presetID="16" presetClass="entr" presetSubtype="21" fill="hold" grpId="0" nodeType="withEffect">
                                  <p:stCondLst>
                                    <p:cond delay="0"/>
                                  </p:stCondLst>
                                  <p:childTnLst>
                                    <p:set>
                                      <p:cBhvr>
                                        <p:cTn id="40" dur="1" fill="hold">
                                          <p:stCondLst>
                                            <p:cond delay="0"/>
                                          </p:stCondLst>
                                        </p:cTn>
                                        <p:tgtEl>
                                          <p:spTgt spid="599"/>
                                        </p:tgtEl>
                                        <p:attrNameLst>
                                          <p:attrName>style.visibility</p:attrName>
                                        </p:attrNameLst>
                                      </p:cBhvr>
                                      <p:to>
                                        <p:strVal val="visible"/>
                                      </p:to>
                                    </p:set>
                                    <p:animEffect transition="in" filter="barn(inVertical)">
                                      <p:cBhvr>
                                        <p:cTn id="41" dur="500"/>
                                        <p:tgtEl>
                                          <p:spTgt spid="599"/>
                                        </p:tgtEl>
                                      </p:cBhvr>
                                    </p:animEffect>
                                  </p:childTnLst>
                                </p:cTn>
                              </p:par>
                            </p:childTnLst>
                          </p:cTn>
                        </p:par>
                      </p:childTnLst>
                    </p:cTn>
                  </p:par>
                  <p:par>
                    <p:cTn id="42" fill="hold">
                      <p:stCondLst>
                        <p:cond delay="indefinite"/>
                      </p:stCondLst>
                      <p:childTnLst>
                        <p:par>
                          <p:cTn id="43" fill="hold">
                            <p:stCondLst>
                              <p:cond delay="0"/>
                            </p:stCondLst>
                            <p:childTnLst>
                              <p:par>
                                <p:cTn id="44" presetID="16" presetClass="entr" presetSubtype="21" fill="hold" grpId="0" nodeType="clickEffect">
                                  <p:stCondLst>
                                    <p:cond delay="0"/>
                                  </p:stCondLst>
                                  <p:childTnLst>
                                    <p:set>
                                      <p:cBhvr>
                                        <p:cTn id="45" dur="1" fill="hold">
                                          <p:stCondLst>
                                            <p:cond delay="0"/>
                                          </p:stCondLst>
                                        </p:cTn>
                                        <p:tgtEl>
                                          <p:spTgt spid="577"/>
                                        </p:tgtEl>
                                        <p:attrNameLst>
                                          <p:attrName>style.visibility</p:attrName>
                                        </p:attrNameLst>
                                      </p:cBhvr>
                                      <p:to>
                                        <p:strVal val="visible"/>
                                      </p:to>
                                    </p:set>
                                    <p:animEffect transition="in" filter="barn(inVertical)">
                                      <p:cBhvr>
                                        <p:cTn id="46" dur="500"/>
                                        <p:tgtEl>
                                          <p:spTgt spid="577"/>
                                        </p:tgtEl>
                                      </p:cBhvr>
                                    </p:animEffect>
                                  </p:childTnLst>
                                </p:cTn>
                              </p:par>
                              <p:par>
                                <p:cTn id="47" presetID="16" presetClass="entr" presetSubtype="21" fill="hold" grpId="0" nodeType="withEffect">
                                  <p:stCondLst>
                                    <p:cond delay="0"/>
                                  </p:stCondLst>
                                  <p:childTnLst>
                                    <p:set>
                                      <p:cBhvr>
                                        <p:cTn id="48" dur="1" fill="hold">
                                          <p:stCondLst>
                                            <p:cond delay="0"/>
                                          </p:stCondLst>
                                        </p:cTn>
                                        <p:tgtEl>
                                          <p:spTgt spid="584"/>
                                        </p:tgtEl>
                                        <p:attrNameLst>
                                          <p:attrName>style.visibility</p:attrName>
                                        </p:attrNameLst>
                                      </p:cBhvr>
                                      <p:to>
                                        <p:strVal val="visible"/>
                                      </p:to>
                                    </p:set>
                                    <p:animEffect transition="in" filter="barn(inVertical)">
                                      <p:cBhvr>
                                        <p:cTn id="49" dur="500"/>
                                        <p:tgtEl>
                                          <p:spTgt spid="584"/>
                                        </p:tgtEl>
                                      </p:cBhvr>
                                    </p:animEffect>
                                  </p:childTnLst>
                                </p:cTn>
                              </p:par>
                              <p:par>
                                <p:cTn id="50" presetID="16" presetClass="entr" presetSubtype="21" fill="hold" grpId="0" nodeType="withEffect">
                                  <p:stCondLst>
                                    <p:cond delay="0"/>
                                  </p:stCondLst>
                                  <p:childTnLst>
                                    <p:set>
                                      <p:cBhvr>
                                        <p:cTn id="51" dur="1" fill="hold">
                                          <p:stCondLst>
                                            <p:cond delay="0"/>
                                          </p:stCondLst>
                                        </p:cTn>
                                        <p:tgtEl>
                                          <p:spTgt spid="585"/>
                                        </p:tgtEl>
                                        <p:attrNameLst>
                                          <p:attrName>style.visibility</p:attrName>
                                        </p:attrNameLst>
                                      </p:cBhvr>
                                      <p:to>
                                        <p:strVal val="visible"/>
                                      </p:to>
                                    </p:set>
                                    <p:animEffect transition="in" filter="barn(inVertical)">
                                      <p:cBhvr>
                                        <p:cTn id="52" dur="500"/>
                                        <p:tgtEl>
                                          <p:spTgt spid="585"/>
                                        </p:tgtEl>
                                      </p:cBhvr>
                                    </p:animEffect>
                                  </p:childTnLst>
                                </p:cTn>
                              </p:par>
                              <p:par>
                                <p:cTn id="53" presetID="16" presetClass="entr" presetSubtype="21" fill="hold" grpId="0" nodeType="withEffect">
                                  <p:stCondLst>
                                    <p:cond delay="0"/>
                                  </p:stCondLst>
                                  <p:childTnLst>
                                    <p:set>
                                      <p:cBhvr>
                                        <p:cTn id="54" dur="1" fill="hold">
                                          <p:stCondLst>
                                            <p:cond delay="0"/>
                                          </p:stCondLst>
                                        </p:cTn>
                                        <p:tgtEl>
                                          <p:spTgt spid="586"/>
                                        </p:tgtEl>
                                        <p:attrNameLst>
                                          <p:attrName>style.visibility</p:attrName>
                                        </p:attrNameLst>
                                      </p:cBhvr>
                                      <p:to>
                                        <p:strVal val="visible"/>
                                      </p:to>
                                    </p:set>
                                    <p:animEffect transition="in" filter="barn(inVertical)">
                                      <p:cBhvr>
                                        <p:cTn id="55" dur="500"/>
                                        <p:tgtEl>
                                          <p:spTgt spid="586"/>
                                        </p:tgtEl>
                                      </p:cBhvr>
                                    </p:animEffect>
                                  </p:childTnLst>
                                </p:cTn>
                              </p:par>
                              <p:par>
                                <p:cTn id="56" presetID="16" presetClass="entr" presetSubtype="21" fill="hold" grpId="0" nodeType="withEffect">
                                  <p:stCondLst>
                                    <p:cond delay="0"/>
                                  </p:stCondLst>
                                  <p:childTnLst>
                                    <p:set>
                                      <p:cBhvr>
                                        <p:cTn id="57" dur="1" fill="hold">
                                          <p:stCondLst>
                                            <p:cond delay="0"/>
                                          </p:stCondLst>
                                        </p:cTn>
                                        <p:tgtEl>
                                          <p:spTgt spid="583"/>
                                        </p:tgtEl>
                                        <p:attrNameLst>
                                          <p:attrName>style.visibility</p:attrName>
                                        </p:attrNameLst>
                                      </p:cBhvr>
                                      <p:to>
                                        <p:strVal val="visible"/>
                                      </p:to>
                                    </p:set>
                                    <p:animEffect transition="in" filter="barn(inVertical)">
                                      <p:cBhvr>
                                        <p:cTn id="58" dur="500"/>
                                        <p:tgtEl>
                                          <p:spTgt spid="583"/>
                                        </p:tgtEl>
                                      </p:cBhvr>
                                    </p:animEffect>
                                  </p:childTnLst>
                                </p:cTn>
                              </p:par>
                            </p:childTnLst>
                          </p:cTn>
                        </p:par>
                      </p:childTnLst>
                    </p:cTn>
                  </p:par>
                  <p:par>
                    <p:cTn id="59" fill="hold">
                      <p:stCondLst>
                        <p:cond delay="indefinite"/>
                      </p:stCondLst>
                      <p:childTnLst>
                        <p:par>
                          <p:cTn id="60" fill="hold">
                            <p:stCondLst>
                              <p:cond delay="0"/>
                            </p:stCondLst>
                            <p:childTnLst>
                              <p:par>
                                <p:cTn id="61" presetID="16" presetClass="entr" presetSubtype="21" fill="hold" nodeType="clickEffect">
                                  <p:stCondLst>
                                    <p:cond delay="0"/>
                                  </p:stCondLst>
                                  <p:childTnLst>
                                    <p:set>
                                      <p:cBhvr>
                                        <p:cTn id="62" dur="1" fill="hold">
                                          <p:stCondLst>
                                            <p:cond delay="0"/>
                                          </p:stCondLst>
                                        </p:cTn>
                                        <p:tgtEl>
                                          <p:spTgt spid="606"/>
                                        </p:tgtEl>
                                        <p:attrNameLst>
                                          <p:attrName>style.visibility</p:attrName>
                                        </p:attrNameLst>
                                      </p:cBhvr>
                                      <p:to>
                                        <p:strVal val="visible"/>
                                      </p:to>
                                    </p:set>
                                    <p:animEffect transition="in" filter="barn(inVertical)">
                                      <p:cBhvr>
                                        <p:cTn id="63" dur="500"/>
                                        <p:tgtEl>
                                          <p:spTgt spid="606"/>
                                        </p:tgtEl>
                                      </p:cBhvr>
                                    </p:animEffect>
                                  </p:childTnLst>
                                </p:cTn>
                              </p:par>
                              <p:par>
                                <p:cTn id="64" presetID="16" presetClass="entr" presetSubtype="21" fill="hold" grpId="0" nodeType="withEffect">
                                  <p:stCondLst>
                                    <p:cond delay="0"/>
                                  </p:stCondLst>
                                  <p:childTnLst>
                                    <p:set>
                                      <p:cBhvr>
                                        <p:cTn id="65" dur="1" fill="hold">
                                          <p:stCondLst>
                                            <p:cond delay="0"/>
                                          </p:stCondLst>
                                        </p:cTn>
                                        <p:tgtEl>
                                          <p:spTgt spid="576"/>
                                        </p:tgtEl>
                                        <p:attrNameLst>
                                          <p:attrName>style.visibility</p:attrName>
                                        </p:attrNameLst>
                                      </p:cBhvr>
                                      <p:to>
                                        <p:strVal val="visible"/>
                                      </p:to>
                                    </p:set>
                                    <p:animEffect transition="in" filter="barn(inVertical)">
                                      <p:cBhvr>
                                        <p:cTn id="66" dur="500"/>
                                        <p:tgtEl>
                                          <p:spTgt spid="576"/>
                                        </p:tgtEl>
                                      </p:cBhvr>
                                    </p:animEffect>
                                  </p:childTnLst>
                                </p:cTn>
                              </p:par>
                            </p:childTnLst>
                          </p:cTn>
                        </p:par>
                      </p:childTnLst>
                    </p:cTn>
                  </p:par>
                  <p:par>
                    <p:cTn id="67" fill="hold">
                      <p:stCondLst>
                        <p:cond delay="indefinite"/>
                      </p:stCondLst>
                      <p:childTnLst>
                        <p:par>
                          <p:cTn id="68" fill="hold">
                            <p:stCondLst>
                              <p:cond delay="0"/>
                            </p:stCondLst>
                            <p:childTnLst>
                              <p:par>
                                <p:cTn id="69" presetID="16" presetClass="entr" presetSubtype="21" fill="hold" nodeType="clickEffect">
                                  <p:stCondLst>
                                    <p:cond delay="0"/>
                                  </p:stCondLst>
                                  <p:childTnLst>
                                    <p:set>
                                      <p:cBhvr>
                                        <p:cTn id="70" dur="1" fill="hold">
                                          <p:stCondLst>
                                            <p:cond delay="0"/>
                                          </p:stCondLst>
                                        </p:cTn>
                                        <p:tgtEl>
                                          <p:spTgt spid="588"/>
                                        </p:tgtEl>
                                        <p:attrNameLst>
                                          <p:attrName>style.visibility</p:attrName>
                                        </p:attrNameLst>
                                      </p:cBhvr>
                                      <p:to>
                                        <p:strVal val="visible"/>
                                      </p:to>
                                    </p:set>
                                    <p:animEffect transition="in" filter="barn(inVertical)">
                                      <p:cBhvr>
                                        <p:cTn id="71" dur="500"/>
                                        <p:tgtEl>
                                          <p:spTgt spid="588"/>
                                        </p:tgtEl>
                                      </p:cBhvr>
                                    </p:animEffect>
                                  </p:childTnLst>
                                </p:cTn>
                              </p:par>
                              <p:par>
                                <p:cTn id="72" presetID="16" presetClass="entr" presetSubtype="21" fill="hold" nodeType="withEffect">
                                  <p:stCondLst>
                                    <p:cond delay="0"/>
                                  </p:stCondLst>
                                  <p:childTnLst>
                                    <p:set>
                                      <p:cBhvr>
                                        <p:cTn id="73" dur="1" fill="hold">
                                          <p:stCondLst>
                                            <p:cond delay="0"/>
                                          </p:stCondLst>
                                        </p:cTn>
                                        <p:tgtEl>
                                          <p:spTgt spid="603"/>
                                        </p:tgtEl>
                                        <p:attrNameLst>
                                          <p:attrName>style.visibility</p:attrName>
                                        </p:attrNameLst>
                                      </p:cBhvr>
                                      <p:to>
                                        <p:strVal val="visible"/>
                                      </p:to>
                                    </p:set>
                                    <p:animEffect transition="in" filter="barn(inVertical)">
                                      <p:cBhvr>
                                        <p:cTn id="74" dur="500"/>
                                        <p:tgtEl>
                                          <p:spTgt spid="603"/>
                                        </p:tgtEl>
                                      </p:cBhvr>
                                    </p:animEffect>
                                  </p:childTnLst>
                                </p:cTn>
                              </p:par>
                              <p:par>
                                <p:cTn id="75" presetID="16" presetClass="entr" presetSubtype="21" fill="hold" nodeType="withEffect">
                                  <p:stCondLst>
                                    <p:cond delay="0"/>
                                  </p:stCondLst>
                                  <p:childTnLst>
                                    <p:set>
                                      <p:cBhvr>
                                        <p:cTn id="76" dur="1" fill="hold">
                                          <p:stCondLst>
                                            <p:cond delay="0"/>
                                          </p:stCondLst>
                                        </p:cTn>
                                        <p:tgtEl>
                                          <p:spTgt spid="611"/>
                                        </p:tgtEl>
                                        <p:attrNameLst>
                                          <p:attrName>style.visibility</p:attrName>
                                        </p:attrNameLst>
                                      </p:cBhvr>
                                      <p:to>
                                        <p:strVal val="visible"/>
                                      </p:to>
                                    </p:set>
                                    <p:animEffect transition="in" filter="barn(inVertical)">
                                      <p:cBhvr>
                                        <p:cTn id="77" dur="500"/>
                                        <p:tgtEl>
                                          <p:spTgt spid="611"/>
                                        </p:tgtEl>
                                      </p:cBhvr>
                                    </p:animEffect>
                                  </p:childTnLst>
                                </p:cTn>
                              </p:par>
                              <p:par>
                                <p:cTn id="78" presetID="16" presetClass="entr" presetSubtype="21" fill="hold" grpId="0" nodeType="withEffect">
                                  <p:stCondLst>
                                    <p:cond delay="0"/>
                                  </p:stCondLst>
                                  <p:childTnLst>
                                    <p:set>
                                      <p:cBhvr>
                                        <p:cTn id="79" dur="1" fill="hold">
                                          <p:stCondLst>
                                            <p:cond delay="0"/>
                                          </p:stCondLst>
                                        </p:cTn>
                                        <p:tgtEl>
                                          <p:spTgt spid="582"/>
                                        </p:tgtEl>
                                        <p:attrNameLst>
                                          <p:attrName>style.visibility</p:attrName>
                                        </p:attrNameLst>
                                      </p:cBhvr>
                                      <p:to>
                                        <p:strVal val="visible"/>
                                      </p:to>
                                    </p:set>
                                    <p:animEffect transition="in" filter="barn(inVertical)">
                                      <p:cBhvr>
                                        <p:cTn id="80" dur="500"/>
                                        <p:tgtEl>
                                          <p:spTgt spid="582"/>
                                        </p:tgtEl>
                                      </p:cBhvr>
                                    </p:animEffect>
                                  </p:childTnLst>
                                </p:cTn>
                              </p:par>
                            </p:childTnLst>
                          </p:cTn>
                        </p:par>
                      </p:childTnLst>
                    </p:cTn>
                  </p:par>
                  <p:par>
                    <p:cTn id="81" fill="hold">
                      <p:stCondLst>
                        <p:cond delay="indefinite"/>
                      </p:stCondLst>
                      <p:childTnLst>
                        <p:par>
                          <p:cTn id="82" fill="hold">
                            <p:stCondLst>
                              <p:cond delay="0"/>
                            </p:stCondLst>
                            <p:childTnLst>
                              <p:par>
                                <p:cTn id="83" presetID="16" presetClass="entr" presetSubtype="21" fill="hold" grpId="0" nodeType="clickEffect">
                                  <p:stCondLst>
                                    <p:cond delay="0"/>
                                  </p:stCondLst>
                                  <p:childTnLst>
                                    <p:set>
                                      <p:cBhvr>
                                        <p:cTn id="84" dur="1" fill="hold">
                                          <p:stCondLst>
                                            <p:cond delay="0"/>
                                          </p:stCondLst>
                                        </p:cTn>
                                        <p:tgtEl>
                                          <p:spTgt spid="591"/>
                                        </p:tgtEl>
                                        <p:attrNameLst>
                                          <p:attrName>style.visibility</p:attrName>
                                        </p:attrNameLst>
                                      </p:cBhvr>
                                      <p:to>
                                        <p:strVal val="visible"/>
                                      </p:to>
                                    </p:set>
                                    <p:animEffect transition="in" filter="barn(inVertical)">
                                      <p:cBhvr>
                                        <p:cTn id="85" dur="500"/>
                                        <p:tgtEl>
                                          <p:spTgt spid="591"/>
                                        </p:tgtEl>
                                      </p:cBhvr>
                                    </p:animEffect>
                                  </p:childTnLst>
                                </p:cTn>
                              </p:par>
                              <p:par>
                                <p:cTn id="86" presetID="16" presetClass="entr" presetSubtype="21" fill="hold" grpId="0" nodeType="withEffect">
                                  <p:stCondLst>
                                    <p:cond delay="0"/>
                                  </p:stCondLst>
                                  <p:childTnLst>
                                    <p:set>
                                      <p:cBhvr>
                                        <p:cTn id="87" dur="1" fill="hold">
                                          <p:stCondLst>
                                            <p:cond delay="0"/>
                                          </p:stCondLst>
                                        </p:cTn>
                                        <p:tgtEl>
                                          <p:spTgt spid="614"/>
                                        </p:tgtEl>
                                        <p:attrNameLst>
                                          <p:attrName>style.visibility</p:attrName>
                                        </p:attrNameLst>
                                      </p:cBhvr>
                                      <p:to>
                                        <p:strVal val="visible"/>
                                      </p:to>
                                    </p:set>
                                    <p:animEffect transition="in" filter="barn(inVertical)">
                                      <p:cBhvr>
                                        <p:cTn id="88" dur="500"/>
                                        <p:tgtEl>
                                          <p:spTgt spid="614"/>
                                        </p:tgtEl>
                                      </p:cBhvr>
                                    </p:animEffect>
                                  </p:childTnLst>
                                </p:cTn>
                              </p:par>
                              <p:par>
                                <p:cTn id="89" presetID="16" presetClass="entr" presetSubtype="21" fill="hold" grpId="0" nodeType="withEffect">
                                  <p:stCondLst>
                                    <p:cond delay="0"/>
                                  </p:stCondLst>
                                  <p:childTnLst>
                                    <p:set>
                                      <p:cBhvr>
                                        <p:cTn id="90" dur="1" fill="hold">
                                          <p:stCondLst>
                                            <p:cond delay="0"/>
                                          </p:stCondLst>
                                        </p:cTn>
                                        <p:tgtEl>
                                          <p:spTgt spid="581"/>
                                        </p:tgtEl>
                                        <p:attrNameLst>
                                          <p:attrName>style.visibility</p:attrName>
                                        </p:attrNameLst>
                                      </p:cBhvr>
                                      <p:to>
                                        <p:strVal val="visible"/>
                                      </p:to>
                                    </p:set>
                                    <p:animEffect transition="in" filter="barn(inVertical)">
                                      <p:cBhvr>
                                        <p:cTn id="91" dur="500"/>
                                        <p:tgtEl>
                                          <p:spTgt spid="581"/>
                                        </p:tgtEl>
                                      </p:cBhvr>
                                    </p:animEffect>
                                  </p:childTnLst>
                                </p:cTn>
                              </p:par>
                            </p:childTnLst>
                          </p:cTn>
                        </p:par>
                      </p:childTnLst>
                    </p:cTn>
                  </p:par>
                  <p:par>
                    <p:cTn id="92" fill="hold">
                      <p:stCondLst>
                        <p:cond delay="indefinite"/>
                      </p:stCondLst>
                      <p:childTnLst>
                        <p:par>
                          <p:cTn id="93" fill="hold">
                            <p:stCondLst>
                              <p:cond delay="0"/>
                            </p:stCondLst>
                            <p:childTnLst>
                              <p:par>
                                <p:cTn id="94" presetID="16" presetClass="entr" presetSubtype="21" fill="hold" grpId="0" nodeType="clickEffect">
                                  <p:stCondLst>
                                    <p:cond delay="0"/>
                                  </p:stCondLst>
                                  <p:childTnLst>
                                    <p:set>
                                      <p:cBhvr>
                                        <p:cTn id="95" dur="1" fill="hold">
                                          <p:stCondLst>
                                            <p:cond delay="0"/>
                                          </p:stCondLst>
                                        </p:cTn>
                                        <p:tgtEl>
                                          <p:spTgt spid="615"/>
                                        </p:tgtEl>
                                        <p:attrNameLst>
                                          <p:attrName>style.visibility</p:attrName>
                                        </p:attrNameLst>
                                      </p:cBhvr>
                                      <p:to>
                                        <p:strVal val="visible"/>
                                      </p:to>
                                    </p:set>
                                    <p:animEffect transition="in" filter="barn(inVertical)">
                                      <p:cBhvr>
                                        <p:cTn id="96" dur="500"/>
                                        <p:tgtEl>
                                          <p:spTgt spid="615"/>
                                        </p:tgtEl>
                                      </p:cBhvr>
                                    </p:animEffect>
                                  </p:childTnLst>
                                </p:cTn>
                              </p:par>
                              <p:par>
                                <p:cTn id="97" presetID="16" presetClass="entr" presetSubtype="21" fill="hold" grpId="0" nodeType="withEffect">
                                  <p:stCondLst>
                                    <p:cond delay="0"/>
                                  </p:stCondLst>
                                  <p:childTnLst>
                                    <p:set>
                                      <p:cBhvr>
                                        <p:cTn id="98" dur="1" fill="hold">
                                          <p:stCondLst>
                                            <p:cond delay="0"/>
                                          </p:stCondLst>
                                        </p:cTn>
                                        <p:tgtEl>
                                          <p:spTgt spid="592"/>
                                        </p:tgtEl>
                                        <p:attrNameLst>
                                          <p:attrName>style.visibility</p:attrName>
                                        </p:attrNameLst>
                                      </p:cBhvr>
                                      <p:to>
                                        <p:strVal val="visible"/>
                                      </p:to>
                                    </p:set>
                                    <p:animEffect transition="in" filter="barn(inVertical)">
                                      <p:cBhvr>
                                        <p:cTn id="99" dur="500"/>
                                        <p:tgtEl>
                                          <p:spTgt spid="592"/>
                                        </p:tgtEl>
                                      </p:cBhvr>
                                    </p:animEffect>
                                  </p:childTnLst>
                                </p:cTn>
                              </p:par>
                            </p:childTnLst>
                          </p:cTn>
                        </p:par>
                      </p:childTnLst>
                    </p:cTn>
                  </p:par>
                  <p:par>
                    <p:cTn id="100" fill="hold">
                      <p:stCondLst>
                        <p:cond delay="indefinite"/>
                      </p:stCondLst>
                      <p:childTnLst>
                        <p:par>
                          <p:cTn id="101" fill="hold">
                            <p:stCondLst>
                              <p:cond delay="0"/>
                            </p:stCondLst>
                            <p:childTnLst>
                              <p:par>
                                <p:cTn id="102" presetID="16" presetClass="entr" presetSubtype="21" fill="hold" grpId="0" nodeType="clickEffect">
                                  <p:stCondLst>
                                    <p:cond delay="0"/>
                                  </p:stCondLst>
                                  <p:childTnLst>
                                    <p:set>
                                      <p:cBhvr>
                                        <p:cTn id="103" dur="1" fill="hold">
                                          <p:stCondLst>
                                            <p:cond delay="0"/>
                                          </p:stCondLst>
                                        </p:cTn>
                                        <p:tgtEl>
                                          <p:spTgt spid="616"/>
                                        </p:tgtEl>
                                        <p:attrNameLst>
                                          <p:attrName>style.visibility</p:attrName>
                                        </p:attrNameLst>
                                      </p:cBhvr>
                                      <p:to>
                                        <p:strVal val="visible"/>
                                      </p:to>
                                    </p:set>
                                    <p:animEffect transition="in" filter="barn(inVertical)">
                                      <p:cBhvr>
                                        <p:cTn id="104" dur="500"/>
                                        <p:tgtEl>
                                          <p:spTgt spid="616"/>
                                        </p:tgtEl>
                                      </p:cBhvr>
                                    </p:animEffect>
                                  </p:childTnLst>
                                </p:cTn>
                              </p:par>
                              <p:par>
                                <p:cTn id="105" presetID="16" presetClass="entr" presetSubtype="21" fill="hold" grpId="0" nodeType="withEffect">
                                  <p:stCondLst>
                                    <p:cond delay="0"/>
                                  </p:stCondLst>
                                  <p:childTnLst>
                                    <p:set>
                                      <p:cBhvr>
                                        <p:cTn id="106" dur="1" fill="hold">
                                          <p:stCondLst>
                                            <p:cond delay="0"/>
                                          </p:stCondLst>
                                        </p:cTn>
                                        <p:tgtEl>
                                          <p:spTgt spid="580"/>
                                        </p:tgtEl>
                                        <p:attrNameLst>
                                          <p:attrName>style.visibility</p:attrName>
                                        </p:attrNameLst>
                                      </p:cBhvr>
                                      <p:to>
                                        <p:strVal val="visible"/>
                                      </p:to>
                                    </p:set>
                                    <p:animEffect transition="in" filter="barn(inVertical)">
                                      <p:cBhvr>
                                        <p:cTn id="107" dur="500"/>
                                        <p:tgtEl>
                                          <p:spTgt spid="580"/>
                                        </p:tgtEl>
                                      </p:cBhvr>
                                    </p:animEffect>
                                  </p:childTnLst>
                                </p:cTn>
                              </p:par>
                              <p:par>
                                <p:cTn id="108" presetID="16" presetClass="entr" presetSubtype="21" fill="hold" grpId="0" nodeType="withEffect">
                                  <p:stCondLst>
                                    <p:cond delay="0"/>
                                  </p:stCondLst>
                                  <p:childTnLst>
                                    <p:set>
                                      <p:cBhvr>
                                        <p:cTn id="109" dur="1" fill="hold">
                                          <p:stCondLst>
                                            <p:cond delay="0"/>
                                          </p:stCondLst>
                                        </p:cTn>
                                        <p:tgtEl>
                                          <p:spTgt spid="593"/>
                                        </p:tgtEl>
                                        <p:attrNameLst>
                                          <p:attrName>style.visibility</p:attrName>
                                        </p:attrNameLst>
                                      </p:cBhvr>
                                      <p:to>
                                        <p:strVal val="visible"/>
                                      </p:to>
                                    </p:set>
                                    <p:animEffect transition="in" filter="barn(inVertical)">
                                      <p:cBhvr>
                                        <p:cTn id="110" dur="500"/>
                                        <p:tgtEl>
                                          <p:spTgt spid="593"/>
                                        </p:tgtEl>
                                      </p:cBhvr>
                                    </p:animEffect>
                                  </p:childTnLst>
                                </p:cTn>
                              </p:par>
                            </p:childTnLst>
                          </p:cTn>
                        </p:par>
                      </p:childTnLst>
                    </p:cTn>
                  </p:par>
                  <p:par>
                    <p:cTn id="111" fill="hold">
                      <p:stCondLst>
                        <p:cond delay="indefinite"/>
                      </p:stCondLst>
                      <p:childTnLst>
                        <p:par>
                          <p:cTn id="112" fill="hold">
                            <p:stCondLst>
                              <p:cond delay="0"/>
                            </p:stCondLst>
                            <p:childTnLst>
                              <p:par>
                                <p:cTn id="113" presetID="16" presetClass="entr" presetSubtype="21" fill="hold" grpId="0" nodeType="clickEffect">
                                  <p:stCondLst>
                                    <p:cond delay="0"/>
                                  </p:stCondLst>
                                  <p:childTnLst>
                                    <p:set>
                                      <p:cBhvr>
                                        <p:cTn id="114" dur="1" fill="hold">
                                          <p:stCondLst>
                                            <p:cond delay="0"/>
                                          </p:stCondLst>
                                        </p:cTn>
                                        <p:tgtEl>
                                          <p:spTgt spid="617"/>
                                        </p:tgtEl>
                                        <p:attrNameLst>
                                          <p:attrName>style.visibility</p:attrName>
                                        </p:attrNameLst>
                                      </p:cBhvr>
                                      <p:to>
                                        <p:strVal val="visible"/>
                                      </p:to>
                                    </p:set>
                                    <p:animEffect transition="in" filter="barn(inVertical)">
                                      <p:cBhvr>
                                        <p:cTn id="115" dur="500"/>
                                        <p:tgtEl>
                                          <p:spTgt spid="617"/>
                                        </p:tgtEl>
                                      </p:cBhvr>
                                    </p:animEffect>
                                  </p:childTnLst>
                                </p:cTn>
                              </p:par>
                              <p:par>
                                <p:cTn id="116" presetID="16" presetClass="entr" presetSubtype="21" fill="hold" grpId="0" nodeType="withEffect">
                                  <p:stCondLst>
                                    <p:cond delay="0"/>
                                  </p:stCondLst>
                                  <p:childTnLst>
                                    <p:set>
                                      <p:cBhvr>
                                        <p:cTn id="117" dur="1" fill="hold">
                                          <p:stCondLst>
                                            <p:cond delay="0"/>
                                          </p:stCondLst>
                                        </p:cTn>
                                        <p:tgtEl>
                                          <p:spTgt spid="594"/>
                                        </p:tgtEl>
                                        <p:attrNameLst>
                                          <p:attrName>style.visibility</p:attrName>
                                        </p:attrNameLst>
                                      </p:cBhvr>
                                      <p:to>
                                        <p:strVal val="visible"/>
                                      </p:to>
                                    </p:set>
                                    <p:animEffect transition="in" filter="barn(inVertical)">
                                      <p:cBhvr>
                                        <p:cTn id="118" dur="500"/>
                                        <p:tgtEl>
                                          <p:spTgt spid="5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6" grpId="0" animBg="1"/>
      <p:bldP spid="577" grpId="0" animBg="1"/>
      <p:bldP spid="578" grpId="0" animBg="1"/>
      <p:bldP spid="579" grpId="0" animBg="1"/>
      <p:bldP spid="580" grpId="0" animBg="1"/>
      <p:bldP spid="581" grpId="0" animBg="1"/>
      <p:bldP spid="582" grpId="0" animBg="1"/>
      <p:bldP spid="583" grpId="0" animBg="1"/>
      <p:bldP spid="584" grpId="0" animBg="1"/>
      <p:bldP spid="585" grpId="0"/>
      <p:bldP spid="586" grpId="0" animBg="1"/>
      <p:bldP spid="587" grpId="0"/>
      <p:bldP spid="591" grpId="0"/>
      <p:bldP spid="592" grpId="0"/>
      <p:bldP spid="593" grpId="0"/>
      <p:bldP spid="594" grpId="0"/>
      <p:bldP spid="595" grpId="0" animBg="1"/>
      <p:bldP spid="596" grpId="0" animBg="1"/>
      <p:bldP spid="597" grpId="0"/>
      <p:bldP spid="598" grpId="0" animBg="1"/>
      <p:bldP spid="599" grpId="0" animBg="1"/>
      <p:bldP spid="600" grpId="0" animBg="1"/>
      <p:bldP spid="601" grpId="0"/>
      <p:bldP spid="602" grpId="0" animBg="1"/>
      <p:bldP spid="614" grpId="0" animBg="1"/>
      <p:bldP spid="615" grpId="0" animBg="1"/>
      <p:bldP spid="616" grpId="0" animBg="1"/>
      <p:bldP spid="61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4B0702-1181-ED7A-4F5A-61CE49492D6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B96E1733-6EDA-5A65-BC4D-CA7F600990D2}"/>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Decorators and Metadata reflection</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832865A0-2AEB-B623-2E72-0DD6FCBFFBE4}"/>
              </a:ext>
            </a:extLst>
          </p:cNvPr>
          <p:cNvSpPr txBox="1"/>
          <p:nvPr/>
        </p:nvSpPr>
        <p:spPr>
          <a:xfrm>
            <a:off x="142630" y="655071"/>
            <a:ext cx="11483853" cy="1784921"/>
          </a:xfrm>
          <a:prstGeom prst="rect">
            <a:avLst/>
          </a:prstGeom>
          <a:noFill/>
        </p:spPr>
        <p:txBody>
          <a:bodyPr wrap="square" lIns="121867" tIns="60933" rIns="121867" bIns="60933" rtlCol="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800" b="1" i="0" u="none" strike="noStrike" kern="0" cap="none" spc="0" normalizeH="0" baseline="0" noProof="0" dirty="0">
                <a:ln>
                  <a:noFill/>
                </a:ln>
                <a:solidFill>
                  <a:srgbClr val="000000"/>
                </a:solidFill>
                <a:effectLst/>
                <a:uLnTx/>
                <a:uFillTx/>
                <a:latin typeface="Arial"/>
                <a:cs typeface="Arial"/>
                <a:sym typeface="Arial"/>
              </a:rPr>
              <a:t>Decorators</a:t>
            </a:r>
            <a:r>
              <a:rPr kumimoji="0" lang="en-IN" sz="1800" b="0" i="0" u="none" strike="noStrike" kern="0" cap="none" spc="0" normalizeH="0" baseline="0" noProof="0" dirty="0">
                <a:ln>
                  <a:noFill/>
                </a:ln>
                <a:solidFill>
                  <a:srgbClr val="000000"/>
                </a:solidFill>
                <a:effectLst/>
                <a:uLnTx/>
                <a:uFillTx/>
                <a:latin typeface="Arial"/>
                <a:cs typeface="Arial"/>
                <a:sym typeface="Arial"/>
              </a:rPr>
              <a:t> are special functions prefixed with </a:t>
            </a:r>
            <a:r>
              <a:rPr kumimoji="0" lang="en-IN" sz="1400" b="0" i="0" u="none" strike="noStrike" kern="0" cap="none" spc="0" normalizeH="0" baseline="0" noProof="0" dirty="0">
                <a:ln>
                  <a:noFill/>
                </a:ln>
                <a:solidFill>
                  <a:srgbClr val="000000"/>
                </a:solidFill>
                <a:effectLst/>
                <a:uLnTx/>
                <a:uFillTx/>
                <a:latin typeface="Arial"/>
                <a:cs typeface="Arial"/>
                <a:sym typeface="Arial"/>
              </a:rPr>
              <a:t>@</a:t>
            </a:r>
            <a:r>
              <a:rPr kumimoji="0" lang="en-IN" sz="1800" b="0" i="0" u="none" strike="noStrike" kern="0" cap="none" spc="0" normalizeH="0" baseline="0" noProof="0" dirty="0">
                <a:ln>
                  <a:noFill/>
                </a:ln>
                <a:solidFill>
                  <a:srgbClr val="000000"/>
                </a:solidFill>
                <a:effectLst/>
                <a:uLnTx/>
                <a:uFillTx/>
                <a:latin typeface="Arial"/>
                <a:cs typeface="Arial"/>
                <a:sym typeface="Arial"/>
              </a:rPr>
              <a:t> that attach to classes, methods, properties, or parameters and add behavior without modifying the original code — similar to Java Annotations or Python Decorators.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8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800" b="1" i="0" u="none" strike="noStrike" kern="0" cap="none" spc="0" normalizeH="0" baseline="0" noProof="0" dirty="0">
                <a:ln>
                  <a:noFill/>
                </a:ln>
                <a:solidFill>
                  <a:srgbClr val="000000"/>
                </a:solidFill>
                <a:effectLst/>
                <a:uLnTx/>
                <a:uFillTx/>
                <a:latin typeface="Arial"/>
                <a:cs typeface="Arial"/>
                <a:sym typeface="Arial"/>
              </a:rPr>
              <a:t>Metadata Reflection</a:t>
            </a:r>
            <a:r>
              <a:rPr kumimoji="0" lang="en-IN" sz="1800" b="0" i="0" u="none" strike="noStrike" kern="0" cap="none" spc="0" normalizeH="0" baseline="0" noProof="0" dirty="0">
                <a:ln>
                  <a:noFill/>
                </a:ln>
                <a:solidFill>
                  <a:srgbClr val="000000"/>
                </a:solidFill>
                <a:effectLst/>
                <a:uLnTx/>
                <a:uFillTx/>
                <a:latin typeface="Arial"/>
                <a:cs typeface="Arial"/>
                <a:sym typeface="Arial"/>
              </a:rPr>
              <a:t> (</a:t>
            </a:r>
            <a:r>
              <a:rPr kumimoji="0" lang="en-IN" sz="1400" b="0" i="0" u="none" strike="noStrike" kern="0" cap="none" spc="0" normalizeH="0" baseline="0" noProof="0" dirty="0">
                <a:ln>
                  <a:noFill/>
                </a:ln>
                <a:solidFill>
                  <a:srgbClr val="000000"/>
                </a:solidFill>
                <a:effectLst/>
                <a:uLnTx/>
                <a:uFillTx/>
                <a:latin typeface="Arial"/>
                <a:cs typeface="Arial"/>
                <a:sym typeface="Arial"/>
              </a:rPr>
              <a:t>reflect-metadata</a:t>
            </a:r>
            <a:r>
              <a:rPr kumimoji="0" lang="en-IN" sz="1800" b="0" i="0" u="none" strike="noStrike" kern="0" cap="none" spc="0" normalizeH="0" baseline="0" noProof="0" dirty="0">
                <a:ln>
                  <a:noFill/>
                </a:ln>
                <a:solidFill>
                  <a:srgbClr val="000000"/>
                </a:solidFill>
                <a:effectLst/>
                <a:uLnTx/>
                <a:uFillTx/>
                <a:latin typeface="Arial"/>
                <a:cs typeface="Arial"/>
                <a:sym typeface="Arial"/>
              </a:rPr>
              <a:t>) lets decorators read/write hidden metadata about classes at runtime — used heavily by frameworks like </a:t>
            </a:r>
            <a:r>
              <a:rPr kumimoji="0" lang="en-IN" sz="1800" b="0" i="0" u="none" strike="noStrike" kern="0" cap="none" spc="0" normalizeH="0" baseline="0" noProof="0" dirty="0" err="1">
                <a:ln>
                  <a:noFill/>
                </a:ln>
                <a:solidFill>
                  <a:srgbClr val="000000"/>
                </a:solidFill>
                <a:effectLst/>
                <a:uLnTx/>
                <a:uFillTx/>
                <a:latin typeface="Arial"/>
                <a:cs typeface="Arial"/>
                <a:sym typeface="Arial"/>
              </a:rPr>
              <a:t>NestJS</a:t>
            </a:r>
            <a:r>
              <a:rPr kumimoji="0" lang="en-IN" sz="1800" b="0" i="0" u="none" strike="noStrike" kern="0" cap="none" spc="0" normalizeH="0" baseline="0" noProof="0" dirty="0">
                <a:ln>
                  <a:noFill/>
                </a:ln>
                <a:solidFill>
                  <a:srgbClr val="000000"/>
                </a:solidFill>
                <a:effectLst/>
                <a:uLnTx/>
                <a:uFillTx/>
                <a:latin typeface="Arial"/>
                <a:cs typeface="Arial"/>
                <a:sym typeface="Arial"/>
              </a:rPr>
              <a:t>, </a:t>
            </a:r>
            <a:r>
              <a:rPr kumimoji="0" lang="en-IN" sz="1800" b="0" i="0" u="none" strike="noStrike" kern="0" cap="none" spc="0" normalizeH="0" baseline="0" noProof="0" dirty="0" err="1">
                <a:ln>
                  <a:noFill/>
                </a:ln>
                <a:solidFill>
                  <a:srgbClr val="000000"/>
                </a:solidFill>
                <a:effectLst/>
                <a:uLnTx/>
                <a:uFillTx/>
                <a:latin typeface="Arial"/>
                <a:cs typeface="Arial"/>
                <a:sym typeface="Arial"/>
              </a:rPr>
              <a:t>TypeORM</a:t>
            </a:r>
            <a:r>
              <a:rPr kumimoji="0" lang="en-IN" sz="1800" b="0" i="0" u="none" strike="noStrike" kern="0" cap="none" spc="0" normalizeH="0" baseline="0" noProof="0" dirty="0">
                <a:ln>
                  <a:noFill/>
                </a:ln>
                <a:solidFill>
                  <a:srgbClr val="000000"/>
                </a:solidFill>
                <a:effectLst/>
                <a:uLnTx/>
                <a:uFillTx/>
                <a:latin typeface="Arial"/>
                <a:cs typeface="Arial"/>
                <a:sym typeface="Arial"/>
              </a:rPr>
              <a:t>.</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79340446-C47C-368C-A5D5-DC6113DFF60D}"/>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D83124F4-F45F-955D-2CB3-4DF470CC6EE5}"/>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84A4F28-26D6-984F-651A-BE13F35DB6D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3BE59D52-D349-DFA3-A09E-E94FFE6532F5}"/>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776C19F5-9770-2214-4519-4E4EF07FF417}"/>
              </a:ext>
            </a:extLst>
          </p:cNvPr>
          <p:cNvPicPr>
            <a:picLocks noChangeAspect="1"/>
          </p:cNvPicPr>
          <p:nvPr/>
        </p:nvPicPr>
        <p:blipFill>
          <a:blip r:embed="rId3"/>
          <a:stretch>
            <a:fillRect/>
          </a:stretch>
        </p:blipFill>
        <p:spPr>
          <a:xfrm>
            <a:off x="230069" y="2361084"/>
            <a:ext cx="6305743" cy="3284004"/>
          </a:xfrm>
          <a:prstGeom prst="rect">
            <a:avLst/>
          </a:prstGeom>
        </p:spPr>
      </p:pic>
    </p:spTree>
    <p:extLst>
      <p:ext uri="{BB962C8B-B14F-4D97-AF65-F5344CB8AC3E}">
        <p14:creationId xmlns:p14="http://schemas.microsoft.com/office/powerpoint/2010/main" val="6130100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8F22A-ED5F-19DB-C6E6-DB4A526F879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E74E6F4E-1B26-9923-1CE7-E904005CC2E3}"/>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Utility types</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FEC8B4B3-B2C1-FA9E-C6AD-38583D421B6E}"/>
              </a:ext>
            </a:extLst>
          </p:cNvPr>
          <p:cNvSpPr txBox="1"/>
          <p:nvPr/>
        </p:nvSpPr>
        <p:spPr>
          <a:xfrm>
            <a:off x="142630" y="655071"/>
            <a:ext cx="11483853" cy="2338919"/>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800" b="0" i="0" u="none" strike="noStrike" kern="0" cap="none" spc="0" normalizeH="0" baseline="0" noProof="0" dirty="0">
                <a:ln>
                  <a:noFill/>
                </a:ln>
                <a:solidFill>
                  <a:srgbClr val="000000"/>
                </a:solidFill>
                <a:effectLst/>
                <a:uLnTx/>
                <a:uFillTx/>
                <a:latin typeface="Arial"/>
                <a:cs typeface="Arial"/>
                <a:sym typeface="Arial"/>
              </a:rPr>
              <a:t>Utility types are </a:t>
            </a:r>
            <a:r>
              <a:rPr kumimoji="0" lang="en-IN" sz="1800" b="1" i="0" u="none" strike="noStrike" kern="0" cap="none" spc="0" normalizeH="0" baseline="0" noProof="0" dirty="0">
                <a:ln>
                  <a:noFill/>
                </a:ln>
                <a:solidFill>
                  <a:srgbClr val="000000"/>
                </a:solidFill>
                <a:effectLst/>
                <a:uLnTx/>
                <a:uFillTx/>
                <a:latin typeface="Arial"/>
                <a:cs typeface="Arial"/>
                <a:sym typeface="Arial"/>
              </a:rPr>
              <a:t>built-in generic types</a:t>
            </a:r>
            <a:r>
              <a:rPr kumimoji="0" lang="en-IN" sz="1800" b="0" i="0" u="none" strike="noStrike" kern="0" cap="none" spc="0" normalizeH="0" baseline="0" noProof="0" dirty="0">
                <a:ln>
                  <a:noFill/>
                </a:ln>
                <a:solidFill>
                  <a:srgbClr val="000000"/>
                </a:solidFill>
                <a:effectLst/>
                <a:uLnTx/>
                <a:uFillTx/>
                <a:latin typeface="Arial"/>
                <a:cs typeface="Arial"/>
                <a:sym typeface="Arial"/>
              </a:rPr>
              <a:t> that transform existing types into new ones — no need to rewrite interfaces from scratch.</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IN" sz="18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800" b="0" i="0" u="none" strike="noStrike" kern="0" cap="none" spc="0" normalizeH="0" baseline="0" noProof="0" dirty="0">
                <a:ln>
                  <a:noFill/>
                </a:ln>
                <a:solidFill>
                  <a:srgbClr val="000000"/>
                </a:solidFill>
                <a:effectLst/>
                <a:uLnTx/>
                <a:uFillTx/>
                <a:latin typeface="Arial"/>
                <a:cs typeface="Arial"/>
                <a:sym typeface="Arial"/>
              </a:rPr>
              <a:t>They're like type factories—you feed in a type, and out comes a new type with different properties.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8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800" b="0" i="0" u="none" strike="noStrike" kern="0" cap="none" spc="0" normalizeH="0" baseline="0" noProof="0" dirty="0">
                <a:ln>
                  <a:noFill/>
                </a:ln>
                <a:solidFill>
                  <a:srgbClr val="000000"/>
                </a:solidFill>
                <a:effectLst/>
                <a:uLnTx/>
                <a:uFillTx/>
                <a:latin typeface="Arial"/>
                <a:cs typeface="Arial"/>
                <a:sym typeface="Arial"/>
              </a:rPr>
              <a:t>Think of it like this: if you have a blueprint for a house, utility types let you create variations—a blueprint with fewer rooms, optional walls, </a:t>
            </a:r>
            <a:r>
              <a:rPr kumimoji="0" lang="en-IN" sz="1800" b="0" i="0" u="none" strike="noStrike" kern="0" cap="none" spc="0" normalizeH="0" baseline="0" noProof="0" dirty="0" err="1">
                <a:ln>
                  <a:noFill/>
                </a:ln>
                <a:solidFill>
                  <a:srgbClr val="000000"/>
                </a:solidFill>
                <a:effectLst/>
                <a:uLnTx/>
                <a:uFillTx/>
                <a:latin typeface="Arial"/>
                <a:cs typeface="Arial"/>
                <a:sym typeface="Arial"/>
              </a:rPr>
              <a:t>readonly</a:t>
            </a:r>
            <a:r>
              <a:rPr kumimoji="0" lang="en-IN" sz="1800" b="0" i="0" u="none" strike="noStrike" kern="0" cap="none" spc="0" normalizeH="0" baseline="0" noProof="0" dirty="0">
                <a:ln>
                  <a:noFill/>
                </a:ln>
                <a:solidFill>
                  <a:srgbClr val="000000"/>
                </a:solidFill>
                <a:effectLst/>
                <a:uLnTx/>
                <a:uFillTx/>
                <a:latin typeface="Arial"/>
                <a:cs typeface="Arial"/>
                <a:sym typeface="Arial"/>
              </a:rPr>
              <a:t> doors, etc.—without rewriting everything from scratch.</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B1FCC746-7E15-3804-B444-402B79CA2E02}"/>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B4C17AE5-47AE-7205-F5D5-D2609F3A13DD}"/>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99ED7B7-7102-3EC7-77D8-46C9C026B5C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DD59A12F-CE3C-9466-2D41-C78D2D9F0F2D}"/>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13194500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6CC22-9394-ACCF-5DC2-E4DA586A211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D9A00D44-33DF-8A5B-79D8-646DDDCD3E48}"/>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Partial, Required, Pick</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3B07EAC5-5390-E172-20DD-A31D46621D9D}"/>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Text</a:t>
            </a:r>
          </a:p>
        </p:txBody>
      </p:sp>
      <p:sp>
        <p:nvSpPr>
          <p:cNvPr id="4" name="TextBox 3">
            <a:extLst>
              <a:ext uri="{FF2B5EF4-FFF2-40B4-BE49-F238E27FC236}">
                <a16:creationId xmlns:a16="http://schemas.microsoft.com/office/drawing/2014/main" id="{D6B3B871-260F-E430-BFBE-D3B54822222B}"/>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DC5DDD0B-AFA8-4C3F-FFA2-08EE5D685BA6}"/>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17BFADA8-E1AD-F056-B711-75AA1E152E00}"/>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95E6A19C-43DA-D632-FB08-344FDAE1F355}"/>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22592F77-7AD8-9FFD-3956-F765331024F6}"/>
              </a:ext>
            </a:extLst>
          </p:cNvPr>
          <p:cNvPicPr>
            <a:picLocks noChangeAspect="1"/>
          </p:cNvPicPr>
          <p:nvPr/>
        </p:nvPicPr>
        <p:blipFill>
          <a:blip r:embed="rId3"/>
          <a:stretch>
            <a:fillRect/>
          </a:stretch>
        </p:blipFill>
        <p:spPr>
          <a:xfrm>
            <a:off x="230070" y="643048"/>
            <a:ext cx="3838250" cy="5967903"/>
          </a:xfrm>
          <a:prstGeom prst="rect">
            <a:avLst/>
          </a:prstGeom>
        </p:spPr>
      </p:pic>
      <p:pic>
        <p:nvPicPr>
          <p:cNvPr id="11" name="Picture 10">
            <a:extLst>
              <a:ext uri="{FF2B5EF4-FFF2-40B4-BE49-F238E27FC236}">
                <a16:creationId xmlns:a16="http://schemas.microsoft.com/office/drawing/2014/main" id="{CB164E33-B154-9DD5-E38E-BF830BF934A1}"/>
              </a:ext>
            </a:extLst>
          </p:cNvPr>
          <p:cNvPicPr>
            <a:picLocks noChangeAspect="1"/>
          </p:cNvPicPr>
          <p:nvPr/>
        </p:nvPicPr>
        <p:blipFill>
          <a:blip r:embed="rId4"/>
          <a:stretch>
            <a:fillRect/>
          </a:stretch>
        </p:blipFill>
        <p:spPr>
          <a:xfrm>
            <a:off x="4180131" y="632995"/>
            <a:ext cx="4465679" cy="5916417"/>
          </a:xfrm>
          <a:prstGeom prst="rect">
            <a:avLst/>
          </a:prstGeom>
        </p:spPr>
      </p:pic>
      <p:pic>
        <p:nvPicPr>
          <p:cNvPr id="13" name="Picture 12">
            <a:extLst>
              <a:ext uri="{FF2B5EF4-FFF2-40B4-BE49-F238E27FC236}">
                <a16:creationId xmlns:a16="http://schemas.microsoft.com/office/drawing/2014/main" id="{DEFD9FA4-23EA-80E1-2004-9BFF0E90299B}"/>
              </a:ext>
            </a:extLst>
          </p:cNvPr>
          <p:cNvPicPr>
            <a:picLocks noChangeAspect="1"/>
          </p:cNvPicPr>
          <p:nvPr/>
        </p:nvPicPr>
        <p:blipFill>
          <a:blip r:embed="rId5"/>
          <a:stretch>
            <a:fillRect/>
          </a:stretch>
        </p:blipFill>
        <p:spPr>
          <a:xfrm>
            <a:off x="8688180" y="632995"/>
            <a:ext cx="4768779" cy="5916395"/>
          </a:xfrm>
          <a:prstGeom prst="rect">
            <a:avLst/>
          </a:prstGeom>
        </p:spPr>
      </p:pic>
    </p:spTree>
    <p:extLst>
      <p:ext uri="{BB962C8B-B14F-4D97-AF65-F5344CB8AC3E}">
        <p14:creationId xmlns:p14="http://schemas.microsoft.com/office/powerpoint/2010/main" val="27049482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5702A-8C10-19E0-FBA1-6FD7A619919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F04F07F1-AA66-4370-A792-9C5C8F9E416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Omit and </a:t>
            </a:r>
            <a:r>
              <a:rPr kumimoji="0" lang="en-US" sz="3199" b="0" i="0" u="none" strike="noStrike" kern="1200" cap="none" spc="0" normalizeH="0" baseline="0" noProof="0" dirty="0" err="1">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ReadOnly</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4" name="TextBox 3">
            <a:extLst>
              <a:ext uri="{FF2B5EF4-FFF2-40B4-BE49-F238E27FC236}">
                <a16:creationId xmlns:a16="http://schemas.microsoft.com/office/drawing/2014/main" id="{A8AD9308-FBD6-0FC5-3E5F-6FD307AE2C96}"/>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1B0178DD-5A7C-29E4-85F3-28687C0A93BD}"/>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5DE86D9-BA52-CDFA-194E-433DAF44F30A}"/>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8162C130-2087-82D0-7E3A-0DB88DFF1C1B}"/>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BBA8AF95-156B-2E8F-029B-4B02199A1066}"/>
              </a:ext>
            </a:extLst>
          </p:cNvPr>
          <p:cNvPicPr>
            <a:picLocks noChangeAspect="1"/>
          </p:cNvPicPr>
          <p:nvPr/>
        </p:nvPicPr>
        <p:blipFill>
          <a:blip r:embed="rId3"/>
          <a:stretch>
            <a:fillRect/>
          </a:stretch>
        </p:blipFill>
        <p:spPr>
          <a:xfrm>
            <a:off x="230069" y="655071"/>
            <a:ext cx="3636249" cy="5969000"/>
          </a:xfrm>
          <a:prstGeom prst="rect">
            <a:avLst/>
          </a:prstGeom>
        </p:spPr>
      </p:pic>
      <p:pic>
        <p:nvPicPr>
          <p:cNvPr id="11" name="Picture 10">
            <a:extLst>
              <a:ext uri="{FF2B5EF4-FFF2-40B4-BE49-F238E27FC236}">
                <a16:creationId xmlns:a16="http://schemas.microsoft.com/office/drawing/2014/main" id="{03E8CD24-B408-C624-8844-6AB70FE74EBB}"/>
              </a:ext>
            </a:extLst>
          </p:cNvPr>
          <p:cNvPicPr>
            <a:picLocks noChangeAspect="1"/>
          </p:cNvPicPr>
          <p:nvPr/>
        </p:nvPicPr>
        <p:blipFill>
          <a:blip r:embed="rId4"/>
          <a:stretch>
            <a:fillRect/>
          </a:stretch>
        </p:blipFill>
        <p:spPr>
          <a:xfrm>
            <a:off x="4021881" y="648511"/>
            <a:ext cx="3679619" cy="5907461"/>
          </a:xfrm>
          <a:prstGeom prst="rect">
            <a:avLst/>
          </a:prstGeom>
        </p:spPr>
      </p:pic>
      <p:pic>
        <p:nvPicPr>
          <p:cNvPr id="8" name="Picture 7">
            <a:extLst>
              <a:ext uri="{FF2B5EF4-FFF2-40B4-BE49-F238E27FC236}">
                <a16:creationId xmlns:a16="http://schemas.microsoft.com/office/drawing/2014/main" id="{8A10D05F-D1B9-7910-F2E4-6B496B597812}"/>
              </a:ext>
            </a:extLst>
          </p:cNvPr>
          <p:cNvPicPr>
            <a:picLocks noChangeAspect="1"/>
          </p:cNvPicPr>
          <p:nvPr/>
        </p:nvPicPr>
        <p:blipFill>
          <a:blip r:embed="rId5"/>
          <a:stretch>
            <a:fillRect/>
          </a:stretch>
        </p:blipFill>
        <p:spPr>
          <a:xfrm>
            <a:off x="7745568" y="655071"/>
            <a:ext cx="4213188" cy="3314870"/>
          </a:xfrm>
          <a:prstGeom prst="rect">
            <a:avLst/>
          </a:prstGeom>
        </p:spPr>
      </p:pic>
    </p:spTree>
    <p:extLst>
      <p:ext uri="{BB962C8B-B14F-4D97-AF65-F5344CB8AC3E}">
        <p14:creationId xmlns:p14="http://schemas.microsoft.com/office/powerpoint/2010/main" val="42795488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ACE11-3054-8F8D-BC7E-44F60BD8B11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976BEE75-5FBA-2AF7-FD09-61D9740C77E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Summary</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4" name="TextBox 3">
            <a:extLst>
              <a:ext uri="{FF2B5EF4-FFF2-40B4-BE49-F238E27FC236}">
                <a16:creationId xmlns:a16="http://schemas.microsoft.com/office/drawing/2014/main" id="{AEF3ECF1-4F84-BF9C-5D8E-C1E9F328145A}"/>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87BB65FB-9B11-4E7F-DB6A-9303E3D12C84}"/>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5A0AB5B6-DA56-A01A-74EF-1BEB2EB90BD4}"/>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4C404FEF-D202-6D81-2563-E2290EC1F0F4}"/>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54E4B9FF-57E0-86F0-DE67-D3E4BE8C31DC}"/>
              </a:ext>
            </a:extLst>
          </p:cNvPr>
          <p:cNvPicPr>
            <a:picLocks noChangeAspect="1"/>
          </p:cNvPicPr>
          <p:nvPr/>
        </p:nvPicPr>
        <p:blipFill>
          <a:blip r:embed="rId3"/>
          <a:stretch>
            <a:fillRect/>
          </a:stretch>
        </p:blipFill>
        <p:spPr>
          <a:xfrm>
            <a:off x="341880" y="822593"/>
            <a:ext cx="7137767" cy="2514729"/>
          </a:xfrm>
          <a:prstGeom prst="rect">
            <a:avLst/>
          </a:prstGeom>
        </p:spPr>
      </p:pic>
    </p:spTree>
    <p:extLst>
      <p:ext uri="{BB962C8B-B14F-4D97-AF65-F5344CB8AC3E}">
        <p14:creationId xmlns:p14="http://schemas.microsoft.com/office/powerpoint/2010/main" val="20806125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4B0702-1181-ED7A-4F5A-61CE49492D6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B96E1733-6EDA-5A65-BC4D-CA7F600990D2}"/>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Decorators and Metadata reflection</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832865A0-2AEB-B623-2E72-0DD6FCBFFBE4}"/>
              </a:ext>
            </a:extLst>
          </p:cNvPr>
          <p:cNvSpPr txBox="1"/>
          <p:nvPr/>
        </p:nvSpPr>
        <p:spPr>
          <a:xfrm>
            <a:off x="142630" y="655071"/>
            <a:ext cx="11483853" cy="1784921"/>
          </a:xfrm>
          <a:prstGeom prst="rect">
            <a:avLst/>
          </a:prstGeom>
          <a:noFill/>
        </p:spPr>
        <p:txBody>
          <a:bodyPr wrap="square" lIns="121867" tIns="60933" rIns="121867" bIns="60933" rtlCol="0">
            <a:spAutoFit/>
          </a:bodyPr>
          <a:lstStyle/>
          <a:p>
            <a:r>
              <a:rPr lang="en-IN" sz="1800" b="1" dirty="0"/>
              <a:t>Decorators</a:t>
            </a:r>
            <a:r>
              <a:rPr lang="en-IN" sz="1800" dirty="0"/>
              <a:t> are special functions prefixed with </a:t>
            </a:r>
            <a:r>
              <a:rPr lang="en-IN" dirty="0"/>
              <a:t>@</a:t>
            </a:r>
            <a:r>
              <a:rPr lang="en-IN" sz="1800" dirty="0"/>
              <a:t> that attach to classes, methods, properties, or parameters and add behavior without modifying the original code — similar to Java Annotations or Python Decorators.</a:t>
            </a:r>
          </a:p>
          <a:p>
            <a:endParaRPr lang="en-IN" sz="1800" dirty="0"/>
          </a:p>
          <a:p>
            <a:r>
              <a:rPr lang="en-IN" sz="1800" b="1" dirty="0"/>
              <a:t>Metadata Reflection</a:t>
            </a:r>
            <a:r>
              <a:rPr lang="en-IN" sz="1800" dirty="0"/>
              <a:t> (</a:t>
            </a:r>
            <a:r>
              <a:rPr lang="en-IN" dirty="0"/>
              <a:t>reflect-metadata</a:t>
            </a:r>
            <a:r>
              <a:rPr lang="en-IN" sz="1800" dirty="0"/>
              <a:t>) lets decorators read/write hidden metadata about classes at runtime — used heavily by frameworks like </a:t>
            </a:r>
            <a:r>
              <a:rPr lang="en-IN" sz="1800" dirty="0" err="1"/>
              <a:t>NestJS</a:t>
            </a:r>
            <a:r>
              <a:rPr lang="en-IN" sz="1800" dirty="0"/>
              <a:t>, </a:t>
            </a:r>
            <a:r>
              <a:rPr lang="en-IN" sz="1800" dirty="0" err="1"/>
              <a:t>TypeORM</a:t>
            </a:r>
            <a:r>
              <a:rPr lang="en-IN" sz="1800" dirty="0"/>
              <a:t>.</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79340446-C47C-368C-A5D5-DC6113DFF60D}"/>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D83124F4-F45F-955D-2CB3-4DF470CC6EE5}"/>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84A4F28-26D6-984F-651A-BE13F35DB6D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3BE59D52-D349-DFA3-A09E-E94FFE6532F5}"/>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776C19F5-9770-2214-4519-4E4EF07FF417}"/>
              </a:ext>
            </a:extLst>
          </p:cNvPr>
          <p:cNvPicPr>
            <a:picLocks noChangeAspect="1"/>
          </p:cNvPicPr>
          <p:nvPr/>
        </p:nvPicPr>
        <p:blipFill>
          <a:blip r:embed="rId3"/>
          <a:stretch>
            <a:fillRect/>
          </a:stretch>
        </p:blipFill>
        <p:spPr>
          <a:xfrm>
            <a:off x="230069" y="2361084"/>
            <a:ext cx="6305743" cy="3284004"/>
          </a:xfrm>
          <a:prstGeom prst="rect">
            <a:avLst/>
          </a:prstGeom>
        </p:spPr>
      </p:pic>
    </p:spTree>
    <p:extLst>
      <p:ext uri="{BB962C8B-B14F-4D97-AF65-F5344CB8AC3E}">
        <p14:creationId xmlns:p14="http://schemas.microsoft.com/office/powerpoint/2010/main" val="850370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8F22A-ED5F-19DB-C6E6-DB4A526F879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E74E6F4E-1B26-9923-1CE7-E904005CC2E3}"/>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Utility types</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FEC8B4B3-B2C1-FA9E-C6AD-38583D421B6E}"/>
              </a:ext>
            </a:extLst>
          </p:cNvPr>
          <p:cNvSpPr txBox="1"/>
          <p:nvPr/>
        </p:nvSpPr>
        <p:spPr>
          <a:xfrm>
            <a:off x="142630" y="655071"/>
            <a:ext cx="11483853" cy="2338919"/>
          </a:xfrm>
          <a:prstGeom prst="rect">
            <a:avLst/>
          </a:prstGeom>
          <a:noFill/>
        </p:spPr>
        <p:txBody>
          <a:bodyPr wrap="square" lIns="121867" tIns="60933" rIns="121867" bIns="60933" rtlCol="0">
            <a:spAutoFit/>
          </a:bodyPr>
          <a:lstStyle/>
          <a:p>
            <a:pPr lvl="0" defTabSz="914126">
              <a:buClrTx/>
            </a:pPr>
            <a:r>
              <a:rPr lang="en-IN" sz="1800" dirty="0"/>
              <a:t>Utility types are </a:t>
            </a:r>
            <a:r>
              <a:rPr lang="en-IN" sz="1800" b="1" dirty="0"/>
              <a:t>built-in generic types</a:t>
            </a:r>
            <a:r>
              <a:rPr lang="en-IN" sz="1800" dirty="0"/>
              <a:t> that transform existing types into new ones — no need to rewrite interfaces from scratch.</a:t>
            </a:r>
          </a:p>
          <a:p>
            <a:pPr lvl="0" defTabSz="914126">
              <a:buClrTx/>
            </a:pPr>
            <a:endParaRPr kumimoji="0" lang="en-IN" sz="18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r>
              <a:rPr lang="en-IN" sz="1800" dirty="0"/>
              <a:t>They're like type factories—you feed in a type, and out comes a new type with different properties.</a:t>
            </a:r>
          </a:p>
          <a:p>
            <a:endParaRPr lang="en-IN" sz="1800" dirty="0"/>
          </a:p>
          <a:p>
            <a:r>
              <a:rPr lang="en-IN" sz="1800" dirty="0"/>
              <a:t>Think of it like this: if you have a blueprint for a house, utility types let you create variations—a blueprint with fewer rooms, optional walls, </a:t>
            </a:r>
            <a:r>
              <a:rPr lang="en-IN" sz="1800" dirty="0" err="1"/>
              <a:t>readonly</a:t>
            </a:r>
            <a:r>
              <a:rPr lang="en-IN" sz="1800" dirty="0"/>
              <a:t> doors, etc.—without rewriting everything from scratch.</a:t>
            </a:r>
          </a:p>
          <a:p>
            <a:pPr lvl="0" defTabSz="914126">
              <a:buClrTx/>
            </a:pP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B1FCC746-7E15-3804-B444-402B79CA2E02}"/>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B4C17AE5-47AE-7205-F5D5-D2609F3A13DD}"/>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99ED7B7-7102-3EC7-77D8-46C9C026B5C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DD59A12F-CE3C-9466-2D41-C78D2D9F0F2D}"/>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33087834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6CC22-9394-ACCF-5DC2-E4DA586A211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D9A00D44-33DF-8A5B-79D8-646DDDCD3E48}"/>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Partial, Required, Pick</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3B07EAC5-5390-E172-20DD-A31D46621D9D}"/>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D6B3B871-260F-E430-BFBE-D3B54822222B}"/>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DC5DDD0B-AFA8-4C3F-FFA2-08EE5D685BA6}"/>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17BFADA8-E1AD-F056-B711-75AA1E152E00}"/>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95E6A19C-43DA-D632-FB08-344FDAE1F355}"/>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22592F77-7AD8-9FFD-3956-F765331024F6}"/>
              </a:ext>
            </a:extLst>
          </p:cNvPr>
          <p:cNvPicPr>
            <a:picLocks noChangeAspect="1"/>
          </p:cNvPicPr>
          <p:nvPr/>
        </p:nvPicPr>
        <p:blipFill>
          <a:blip r:embed="rId3"/>
          <a:stretch>
            <a:fillRect/>
          </a:stretch>
        </p:blipFill>
        <p:spPr>
          <a:xfrm>
            <a:off x="230070" y="643048"/>
            <a:ext cx="3838250" cy="5967903"/>
          </a:xfrm>
          <a:prstGeom prst="rect">
            <a:avLst/>
          </a:prstGeom>
        </p:spPr>
      </p:pic>
      <p:pic>
        <p:nvPicPr>
          <p:cNvPr id="11" name="Picture 10">
            <a:extLst>
              <a:ext uri="{FF2B5EF4-FFF2-40B4-BE49-F238E27FC236}">
                <a16:creationId xmlns:a16="http://schemas.microsoft.com/office/drawing/2014/main" id="{CB164E33-B154-9DD5-E38E-BF830BF934A1}"/>
              </a:ext>
            </a:extLst>
          </p:cNvPr>
          <p:cNvPicPr>
            <a:picLocks noChangeAspect="1"/>
          </p:cNvPicPr>
          <p:nvPr/>
        </p:nvPicPr>
        <p:blipFill>
          <a:blip r:embed="rId4"/>
          <a:stretch>
            <a:fillRect/>
          </a:stretch>
        </p:blipFill>
        <p:spPr>
          <a:xfrm>
            <a:off x="4180131" y="632995"/>
            <a:ext cx="4465679" cy="5916417"/>
          </a:xfrm>
          <a:prstGeom prst="rect">
            <a:avLst/>
          </a:prstGeom>
        </p:spPr>
      </p:pic>
      <p:pic>
        <p:nvPicPr>
          <p:cNvPr id="13" name="Picture 12">
            <a:extLst>
              <a:ext uri="{FF2B5EF4-FFF2-40B4-BE49-F238E27FC236}">
                <a16:creationId xmlns:a16="http://schemas.microsoft.com/office/drawing/2014/main" id="{DEFD9FA4-23EA-80E1-2004-9BFF0E90299B}"/>
              </a:ext>
            </a:extLst>
          </p:cNvPr>
          <p:cNvPicPr>
            <a:picLocks noChangeAspect="1"/>
          </p:cNvPicPr>
          <p:nvPr/>
        </p:nvPicPr>
        <p:blipFill>
          <a:blip r:embed="rId5"/>
          <a:stretch>
            <a:fillRect/>
          </a:stretch>
        </p:blipFill>
        <p:spPr>
          <a:xfrm>
            <a:off x="8688180" y="632995"/>
            <a:ext cx="4768779" cy="5916395"/>
          </a:xfrm>
          <a:prstGeom prst="rect">
            <a:avLst/>
          </a:prstGeom>
        </p:spPr>
      </p:pic>
    </p:spTree>
    <p:extLst>
      <p:ext uri="{BB962C8B-B14F-4D97-AF65-F5344CB8AC3E}">
        <p14:creationId xmlns:p14="http://schemas.microsoft.com/office/powerpoint/2010/main" val="33424581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5702A-8C10-19E0-FBA1-6FD7A619919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F04F07F1-AA66-4370-A792-9C5C8F9E416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Omit and </a:t>
            </a:r>
            <a:r>
              <a:rPr kumimoji="0" lang="en-US" sz="3199" b="0" i="0" u="none" strike="noStrike" kern="1200" cap="none" spc="0" normalizeH="0" baseline="0" noProof="0" dirty="0" err="1">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ReadOnly</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4" name="TextBox 3">
            <a:extLst>
              <a:ext uri="{FF2B5EF4-FFF2-40B4-BE49-F238E27FC236}">
                <a16:creationId xmlns:a16="http://schemas.microsoft.com/office/drawing/2014/main" id="{A8AD9308-FBD6-0FC5-3E5F-6FD307AE2C96}"/>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1B0178DD-5A7C-29E4-85F3-28687C0A93BD}"/>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5DE86D9-BA52-CDFA-194E-433DAF44F30A}"/>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8162C130-2087-82D0-7E3A-0DB88DFF1C1B}"/>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BBA8AF95-156B-2E8F-029B-4B02199A1066}"/>
              </a:ext>
            </a:extLst>
          </p:cNvPr>
          <p:cNvPicPr>
            <a:picLocks noChangeAspect="1"/>
          </p:cNvPicPr>
          <p:nvPr/>
        </p:nvPicPr>
        <p:blipFill>
          <a:blip r:embed="rId3"/>
          <a:stretch>
            <a:fillRect/>
          </a:stretch>
        </p:blipFill>
        <p:spPr>
          <a:xfrm>
            <a:off x="230069" y="655071"/>
            <a:ext cx="3636249" cy="5969000"/>
          </a:xfrm>
          <a:prstGeom prst="rect">
            <a:avLst/>
          </a:prstGeom>
        </p:spPr>
      </p:pic>
      <p:pic>
        <p:nvPicPr>
          <p:cNvPr id="11" name="Picture 10">
            <a:extLst>
              <a:ext uri="{FF2B5EF4-FFF2-40B4-BE49-F238E27FC236}">
                <a16:creationId xmlns:a16="http://schemas.microsoft.com/office/drawing/2014/main" id="{03E8CD24-B408-C624-8844-6AB70FE74EBB}"/>
              </a:ext>
            </a:extLst>
          </p:cNvPr>
          <p:cNvPicPr>
            <a:picLocks noChangeAspect="1"/>
          </p:cNvPicPr>
          <p:nvPr/>
        </p:nvPicPr>
        <p:blipFill>
          <a:blip r:embed="rId4"/>
          <a:stretch>
            <a:fillRect/>
          </a:stretch>
        </p:blipFill>
        <p:spPr>
          <a:xfrm>
            <a:off x="4021881" y="648511"/>
            <a:ext cx="3679619" cy="5907461"/>
          </a:xfrm>
          <a:prstGeom prst="rect">
            <a:avLst/>
          </a:prstGeom>
        </p:spPr>
      </p:pic>
      <p:pic>
        <p:nvPicPr>
          <p:cNvPr id="8" name="Picture 7">
            <a:extLst>
              <a:ext uri="{FF2B5EF4-FFF2-40B4-BE49-F238E27FC236}">
                <a16:creationId xmlns:a16="http://schemas.microsoft.com/office/drawing/2014/main" id="{8A10D05F-D1B9-7910-F2E4-6B496B597812}"/>
              </a:ext>
            </a:extLst>
          </p:cNvPr>
          <p:cNvPicPr>
            <a:picLocks noChangeAspect="1"/>
          </p:cNvPicPr>
          <p:nvPr/>
        </p:nvPicPr>
        <p:blipFill>
          <a:blip r:embed="rId5"/>
          <a:stretch>
            <a:fillRect/>
          </a:stretch>
        </p:blipFill>
        <p:spPr>
          <a:xfrm>
            <a:off x="7745568" y="655071"/>
            <a:ext cx="4213188" cy="3314870"/>
          </a:xfrm>
          <a:prstGeom prst="rect">
            <a:avLst/>
          </a:prstGeom>
        </p:spPr>
      </p:pic>
    </p:spTree>
    <p:extLst>
      <p:ext uri="{BB962C8B-B14F-4D97-AF65-F5344CB8AC3E}">
        <p14:creationId xmlns:p14="http://schemas.microsoft.com/office/powerpoint/2010/main" val="364452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ACE11-3054-8F8D-BC7E-44F60BD8B11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976BEE75-5FBA-2AF7-FD09-61D9740C77E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Summary</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4" name="TextBox 3">
            <a:extLst>
              <a:ext uri="{FF2B5EF4-FFF2-40B4-BE49-F238E27FC236}">
                <a16:creationId xmlns:a16="http://schemas.microsoft.com/office/drawing/2014/main" id="{AEF3ECF1-4F84-BF9C-5D8E-C1E9F328145A}"/>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87BB65FB-9B11-4E7F-DB6A-9303E3D12C84}"/>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5A0AB5B6-DA56-A01A-74EF-1BEB2EB90BD4}"/>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4C404FEF-D202-6D81-2563-E2290EC1F0F4}"/>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54E4B9FF-57E0-86F0-DE67-D3E4BE8C31DC}"/>
              </a:ext>
            </a:extLst>
          </p:cNvPr>
          <p:cNvPicPr>
            <a:picLocks noChangeAspect="1"/>
          </p:cNvPicPr>
          <p:nvPr/>
        </p:nvPicPr>
        <p:blipFill>
          <a:blip r:embed="rId3"/>
          <a:stretch>
            <a:fillRect/>
          </a:stretch>
        </p:blipFill>
        <p:spPr>
          <a:xfrm>
            <a:off x="341880" y="822593"/>
            <a:ext cx="7137767" cy="2514729"/>
          </a:xfrm>
          <a:prstGeom prst="rect">
            <a:avLst/>
          </a:prstGeom>
        </p:spPr>
      </p:pic>
    </p:spTree>
    <p:extLst>
      <p:ext uri="{BB962C8B-B14F-4D97-AF65-F5344CB8AC3E}">
        <p14:creationId xmlns:p14="http://schemas.microsoft.com/office/powerpoint/2010/main" val="20190635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1" y="893"/>
            <a:ext cx="219399" cy="6856214"/>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Text 1"/>
          <p:cNvSpPr/>
          <p:nvPr/>
        </p:nvSpPr>
        <p:spPr>
          <a:xfrm>
            <a:off x="6703853" y="610334"/>
            <a:ext cx="5484971" cy="5484971"/>
          </a:xfrm>
          <a:prstGeom prst="rect">
            <a:avLst/>
          </a:prstGeom>
          <a:noFill/>
          <a:ln/>
        </p:spPr>
        <p:txBody>
          <a:bodyPr wrap="square" lIns="0" tIns="0" rIns="0" bIns="0" rtlCol="0" anchor="ctr"/>
          <a:lstStyle/>
          <a:p>
            <a:pPr defTabSz="1218895">
              <a:buClrTx/>
            </a:pPr>
            <a:r>
              <a:rPr lang="en-US" sz="30659" b="1" kern="1200" dirty="0">
                <a:solidFill>
                  <a:srgbClr val="1B6CA8">
                    <a:alpha val="18000"/>
                  </a:srgbClr>
                </a:solidFill>
                <a:latin typeface="Arial Black" pitchFamily="34" charset="0"/>
                <a:ea typeface="Arial Black" pitchFamily="34" charset="-122"/>
                <a:cs typeface="Arial Black" pitchFamily="34" charset="-120"/>
              </a:rPr>
              <a:t>TS</a:t>
            </a:r>
            <a:endParaRPr lang="en-US" sz="30659" kern="1200" dirty="0">
              <a:solidFill>
                <a:prstClr val="black"/>
              </a:solidFill>
              <a:latin typeface="Calibri" panose="020F0502020204030204"/>
              <a:ea typeface="+mn-ea"/>
              <a:cs typeface="+mn-cs"/>
            </a:endParaRPr>
          </a:p>
        </p:txBody>
      </p:sp>
      <p:sp>
        <p:nvSpPr>
          <p:cNvPr id="4" name="Text 2"/>
          <p:cNvSpPr/>
          <p:nvPr/>
        </p:nvSpPr>
        <p:spPr>
          <a:xfrm>
            <a:off x="609441" y="1036943"/>
            <a:ext cx="10360501" cy="463175"/>
          </a:xfrm>
          <a:prstGeom prst="rect">
            <a:avLst/>
          </a:prstGeom>
          <a:noFill/>
          <a:ln/>
        </p:spPr>
        <p:txBody>
          <a:bodyPr wrap="square" lIns="0" tIns="0" rIns="0" bIns="0" rtlCol="0" anchor="ctr"/>
          <a:lstStyle/>
          <a:p>
            <a:pPr defTabSz="1218895">
              <a:buClrTx/>
            </a:pPr>
            <a:r>
              <a:rPr lang="en-US" sz="1600" i="1" kern="1200" dirty="0">
                <a:solidFill>
                  <a:srgbClr val="94A3B8"/>
                </a:solidFill>
                <a:latin typeface="Calibri" pitchFamily="34" charset="0"/>
                <a:ea typeface="Calibri" pitchFamily="34" charset="-122"/>
                <a:cs typeface="Calibri" pitchFamily="34" charset="-120"/>
              </a:rPr>
              <a:t>SAP BTP CAP  ·  TypeScript Migration  ·  Complete Course</a:t>
            </a:r>
            <a:endParaRPr lang="en-US" sz="1600" kern="1200" dirty="0">
              <a:solidFill>
                <a:prstClr val="black"/>
              </a:solidFill>
              <a:latin typeface="Calibri" panose="020F0502020204030204"/>
              <a:ea typeface="+mn-ea"/>
              <a:cs typeface="+mn-cs"/>
            </a:endParaRPr>
          </a:p>
        </p:txBody>
      </p:sp>
      <p:sp>
        <p:nvSpPr>
          <p:cNvPr id="5" name="Text 3"/>
          <p:cNvSpPr/>
          <p:nvPr/>
        </p:nvSpPr>
        <p:spPr>
          <a:xfrm>
            <a:off x="609441" y="1646384"/>
            <a:ext cx="10360501" cy="3169095"/>
          </a:xfrm>
          <a:prstGeom prst="rect">
            <a:avLst/>
          </a:prstGeom>
          <a:noFill/>
          <a:ln/>
        </p:spPr>
        <p:txBody>
          <a:bodyPr wrap="square" lIns="0" tIns="0" rIns="0" bIns="0" rtlCol="0" anchor="t"/>
          <a:lstStyle/>
          <a:p>
            <a:pPr defTabSz="1218895">
              <a:buClrTx/>
            </a:pPr>
            <a:r>
              <a:rPr lang="en-US" sz="5332" b="1" kern="1200" dirty="0">
                <a:solidFill>
                  <a:srgbClr val="FFFFFF"/>
                </a:solidFill>
                <a:latin typeface="Calibri" pitchFamily="34" charset="0"/>
                <a:ea typeface="Calibri" pitchFamily="34" charset="-122"/>
                <a:cs typeface="Calibri" pitchFamily="34" charset="-120"/>
              </a:rPr>
              <a:t>JavaScript  →  TypeScript
Incremental Migration
</a:t>
            </a:r>
            <a:r>
              <a:rPr lang="en-US" sz="3732" kern="1200" dirty="0">
                <a:solidFill>
                  <a:srgbClr val="2D9CDB"/>
                </a:solidFill>
                <a:latin typeface="Calibri" pitchFamily="34" charset="0"/>
                <a:ea typeface="Calibri" pitchFamily="34" charset="-122"/>
                <a:cs typeface="Calibri" pitchFamily="34" charset="-120"/>
              </a:rPr>
              <a:t>of SAP BTP CAP Projects</a:t>
            </a:r>
            <a:endParaRPr lang="en-US" sz="5332" kern="1200" dirty="0">
              <a:solidFill>
                <a:prstClr val="black"/>
              </a:solidFill>
              <a:latin typeface="Calibri" panose="020F0502020204030204"/>
              <a:ea typeface="+mn-ea"/>
              <a:cs typeface="+mn-cs"/>
            </a:endParaRPr>
          </a:p>
        </p:txBody>
      </p:sp>
      <p:sp>
        <p:nvSpPr>
          <p:cNvPr id="6" name="Shape 4"/>
          <p:cNvSpPr/>
          <p:nvPr/>
        </p:nvSpPr>
        <p:spPr>
          <a:xfrm>
            <a:off x="609441" y="4998311"/>
            <a:ext cx="4266089" cy="48755"/>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609441" y="5217710"/>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09441" y="5217710"/>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tsconfig.json</a:t>
            </a:r>
            <a:endParaRPr lang="en-US" sz="1133" kern="1200" dirty="0">
              <a:solidFill>
                <a:prstClr val="black"/>
              </a:solidFill>
              <a:latin typeface="Calibri" panose="020F0502020204030204"/>
              <a:ea typeface="+mn-ea"/>
              <a:cs typeface="+mn-cs"/>
            </a:endParaRPr>
          </a:p>
        </p:txBody>
      </p:sp>
      <p:sp>
        <p:nvSpPr>
          <p:cNvPr id="9" name="Shape 7"/>
          <p:cNvSpPr/>
          <p:nvPr/>
        </p:nvSpPr>
        <p:spPr>
          <a:xfrm>
            <a:off x="3412871" y="5217710"/>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3412871" y="5217710"/>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strict mode</a:t>
            </a:r>
            <a:endParaRPr lang="en-US" sz="1133" kern="1200" dirty="0">
              <a:solidFill>
                <a:prstClr val="black"/>
              </a:solidFill>
              <a:latin typeface="Calibri" panose="020F0502020204030204"/>
              <a:ea typeface="+mn-ea"/>
              <a:cs typeface="+mn-cs"/>
            </a:endParaRPr>
          </a:p>
        </p:txBody>
      </p:sp>
      <p:sp>
        <p:nvSpPr>
          <p:cNvPr id="11" name="Shape 9"/>
          <p:cNvSpPr/>
          <p:nvPr/>
        </p:nvSpPr>
        <p:spPr>
          <a:xfrm>
            <a:off x="6216300" y="5217710"/>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6216300" y="5217710"/>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CDS Types</a:t>
            </a:r>
            <a:endParaRPr lang="en-US" sz="1133" kern="1200" dirty="0">
              <a:solidFill>
                <a:prstClr val="black"/>
              </a:solidFill>
              <a:latin typeface="Calibri" panose="020F0502020204030204"/>
              <a:ea typeface="+mn-ea"/>
              <a:cs typeface="+mn-cs"/>
            </a:endParaRPr>
          </a:p>
        </p:txBody>
      </p:sp>
      <p:sp>
        <p:nvSpPr>
          <p:cNvPr id="13" name="Shape 11"/>
          <p:cNvSpPr/>
          <p:nvPr/>
        </p:nvSpPr>
        <p:spPr>
          <a:xfrm>
            <a:off x="9019730" y="5217710"/>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9019730" y="5217710"/>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CatalogService</a:t>
            </a:r>
            <a:endParaRPr lang="en-US" sz="1133" kern="1200" dirty="0">
              <a:solidFill>
                <a:prstClr val="black"/>
              </a:solidFill>
              <a:latin typeface="Calibri" panose="020F0502020204030204"/>
              <a:ea typeface="+mn-ea"/>
              <a:cs typeface="+mn-cs"/>
            </a:endParaRPr>
          </a:p>
        </p:txBody>
      </p:sp>
      <p:sp>
        <p:nvSpPr>
          <p:cNvPr id="15" name="Shape 13"/>
          <p:cNvSpPr/>
          <p:nvPr/>
        </p:nvSpPr>
        <p:spPr>
          <a:xfrm>
            <a:off x="609441" y="5680885"/>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609441" y="5680885"/>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Branded Keys</a:t>
            </a:r>
            <a:endParaRPr lang="en-US" sz="1133" kern="1200" dirty="0">
              <a:solidFill>
                <a:prstClr val="black"/>
              </a:solidFill>
              <a:latin typeface="Calibri" panose="020F0502020204030204"/>
              <a:ea typeface="+mn-ea"/>
              <a:cs typeface="+mn-cs"/>
            </a:endParaRPr>
          </a:p>
        </p:txBody>
      </p:sp>
      <p:sp>
        <p:nvSpPr>
          <p:cNvPr id="17" name="Shape 15"/>
          <p:cNvSpPr/>
          <p:nvPr/>
        </p:nvSpPr>
        <p:spPr>
          <a:xfrm>
            <a:off x="3412871" y="5680885"/>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Text 16"/>
          <p:cNvSpPr/>
          <p:nvPr/>
        </p:nvSpPr>
        <p:spPr>
          <a:xfrm>
            <a:off x="3412871" y="5680885"/>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Null-safe calls</a:t>
            </a:r>
            <a:endParaRPr lang="en-US" sz="1133" kern="1200" dirty="0">
              <a:solidFill>
                <a:prstClr val="black"/>
              </a:solidFill>
              <a:latin typeface="Calibri" panose="020F0502020204030204"/>
              <a:ea typeface="+mn-ea"/>
              <a:cs typeface="+mn-cs"/>
            </a:endParaRPr>
          </a:p>
        </p:txBody>
      </p:sp>
      <p:sp>
        <p:nvSpPr>
          <p:cNvPr id="19" name="Shape 17"/>
          <p:cNvSpPr/>
          <p:nvPr/>
        </p:nvSpPr>
        <p:spPr>
          <a:xfrm>
            <a:off x="6216300" y="5680885"/>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6216300" y="5680885"/>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Jest Tests</a:t>
            </a:r>
            <a:endParaRPr lang="en-US" sz="1133" kern="1200" dirty="0">
              <a:solidFill>
                <a:prstClr val="black"/>
              </a:solidFill>
              <a:latin typeface="Calibri" panose="020F0502020204030204"/>
              <a:ea typeface="+mn-ea"/>
              <a:cs typeface="+mn-cs"/>
            </a:endParaRPr>
          </a:p>
        </p:txBody>
      </p:sp>
      <p:sp>
        <p:nvSpPr>
          <p:cNvPr id="21" name="Shape 19"/>
          <p:cNvSpPr/>
          <p:nvPr/>
        </p:nvSpPr>
        <p:spPr>
          <a:xfrm>
            <a:off x="9507283" y="6034361"/>
            <a:ext cx="2437765" cy="731330"/>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Text 20"/>
          <p:cNvSpPr/>
          <p:nvPr/>
        </p:nvSpPr>
        <p:spPr>
          <a:xfrm>
            <a:off x="9507283" y="6034361"/>
            <a:ext cx="2437765" cy="731330"/>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Complete Guide</a:t>
            </a:r>
            <a:endParaRPr lang="en-US" sz="1600" kern="1200" dirty="0">
              <a:solidFill>
                <a:prstClr val="black"/>
              </a:solidFill>
              <a:latin typeface="Calibri" panose="020F0502020204030204"/>
              <a:ea typeface="+mn-ea"/>
              <a:cs typeface="+mn-cs"/>
            </a:endParaRPr>
          </a:p>
        </p:txBody>
      </p:sp>
      <p:pic>
        <p:nvPicPr>
          <p:cNvPr id="23" name="Google Shape;497;p1">
            <a:extLst>
              <a:ext uri="{FF2B5EF4-FFF2-40B4-BE49-F238E27FC236}">
                <a16:creationId xmlns:a16="http://schemas.microsoft.com/office/drawing/2014/main" id="{EC806731-862E-4D11-A00A-EB73EF762499}"/>
              </a:ext>
            </a:extLst>
          </p:cNvPr>
          <p:cNvPicPr preferRelativeResize="0"/>
          <p:nvPr/>
        </p:nvPicPr>
        <p:blipFill rotWithShape="1">
          <a:blip r:embed="rId3">
            <a:alphaModFix/>
          </a:blip>
          <a:srcRect/>
          <a:stretch/>
        </p:blipFill>
        <p:spPr>
          <a:xfrm>
            <a:off x="7851539" y="1372856"/>
            <a:ext cx="3508446" cy="335175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1218883"/>
          </a:xfrm>
          <a:prstGeom prst="rect">
            <a:avLst/>
          </a:prstGeom>
          <a:noFill/>
          <a:ln/>
        </p:spPr>
        <p:txBody>
          <a:bodyPr wrap="square" lIns="0" tIns="0" rIns="0" bIns="0" rtlCol="0" anchor="ctr"/>
          <a:lstStyle/>
          <a:p>
            <a:pPr defTabSz="1218895">
              <a:buClrTx/>
            </a:pPr>
            <a:r>
              <a:rPr lang="en-US" sz="3333" b="1" kern="1200" dirty="0">
                <a:solidFill>
                  <a:srgbClr val="FFFFFF"/>
                </a:solidFill>
                <a:latin typeface="Calibri" pitchFamily="34" charset="0"/>
                <a:ea typeface="Calibri" pitchFamily="34" charset="-122"/>
                <a:cs typeface="Calibri" pitchFamily="34" charset="-120"/>
              </a:rPr>
              <a:t>Learning Objectives — Complete Migration Path</a:t>
            </a:r>
            <a:endParaRPr lang="en-US" sz="3333" kern="1200" dirty="0">
              <a:solidFill>
                <a:prstClr val="black"/>
              </a:solidFill>
              <a:latin typeface="Calibri" panose="020F0502020204030204"/>
              <a:ea typeface="+mn-ea"/>
              <a:cs typeface="+mn-cs"/>
            </a:endParaRPr>
          </a:p>
        </p:txBody>
      </p:sp>
      <p:sp>
        <p:nvSpPr>
          <p:cNvPr id="5" name="Shape 3"/>
          <p:cNvSpPr/>
          <p:nvPr/>
        </p:nvSpPr>
        <p:spPr>
          <a:xfrm>
            <a:off x="426608" y="1487929"/>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6" name="Shape 4"/>
          <p:cNvSpPr/>
          <p:nvPr/>
        </p:nvSpPr>
        <p:spPr>
          <a:xfrm>
            <a:off x="426608" y="1487929"/>
            <a:ext cx="85322" cy="1218883"/>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597252" y="1780461"/>
            <a:ext cx="633819" cy="633819"/>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8" name="Image 0" descr="preencoded.png"/>
          <p:cNvPicPr>
            <a:picLocks noChangeAspect="1"/>
          </p:cNvPicPr>
          <p:nvPr/>
        </p:nvPicPr>
        <p:blipFill>
          <a:blip r:embed="rId3"/>
          <a:stretch>
            <a:fillRect/>
          </a:stretch>
        </p:blipFill>
        <p:spPr>
          <a:xfrm>
            <a:off x="633818" y="1817028"/>
            <a:ext cx="560686" cy="560686"/>
          </a:xfrm>
          <a:prstGeom prst="rect">
            <a:avLst/>
          </a:prstGeom>
        </p:spPr>
      </p:pic>
      <p:sp>
        <p:nvSpPr>
          <p:cNvPr id="9" name="Text 6"/>
          <p:cNvSpPr/>
          <p:nvPr/>
        </p:nvSpPr>
        <p:spPr>
          <a:xfrm>
            <a:off x="1377337" y="1609818"/>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Install &amp; Configure TS in CAP</a:t>
            </a:r>
            <a:endParaRPr lang="en-US" sz="1600" kern="1200" dirty="0">
              <a:solidFill>
                <a:prstClr val="black"/>
              </a:solidFill>
              <a:latin typeface="Calibri" panose="020F0502020204030204"/>
              <a:ea typeface="+mn-ea"/>
              <a:cs typeface="+mn-cs"/>
            </a:endParaRPr>
          </a:p>
        </p:txBody>
      </p:sp>
      <p:sp>
        <p:nvSpPr>
          <p:cNvPr id="10" name="Text 7"/>
          <p:cNvSpPr/>
          <p:nvPr/>
        </p:nvSpPr>
        <p:spPr>
          <a:xfrm>
            <a:off x="1377337" y="2024238"/>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npm packages, @cap-js/cds-types, tsconfig.json tuned for CAP Node.js projects</a:t>
            </a:r>
            <a:endParaRPr lang="en-US" sz="1266" kern="1200" dirty="0">
              <a:solidFill>
                <a:prstClr val="black"/>
              </a:solidFill>
              <a:latin typeface="Calibri" panose="020F0502020204030204"/>
              <a:ea typeface="+mn-ea"/>
              <a:cs typeface="+mn-cs"/>
            </a:endParaRPr>
          </a:p>
        </p:txBody>
      </p:sp>
      <p:sp>
        <p:nvSpPr>
          <p:cNvPr id="11" name="Shape 8"/>
          <p:cNvSpPr/>
          <p:nvPr/>
        </p:nvSpPr>
        <p:spPr>
          <a:xfrm>
            <a:off x="6423510" y="1487929"/>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Shape 9"/>
          <p:cNvSpPr/>
          <p:nvPr/>
        </p:nvSpPr>
        <p:spPr>
          <a:xfrm>
            <a:off x="6423510" y="1487929"/>
            <a:ext cx="85322" cy="1218883"/>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Shape 10"/>
          <p:cNvSpPr/>
          <p:nvPr/>
        </p:nvSpPr>
        <p:spPr>
          <a:xfrm>
            <a:off x="6594154" y="1780461"/>
            <a:ext cx="633819" cy="633819"/>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14" name="Image 1" descr="preencoded.png"/>
          <p:cNvPicPr>
            <a:picLocks noChangeAspect="1"/>
          </p:cNvPicPr>
          <p:nvPr/>
        </p:nvPicPr>
        <p:blipFill>
          <a:blip r:embed="rId4"/>
          <a:stretch>
            <a:fillRect/>
          </a:stretch>
        </p:blipFill>
        <p:spPr>
          <a:xfrm>
            <a:off x="6630720" y="1817028"/>
            <a:ext cx="560686" cy="560686"/>
          </a:xfrm>
          <a:prstGeom prst="rect">
            <a:avLst/>
          </a:prstGeom>
        </p:spPr>
      </p:pic>
      <p:sp>
        <p:nvSpPr>
          <p:cNvPr id="15" name="Text 11"/>
          <p:cNvSpPr/>
          <p:nvPr/>
        </p:nvSpPr>
        <p:spPr>
          <a:xfrm>
            <a:off x="7374239" y="1609818"/>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Migrate Utility Files</a:t>
            </a:r>
            <a:endParaRPr lang="en-US" sz="1600" kern="1200" dirty="0">
              <a:solidFill>
                <a:prstClr val="black"/>
              </a:solidFill>
              <a:latin typeface="Calibri" panose="020F0502020204030204"/>
              <a:ea typeface="+mn-ea"/>
              <a:cs typeface="+mn-cs"/>
            </a:endParaRPr>
          </a:p>
        </p:txBody>
      </p:sp>
      <p:sp>
        <p:nvSpPr>
          <p:cNvPr id="16" name="Text 12"/>
          <p:cNvSpPr/>
          <p:nvPr/>
        </p:nvSpPr>
        <p:spPr>
          <a:xfrm>
            <a:off x="7374239" y="2024238"/>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payload-transformer.ts and error-mapper.ts with full interfaces and strict types</a:t>
            </a:r>
            <a:endParaRPr lang="en-US" sz="1266" kern="1200" dirty="0">
              <a:solidFill>
                <a:prstClr val="black"/>
              </a:solidFill>
              <a:latin typeface="Calibri" panose="020F0502020204030204"/>
              <a:ea typeface="+mn-ea"/>
              <a:cs typeface="+mn-cs"/>
            </a:endParaRPr>
          </a:p>
        </p:txBody>
      </p:sp>
      <p:sp>
        <p:nvSpPr>
          <p:cNvPr id="17" name="Shape 13"/>
          <p:cNvSpPr/>
          <p:nvPr/>
        </p:nvSpPr>
        <p:spPr>
          <a:xfrm>
            <a:off x="426608" y="2828700"/>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Shape 14"/>
          <p:cNvSpPr/>
          <p:nvPr/>
        </p:nvSpPr>
        <p:spPr>
          <a:xfrm>
            <a:off x="426608" y="2828700"/>
            <a:ext cx="85322" cy="1218883"/>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5"/>
          <p:cNvSpPr/>
          <p:nvPr/>
        </p:nvSpPr>
        <p:spPr>
          <a:xfrm>
            <a:off x="597252" y="3121232"/>
            <a:ext cx="633819" cy="633819"/>
          </a:xfrm>
          <a:prstGeom prst="ellipse">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0" name="Image 2" descr="preencoded.png"/>
          <p:cNvPicPr>
            <a:picLocks noChangeAspect="1"/>
          </p:cNvPicPr>
          <p:nvPr/>
        </p:nvPicPr>
        <p:blipFill>
          <a:blip r:embed="rId5"/>
          <a:stretch>
            <a:fillRect/>
          </a:stretch>
        </p:blipFill>
        <p:spPr>
          <a:xfrm>
            <a:off x="633818" y="3157799"/>
            <a:ext cx="560686" cy="560686"/>
          </a:xfrm>
          <a:prstGeom prst="rect">
            <a:avLst/>
          </a:prstGeom>
        </p:spPr>
      </p:pic>
      <p:sp>
        <p:nvSpPr>
          <p:cNvPr id="21" name="Text 16"/>
          <p:cNvSpPr/>
          <p:nvPr/>
        </p:nvSpPr>
        <p:spPr>
          <a:xfrm>
            <a:off x="1377337" y="2950589"/>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Migrate CAP Service Handlers</a:t>
            </a:r>
            <a:endParaRPr lang="en-US" sz="1600" kern="1200" dirty="0">
              <a:solidFill>
                <a:prstClr val="black"/>
              </a:solidFill>
              <a:latin typeface="Calibri" panose="020F0502020204030204"/>
              <a:ea typeface="+mn-ea"/>
              <a:cs typeface="+mn-cs"/>
            </a:endParaRPr>
          </a:p>
        </p:txBody>
      </p:sp>
      <p:sp>
        <p:nvSpPr>
          <p:cNvPr id="22" name="Text 17"/>
          <p:cNvSpPr/>
          <p:nvPr/>
        </p:nvSpPr>
        <p:spPr>
          <a:xfrm>
            <a:off x="1377337" y="3365009"/>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CatalogService.js and CDSService.js generic handlers — typed CDS events &amp; requests</a:t>
            </a:r>
            <a:endParaRPr lang="en-US" sz="1266" kern="1200" dirty="0">
              <a:solidFill>
                <a:prstClr val="black"/>
              </a:solidFill>
              <a:latin typeface="Calibri" panose="020F0502020204030204"/>
              <a:ea typeface="+mn-ea"/>
              <a:cs typeface="+mn-cs"/>
            </a:endParaRPr>
          </a:p>
        </p:txBody>
      </p:sp>
      <p:sp>
        <p:nvSpPr>
          <p:cNvPr id="23" name="Shape 18"/>
          <p:cNvSpPr/>
          <p:nvPr/>
        </p:nvSpPr>
        <p:spPr>
          <a:xfrm>
            <a:off x="6423510" y="2828700"/>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Shape 19"/>
          <p:cNvSpPr/>
          <p:nvPr/>
        </p:nvSpPr>
        <p:spPr>
          <a:xfrm>
            <a:off x="6423510" y="2828700"/>
            <a:ext cx="85322" cy="1218883"/>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Shape 20"/>
          <p:cNvSpPr/>
          <p:nvPr/>
        </p:nvSpPr>
        <p:spPr>
          <a:xfrm>
            <a:off x="6594154" y="3121232"/>
            <a:ext cx="633819" cy="633819"/>
          </a:xfrm>
          <a:prstGeom prst="ellipse">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6" name="Image 3" descr="preencoded.png"/>
          <p:cNvPicPr>
            <a:picLocks noChangeAspect="1"/>
          </p:cNvPicPr>
          <p:nvPr/>
        </p:nvPicPr>
        <p:blipFill>
          <a:blip r:embed="rId6"/>
          <a:stretch>
            <a:fillRect/>
          </a:stretch>
        </p:blipFill>
        <p:spPr>
          <a:xfrm>
            <a:off x="6630720" y="3157799"/>
            <a:ext cx="560686" cy="560686"/>
          </a:xfrm>
          <a:prstGeom prst="rect">
            <a:avLst/>
          </a:prstGeom>
        </p:spPr>
      </p:pic>
      <p:sp>
        <p:nvSpPr>
          <p:cNvPr id="27" name="Text 21"/>
          <p:cNvSpPr/>
          <p:nvPr/>
        </p:nvSpPr>
        <p:spPr>
          <a:xfrm>
            <a:off x="7374239" y="2950589"/>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Define OData Interfaces</a:t>
            </a:r>
            <a:endParaRPr lang="en-US" sz="1600" kern="1200" dirty="0">
              <a:solidFill>
                <a:prstClr val="black"/>
              </a:solidFill>
              <a:latin typeface="Calibri" panose="020F0502020204030204"/>
              <a:ea typeface="+mn-ea"/>
              <a:cs typeface="+mn-cs"/>
            </a:endParaRPr>
          </a:p>
        </p:txBody>
      </p:sp>
      <p:sp>
        <p:nvSpPr>
          <p:cNvPr id="28" name="Text 22"/>
          <p:cNvSpPr/>
          <p:nvPr/>
        </p:nvSpPr>
        <p:spPr>
          <a:xfrm>
            <a:off x="7374239" y="3365009"/>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OData payload shapes, error objects, and CDS entity interfaces</a:t>
            </a:r>
            <a:endParaRPr lang="en-US" sz="1266" kern="1200" dirty="0">
              <a:solidFill>
                <a:prstClr val="black"/>
              </a:solidFill>
              <a:latin typeface="Calibri" panose="020F0502020204030204"/>
              <a:ea typeface="+mn-ea"/>
              <a:cs typeface="+mn-cs"/>
            </a:endParaRPr>
          </a:p>
        </p:txBody>
      </p:sp>
      <p:sp>
        <p:nvSpPr>
          <p:cNvPr id="29" name="Shape 23"/>
          <p:cNvSpPr/>
          <p:nvPr/>
        </p:nvSpPr>
        <p:spPr>
          <a:xfrm>
            <a:off x="426608" y="4169471"/>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0" name="Shape 24"/>
          <p:cNvSpPr/>
          <p:nvPr/>
        </p:nvSpPr>
        <p:spPr>
          <a:xfrm>
            <a:off x="426608" y="4169471"/>
            <a:ext cx="85322" cy="1218883"/>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5"/>
          <p:cNvSpPr/>
          <p:nvPr/>
        </p:nvSpPr>
        <p:spPr>
          <a:xfrm>
            <a:off x="597252" y="4462003"/>
            <a:ext cx="633819" cy="633819"/>
          </a:xfrm>
          <a:prstGeom prst="ellipse">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32" name="Image 4" descr="preencoded.png"/>
          <p:cNvPicPr>
            <a:picLocks noChangeAspect="1"/>
          </p:cNvPicPr>
          <p:nvPr/>
        </p:nvPicPr>
        <p:blipFill>
          <a:blip r:embed="rId7"/>
          <a:stretch>
            <a:fillRect/>
          </a:stretch>
        </p:blipFill>
        <p:spPr>
          <a:xfrm>
            <a:off x="633818" y="4498569"/>
            <a:ext cx="560686" cy="560686"/>
          </a:xfrm>
          <a:prstGeom prst="rect">
            <a:avLst/>
          </a:prstGeom>
        </p:spPr>
      </p:pic>
      <p:sp>
        <p:nvSpPr>
          <p:cNvPr id="33" name="Text 26"/>
          <p:cNvSpPr/>
          <p:nvPr/>
        </p:nvSpPr>
        <p:spPr>
          <a:xfrm>
            <a:off x="1377337" y="4291360"/>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Branded Types for Entity Keys</a:t>
            </a:r>
            <a:endParaRPr lang="en-US" sz="1600" kern="1200" dirty="0">
              <a:solidFill>
                <a:prstClr val="black"/>
              </a:solidFill>
              <a:latin typeface="Calibri" panose="020F0502020204030204"/>
              <a:ea typeface="+mn-ea"/>
              <a:cs typeface="+mn-cs"/>
            </a:endParaRPr>
          </a:p>
        </p:txBody>
      </p:sp>
      <p:sp>
        <p:nvSpPr>
          <p:cNvPr id="34" name="Text 27"/>
          <p:cNvSpPr/>
          <p:nvPr/>
        </p:nvSpPr>
        <p:spPr>
          <a:xfrm>
            <a:off x="1377337" y="4705780"/>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Prevent ID mix-ups at compile time using opaque/branded string types</a:t>
            </a:r>
            <a:endParaRPr lang="en-US" sz="1266" kern="1200" dirty="0">
              <a:solidFill>
                <a:prstClr val="black"/>
              </a:solidFill>
              <a:latin typeface="Calibri" panose="020F0502020204030204"/>
              <a:ea typeface="+mn-ea"/>
              <a:cs typeface="+mn-cs"/>
            </a:endParaRPr>
          </a:p>
        </p:txBody>
      </p:sp>
      <p:sp>
        <p:nvSpPr>
          <p:cNvPr id="35" name="Shape 28"/>
          <p:cNvSpPr/>
          <p:nvPr/>
        </p:nvSpPr>
        <p:spPr>
          <a:xfrm>
            <a:off x="6423510" y="4169471"/>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6" name="Shape 29"/>
          <p:cNvSpPr/>
          <p:nvPr/>
        </p:nvSpPr>
        <p:spPr>
          <a:xfrm>
            <a:off x="6423510" y="4169471"/>
            <a:ext cx="85322" cy="1218883"/>
          </a:xfrm>
          <a:prstGeom prst="rect">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Shape 30"/>
          <p:cNvSpPr/>
          <p:nvPr/>
        </p:nvSpPr>
        <p:spPr>
          <a:xfrm>
            <a:off x="6594154" y="4462003"/>
            <a:ext cx="633819" cy="633819"/>
          </a:xfrm>
          <a:prstGeom prst="ellipse">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38" name="Image 5" descr="preencoded.png"/>
          <p:cNvPicPr>
            <a:picLocks noChangeAspect="1"/>
          </p:cNvPicPr>
          <p:nvPr/>
        </p:nvPicPr>
        <p:blipFill>
          <a:blip r:embed="rId8"/>
          <a:stretch>
            <a:fillRect/>
          </a:stretch>
        </p:blipFill>
        <p:spPr>
          <a:xfrm>
            <a:off x="6630720" y="4498569"/>
            <a:ext cx="560686" cy="560686"/>
          </a:xfrm>
          <a:prstGeom prst="rect">
            <a:avLst/>
          </a:prstGeom>
        </p:spPr>
      </p:pic>
      <p:sp>
        <p:nvSpPr>
          <p:cNvPr id="39" name="Text 31"/>
          <p:cNvSpPr/>
          <p:nvPr/>
        </p:nvSpPr>
        <p:spPr>
          <a:xfrm>
            <a:off x="7374239" y="4291360"/>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Strict Null-Safe Service Calls</a:t>
            </a:r>
            <a:endParaRPr lang="en-US" sz="1600" kern="1200" dirty="0">
              <a:solidFill>
                <a:prstClr val="black"/>
              </a:solidFill>
              <a:latin typeface="Calibri" panose="020F0502020204030204"/>
              <a:ea typeface="+mn-ea"/>
              <a:cs typeface="+mn-cs"/>
            </a:endParaRPr>
          </a:p>
        </p:txBody>
      </p:sp>
      <p:sp>
        <p:nvSpPr>
          <p:cNvPr id="40" name="Text 32"/>
          <p:cNvSpPr/>
          <p:nvPr/>
        </p:nvSpPr>
        <p:spPr>
          <a:xfrm>
            <a:off x="7374239" y="4705780"/>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Guard every cds.connect, service.run and request.data against null/undefined</a:t>
            </a:r>
            <a:endParaRPr lang="en-US" sz="1266" kern="1200" dirty="0">
              <a:solidFill>
                <a:prstClr val="black"/>
              </a:solidFill>
              <a:latin typeface="Calibri" panose="020F0502020204030204"/>
              <a:ea typeface="+mn-ea"/>
              <a:cs typeface="+mn-cs"/>
            </a:endParaRPr>
          </a:p>
        </p:txBody>
      </p:sp>
      <p:sp>
        <p:nvSpPr>
          <p:cNvPr id="41" name="Shape 33"/>
          <p:cNvSpPr/>
          <p:nvPr/>
        </p:nvSpPr>
        <p:spPr>
          <a:xfrm>
            <a:off x="3108150" y="5510242"/>
            <a:ext cx="5972524"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2" name="Shape 34"/>
          <p:cNvSpPr/>
          <p:nvPr/>
        </p:nvSpPr>
        <p:spPr>
          <a:xfrm>
            <a:off x="3108150" y="5510242"/>
            <a:ext cx="85322" cy="1218883"/>
          </a:xfrm>
          <a:prstGeom prst="rect">
            <a:avLst/>
          </a:prstGeom>
          <a:solidFill>
            <a:srgbClr val="059669"/>
          </a:solidFill>
          <a:ln w="12700">
            <a:solidFill>
              <a:srgbClr val="059669"/>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3" name="Shape 35"/>
          <p:cNvSpPr/>
          <p:nvPr/>
        </p:nvSpPr>
        <p:spPr>
          <a:xfrm>
            <a:off x="3278793" y="5802774"/>
            <a:ext cx="633819" cy="633819"/>
          </a:xfrm>
          <a:prstGeom prst="ellipse">
            <a:avLst/>
          </a:prstGeom>
          <a:solidFill>
            <a:srgbClr val="059669"/>
          </a:solidFill>
          <a:ln w="12700">
            <a:solidFill>
              <a:srgbClr val="059669"/>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44" name="Image 6" descr="preencoded.png"/>
          <p:cNvPicPr>
            <a:picLocks noChangeAspect="1"/>
          </p:cNvPicPr>
          <p:nvPr/>
        </p:nvPicPr>
        <p:blipFill>
          <a:blip r:embed="rId9"/>
          <a:stretch>
            <a:fillRect/>
          </a:stretch>
        </p:blipFill>
        <p:spPr>
          <a:xfrm>
            <a:off x="3315360" y="5839340"/>
            <a:ext cx="560686" cy="560686"/>
          </a:xfrm>
          <a:prstGeom prst="rect">
            <a:avLst/>
          </a:prstGeom>
        </p:spPr>
      </p:pic>
      <p:sp>
        <p:nvSpPr>
          <p:cNvPr id="45" name="Text 36"/>
          <p:cNvSpPr/>
          <p:nvPr/>
        </p:nvSpPr>
        <p:spPr>
          <a:xfrm>
            <a:off x="4058878" y="5632130"/>
            <a:ext cx="4875530"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Verify Without Rewriting</a:t>
            </a:r>
            <a:endParaRPr lang="en-US" sz="1600" kern="1200" dirty="0">
              <a:solidFill>
                <a:prstClr val="black"/>
              </a:solidFill>
              <a:latin typeface="Calibri" panose="020F0502020204030204"/>
              <a:ea typeface="+mn-ea"/>
              <a:cs typeface="+mn-cs"/>
            </a:endParaRPr>
          </a:p>
        </p:txBody>
      </p:sp>
      <p:sp>
        <p:nvSpPr>
          <p:cNvPr id="46" name="Text 37"/>
          <p:cNvSpPr/>
          <p:nvPr/>
        </p:nvSpPr>
        <p:spPr>
          <a:xfrm>
            <a:off x="4058878" y="6046550"/>
            <a:ext cx="4875530"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tsc --noEmit + unchanged Jest suite confirms all business logic is preserved</a:t>
            </a:r>
            <a:endParaRPr lang="en-US" sz="1266" kern="1200" dirty="0">
              <a:solidFill>
                <a:prstClr val="black"/>
              </a:solidFill>
              <a:latin typeface="Calibri" panose="020F0502020204030204"/>
              <a:ea typeface="+mn-ea"/>
              <a:cs typeface="+mn-cs"/>
            </a:endParaRPr>
          </a:p>
        </p:txBody>
      </p:sp>
      <p:pic>
        <p:nvPicPr>
          <p:cNvPr id="47" name="Google Shape;497;p1">
            <a:extLst>
              <a:ext uri="{FF2B5EF4-FFF2-40B4-BE49-F238E27FC236}">
                <a16:creationId xmlns:a16="http://schemas.microsoft.com/office/drawing/2014/main" id="{075ECE42-CE8E-012D-97F1-129F0653B303}"/>
              </a:ext>
            </a:extLst>
          </p:cNvPr>
          <p:cNvPicPr preferRelativeResize="0"/>
          <p:nvPr/>
        </p:nvPicPr>
        <p:blipFill rotWithShape="1">
          <a:blip r:embed="rId10">
            <a:alphaModFix/>
          </a:blip>
          <a:srcRect/>
          <a:stretch/>
        </p:blipFill>
        <p:spPr>
          <a:xfrm>
            <a:off x="10503584" y="-58217"/>
            <a:ext cx="1733995" cy="165618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FFFFF"/>
                </a:solidFill>
                <a:latin typeface="Calibri" pitchFamily="34" charset="0"/>
                <a:ea typeface="Calibri" pitchFamily="34" charset="-122"/>
                <a:cs typeface="Calibri" pitchFamily="34" charset="-120"/>
              </a:rPr>
              <a:t>Starter Project Structure — Files to Migrate</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All JS files involved · three layers: utilities, service handlers, and tests</a:t>
            </a:r>
            <a:endParaRPr lang="en-US" kern="1200" dirty="0">
              <a:solidFill>
                <a:prstClr val="black"/>
              </a:solidFill>
              <a:latin typeface="Calibri" panose="020F0502020204030204"/>
              <a:ea typeface="+mn-ea"/>
              <a:cs typeface="+mn-cs"/>
            </a:endParaRPr>
          </a:p>
        </p:txBody>
      </p:sp>
      <p:sp>
        <p:nvSpPr>
          <p:cNvPr id="6" name="Shape 4"/>
          <p:cNvSpPr/>
          <p:nvPr/>
        </p:nvSpPr>
        <p:spPr>
          <a:xfrm>
            <a:off x="426609" y="1402608"/>
            <a:ext cx="4997418" cy="5241195"/>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09441" y="1487930"/>
            <a:ext cx="4692698" cy="426609"/>
          </a:xfrm>
          <a:prstGeom prst="rect">
            <a:avLst/>
          </a:prstGeom>
          <a:noFill/>
          <a:ln/>
        </p:spPr>
        <p:txBody>
          <a:bodyPr wrap="square" lIns="0" tIns="0" rIns="0" bIns="0" rtlCol="0" anchor="ctr"/>
          <a:lstStyle/>
          <a:p>
            <a:pPr defTabSz="1218895">
              <a:buClrTx/>
            </a:pPr>
            <a:r>
              <a:rPr lang="en-US" sz="1600" b="1" kern="1200" dirty="0">
                <a:solidFill>
                  <a:srgbClr val="F59E0B"/>
                </a:solidFill>
                <a:latin typeface="Consolas" pitchFamily="34" charset="0"/>
                <a:ea typeface="Consolas" pitchFamily="34" charset="-122"/>
                <a:cs typeface="Consolas" pitchFamily="34" charset="-120"/>
              </a:rPr>
              <a:t>📁 CAP Project Structure</a:t>
            </a:r>
            <a:endParaRPr lang="en-US" sz="1600" kern="1200" dirty="0">
              <a:solidFill>
                <a:prstClr val="black"/>
              </a:solidFill>
              <a:latin typeface="Calibri" panose="020F0502020204030204"/>
              <a:ea typeface="+mn-ea"/>
              <a:cs typeface="+mn-cs"/>
            </a:endParaRPr>
          </a:p>
        </p:txBody>
      </p:sp>
      <p:sp>
        <p:nvSpPr>
          <p:cNvPr id="8" name="Text 6"/>
          <p:cNvSpPr/>
          <p:nvPr/>
        </p:nvSpPr>
        <p:spPr>
          <a:xfrm>
            <a:off x="609441" y="1975483"/>
            <a:ext cx="4631754" cy="292532"/>
          </a:xfrm>
          <a:prstGeom prst="rect">
            <a:avLst/>
          </a:prstGeom>
          <a:noFill/>
          <a:ln/>
        </p:spPr>
        <p:txBody>
          <a:bodyPr wrap="square" lIns="0" tIns="0" rIns="0" bIns="0" rtlCol="0" anchor="ctr"/>
          <a:lstStyle/>
          <a:p>
            <a:pPr defTabSz="1218895">
              <a:buClrTx/>
            </a:pPr>
            <a:r>
              <a:rPr lang="en-US" sz="1200" b="1" kern="1200" dirty="0">
                <a:solidFill>
                  <a:srgbClr val="FFFFFF"/>
                </a:solidFill>
                <a:latin typeface="Consolas" pitchFamily="34" charset="0"/>
                <a:ea typeface="Consolas" pitchFamily="34" charset="-122"/>
                <a:cs typeface="Consolas" pitchFamily="34" charset="-120"/>
              </a:rPr>
              <a:t>my-cap-project/</a:t>
            </a:r>
            <a:endParaRPr lang="en-US" sz="1200" kern="1200" dirty="0">
              <a:solidFill>
                <a:prstClr val="black"/>
              </a:solidFill>
              <a:latin typeface="Calibri" panose="020F0502020204030204"/>
              <a:ea typeface="+mn-ea"/>
              <a:cs typeface="+mn-cs"/>
            </a:endParaRPr>
          </a:p>
        </p:txBody>
      </p:sp>
      <p:sp>
        <p:nvSpPr>
          <p:cNvPr id="9" name="Text 7"/>
          <p:cNvSpPr/>
          <p:nvPr/>
        </p:nvSpPr>
        <p:spPr>
          <a:xfrm>
            <a:off x="755706" y="2292392"/>
            <a:ext cx="4631754" cy="292532"/>
          </a:xfrm>
          <a:prstGeom prst="rect">
            <a:avLst/>
          </a:prstGeom>
          <a:noFill/>
          <a:ln/>
        </p:spPr>
        <p:txBody>
          <a:bodyPr wrap="square" lIns="0" tIns="0" rIns="0" bIns="0" rtlCol="0" anchor="ctr"/>
          <a:lstStyle/>
          <a:p>
            <a:pPr defTabSz="1218895">
              <a:buClrTx/>
            </a:pPr>
            <a:r>
              <a:rPr lang="en-US" sz="1200" kern="1200" dirty="0">
                <a:solidFill>
                  <a:srgbClr val="FCD34D"/>
                </a:solidFill>
                <a:latin typeface="Consolas" pitchFamily="34" charset="0"/>
                <a:ea typeface="Consolas" pitchFamily="34" charset="-122"/>
                <a:cs typeface="Consolas" pitchFamily="34" charset="-120"/>
              </a:rPr>
              <a:t>├─ package.json</a:t>
            </a:r>
            <a:endParaRPr lang="en-US" sz="1200" kern="1200" dirty="0">
              <a:solidFill>
                <a:prstClr val="black"/>
              </a:solidFill>
              <a:latin typeface="Calibri" panose="020F0502020204030204"/>
              <a:ea typeface="+mn-ea"/>
              <a:cs typeface="+mn-cs"/>
            </a:endParaRPr>
          </a:p>
        </p:txBody>
      </p:sp>
      <p:sp>
        <p:nvSpPr>
          <p:cNvPr id="10" name="Text 8"/>
          <p:cNvSpPr/>
          <p:nvPr/>
        </p:nvSpPr>
        <p:spPr>
          <a:xfrm>
            <a:off x="755706" y="2609301"/>
            <a:ext cx="4631754" cy="292532"/>
          </a:xfrm>
          <a:prstGeom prst="rect">
            <a:avLst/>
          </a:prstGeom>
          <a:noFill/>
          <a:ln/>
        </p:spPr>
        <p:txBody>
          <a:bodyPr wrap="square" lIns="0" tIns="0" rIns="0" bIns="0" rtlCol="0" anchor="ctr"/>
          <a:lstStyle/>
          <a:p>
            <a:pPr defTabSz="1218895">
              <a:buClrTx/>
            </a:pPr>
            <a:r>
              <a:rPr lang="en-US" sz="1200" b="1" kern="1200" dirty="0">
                <a:solidFill>
                  <a:srgbClr val="4ADE80"/>
                </a:solidFill>
                <a:latin typeface="Consolas" pitchFamily="34" charset="0"/>
                <a:ea typeface="Consolas" pitchFamily="34" charset="-122"/>
                <a:cs typeface="Consolas" pitchFamily="34" charset="-120"/>
              </a:rPr>
              <a:t>├─ tsconfig.json         ← ADD</a:t>
            </a:r>
            <a:endParaRPr lang="en-US" sz="1200" kern="1200" dirty="0">
              <a:solidFill>
                <a:prstClr val="black"/>
              </a:solidFill>
              <a:latin typeface="Calibri" panose="020F0502020204030204"/>
              <a:ea typeface="+mn-ea"/>
              <a:cs typeface="+mn-cs"/>
            </a:endParaRPr>
          </a:p>
        </p:txBody>
      </p:sp>
      <p:sp>
        <p:nvSpPr>
          <p:cNvPr id="11" name="Text 9"/>
          <p:cNvSpPr/>
          <p:nvPr/>
        </p:nvSpPr>
        <p:spPr>
          <a:xfrm>
            <a:off x="755706" y="2926211"/>
            <a:ext cx="4631754" cy="292532"/>
          </a:xfrm>
          <a:prstGeom prst="rect">
            <a:avLst/>
          </a:prstGeom>
          <a:noFill/>
          <a:ln/>
        </p:spPr>
        <p:txBody>
          <a:bodyPr wrap="square" lIns="0" tIns="0" rIns="0" bIns="0" rtlCol="0" anchor="ctr"/>
          <a:lstStyle/>
          <a:p>
            <a:pPr defTabSz="1218895">
              <a:buClrTx/>
            </a:pPr>
            <a:r>
              <a:rPr lang="en-US" sz="1200" kern="1200" dirty="0">
                <a:solidFill>
                  <a:srgbClr val="FCD34D"/>
                </a:solidFill>
                <a:latin typeface="Consolas" pitchFamily="34" charset="0"/>
                <a:ea typeface="Consolas" pitchFamily="34" charset="-122"/>
                <a:cs typeface="Consolas" pitchFamily="34" charset="-120"/>
              </a:rPr>
              <a:t>├─ .cdsrc.json</a:t>
            </a:r>
            <a:endParaRPr lang="en-US" sz="1200" kern="1200" dirty="0">
              <a:solidFill>
                <a:prstClr val="black"/>
              </a:solidFill>
              <a:latin typeface="Calibri" panose="020F0502020204030204"/>
              <a:ea typeface="+mn-ea"/>
              <a:cs typeface="+mn-cs"/>
            </a:endParaRPr>
          </a:p>
        </p:txBody>
      </p:sp>
      <p:sp>
        <p:nvSpPr>
          <p:cNvPr id="12" name="Text 10"/>
          <p:cNvSpPr/>
          <p:nvPr/>
        </p:nvSpPr>
        <p:spPr>
          <a:xfrm>
            <a:off x="755706" y="3243120"/>
            <a:ext cx="4631754" cy="292532"/>
          </a:xfrm>
          <a:prstGeom prst="rect">
            <a:avLst/>
          </a:prstGeom>
          <a:noFill/>
          <a:ln/>
        </p:spPr>
        <p:txBody>
          <a:bodyPr wrap="square" lIns="0" tIns="0" rIns="0" bIns="0" rtlCol="0" anchor="ctr"/>
          <a:lstStyle/>
          <a:p>
            <a:pPr defTabSz="1218895">
              <a:buClrTx/>
            </a:pPr>
            <a:r>
              <a:rPr lang="en-US" sz="1200" b="1" kern="1200" dirty="0">
                <a:solidFill>
                  <a:srgbClr val="93C5FD"/>
                </a:solidFill>
                <a:latin typeface="Consolas" pitchFamily="34" charset="0"/>
                <a:ea typeface="Consolas" pitchFamily="34" charset="-122"/>
                <a:cs typeface="Consolas" pitchFamily="34" charset="-120"/>
              </a:rPr>
              <a:t>├─ db/</a:t>
            </a:r>
            <a:endParaRPr lang="en-US" sz="1200" kern="1200" dirty="0">
              <a:solidFill>
                <a:prstClr val="black"/>
              </a:solidFill>
              <a:latin typeface="Calibri" panose="020F0502020204030204"/>
              <a:ea typeface="+mn-ea"/>
              <a:cs typeface="+mn-cs"/>
            </a:endParaRPr>
          </a:p>
        </p:txBody>
      </p:sp>
      <p:sp>
        <p:nvSpPr>
          <p:cNvPr id="13" name="Text 11"/>
          <p:cNvSpPr/>
          <p:nvPr/>
        </p:nvSpPr>
        <p:spPr>
          <a:xfrm>
            <a:off x="901972" y="3560030"/>
            <a:ext cx="4631754" cy="292532"/>
          </a:xfrm>
          <a:prstGeom prst="rect">
            <a:avLst/>
          </a:prstGeom>
          <a:noFill/>
          <a:ln/>
        </p:spPr>
        <p:txBody>
          <a:bodyPr wrap="square" lIns="0" tIns="0" rIns="0" bIns="0" rtlCol="0" anchor="ctr"/>
          <a:lstStyle/>
          <a:p>
            <a:pPr defTabSz="1218895">
              <a:buClrTx/>
            </a:pPr>
            <a:r>
              <a:rPr lang="en-US" sz="1200" kern="1200" dirty="0">
                <a:solidFill>
                  <a:srgbClr val="94A3B8"/>
                </a:solidFill>
                <a:latin typeface="Consolas" pitchFamily="34" charset="0"/>
                <a:ea typeface="Consolas" pitchFamily="34" charset="-122"/>
                <a:cs typeface="Consolas" pitchFamily="34" charset="-120"/>
              </a:rPr>
              <a:t>│  └─ schema.cds         ← no change</a:t>
            </a:r>
            <a:endParaRPr lang="en-US" sz="1200" kern="1200" dirty="0">
              <a:solidFill>
                <a:prstClr val="black"/>
              </a:solidFill>
              <a:latin typeface="Calibri" panose="020F0502020204030204"/>
              <a:ea typeface="+mn-ea"/>
              <a:cs typeface="+mn-cs"/>
            </a:endParaRPr>
          </a:p>
        </p:txBody>
      </p:sp>
      <p:sp>
        <p:nvSpPr>
          <p:cNvPr id="14" name="Text 12"/>
          <p:cNvSpPr/>
          <p:nvPr/>
        </p:nvSpPr>
        <p:spPr>
          <a:xfrm>
            <a:off x="755706" y="3876939"/>
            <a:ext cx="4631754" cy="292532"/>
          </a:xfrm>
          <a:prstGeom prst="rect">
            <a:avLst/>
          </a:prstGeom>
          <a:noFill/>
          <a:ln/>
        </p:spPr>
        <p:txBody>
          <a:bodyPr wrap="square" lIns="0" tIns="0" rIns="0" bIns="0" rtlCol="0" anchor="ctr"/>
          <a:lstStyle/>
          <a:p>
            <a:pPr defTabSz="1218895">
              <a:buClrTx/>
            </a:pPr>
            <a:r>
              <a:rPr lang="en-US" sz="1200" b="1" kern="1200" dirty="0">
                <a:solidFill>
                  <a:srgbClr val="93C5FD"/>
                </a:solidFill>
                <a:latin typeface="Consolas" pitchFamily="34" charset="0"/>
                <a:ea typeface="Consolas" pitchFamily="34" charset="-122"/>
                <a:cs typeface="Consolas" pitchFamily="34" charset="-120"/>
              </a:rPr>
              <a:t>├─ srv/</a:t>
            </a:r>
            <a:endParaRPr lang="en-US" sz="1200" kern="1200" dirty="0">
              <a:solidFill>
                <a:prstClr val="black"/>
              </a:solidFill>
              <a:latin typeface="Calibri" panose="020F0502020204030204"/>
              <a:ea typeface="+mn-ea"/>
              <a:cs typeface="+mn-cs"/>
            </a:endParaRPr>
          </a:p>
        </p:txBody>
      </p:sp>
      <p:sp>
        <p:nvSpPr>
          <p:cNvPr id="15" name="Text 13"/>
          <p:cNvSpPr/>
          <p:nvPr/>
        </p:nvSpPr>
        <p:spPr>
          <a:xfrm>
            <a:off x="901972" y="4193849"/>
            <a:ext cx="4631754" cy="292532"/>
          </a:xfrm>
          <a:prstGeom prst="rect">
            <a:avLst/>
          </a:prstGeom>
          <a:noFill/>
          <a:ln/>
        </p:spPr>
        <p:txBody>
          <a:bodyPr wrap="square" lIns="0" tIns="0" rIns="0" bIns="0" rtlCol="0" anchor="ctr"/>
          <a:lstStyle/>
          <a:p>
            <a:pPr defTabSz="1218895">
              <a:buClrTx/>
            </a:pPr>
            <a:r>
              <a:rPr lang="en-US" sz="1200" b="1" kern="1200" dirty="0">
                <a:solidFill>
                  <a:srgbClr val="F59E0B"/>
                </a:solidFill>
                <a:latin typeface="Consolas" pitchFamily="34" charset="0"/>
                <a:ea typeface="Consolas" pitchFamily="34" charset="-122"/>
                <a:cs typeface="Consolas" pitchFamily="34" charset="-120"/>
              </a:rPr>
              <a:t>│  ├─ CatalogService.js  ⬅ migrate</a:t>
            </a:r>
            <a:endParaRPr lang="en-US" sz="1200" kern="1200" dirty="0">
              <a:solidFill>
                <a:prstClr val="black"/>
              </a:solidFill>
              <a:latin typeface="Calibri" panose="020F0502020204030204"/>
              <a:ea typeface="+mn-ea"/>
              <a:cs typeface="+mn-cs"/>
            </a:endParaRPr>
          </a:p>
        </p:txBody>
      </p:sp>
      <p:sp>
        <p:nvSpPr>
          <p:cNvPr id="16" name="Text 14"/>
          <p:cNvSpPr/>
          <p:nvPr/>
        </p:nvSpPr>
        <p:spPr>
          <a:xfrm>
            <a:off x="901972" y="4510758"/>
            <a:ext cx="4631754" cy="292532"/>
          </a:xfrm>
          <a:prstGeom prst="rect">
            <a:avLst/>
          </a:prstGeom>
          <a:noFill/>
          <a:ln/>
        </p:spPr>
        <p:txBody>
          <a:bodyPr wrap="square" lIns="0" tIns="0" rIns="0" bIns="0" rtlCol="0" anchor="ctr"/>
          <a:lstStyle/>
          <a:p>
            <a:pPr defTabSz="1218895">
              <a:buClrTx/>
            </a:pPr>
            <a:r>
              <a:rPr lang="en-US" sz="1200" b="1" kern="1200" dirty="0">
                <a:solidFill>
                  <a:srgbClr val="F59E0B"/>
                </a:solidFill>
                <a:latin typeface="Consolas" pitchFamily="34" charset="0"/>
                <a:ea typeface="Consolas" pitchFamily="34" charset="-122"/>
                <a:cs typeface="Consolas" pitchFamily="34" charset="-120"/>
              </a:rPr>
              <a:t>│  └─ CDSService.js      ⬅ migrate</a:t>
            </a:r>
            <a:endParaRPr lang="en-US" sz="1200" kern="1200" dirty="0">
              <a:solidFill>
                <a:prstClr val="black"/>
              </a:solidFill>
              <a:latin typeface="Calibri" panose="020F0502020204030204"/>
              <a:ea typeface="+mn-ea"/>
              <a:cs typeface="+mn-cs"/>
            </a:endParaRPr>
          </a:p>
        </p:txBody>
      </p:sp>
      <p:sp>
        <p:nvSpPr>
          <p:cNvPr id="17" name="Text 15"/>
          <p:cNvSpPr/>
          <p:nvPr/>
        </p:nvSpPr>
        <p:spPr>
          <a:xfrm>
            <a:off x="755706" y="4827668"/>
            <a:ext cx="4631754" cy="292532"/>
          </a:xfrm>
          <a:prstGeom prst="rect">
            <a:avLst/>
          </a:prstGeom>
          <a:noFill/>
          <a:ln/>
        </p:spPr>
        <p:txBody>
          <a:bodyPr wrap="square" lIns="0" tIns="0" rIns="0" bIns="0" rtlCol="0" anchor="ctr"/>
          <a:lstStyle/>
          <a:p>
            <a:pPr defTabSz="1218895">
              <a:buClrTx/>
            </a:pPr>
            <a:r>
              <a:rPr lang="en-US" sz="1200" b="1" kern="1200" dirty="0">
                <a:solidFill>
                  <a:srgbClr val="93C5FD"/>
                </a:solidFill>
                <a:latin typeface="Consolas" pitchFamily="34" charset="0"/>
                <a:ea typeface="Consolas" pitchFamily="34" charset="-122"/>
                <a:cs typeface="Consolas" pitchFamily="34" charset="-120"/>
              </a:rPr>
              <a:t>├─ utils/</a:t>
            </a:r>
            <a:endParaRPr lang="en-US" sz="1200" kern="1200" dirty="0">
              <a:solidFill>
                <a:prstClr val="black"/>
              </a:solidFill>
              <a:latin typeface="Calibri" panose="020F0502020204030204"/>
              <a:ea typeface="+mn-ea"/>
              <a:cs typeface="+mn-cs"/>
            </a:endParaRPr>
          </a:p>
        </p:txBody>
      </p:sp>
      <p:sp>
        <p:nvSpPr>
          <p:cNvPr id="18" name="Text 16"/>
          <p:cNvSpPr/>
          <p:nvPr/>
        </p:nvSpPr>
        <p:spPr>
          <a:xfrm>
            <a:off x="901972" y="5144577"/>
            <a:ext cx="4631754" cy="292532"/>
          </a:xfrm>
          <a:prstGeom prst="rect">
            <a:avLst/>
          </a:prstGeom>
          <a:noFill/>
          <a:ln/>
        </p:spPr>
        <p:txBody>
          <a:bodyPr wrap="square" lIns="0" tIns="0" rIns="0" bIns="0" rtlCol="0" anchor="ctr"/>
          <a:lstStyle/>
          <a:p>
            <a:pPr defTabSz="1218895">
              <a:buClrTx/>
            </a:pPr>
            <a:r>
              <a:rPr lang="en-US" sz="1200" b="1" kern="1200" dirty="0">
                <a:solidFill>
                  <a:srgbClr val="F59E0B"/>
                </a:solidFill>
                <a:latin typeface="Consolas" pitchFamily="34" charset="0"/>
                <a:ea typeface="Consolas" pitchFamily="34" charset="-122"/>
                <a:cs typeface="Consolas" pitchFamily="34" charset="-120"/>
              </a:rPr>
              <a:t>│  ├─ payload-transformer.js  ⬅ migrate</a:t>
            </a:r>
            <a:endParaRPr lang="en-US" sz="1200" kern="1200" dirty="0">
              <a:solidFill>
                <a:prstClr val="black"/>
              </a:solidFill>
              <a:latin typeface="Calibri" panose="020F0502020204030204"/>
              <a:ea typeface="+mn-ea"/>
              <a:cs typeface="+mn-cs"/>
            </a:endParaRPr>
          </a:p>
        </p:txBody>
      </p:sp>
      <p:sp>
        <p:nvSpPr>
          <p:cNvPr id="19" name="Text 17"/>
          <p:cNvSpPr/>
          <p:nvPr/>
        </p:nvSpPr>
        <p:spPr>
          <a:xfrm>
            <a:off x="901972" y="5461486"/>
            <a:ext cx="4631754" cy="292532"/>
          </a:xfrm>
          <a:prstGeom prst="rect">
            <a:avLst/>
          </a:prstGeom>
          <a:noFill/>
          <a:ln/>
        </p:spPr>
        <p:txBody>
          <a:bodyPr wrap="square" lIns="0" tIns="0" rIns="0" bIns="0" rtlCol="0" anchor="ctr"/>
          <a:lstStyle/>
          <a:p>
            <a:pPr defTabSz="1218895">
              <a:buClrTx/>
            </a:pPr>
            <a:r>
              <a:rPr lang="en-US" sz="1200" b="1" kern="1200" dirty="0">
                <a:solidFill>
                  <a:srgbClr val="F59E0B"/>
                </a:solidFill>
                <a:latin typeface="Consolas" pitchFamily="34" charset="0"/>
                <a:ea typeface="Consolas" pitchFamily="34" charset="-122"/>
                <a:cs typeface="Consolas" pitchFamily="34" charset="-120"/>
              </a:rPr>
              <a:t>│  └─ error-mapper.js         ⬅ migrate</a:t>
            </a:r>
            <a:endParaRPr lang="en-US" sz="1200" kern="1200" dirty="0">
              <a:solidFill>
                <a:prstClr val="black"/>
              </a:solidFill>
              <a:latin typeface="Calibri" panose="020F0502020204030204"/>
              <a:ea typeface="+mn-ea"/>
              <a:cs typeface="+mn-cs"/>
            </a:endParaRPr>
          </a:p>
        </p:txBody>
      </p:sp>
      <p:sp>
        <p:nvSpPr>
          <p:cNvPr id="20" name="Text 18"/>
          <p:cNvSpPr/>
          <p:nvPr/>
        </p:nvSpPr>
        <p:spPr>
          <a:xfrm>
            <a:off x="755706" y="5778396"/>
            <a:ext cx="4631754" cy="292532"/>
          </a:xfrm>
          <a:prstGeom prst="rect">
            <a:avLst/>
          </a:prstGeom>
          <a:noFill/>
          <a:ln/>
        </p:spPr>
        <p:txBody>
          <a:bodyPr wrap="square" lIns="0" tIns="0" rIns="0" bIns="0" rtlCol="0" anchor="ctr"/>
          <a:lstStyle/>
          <a:p>
            <a:pPr defTabSz="1218895">
              <a:buClrTx/>
            </a:pPr>
            <a:r>
              <a:rPr lang="en-US" sz="1200" b="1" kern="1200" dirty="0">
                <a:solidFill>
                  <a:srgbClr val="93C5FD"/>
                </a:solidFill>
                <a:latin typeface="Consolas" pitchFamily="34" charset="0"/>
                <a:ea typeface="Consolas" pitchFamily="34" charset="-122"/>
                <a:cs typeface="Consolas" pitchFamily="34" charset="-120"/>
              </a:rPr>
              <a:t>└─ test/</a:t>
            </a:r>
            <a:endParaRPr lang="en-US" sz="1200" kern="1200" dirty="0">
              <a:solidFill>
                <a:prstClr val="black"/>
              </a:solidFill>
              <a:latin typeface="Calibri" panose="020F0502020204030204"/>
              <a:ea typeface="+mn-ea"/>
              <a:cs typeface="+mn-cs"/>
            </a:endParaRPr>
          </a:p>
        </p:txBody>
      </p:sp>
      <p:sp>
        <p:nvSpPr>
          <p:cNvPr id="21" name="Text 19"/>
          <p:cNvSpPr/>
          <p:nvPr/>
        </p:nvSpPr>
        <p:spPr>
          <a:xfrm>
            <a:off x="901972" y="6095305"/>
            <a:ext cx="4631754" cy="292532"/>
          </a:xfrm>
          <a:prstGeom prst="rect">
            <a:avLst/>
          </a:prstGeom>
          <a:noFill/>
          <a:ln/>
        </p:spPr>
        <p:txBody>
          <a:bodyPr wrap="square" lIns="0" tIns="0" rIns="0" bIns="0" rtlCol="0" anchor="ctr"/>
          <a:lstStyle/>
          <a:p>
            <a:pPr defTabSz="1218895">
              <a:buClrTx/>
            </a:pPr>
            <a:r>
              <a:rPr lang="en-US" sz="1200" kern="1200" dirty="0">
                <a:solidFill>
                  <a:srgbClr val="4ADE80"/>
                </a:solidFill>
                <a:latin typeface="Consolas" pitchFamily="34" charset="0"/>
                <a:ea typeface="Consolas" pitchFamily="34" charset="-122"/>
                <a:cs typeface="Consolas" pitchFamily="34" charset="-120"/>
              </a:rPr>
              <a:t>   └─ utils.test.js  ← must pass</a:t>
            </a:r>
            <a:endParaRPr lang="en-US" sz="1200" kern="1200" dirty="0">
              <a:solidFill>
                <a:prstClr val="black"/>
              </a:solidFill>
              <a:latin typeface="Calibri" panose="020F0502020204030204"/>
              <a:ea typeface="+mn-ea"/>
              <a:cs typeface="+mn-cs"/>
            </a:endParaRPr>
          </a:p>
        </p:txBody>
      </p:sp>
      <p:sp>
        <p:nvSpPr>
          <p:cNvPr id="22" name="Shape 20"/>
          <p:cNvSpPr/>
          <p:nvPr/>
        </p:nvSpPr>
        <p:spPr>
          <a:xfrm>
            <a:off x="5606859" y="1402608"/>
            <a:ext cx="6338189"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21"/>
          <p:cNvSpPr/>
          <p:nvPr/>
        </p:nvSpPr>
        <p:spPr>
          <a:xfrm>
            <a:off x="5606859" y="1402608"/>
            <a:ext cx="6338189" cy="365665"/>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Text 22"/>
          <p:cNvSpPr/>
          <p:nvPr/>
        </p:nvSpPr>
        <p:spPr>
          <a:xfrm>
            <a:off x="5753125" y="1426986"/>
            <a:ext cx="4875530" cy="341287"/>
          </a:xfrm>
          <a:prstGeom prst="rect">
            <a:avLst/>
          </a:prstGeom>
          <a:noFill/>
          <a:ln/>
        </p:spPr>
        <p:txBody>
          <a:bodyPr wrap="square" lIns="0" tIns="0" rIns="0" bIns="0" rtlCol="0" anchor="ctr"/>
          <a:lstStyle/>
          <a:p>
            <a:pPr defTabSz="1218895">
              <a:buClrTx/>
            </a:pPr>
            <a:r>
              <a:rPr lang="en-US" sz="1333" b="1" kern="1200" dirty="0">
                <a:solidFill>
                  <a:srgbClr val="FFFFFF"/>
                </a:solidFill>
                <a:latin typeface="Consolas" pitchFamily="34" charset="0"/>
                <a:ea typeface="Consolas" pitchFamily="34" charset="-122"/>
                <a:cs typeface="Consolas" pitchFamily="34" charset="-120"/>
              </a:rPr>
              <a:t>tsconfig.json  (NEW)</a:t>
            </a:r>
            <a:endParaRPr lang="en-US" sz="1333" kern="1200" dirty="0">
              <a:solidFill>
                <a:prstClr val="black"/>
              </a:solidFill>
              <a:latin typeface="Calibri" panose="020F0502020204030204"/>
              <a:ea typeface="+mn-ea"/>
              <a:cs typeface="+mn-cs"/>
            </a:endParaRPr>
          </a:p>
        </p:txBody>
      </p:sp>
      <p:sp>
        <p:nvSpPr>
          <p:cNvPr id="25" name="Shape 23"/>
          <p:cNvSpPr/>
          <p:nvPr/>
        </p:nvSpPr>
        <p:spPr>
          <a:xfrm>
            <a:off x="11213718" y="1426985"/>
            <a:ext cx="706952" cy="292532"/>
          </a:xfrm>
          <a:prstGeom prst="rect">
            <a:avLst/>
          </a:prstGeom>
          <a:solidFill>
            <a:srgbClr val="FFFFFF">
              <a:alpha val="75000"/>
            </a:srgbClr>
          </a:solidFill>
          <a:ln w="12700">
            <a:solidFill>
              <a:srgbClr val="FFFFFF">
                <a:alpha val="7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11213718" y="1426985"/>
            <a:ext cx="706952" cy="292532"/>
          </a:xfrm>
          <a:prstGeom prst="rect">
            <a:avLst/>
          </a:prstGeom>
          <a:noFill/>
          <a:ln/>
        </p:spPr>
        <p:txBody>
          <a:bodyPr wrap="square" lIns="0" tIns="0" rIns="0" bIns="0" rtlCol="0" anchor="ctr"/>
          <a:lstStyle/>
          <a:p>
            <a:pPr algn="ctr" defTabSz="1218895">
              <a:buClrTx/>
            </a:pPr>
            <a:r>
              <a:rPr lang="en-US" sz="866" kern="1200" dirty="0">
                <a:solidFill>
                  <a:srgbClr val="FFFFFF"/>
                </a:solidFill>
                <a:latin typeface="Calibri" pitchFamily="34" charset="0"/>
                <a:ea typeface="Calibri" pitchFamily="34" charset="-122"/>
                <a:cs typeface="Calibri" pitchFamily="34" charset="-120"/>
              </a:rPr>
              <a:t>Configuration</a:t>
            </a:r>
            <a:endParaRPr lang="en-US" sz="866" kern="1200" dirty="0">
              <a:solidFill>
                <a:prstClr val="black"/>
              </a:solidFill>
              <a:latin typeface="Calibri" panose="020F0502020204030204"/>
              <a:ea typeface="+mn-ea"/>
              <a:cs typeface="+mn-cs"/>
            </a:endParaRPr>
          </a:p>
        </p:txBody>
      </p:sp>
      <p:sp>
        <p:nvSpPr>
          <p:cNvPr id="27" name="Text 25"/>
          <p:cNvSpPr/>
          <p:nvPr/>
        </p:nvSpPr>
        <p:spPr>
          <a:xfrm>
            <a:off x="5753125" y="1829217"/>
            <a:ext cx="6094413" cy="255965"/>
          </a:xfrm>
          <a:prstGeom prst="rect">
            <a:avLst/>
          </a:prstGeom>
          <a:noFill/>
          <a:ln/>
        </p:spPr>
        <p:txBody>
          <a:bodyPr wrap="square" lIns="0" tIns="0" rIns="0" bIns="0" rtlCol="0" anchor="ctr"/>
          <a:lstStyle/>
          <a:p>
            <a:pPr defTabSz="1218895">
              <a:buClrTx/>
            </a:pPr>
            <a:r>
              <a:rPr lang="en-US" sz="1266" b="1" kern="1200" dirty="0">
                <a:solidFill>
                  <a:srgbClr val="0070F2"/>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CAP-optimised compiler options</a:t>
            </a:r>
            <a:endParaRPr lang="en-US" sz="1266" kern="1200" dirty="0">
              <a:solidFill>
                <a:prstClr val="black"/>
              </a:solidFill>
              <a:latin typeface="Calibri" panose="020F0502020204030204"/>
              <a:ea typeface="+mn-ea"/>
              <a:cs typeface="+mn-cs"/>
            </a:endParaRPr>
          </a:p>
        </p:txBody>
      </p:sp>
      <p:sp>
        <p:nvSpPr>
          <p:cNvPr id="28" name="Text 26"/>
          <p:cNvSpPr/>
          <p:nvPr/>
        </p:nvSpPr>
        <p:spPr>
          <a:xfrm>
            <a:off x="5753125" y="2085182"/>
            <a:ext cx="6094413" cy="255965"/>
          </a:xfrm>
          <a:prstGeom prst="rect">
            <a:avLst/>
          </a:prstGeom>
          <a:noFill/>
          <a:ln/>
        </p:spPr>
        <p:txBody>
          <a:bodyPr wrap="square" lIns="0" tIns="0" rIns="0" bIns="0" rtlCol="0" anchor="ctr"/>
          <a:lstStyle/>
          <a:p>
            <a:pPr defTabSz="1218895">
              <a:buClrTx/>
            </a:pPr>
            <a:r>
              <a:rPr lang="en-US" sz="1266" b="1" kern="1200" dirty="0">
                <a:solidFill>
                  <a:srgbClr val="0070F2"/>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strict + allowJs:false</a:t>
            </a:r>
            <a:endParaRPr lang="en-US" sz="1266" kern="1200" dirty="0">
              <a:solidFill>
                <a:prstClr val="black"/>
              </a:solidFill>
              <a:latin typeface="Calibri" panose="020F0502020204030204"/>
              <a:ea typeface="+mn-ea"/>
              <a:cs typeface="+mn-cs"/>
            </a:endParaRPr>
          </a:p>
        </p:txBody>
      </p:sp>
      <p:sp>
        <p:nvSpPr>
          <p:cNvPr id="29" name="Text 27"/>
          <p:cNvSpPr/>
          <p:nvPr/>
        </p:nvSpPr>
        <p:spPr>
          <a:xfrm>
            <a:off x="5753125" y="2341148"/>
            <a:ext cx="6094413" cy="255965"/>
          </a:xfrm>
          <a:prstGeom prst="rect">
            <a:avLst/>
          </a:prstGeom>
          <a:noFill/>
          <a:ln/>
        </p:spPr>
        <p:txBody>
          <a:bodyPr wrap="square" lIns="0" tIns="0" rIns="0" bIns="0" rtlCol="0" anchor="ctr"/>
          <a:lstStyle/>
          <a:p>
            <a:pPr defTabSz="1218895">
              <a:buClrTx/>
            </a:pPr>
            <a:r>
              <a:rPr lang="en-US" sz="1266" b="1" kern="1200" dirty="0">
                <a:solidFill>
                  <a:srgbClr val="0070F2"/>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@cap-js/cds-types path mapping</a:t>
            </a:r>
            <a:endParaRPr lang="en-US" sz="1266" kern="1200" dirty="0">
              <a:solidFill>
                <a:prstClr val="black"/>
              </a:solidFill>
              <a:latin typeface="Calibri" panose="020F0502020204030204"/>
              <a:ea typeface="+mn-ea"/>
              <a:cs typeface="+mn-cs"/>
            </a:endParaRPr>
          </a:p>
        </p:txBody>
      </p:sp>
      <p:sp>
        <p:nvSpPr>
          <p:cNvPr id="30" name="Shape 28"/>
          <p:cNvSpPr/>
          <p:nvPr/>
        </p:nvSpPr>
        <p:spPr>
          <a:xfrm>
            <a:off x="5606859" y="2743378"/>
            <a:ext cx="6338189"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9"/>
          <p:cNvSpPr/>
          <p:nvPr/>
        </p:nvSpPr>
        <p:spPr>
          <a:xfrm>
            <a:off x="5606859" y="2743378"/>
            <a:ext cx="6338189" cy="36566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5753125" y="2767756"/>
            <a:ext cx="4875530" cy="341287"/>
          </a:xfrm>
          <a:prstGeom prst="rect">
            <a:avLst/>
          </a:prstGeom>
          <a:noFill/>
          <a:ln/>
        </p:spPr>
        <p:txBody>
          <a:bodyPr wrap="square" lIns="0" tIns="0" rIns="0" bIns="0" rtlCol="0" anchor="ctr"/>
          <a:lstStyle/>
          <a:p>
            <a:pPr defTabSz="1218895">
              <a:buClrTx/>
            </a:pPr>
            <a:r>
              <a:rPr lang="en-US" sz="1333" b="1" kern="1200" dirty="0">
                <a:solidFill>
                  <a:srgbClr val="FFFFFF"/>
                </a:solidFill>
                <a:latin typeface="Consolas" pitchFamily="34" charset="0"/>
                <a:ea typeface="Consolas" pitchFamily="34" charset="-122"/>
                <a:cs typeface="Consolas" pitchFamily="34" charset="-120"/>
              </a:rPr>
              <a:t>srv/CatalogService.js → .ts</a:t>
            </a:r>
            <a:endParaRPr lang="en-US" sz="1333" kern="1200" dirty="0">
              <a:solidFill>
                <a:prstClr val="black"/>
              </a:solidFill>
              <a:latin typeface="Calibri" panose="020F0502020204030204"/>
              <a:ea typeface="+mn-ea"/>
              <a:cs typeface="+mn-cs"/>
            </a:endParaRPr>
          </a:p>
        </p:txBody>
      </p:sp>
      <p:sp>
        <p:nvSpPr>
          <p:cNvPr id="33" name="Shape 31"/>
          <p:cNvSpPr/>
          <p:nvPr/>
        </p:nvSpPr>
        <p:spPr>
          <a:xfrm>
            <a:off x="11213718" y="2767756"/>
            <a:ext cx="706952" cy="292532"/>
          </a:xfrm>
          <a:prstGeom prst="rect">
            <a:avLst/>
          </a:prstGeom>
          <a:solidFill>
            <a:srgbClr val="FFFFFF">
              <a:alpha val="75000"/>
            </a:srgbClr>
          </a:solidFill>
          <a:ln w="12700">
            <a:solidFill>
              <a:srgbClr val="FFFFFF">
                <a:alpha val="7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4" name="Text 32"/>
          <p:cNvSpPr/>
          <p:nvPr/>
        </p:nvSpPr>
        <p:spPr>
          <a:xfrm>
            <a:off x="11213718" y="2767756"/>
            <a:ext cx="706952" cy="292532"/>
          </a:xfrm>
          <a:prstGeom prst="rect">
            <a:avLst/>
          </a:prstGeom>
          <a:noFill/>
          <a:ln/>
        </p:spPr>
        <p:txBody>
          <a:bodyPr wrap="square" lIns="0" tIns="0" rIns="0" bIns="0" rtlCol="0" anchor="ctr"/>
          <a:lstStyle/>
          <a:p>
            <a:pPr algn="ctr" defTabSz="1218895">
              <a:buClrTx/>
            </a:pPr>
            <a:r>
              <a:rPr lang="en-US" sz="866" kern="1200" dirty="0">
                <a:solidFill>
                  <a:srgbClr val="FFFFFF"/>
                </a:solidFill>
                <a:latin typeface="Calibri" pitchFamily="34" charset="0"/>
                <a:ea typeface="Calibri" pitchFamily="34" charset="-122"/>
                <a:cs typeface="Calibri" pitchFamily="34" charset="-120"/>
              </a:rPr>
              <a:t>Service Handler</a:t>
            </a:r>
            <a:endParaRPr lang="en-US" sz="866" kern="1200" dirty="0">
              <a:solidFill>
                <a:prstClr val="black"/>
              </a:solidFill>
              <a:latin typeface="Calibri" panose="020F0502020204030204"/>
              <a:ea typeface="+mn-ea"/>
              <a:cs typeface="+mn-cs"/>
            </a:endParaRPr>
          </a:p>
        </p:txBody>
      </p:sp>
      <p:sp>
        <p:nvSpPr>
          <p:cNvPr id="35" name="Text 33"/>
          <p:cNvSpPr/>
          <p:nvPr/>
        </p:nvSpPr>
        <p:spPr>
          <a:xfrm>
            <a:off x="5753125" y="3169988"/>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Typed CDS.Service class extension</a:t>
            </a:r>
            <a:endParaRPr lang="en-US" sz="1266" kern="1200" dirty="0">
              <a:solidFill>
                <a:prstClr val="black"/>
              </a:solidFill>
              <a:latin typeface="Calibri" panose="020F0502020204030204"/>
              <a:ea typeface="+mn-ea"/>
              <a:cs typeface="+mn-cs"/>
            </a:endParaRPr>
          </a:p>
        </p:txBody>
      </p:sp>
      <p:sp>
        <p:nvSpPr>
          <p:cNvPr id="36" name="Text 34"/>
          <p:cNvSpPr/>
          <p:nvPr/>
        </p:nvSpPr>
        <p:spPr>
          <a:xfrm>
            <a:off x="5753125" y="3425953"/>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cds.Request&lt;T&gt; parameter types</a:t>
            </a:r>
            <a:endParaRPr lang="en-US" sz="1266" kern="1200" dirty="0">
              <a:solidFill>
                <a:prstClr val="black"/>
              </a:solidFill>
              <a:latin typeface="Calibri" panose="020F0502020204030204"/>
              <a:ea typeface="+mn-ea"/>
              <a:cs typeface="+mn-cs"/>
            </a:endParaRPr>
          </a:p>
        </p:txBody>
      </p:sp>
      <p:sp>
        <p:nvSpPr>
          <p:cNvPr id="37" name="Text 35"/>
          <p:cNvSpPr/>
          <p:nvPr/>
        </p:nvSpPr>
        <p:spPr>
          <a:xfrm>
            <a:off x="5753125" y="3681918"/>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Entity CRUD operation types</a:t>
            </a:r>
            <a:endParaRPr lang="en-US" sz="1266" kern="1200" dirty="0">
              <a:solidFill>
                <a:prstClr val="black"/>
              </a:solidFill>
              <a:latin typeface="Calibri" panose="020F0502020204030204"/>
              <a:ea typeface="+mn-ea"/>
              <a:cs typeface="+mn-cs"/>
            </a:endParaRPr>
          </a:p>
        </p:txBody>
      </p:sp>
      <p:sp>
        <p:nvSpPr>
          <p:cNvPr id="38" name="Shape 36"/>
          <p:cNvSpPr/>
          <p:nvPr/>
        </p:nvSpPr>
        <p:spPr>
          <a:xfrm>
            <a:off x="5606859" y="4084149"/>
            <a:ext cx="6338189"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9" name="Shape 37"/>
          <p:cNvSpPr/>
          <p:nvPr/>
        </p:nvSpPr>
        <p:spPr>
          <a:xfrm>
            <a:off x="5606859" y="4084149"/>
            <a:ext cx="6338189" cy="36566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0" name="Text 38"/>
          <p:cNvSpPr/>
          <p:nvPr/>
        </p:nvSpPr>
        <p:spPr>
          <a:xfrm>
            <a:off x="5753125" y="4108527"/>
            <a:ext cx="4875530" cy="341287"/>
          </a:xfrm>
          <a:prstGeom prst="rect">
            <a:avLst/>
          </a:prstGeom>
          <a:noFill/>
          <a:ln/>
        </p:spPr>
        <p:txBody>
          <a:bodyPr wrap="square" lIns="0" tIns="0" rIns="0" bIns="0" rtlCol="0" anchor="ctr"/>
          <a:lstStyle/>
          <a:p>
            <a:pPr defTabSz="1218895">
              <a:buClrTx/>
            </a:pPr>
            <a:r>
              <a:rPr lang="en-US" sz="1333" b="1" kern="1200" dirty="0">
                <a:solidFill>
                  <a:srgbClr val="FFFFFF"/>
                </a:solidFill>
                <a:latin typeface="Consolas" pitchFamily="34" charset="0"/>
                <a:ea typeface="Consolas" pitchFamily="34" charset="-122"/>
                <a:cs typeface="Consolas" pitchFamily="34" charset="-120"/>
              </a:rPr>
              <a:t>srv/CDSService.js → .ts</a:t>
            </a:r>
            <a:endParaRPr lang="en-US" sz="1333" kern="1200" dirty="0">
              <a:solidFill>
                <a:prstClr val="black"/>
              </a:solidFill>
              <a:latin typeface="Calibri" panose="020F0502020204030204"/>
              <a:ea typeface="+mn-ea"/>
              <a:cs typeface="+mn-cs"/>
            </a:endParaRPr>
          </a:p>
        </p:txBody>
      </p:sp>
      <p:sp>
        <p:nvSpPr>
          <p:cNvPr id="41" name="Shape 39"/>
          <p:cNvSpPr/>
          <p:nvPr/>
        </p:nvSpPr>
        <p:spPr>
          <a:xfrm>
            <a:off x="11213718" y="4108527"/>
            <a:ext cx="706952" cy="292532"/>
          </a:xfrm>
          <a:prstGeom prst="rect">
            <a:avLst/>
          </a:prstGeom>
          <a:solidFill>
            <a:srgbClr val="FFFFFF">
              <a:alpha val="75000"/>
            </a:srgbClr>
          </a:solidFill>
          <a:ln w="12700">
            <a:solidFill>
              <a:srgbClr val="FFFFFF">
                <a:alpha val="7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2" name="Text 40"/>
          <p:cNvSpPr/>
          <p:nvPr/>
        </p:nvSpPr>
        <p:spPr>
          <a:xfrm>
            <a:off x="11213718" y="4108527"/>
            <a:ext cx="706952" cy="292532"/>
          </a:xfrm>
          <a:prstGeom prst="rect">
            <a:avLst/>
          </a:prstGeom>
          <a:noFill/>
          <a:ln/>
        </p:spPr>
        <p:txBody>
          <a:bodyPr wrap="square" lIns="0" tIns="0" rIns="0" bIns="0" rtlCol="0" anchor="ctr"/>
          <a:lstStyle/>
          <a:p>
            <a:pPr algn="ctr" defTabSz="1218895">
              <a:buClrTx/>
            </a:pPr>
            <a:r>
              <a:rPr lang="en-US" sz="866" kern="1200" dirty="0">
                <a:solidFill>
                  <a:srgbClr val="FFFFFF"/>
                </a:solidFill>
                <a:latin typeface="Calibri" pitchFamily="34" charset="0"/>
                <a:ea typeface="Calibri" pitchFamily="34" charset="-122"/>
                <a:cs typeface="Calibri" pitchFamily="34" charset="-120"/>
              </a:rPr>
              <a:t>Generic Handler</a:t>
            </a:r>
            <a:endParaRPr lang="en-US" sz="866" kern="1200" dirty="0">
              <a:solidFill>
                <a:prstClr val="black"/>
              </a:solidFill>
              <a:latin typeface="Calibri" panose="020F0502020204030204"/>
              <a:ea typeface="+mn-ea"/>
              <a:cs typeface="+mn-cs"/>
            </a:endParaRPr>
          </a:p>
        </p:txBody>
      </p:sp>
      <p:sp>
        <p:nvSpPr>
          <p:cNvPr id="43" name="Text 41"/>
          <p:cNvSpPr/>
          <p:nvPr/>
        </p:nvSpPr>
        <p:spPr>
          <a:xfrm>
            <a:off x="5753125" y="4510758"/>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Generic handler registration pattern</a:t>
            </a:r>
            <a:endParaRPr lang="en-US" sz="1266" kern="1200" dirty="0">
              <a:solidFill>
                <a:prstClr val="black"/>
              </a:solidFill>
              <a:latin typeface="Calibri" panose="020F0502020204030204"/>
              <a:ea typeface="+mn-ea"/>
              <a:cs typeface="+mn-cs"/>
            </a:endParaRPr>
          </a:p>
        </p:txBody>
      </p:sp>
      <p:sp>
        <p:nvSpPr>
          <p:cNvPr id="44" name="Text 42"/>
          <p:cNvSpPr/>
          <p:nvPr/>
        </p:nvSpPr>
        <p:spPr>
          <a:xfrm>
            <a:off x="5753125" y="4766724"/>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Typed event callbacks</a:t>
            </a:r>
            <a:endParaRPr lang="en-US" sz="1266" kern="1200" dirty="0">
              <a:solidFill>
                <a:prstClr val="black"/>
              </a:solidFill>
              <a:latin typeface="Calibri" panose="020F0502020204030204"/>
              <a:ea typeface="+mn-ea"/>
              <a:cs typeface="+mn-cs"/>
            </a:endParaRPr>
          </a:p>
        </p:txBody>
      </p:sp>
      <p:sp>
        <p:nvSpPr>
          <p:cNvPr id="45" name="Text 43"/>
          <p:cNvSpPr/>
          <p:nvPr/>
        </p:nvSpPr>
        <p:spPr>
          <a:xfrm>
            <a:off x="5753125" y="5022689"/>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Type-safe this.on() / this.before()</a:t>
            </a:r>
            <a:endParaRPr lang="en-US" sz="1266" kern="1200" dirty="0">
              <a:solidFill>
                <a:prstClr val="black"/>
              </a:solidFill>
              <a:latin typeface="Calibri" panose="020F0502020204030204"/>
              <a:ea typeface="+mn-ea"/>
              <a:cs typeface="+mn-cs"/>
            </a:endParaRPr>
          </a:p>
        </p:txBody>
      </p:sp>
      <p:sp>
        <p:nvSpPr>
          <p:cNvPr id="46" name="Shape 44"/>
          <p:cNvSpPr/>
          <p:nvPr/>
        </p:nvSpPr>
        <p:spPr>
          <a:xfrm>
            <a:off x="5606859" y="5424920"/>
            <a:ext cx="6338189"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7" name="Shape 45"/>
          <p:cNvSpPr/>
          <p:nvPr/>
        </p:nvSpPr>
        <p:spPr>
          <a:xfrm>
            <a:off x="5606859" y="5424920"/>
            <a:ext cx="6338189" cy="365665"/>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8" name="Text 46"/>
          <p:cNvSpPr/>
          <p:nvPr/>
        </p:nvSpPr>
        <p:spPr>
          <a:xfrm>
            <a:off x="5753125" y="5449298"/>
            <a:ext cx="4875530" cy="341287"/>
          </a:xfrm>
          <a:prstGeom prst="rect">
            <a:avLst/>
          </a:prstGeom>
          <a:noFill/>
          <a:ln/>
        </p:spPr>
        <p:txBody>
          <a:bodyPr wrap="square" lIns="0" tIns="0" rIns="0" bIns="0" rtlCol="0" anchor="ctr"/>
          <a:lstStyle/>
          <a:p>
            <a:pPr defTabSz="1218895">
              <a:buClrTx/>
            </a:pPr>
            <a:r>
              <a:rPr lang="en-US" sz="1333" b="1" kern="1200" dirty="0">
                <a:solidFill>
                  <a:srgbClr val="FFFFFF"/>
                </a:solidFill>
                <a:latin typeface="Consolas" pitchFamily="34" charset="0"/>
                <a:ea typeface="Consolas" pitchFamily="34" charset="-122"/>
                <a:cs typeface="Consolas" pitchFamily="34" charset="-120"/>
              </a:rPr>
              <a:t>utils/payload-transformer.js → .ts</a:t>
            </a:r>
            <a:endParaRPr lang="en-US" sz="1333" kern="1200" dirty="0">
              <a:solidFill>
                <a:prstClr val="black"/>
              </a:solidFill>
              <a:latin typeface="Calibri" panose="020F0502020204030204"/>
              <a:ea typeface="+mn-ea"/>
              <a:cs typeface="+mn-cs"/>
            </a:endParaRPr>
          </a:p>
        </p:txBody>
      </p:sp>
      <p:sp>
        <p:nvSpPr>
          <p:cNvPr id="49" name="Shape 47"/>
          <p:cNvSpPr/>
          <p:nvPr/>
        </p:nvSpPr>
        <p:spPr>
          <a:xfrm>
            <a:off x="11213718" y="5449298"/>
            <a:ext cx="706952" cy="292532"/>
          </a:xfrm>
          <a:prstGeom prst="rect">
            <a:avLst/>
          </a:prstGeom>
          <a:solidFill>
            <a:srgbClr val="FFFFFF">
              <a:alpha val="75000"/>
            </a:srgbClr>
          </a:solidFill>
          <a:ln w="12700">
            <a:solidFill>
              <a:srgbClr val="FFFFFF">
                <a:alpha val="7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50" name="Text 48"/>
          <p:cNvSpPr/>
          <p:nvPr/>
        </p:nvSpPr>
        <p:spPr>
          <a:xfrm>
            <a:off x="11213718" y="5449298"/>
            <a:ext cx="706952" cy="292532"/>
          </a:xfrm>
          <a:prstGeom prst="rect">
            <a:avLst/>
          </a:prstGeom>
          <a:noFill/>
          <a:ln/>
        </p:spPr>
        <p:txBody>
          <a:bodyPr wrap="square" lIns="0" tIns="0" rIns="0" bIns="0" rtlCol="0" anchor="ctr"/>
          <a:lstStyle/>
          <a:p>
            <a:pPr algn="ctr" defTabSz="1218895">
              <a:buClrTx/>
            </a:pPr>
            <a:r>
              <a:rPr lang="en-US" sz="866" kern="1200" dirty="0">
                <a:solidFill>
                  <a:srgbClr val="FFFFFF"/>
                </a:solidFill>
                <a:latin typeface="Calibri" pitchFamily="34" charset="0"/>
                <a:ea typeface="Calibri" pitchFamily="34" charset="-122"/>
                <a:cs typeface="Calibri" pitchFamily="34" charset="-120"/>
              </a:rPr>
              <a:t>Utility</a:t>
            </a:r>
            <a:endParaRPr lang="en-US" sz="866" kern="1200" dirty="0">
              <a:solidFill>
                <a:prstClr val="black"/>
              </a:solidFill>
              <a:latin typeface="Calibri" panose="020F0502020204030204"/>
              <a:ea typeface="+mn-ea"/>
              <a:cs typeface="+mn-cs"/>
            </a:endParaRPr>
          </a:p>
        </p:txBody>
      </p:sp>
      <p:sp>
        <p:nvSpPr>
          <p:cNvPr id="51" name="Text 49"/>
          <p:cNvSpPr/>
          <p:nvPr/>
        </p:nvSpPr>
        <p:spPr>
          <a:xfrm>
            <a:off x="5753125" y="5851529"/>
            <a:ext cx="6094413" cy="255965"/>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ODataResponse&lt;T&gt; generic interface</a:t>
            </a:r>
            <a:endParaRPr lang="en-US" sz="1266" kern="1200" dirty="0">
              <a:solidFill>
                <a:prstClr val="black"/>
              </a:solidFill>
              <a:latin typeface="Calibri" panose="020F0502020204030204"/>
              <a:ea typeface="+mn-ea"/>
              <a:cs typeface="+mn-cs"/>
            </a:endParaRPr>
          </a:p>
        </p:txBody>
      </p:sp>
      <p:sp>
        <p:nvSpPr>
          <p:cNvPr id="52" name="Text 50"/>
          <p:cNvSpPr/>
          <p:nvPr/>
        </p:nvSpPr>
        <p:spPr>
          <a:xfrm>
            <a:off x="5753125" y="6107494"/>
            <a:ext cx="6094413" cy="255965"/>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EntityRecord type alias</a:t>
            </a:r>
            <a:endParaRPr lang="en-US" sz="1266" kern="1200" dirty="0">
              <a:solidFill>
                <a:prstClr val="black"/>
              </a:solidFill>
              <a:latin typeface="Calibri" panose="020F0502020204030204"/>
              <a:ea typeface="+mn-ea"/>
              <a:cs typeface="+mn-cs"/>
            </a:endParaRPr>
          </a:p>
        </p:txBody>
      </p:sp>
      <p:sp>
        <p:nvSpPr>
          <p:cNvPr id="53" name="Text 51"/>
          <p:cNvSpPr/>
          <p:nvPr/>
        </p:nvSpPr>
        <p:spPr>
          <a:xfrm>
            <a:off x="5753125" y="6363460"/>
            <a:ext cx="6094413" cy="255965"/>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Strict null checks on value</a:t>
            </a:r>
            <a:endParaRPr lang="en-US" sz="1266" kern="1200" dirty="0">
              <a:solidFill>
                <a:prstClr val="black"/>
              </a:solidFill>
              <a:latin typeface="Calibri" panose="020F0502020204030204"/>
              <a:ea typeface="+mn-ea"/>
              <a:cs typeface="+mn-cs"/>
            </a:endParaRPr>
          </a:p>
        </p:txBody>
      </p:sp>
      <p:pic>
        <p:nvPicPr>
          <p:cNvPr id="54" name="Google Shape;497;p1">
            <a:extLst>
              <a:ext uri="{FF2B5EF4-FFF2-40B4-BE49-F238E27FC236}">
                <a16:creationId xmlns:a16="http://schemas.microsoft.com/office/drawing/2014/main" id="{5C9781AF-3925-66E8-08FE-DFCD4ECA22E7}"/>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1a  </a:t>
            </a:r>
            <a:r>
              <a:rPr lang="en-US" sz="3333" b="1" kern="1200" dirty="0">
                <a:solidFill>
                  <a:srgbClr val="FFFFFF"/>
                </a:solidFill>
                <a:latin typeface="Calibri" pitchFamily="34" charset="0"/>
                <a:ea typeface="Calibri" pitchFamily="34" charset="-122"/>
                <a:cs typeface="Calibri" pitchFamily="34" charset="-120"/>
              </a:rPr>
              <a:t>Install TypeScript Dependencies for CAP</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God of all commands: </a:t>
            </a:r>
            <a:r>
              <a:rPr lang="en-US" b="1" i="1" kern="1200" dirty="0">
                <a:solidFill>
                  <a:srgbClr val="FF0000"/>
                </a:solidFill>
                <a:highlight>
                  <a:srgbClr val="FFFF00"/>
                </a:highlight>
                <a:latin typeface="Calibri" pitchFamily="34" charset="0"/>
                <a:ea typeface="Calibri" pitchFamily="34" charset="-122"/>
                <a:cs typeface="Calibri" pitchFamily="34" charset="-120"/>
              </a:rPr>
              <a:t>cds add typescript</a:t>
            </a:r>
            <a:endParaRPr lang="en-US" b="1" kern="1200" dirty="0">
              <a:solidFill>
                <a:srgbClr val="FF0000"/>
              </a:solidFill>
              <a:highlight>
                <a:srgbClr val="FFFF00"/>
              </a:highlight>
              <a:latin typeface="Calibri" panose="020F0502020204030204"/>
              <a:ea typeface="+mn-ea"/>
              <a:cs typeface="+mn-cs"/>
            </a:endParaRPr>
          </a:p>
        </p:txBody>
      </p:sp>
      <p:sp>
        <p:nvSpPr>
          <p:cNvPr id="6" name="Shape 4"/>
          <p:cNvSpPr/>
          <p:nvPr/>
        </p:nvSpPr>
        <p:spPr>
          <a:xfrm>
            <a:off x="487553" y="136604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487553" y="1366042"/>
            <a:ext cx="536308" cy="536308"/>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1</a:t>
            </a:r>
            <a:endParaRPr lang="en-US" sz="1733" kern="1200" dirty="0">
              <a:solidFill>
                <a:prstClr val="black"/>
              </a:solidFill>
              <a:latin typeface="Calibri" panose="020F0502020204030204"/>
              <a:ea typeface="+mn-ea"/>
              <a:cs typeface="+mn-cs"/>
            </a:endParaRPr>
          </a:p>
        </p:txBody>
      </p:sp>
      <p:sp>
        <p:nvSpPr>
          <p:cNvPr id="8" name="Shape 6"/>
          <p:cNvSpPr/>
          <p:nvPr/>
        </p:nvSpPr>
        <p:spPr>
          <a:xfrm>
            <a:off x="1048238" y="1634196"/>
            <a:ext cx="1467535" cy="0"/>
          </a:xfrm>
          <a:prstGeom prst="line">
            <a:avLst/>
          </a:prstGeom>
          <a:noFill/>
          <a:ln w="1905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9" name="Text 7"/>
          <p:cNvSpPr/>
          <p:nvPr/>
        </p:nvSpPr>
        <p:spPr>
          <a:xfrm>
            <a:off x="365664" y="1951105"/>
            <a:ext cx="2271998" cy="390042"/>
          </a:xfrm>
          <a:prstGeom prst="rect">
            <a:avLst/>
          </a:prstGeom>
          <a:noFill/>
          <a:ln/>
        </p:spPr>
        <p:txBody>
          <a:bodyPr wrap="square" lIns="0" tIns="0" rIns="0" bIns="0" rtlCol="0" anchor="ctr"/>
          <a:lstStyle/>
          <a:p>
            <a:pPr algn="ctr" defTabSz="1218895">
              <a:buClrTx/>
            </a:pPr>
            <a:r>
              <a:rPr lang="en-US" sz="1133" kern="1200" dirty="0">
                <a:solidFill>
                  <a:srgbClr val="334155"/>
                </a:solidFill>
                <a:latin typeface="Calibri" pitchFamily="34" charset="0"/>
                <a:ea typeface="Calibri" pitchFamily="34" charset="-122"/>
                <a:cs typeface="Calibri" pitchFamily="34" charset="-120"/>
              </a:rPr>
              <a:t>Core TS</a:t>
            </a:r>
            <a:endParaRPr lang="en-US" sz="1133" kern="1200" dirty="0">
              <a:solidFill>
                <a:prstClr val="black"/>
              </a:solidFill>
              <a:latin typeface="Calibri" panose="020F0502020204030204"/>
              <a:ea typeface="+mn-ea"/>
              <a:cs typeface="+mn-cs"/>
            </a:endParaRPr>
          </a:p>
        </p:txBody>
      </p:sp>
      <p:sp>
        <p:nvSpPr>
          <p:cNvPr id="10" name="Shape 8"/>
          <p:cNvSpPr/>
          <p:nvPr/>
        </p:nvSpPr>
        <p:spPr>
          <a:xfrm>
            <a:off x="2783928" y="136604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2783928" y="1366042"/>
            <a:ext cx="536308" cy="536308"/>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2</a:t>
            </a:r>
            <a:endParaRPr lang="en-US" sz="1733" kern="1200" dirty="0">
              <a:solidFill>
                <a:prstClr val="black"/>
              </a:solidFill>
              <a:latin typeface="Calibri" panose="020F0502020204030204"/>
              <a:ea typeface="+mn-ea"/>
              <a:cs typeface="+mn-cs"/>
            </a:endParaRPr>
          </a:p>
        </p:txBody>
      </p:sp>
      <p:sp>
        <p:nvSpPr>
          <p:cNvPr id="12" name="Shape 10"/>
          <p:cNvSpPr/>
          <p:nvPr/>
        </p:nvSpPr>
        <p:spPr>
          <a:xfrm>
            <a:off x="3344614" y="1634196"/>
            <a:ext cx="1467535" cy="0"/>
          </a:xfrm>
          <a:prstGeom prst="line">
            <a:avLst/>
          </a:prstGeom>
          <a:noFill/>
          <a:ln w="1905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2662039" y="1951105"/>
            <a:ext cx="2271998" cy="390042"/>
          </a:xfrm>
          <a:prstGeom prst="rect">
            <a:avLst/>
          </a:prstGeom>
          <a:noFill/>
          <a:ln/>
        </p:spPr>
        <p:txBody>
          <a:bodyPr wrap="square" lIns="0" tIns="0" rIns="0" bIns="0" rtlCol="0" anchor="ctr"/>
          <a:lstStyle/>
          <a:p>
            <a:pPr algn="ctr" defTabSz="1218895">
              <a:buClrTx/>
            </a:pPr>
            <a:r>
              <a:rPr lang="en-US" sz="1133" kern="1200" dirty="0">
                <a:solidFill>
                  <a:srgbClr val="334155"/>
                </a:solidFill>
                <a:latin typeface="Calibri" pitchFamily="34" charset="0"/>
                <a:ea typeface="Calibri" pitchFamily="34" charset="-122"/>
                <a:cs typeface="Calibri" pitchFamily="34" charset="-120"/>
              </a:rPr>
              <a:t>CAP Types</a:t>
            </a:r>
            <a:endParaRPr lang="en-US" sz="1133" kern="1200" dirty="0">
              <a:solidFill>
                <a:prstClr val="black"/>
              </a:solidFill>
              <a:latin typeface="Calibri" panose="020F0502020204030204"/>
              <a:ea typeface="+mn-ea"/>
              <a:cs typeface="+mn-cs"/>
            </a:endParaRPr>
          </a:p>
        </p:txBody>
      </p:sp>
      <p:sp>
        <p:nvSpPr>
          <p:cNvPr id="14" name="Shape 12"/>
          <p:cNvSpPr/>
          <p:nvPr/>
        </p:nvSpPr>
        <p:spPr>
          <a:xfrm>
            <a:off x="5080302" y="136604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Text 13"/>
          <p:cNvSpPr/>
          <p:nvPr/>
        </p:nvSpPr>
        <p:spPr>
          <a:xfrm>
            <a:off x="5080302" y="1366042"/>
            <a:ext cx="536308" cy="536308"/>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3</a:t>
            </a:r>
            <a:endParaRPr lang="en-US" sz="1733" kern="1200" dirty="0">
              <a:solidFill>
                <a:prstClr val="black"/>
              </a:solidFill>
              <a:latin typeface="Calibri" panose="020F0502020204030204"/>
              <a:ea typeface="+mn-ea"/>
              <a:cs typeface="+mn-cs"/>
            </a:endParaRPr>
          </a:p>
        </p:txBody>
      </p:sp>
      <p:sp>
        <p:nvSpPr>
          <p:cNvPr id="16" name="Shape 14"/>
          <p:cNvSpPr/>
          <p:nvPr/>
        </p:nvSpPr>
        <p:spPr>
          <a:xfrm>
            <a:off x="5640987" y="1634196"/>
            <a:ext cx="1467535" cy="0"/>
          </a:xfrm>
          <a:prstGeom prst="line">
            <a:avLst/>
          </a:prstGeom>
          <a:noFill/>
          <a:ln w="1905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4958413" y="1951105"/>
            <a:ext cx="2271998" cy="390042"/>
          </a:xfrm>
          <a:prstGeom prst="rect">
            <a:avLst/>
          </a:prstGeom>
          <a:noFill/>
          <a:ln/>
        </p:spPr>
        <p:txBody>
          <a:bodyPr wrap="square" lIns="0" tIns="0" rIns="0" bIns="0" rtlCol="0" anchor="ctr"/>
          <a:lstStyle/>
          <a:p>
            <a:pPr algn="ctr" defTabSz="1218895">
              <a:buClrTx/>
            </a:pPr>
            <a:r>
              <a:rPr lang="en-US" sz="1133" kern="1200" dirty="0">
                <a:solidFill>
                  <a:srgbClr val="334155"/>
                </a:solidFill>
                <a:latin typeface="Calibri" pitchFamily="34" charset="0"/>
                <a:ea typeface="Calibri" pitchFamily="34" charset="-122"/>
                <a:cs typeface="Calibri" pitchFamily="34" charset="-120"/>
              </a:rPr>
              <a:t>Test Types</a:t>
            </a:r>
            <a:endParaRPr lang="en-US" sz="1133" kern="1200" dirty="0">
              <a:solidFill>
                <a:prstClr val="black"/>
              </a:solidFill>
              <a:latin typeface="Calibri" panose="020F0502020204030204"/>
              <a:ea typeface="+mn-ea"/>
              <a:cs typeface="+mn-cs"/>
            </a:endParaRPr>
          </a:p>
        </p:txBody>
      </p:sp>
      <p:sp>
        <p:nvSpPr>
          <p:cNvPr id="18" name="Shape 16"/>
          <p:cNvSpPr/>
          <p:nvPr/>
        </p:nvSpPr>
        <p:spPr>
          <a:xfrm>
            <a:off x="7376677" y="136604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7376677" y="1366042"/>
            <a:ext cx="536308" cy="536308"/>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4</a:t>
            </a:r>
            <a:endParaRPr lang="en-US" sz="1733" kern="1200" dirty="0">
              <a:solidFill>
                <a:prstClr val="black"/>
              </a:solidFill>
              <a:latin typeface="Calibri" panose="020F0502020204030204"/>
              <a:ea typeface="+mn-ea"/>
              <a:cs typeface="+mn-cs"/>
            </a:endParaRPr>
          </a:p>
        </p:txBody>
      </p:sp>
      <p:sp>
        <p:nvSpPr>
          <p:cNvPr id="20" name="Shape 18"/>
          <p:cNvSpPr/>
          <p:nvPr/>
        </p:nvSpPr>
        <p:spPr>
          <a:xfrm>
            <a:off x="7937363" y="1634196"/>
            <a:ext cx="1467535" cy="0"/>
          </a:xfrm>
          <a:prstGeom prst="line">
            <a:avLst/>
          </a:prstGeom>
          <a:noFill/>
          <a:ln w="1905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1" name="Text 19"/>
          <p:cNvSpPr/>
          <p:nvPr/>
        </p:nvSpPr>
        <p:spPr>
          <a:xfrm>
            <a:off x="7254788" y="1951105"/>
            <a:ext cx="2271998" cy="390042"/>
          </a:xfrm>
          <a:prstGeom prst="rect">
            <a:avLst/>
          </a:prstGeom>
          <a:noFill/>
          <a:ln/>
        </p:spPr>
        <p:txBody>
          <a:bodyPr wrap="square" lIns="0" tIns="0" rIns="0" bIns="0" rtlCol="0" anchor="ctr"/>
          <a:lstStyle/>
          <a:p>
            <a:pPr algn="ctr" defTabSz="1218895">
              <a:buClrTx/>
            </a:pPr>
            <a:r>
              <a:rPr lang="en-US" sz="1133" kern="1200" dirty="0">
                <a:solidFill>
                  <a:srgbClr val="334155"/>
                </a:solidFill>
                <a:latin typeface="Calibri" pitchFamily="34" charset="0"/>
                <a:ea typeface="Calibri" pitchFamily="34" charset="-122"/>
                <a:cs typeface="Calibri" pitchFamily="34" charset="-120"/>
              </a:rPr>
              <a:t>ts-jest</a:t>
            </a:r>
            <a:endParaRPr lang="en-US" sz="1133" kern="1200" dirty="0">
              <a:solidFill>
                <a:prstClr val="black"/>
              </a:solidFill>
              <a:latin typeface="Calibri" panose="020F0502020204030204"/>
              <a:ea typeface="+mn-ea"/>
              <a:cs typeface="+mn-cs"/>
            </a:endParaRPr>
          </a:p>
        </p:txBody>
      </p:sp>
      <p:sp>
        <p:nvSpPr>
          <p:cNvPr id="22" name="Shape 20"/>
          <p:cNvSpPr/>
          <p:nvPr/>
        </p:nvSpPr>
        <p:spPr>
          <a:xfrm>
            <a:off x="9673051" y="136604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9673051" y="1366042"/>
            <a:ext cx="536308" cy="536308"/>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5</a:t>
            </a:r>
            <a:endParaRPr lang="en-US" sz="1733" kern="1200" dirty="0">
              <a:solidFill>
                <a:prstClr val="black"/>
              </a:solidFill>
              <a:latin typeface="Calibri" panose="020F0502020204030204"/>
              <a:ea typeface="+mn-ea"/>
              <a:cs typeface="+mn-cs"/>
            </a:endParaRPr>
          </a:p>
        </p:txBody>
      </p:sp>
      <p:sp>
        <p:nvSpPr>
          <p:cNvPr id="24" name="Text 22"/>
          <p:cNvSpPr/>
          <p:nvPr/>
        </p:nvSpPr>
        <p:spPr>
          <a:xfrm>
            <a:off x="9551162" y="1951105"/>
            <a:ext cx="2271998" cy="390042"/>
          </a:xfrm>
          <a:prstGeom prst="rect">
            <a:avLst/>
          </a:prstGeom>
          <a:noFill/>
          <a:ln/>
        </p:spPr>
        <p:txBody>
          <a:bodyPr wrap="square" lIns="0" tIns="0" rIns="0" bIns="0" rtlCol="0" anchor="ctr"/>
          <a:lstStyle/>
          <a:p>
            <a:pPr algn="ctr" defTabSz="1218895">
              <a:buClrTx/>
            </a:pPr>
            <a:r>
              <a:rPr lang="en-US" sz="1133" kern="1200" dirty="0">
                <a:solidFill>
                  <a:srgbClr val="334155"/>
                </a:solidFill>
                <a:latin typeface="Calibri" pitchFamily="34" charset="0"/>
                <a:ea typeface="Calibri" pitchFamily="34" charset="-122"/>
                <a:cs typeface="Calibri" pitchFamily="34" charset="-120"/>
              </a:rPr>
              <a:t>Verify</a:t>
            </a:r>
            <a:endParaRPr lang="en-US" sz="1133" kern="1200" dirty="0">
              <a:solidFill>
                <a:prstClr val="black"/>
              </a:solidFill>
              <a:latin typeface="Calibri" panose="020F0502020204030204"/>
              <a:ea typeface="+mn-ea"/>
              <a:cs typeface="+mn-cs"/>
            </a:endParaRPr>
          </a:p>
        </p:txBody>
      </p:sp>
      <p:sp>
        <p:nvSpPr>
          <p:cNvPr id="25" name="Text 23"/>
          <p:cNvSpPr/>
          <p:nvPr/>
        </p:nvSpPr>
        <p:spPr>
          <a:xfrm>
            <a:off x="487552" y="2219259"/>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1 — Core TypeScript Packages</a:t>
            </a:r>
            <a:endParaRPr lang="en-US" sz="1466" kern="1200" dirty="0">
              <a:solidFill>
                <a:prstClr val="black"/>
              </a:solidFill>
              <a:latin typeface="Calibri" panose="020F0502020204030204"/>
              <a:ea typeface="+mn-ea"/>
              <a:cs typeface="+mn-cs"/>
            </a:endParaRPr>
          </a:p>
        </p:txBody>
      </p:sp>
      <p:sp>
        <p:nvSpPr>
          <p:cNvPr id="26" name="Shape 24"/>
          <p:cNvSpPr/>
          <p:nvPr/>
        </p:nvSpPr>
        <p:spPr>
          <a:xfrm>
            <a:off x="487552" y="2584924"/>
            <a:ext cx="5606860" cy="1608925"/>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Text 25"/>
          <p:cNvSpPr/>
          <p:nvPr/>
        </p:nvSpPr>
        <p:spPr>
          <a:xfrm>
            <a:off x="670385" y="2706812"/>
            <a:ext cx="5338705" cy="1389526"/>
          </a:xfrm>
          <a:prstGeom prst="rect">
            <a:avLst/>
          </a:prstGeom>
          <a:noFill/>
          <a:ln/>
        </p:spPr>
        <p:txBody>
          <a:bodyPr wrap="square" lIns="0" tIns="0" rIns="0" bIns="0" rtlCol="0" anchor="t"/>
          <a:lstStyle/>
          <a:p>
            <a:pPr defTabSz="1218895">
              <a:buClrTx/>
            </a:pPr>
            <a:r>
              <a:rPr lang="en-US" sz="1266" kern="1200" dirty="0">
                <a:solidFill>
                  <a:srgbClr val="818CF8"/>
                </a:solidFill>
                <a:latin typeface="Consolas" pitchFamily="34" charset="0"/>
                <a:ea typeface="Consolas" pitchFamily="34" charset="-122"/>
                <a:cs typeface="Consolas" pitchFamily="34" charset="-120"/>
              </a:rPr>
              <a:t>npm install --save-dev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typescript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@types/node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ts-node</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typescript  — the compiler (tsc)</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@types/node — Node.js built-in types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ts-node     — run .ts files directly</a:t>
            </a:r>
            <a:endParaRPr lang="en-US" sz="1266" kern="1200" dirty="0">
              <a:solidFill>
                <a:prstClr val="black"/>
              </a:solidFill>
              <a:latin typeface="Calibri" panose="020F0502020204030204"/>
              <a:ea typeface="+mn-ea"/>
              <a:cs typeface="+mn-cs"/>
            </a:endParaRPr>
          </a:p>
        </p:txBody>
      </p:sp>
      <p:sp>
        <p:nvSpPr>
          <p:cNvPr id="28" name="Text 26"/>
          <p:cNvSpPr/>
          <p:nvPr/>
        </p:nvSpPr>
        <p:spPr>
          <a:xfrm>
            <a:off x="487552" y="4291359"/>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2 — CAP-Specific Type Packages</a:t>
            </a:r>
            <a:endParaRPr lang="en-US" sz="1466" kern="1200" dirty="0">
              <a:solidFill>
                <a:prstClr val="black"/>
              </a:solidFill>
              <a:latin typeface="Calibri" panose="020F0502020204030204"/>
              <a:ea typeface="+mn-ea"/>
              <a:cs typeface="+mn-cs"/>
            </a:endParaRPr>
          </a:p>
        </p:txBody>
      </p:sp>
      <p:sp>
        <p:nvSpPr>
          <p:cNvPr id="29" name="Shape 27"/>
          <p:cNvSpPr/>
          <p:nvPr/>
        </p:nvSpPr>
        <p:spPr>
          <a:xfrm>
            <a:off x="487552" y="4657024"/>
            <a:ext cx="5606860" cy="1852701"/>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0" name="Text 28"/>
          <p:cNvSpPr/>
          <p:nvPr/>
        </p:nvSpPr>
        <p:spPr>
          <a:xfrm>
            <a:off x="670385" y="4778912"/>
            <a:ext cx="5338705" cy="1633303"/>
          </a:xfrm>
          <a:prstGeom prst="rect">
            <a:avLst/>
          </a:prstGeom>
          <a:noFill/>
          <a:ln/>
        </p:spPr>
        <p:txBody>
          <a:bodyPr wrap="square" lIns="0" tIns="0" rIns="0" bIns="0" rtlCol="0" anchor="t"/>
          <a:lstStyle/>
          <a:p>
            <a:pPr defTabSz="1218895">
              <a:buClrTx/>
            </a:pPr>
            <a:r>
              <a:rPr lang="en-US" sz="1266" kern="1200" dirty="0">
                <a:solidFill>
                  <a:srgbClr val="818CF8"/>
                </a:solidFill>
                <a:latin typeface="Consolas" pitchFamily="34" charset="0"/>
                <a:ea typeface="Consolas" pitchFamily="34" charset="-122"/>
                <a:cs typeface="Consolas" pitchFamily="34" charset="-120"/>
              </a:rPr>
              <a:t>npm install --save-dev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@cap-js/cds-types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@sap/cds</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@cap-js/cds-types — official TS defs for: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cds.Service, cds.Request,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cds.ApplicationService, cds.connect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@sap/cds — CAP runtime (if not installed)</a:t>
            </a:r>
            <a:endParaRPr lang="en-US" sz="1266" kern="1200" dirty="0">
              <a:solidFill>
                <a:prstClr val="black"/>
              </a:solidFill>
              <a:latin typeface="Calibri" panose="020F0502020204030204"/>
              <a:ea typeface="+mn-ea"/>
              <a:cs typeface="+mn-cs"/>
            </a:endParaRPr>
          </a:p>
        </p:txBody>
      </p:sp>
      <p:sp>
        <p:nvSpPr>
          <p:cNvPr id="31" name="Text 29"/>
          <p:cNvSpPr/>
          <p:nvPr/>
        </p:nvSpPr>
        <p:spPr>
          <a:xfrm>
            <a:off x="6338188" y="2219259"/>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3 — Jest &amp; Testing Types</a:t>
            </a:r>
            <a:endParaRPr lang="en-US" sz="1466" kern="1200" dirty="0">
              <a:solidFill>
                <a:prstClr val="black"/>
              </a:solidFill>
              <a:latin typeface="Calibri" panose="020F0502020204030204"/>
              <a:ea typeface="+mn-ea"/>
              <a:cs typeface="+mn-cs"/>
            </a:endParaRPr>
          </a:p>
        </p:txBody>
      </p:sp>
      <p:sp>
        <p:nvSpPr>
          <p:cNvPr id="32" name="Shape 30"/>
          <p:cNvSpPr/>
          <p:nvPr/>
        </p:nvSpPr>
        <p:spPr>
          <a:xfrm>
            <a:off x="6338188" y="2584924"/>
            <a:ext cx="5606860" cy="1608925"/>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3" name="Text 31"/>
          <p:cNvSpPr/>
          <p:nvPr/>
        </p:nvSpPr>
        <p:spPr>
          <a:xfrm>
            <a:off x="6521021" y="2706812"/>
            <a:ext cx="5338705" cy="1389526"/>
          </a:xfrm>
          <a:prstGeom prst="rect">
            <a:avLst/>
          </a:prstGeom>
          <a:noFill/>
          <a:ln/>
        </p:spPr>
        <p:txBody>
          <a:bodyPr wrap="square" lIns="0" tIns="0" rIns="0" bIns="0" rtlCol="0" anchor="t"/>
          <a:lstStyle/>
          <a:p>
            <a:pPr defTabSz="1218895">
              <a:buClrTx/>
            </a:pPr>
            <a:r>
              <a:rPr lang="en-US" sz="1266" kern="1200" dirty="0">
                <a:solidFill>
                  <a:srgbClr val="818CF8"/>
                </a:solidFill>
                <a:latin typeface="Consolas" pitchFamily="34" charset="0"/>
                <a:ea typeface="Consolas" pitchFamily="34" charset="-122"/>
                <a:cs typeface="Consolas" pitchFamily="34" charset="-120"/>
              </a:rPr>
              <a:t>npm install --save-dev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ts-jest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@types/jest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ts-jest  — transpiles .ts test files for Jest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@types/jest — describe/it/expect types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No code changes to test files needed!</a:t>
            </a:r>
            <a:endParaRPr lang="en-US" sz="1266" kern="1200" dirty="0">
              <a:solidFill>
                <a:prstClr val="black"/>
              </a:solidFill>
              <a:latin typeface="Calibri" panose="020F0502020204030204"/>
              <a:ea typeface="+mn-ea"/>
              <a:cs typeface="+mn-cs"/>
            </a:endParaRPr>
          </a:p>
        </p:txBody>
      </p:sp>
      <p:sp>
        <p:nvSpPr>
          <p:cNvPr id="34" name="Text 32"/>
          <p:cNvSpPr/>
          <p:nvPr/>
        </p:nvSpPr>
        <p:spPr>
          <a:xfrm>
            <a:off x="6338188" y="4291359"/>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4 — package.json scripts</a:t>
            </a:r>
            <a:endParaRPr lang="en-US" sz="1466" kern="1200" dirty="0">
              <a:solidFill>
                <a:prstClr val="black"/>
              </a:solidFill>
              <a:latin typeface="Calibri" panose="020F0502020204030204"/>
              <a:ea typeface="+mn-ea"/>
              <a:cs typeface="+mn-cs"/>
            </a:endParaRPr>
          </a:p>
        </p:txBody>
      </p:sp>
      <p:sp>
        <p:nvSpPr>
          <p:cNvPr id="35" name="Shape 33"/>
          <p:cNvSpPr/>
          <p:nvPr/>
        </p:nvSpPr>
        <p:spPr>
          <a:xfrm>
            <a:off x="6338188" y="4657024"/>
            <a:ext cx="5606860" cy="1852701"/>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6" name="Text 34"/>
          <p:cNvSpPr/>
          <p:nvPr/>
        </p:nvSpPr>
        <p:spPr>
          <a:xfrm>
            <a:off x="6521021" y="4778912"/>
            <a:ext cx="5338705" cy="1633303"/>
          </a:xfrm>
          <a:prstGeom prst="rect">
            <a:avLst/>
          </a:prstGeom>
          <a:noFill/>
          <a:ln/>
        </p:spPr>
        <p:txBody>
          <a:bodyPr wrap="square" lIns="0" tIns="0" rIns="0" bIns="0" rtlCol="0" anchor="t"/>
          <a:lstStyle/>
          <a:p>
            <a:pPr defTabSz="1218895">
              <a:buClrTx/>
            </a:pPr>
            <a:r>
              <a:rPr lang="en-US" sz="1266" kern="1200" dirty="0">
                <a:solidFill>
                  <a:srgbClr val="FFFFFF"/>
                </a:solidFill>
                <a:latin typeface="Consolas" pitchFamily="34" charset="0"/>
                <a:ea typeface="Consolas" pitchFamily="34" charset="-122"/>
                <a:cs typeface="Consolas" pitchFamily="34" charset="-120"/>
              </a:rPr>
              <a:t>"scripts":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"build":    "tsc --noEmit",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"typecheck":"tsc --noEmit --strict",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"start:ts": "ts-node srv/server.ts",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"test":     "jest"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Step 5: verify install</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npx tsc --version  # should print 5.x+</a:t>
            </a:r>
            <a:endParaRPr lang="en-US" sz="1266" kern="1200" dirty="0">
              <a:solidFill>
                <a:prstClr val="black"/>
              </a:solidFill>
              <a:latin typeface="Calibri" panose="020F0502020204030204"/>
              <a:ea typeface="+mn-ea"/>
              <a:cs typeface="+mn-cs"/>
            </a:endParaRPr>
          </a:p>
        </p:txBody>
      </p:sp>
      <p:sp>
        <p:nvSpPr>
          <p:cNvPr id="37" name="Shape 35"/>
          <p:cNvSpPr/>
          <p:nvPr/>
        </p:nvSpPr>
        <p:spPr>
          <a:xfrm>
            <a:off x="487553" y="6582858"/>
            <a:ext cx="11213719" cy="304721"/>
          </a:xfrm>
          <a:prstGeom prst="rect">
            <a:avLst/>
          </a:prstGeom>
          <a:solidFill>
            <a:srgbClr val="FFF3CD"/>
          </a:solidFill>
          <a:ln w="12700">
            <a:solidFill>
              <a:srgbClr val="F59E0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8" name="Text 36"/>
          <p:cNvSpPr/>
          <p:nvPr/>
        </p:nvSpPr>
        <p:spPr>
          <a:xfrm>
            <a:off x="609441" y="6607236"/>
            <a:ext cx="10969943" cy="268154"/>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  Install @cap-js/cds-types NOT @types/cds (deprecated). The official package ships cds.Request&lt;T&gt;, cds.Service, etc.</a:t>
            </a:r>
            <a:endParaRPr lang="en-US" sz="1200" kern="1200" dirty="0">
              <a:solidFill>
                <a:prstClr val="black"/>
              </a:solidFill>
              <a:latin typeface="Calibri" panose="020F0502020204030204"/>
              <a:ea typeface="+mn-ea"/>
              <a:cs typeface="+mn-cs"/>
            </a:endParaRPr>
          </a:p>
        </p:txBody>
      </p:sp>
      <p:pic>
        <p:nvPicPr>
          <p:cNvPr id="39" name="Google Shape;497;p1">
            <a:extLst>
              <a:ext uri="{FF2B5EF4-FFF2-40B4-BE49-F238E27FC236}">
                <a16:creationId xmlns:a16="http://schemas.microsoft.com/office/drawing/2014/main" id="{68042F1E-E751-B86C-5ED4-D6942310BA00}"/>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1b  </a:t>
            </a:r>
            <a:r>
              <a:rPr lang="en-US" sz="3333" b="1" kern="1200" dirty="0">
                <a:solidFill>
                  <a:srgbClr val="FFFFFF"/>
                </a:solidFill>
                <a:latin typeface="Calibri" pitchFamily="34" charset="0"/>
                <a:ea typeface="Calibri" pitchFamily="34" charset="-122"/>
                <a:cs typeface="Calibri" pitchFamily="34" charset="-120"/>
              </a:rPr>
              <a:t>tsconfig.json — Every Option Explained for CAP</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Configuration · why each compiler option matters in a CAP Node.js context</a:t>
            </a:r>
            <a:endParaRPr lang="en-US" kern="1200" dirty="0">
              <a:solidFill>
                <a:prstClr val="black"/>
              </a:solidFill>
              <a:latin typeface="Calibri" panose="020F0502020204030204"/>
              <a:ea typeface="+mn-ea"/>
              <a:cs typeface="+mn-cs"/>
            </a:endParaRPr>
          </a:p>
        </p:txBody>
      </p:sp>
      <p:sp>
        <p:nvSpPr>
          <p:cNvPr id="6" name="Text 4"/>
          <p:cNvSpPr/>
          <p:nvPr/>
        </p:nvSpPr>
        <p:spPr>
          <a:xfrm>
            <a:off x="487552" y="1402608"/>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Complete tsconfig.json for CAP</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2" y="1768273"/>
            <a:ext cx="5606860" cy="4875530"/>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338705" cy="4656131"/>
          </a:xfrm>
          <a:prstGeom prst="rect">
            <a:avLst/>
          </a:prstGeom>
          <a:noFill/>
          <a:ln/>
        </p:spPr>
        <p:txBody>
          <a:bodyPr wrap="square" lIns="0" tIns="0" rIns="0" bIns="0" rtlCol="0" anchor="t"/>
          <a:lstStyle/>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"compilerOptions":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"target":        "ES2022",</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"module":        "commonjs",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"lib":           ["ES2022"],</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"strict":        true,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"allowJs":       false,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"esModuleInterop":true,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"skipLibCheck":  true,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"moduleResolution":"node",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"outDir":        "./dist",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"rootDir":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"baseUrl":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"paths":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"@cds-models/*":["./srv/gen/*"]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"types": ["node","jest","@cap-js/cds-types"]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"include": ["srv/**/*","utils/**/*","test/**/*"],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"exclude": ["node_modules","dist","**/*.js"]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9" name="Text 7"/>
          <p:cNvSpPr/>
          <p:nvPr/>
        </p:nvSpPr>
        <p:spPr>
          <a:xfrm>
            <a:off x="6338188" y="1402608"/>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Why each option matters</a:t>
            </a:r>
            <a:endParaRPr lang="en-US" sz="1466" kern="1200" dirty="0">
              <a:solidFill>
                <a:prstClr val="black"/>
              </a:solidFill>
              <a:latin typeface="Calibri" panose="020F0502020204030204"/>
              <a:ea typeface="+mn-ea"/>
              <a:cs typeface="+mn-cs"/>
            </a:endParaRPr>
          </a:p>
        </p:txBody>
      </p:sp>
      <p:sp>
        <p:nvSpPr>
          <p:cNvPr id="10" name="Shape 8"/>
          <p:cNvSpPr/>
          <p:nvPr/>
        </p:nvSpPr>
        <p:spPr>
          <a:xfrm>
            <a:off x="6338188" y="1768273"/>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Shape 9"/>
          <p:cNvSpPr/>
          <p:nvPr/>
        </p:nvSpPr>
        <p:spPr>
          <a:xfrm>
            <a:off x="6338188" y="1768273"/>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6533210" y="1792650"/>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target: "ES2022"</a:t>
            </a:r>
            <a:endParaRPr lang="en-US" sz="1266" kern="1200" dirty="0">
              <a:solidFill>
                <a:prstClr val="black"/>
              </a:solidFill>
              <a:latin typeface="Calibri" panose="020F0502020204030204"/>
              <a:ea typeface="+mn-ea"/>
              <a:cs typeface="+mn-cs"/>
            </a:endParaRPr>
          </a:p>
        </p:txBody>
      </p:sp>
      <p:sp>
        <p:nvSpPr>
          <p:cNvPr id="13" name="Text 11"/>
          <p:cNvSpPr/>
          <p:nvPr/>
        </p:nvSpPr>
        <p:spPr>
          <a:xfrm>
            <a:off x="6533210" y="2060804"/>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CAP runs on Node 18+. ES2022 enables optional chaining, nullish coalescing, and top-level await natively.</a:t>
            </a:r>
            <a:endParaRPr lang="en-US" sz="1133" kern="1200" dirty="0">
              <a:solidFill>
                <a:prstClr val="black"/>
              </a:solidFill>
              <a:latin typeface="Calibri" panose="020F0502020204030204"/>
              <a:ea typeface="+mn-ea"/>
              <a:cs typeface="+mn-cs"/>
            </a:endParaRPr>
          </a:p>
        </p:txBody>
      </p:sp>
      <p:sp>
        <p:nvSpPr>
          <p:cNvPr id="14" name="Shape 12"/>
          <p:cNvSpPr/>
          <p:nvPr/>
        </p:nvSpPr>
        <p:spPr>
          <a:xfrm>
            <a:off x="6338188" y="2463036"/>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Shape 13"/>
          <p:cNvSpPr/>
          <p:nvPr/>
        </p:nvSpPr>
        <p:spPr>
          <a:xfrm>
            <a:off x="6338188" y="2463036"/>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6533210" y="2487413"/>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module: "commonjs"</a:t>
            </a:r>
            <a:endParaRPr lang="en-US" sz="1266" kern="1200" dirty="0">
              <a:solidFill>
                <a:prstClr val="black"/>
              </a:solidFill>
              <a:latin typeface="Calibri" panose="020F0502020204030204"/>
              <a:ea typeface="+mn-ea"/>
              <a:cs typeface="+mn-cs"/>
            </a:endParaRPr>
          </a:p>
        </p:txBody>
      </p:sp>
      <p:sp>
        <p:nvSpPr>
          <p:cNvPr id="17" name="Text 15"/>
          <p:cNvSpPr/>
          <p:nvPr/>
        </p:nvSpPr>
        <p:spPr>
          <a:xfrm>
            <a:off x="6533210" y="2755567"/>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CAP uses require() at runtime. Must be commonjs — do NOT use ESM here or cds.connect() will break.</a:t>
            </a:r>
            <a:endParaRPr lang="en-US" sz="1133" kern="1200" dirty="0">
              <a:solidFill>
                <a:prstClr val="black"/>
              </a:solidFill>
              <a:latin typeface="Calibri" panose="020F0502020204030204"/>
              <a:ea typeface="+mn-ea"/>
              <a:cs typeface="+mn-cs"/>
            </a:endParaRPr>
          </a:p>
        </p:txBody>
      </p:sp>
      <p:sp>
        <p:nvSpPr>
          <p:cNvPr id="18" name="Shape 16"/>
          <p:cNvSpPr/>
          <p:nvPr/>
        </p:nvSpPr>
        <p:spPr>
          <a:xfrm>
            <a:off x="6338188" y="3157799"/>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6338188" y="3157799"/>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6533210" y="3182176"/>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strict: true</a:t>
            </a:r>
            <a:endParaRPr lang="en-US" sz="1266" kern="1200" dirty="0">
              <a:solidFill>
                <a:prstClr val="black"/>
              </a:solidFill>
              <a:latin typeface="Calibri" panose="020F0502020204030204"/>
              <a:ea typeface="+mn-ea"/>
              <a:cs typeface="+mn-cs"/>
            </a:endParaRPr>
          </a:p>
        </p:txBody>
      </p:sp>
      <p:sp>
        <p:nvSpPr>
          <p:cNvPr id="21" name="Text 19"/>
          <p:cNvSpPr/>
          <p:nvPr/>
        </p:nvSpPr>
        <p:spPr>
          <a:xfrm>
            <a:off x="6533210" y="3450330"/>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Enables noImplicitAny, strictNullChecks, strictFunctionTypes — catches the most bugs at compile time.</a:t>
            </a:r>
            <a:endParaRPr lang="en-US" sz="1133" kern="1200" dirty="0">
              <a:solidFill>
                <a:prstClr val="black"/>
              </a:solidFill>
              <a:latin typeface="Calibri" panose="020F0502020204030204"/>
              <a:ea typeface="+mn-ea"/>
              <a:cs typeface="+mn-cs"/>
            </a:endParaRPr>
          </a:p>
        </p:txBody>
      </p:sp>
      <p:sp>
        <p:nvSpPr>
          <p:cNvPr id="22" name="Shape 20"/>
          <p:cNvSpPr/>
          <p:nvPr/>
        </p:nvSpPr>
        <p:spPr>
          <a:xfrm>
            <a:off x="6338188" y="3852562"/>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21"/>
          <p:cNvSpPr/>
          <p:nvPr/>
        </p:nvSpPr>
        <p:spPr>
          <a:xfrm>
            <a:off x="6338188" y="3852562"/>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Text 22"/>
          <p:cNvSpPr/>
          <p:nvPr/>
        </p:nvSpPr>
        <p:spPr>
          <a:xfrm>
            <a:off x="6533210" y="3876939"/>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allowJs: false</a:t>
            </a:r>
            <a:endParaRPr lang="en-US" sz="1266" kern="1200" dirty="0">
              <a:solidFill>
                <a:prstClr val="black"/>
              </a:solidFill>
              <a:latin typeface="Calibri" panose="020F0502020204030204"/>
              <a:ea typeface="+mn-ea"/>
              <a:cs typeface="+mn-cs"/>
            </a:endParaRPr>
          </a:p>
        </p:txBody>
      </p:sp>
      <p:sp>
        <p:nvSpPr>
          <p:cNvPr id="25" name="Text 23"/>
          <p:cNvSpPr/>
          <p:nvPr/>
        </p:nvSpPr>
        <p:spPr>
          <a:xfrm>
            <a:off x="6533210" y="4145094"/>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Forces all files to be .ts once migration is done. Set to true during incremental migration if needed.</a:t>
            </a:r>
            <a:endParaRPr lang="en-US" sz="1133" kern="1200" dirty="0">
              <a:solidFill>
                <a:prstClr val="black"/>
              </a:solidFill>
              <a:latin typeface="Calibri" panose="020F0502020204030204"/>
              <a:ea typeface="+mn-ea"/>
              <a:cs typeface="+mn-cs"/>
            </a:endParaRPr>
          </a:p>
        </p:txBody>
      </p:sp>
      <p:sp>
        <p:nvSpPr>
          <p:cNvPr id="26" name="Shape 24"/>
          <p:cNvSpPr/>
          <p:nvPr/>
        </p:nvSpPr>
        <p:spPr>
          <a:xfrm>
            <a:off x="6338188" y="4547325"/>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Shape 25"/>
          <p:cNvSpPr/>
          <p:nvPr/>
        </p:nvSpPr>
        <p:spPr>
          <a:xfrm>
            <a:off x="6338188" y="4547325"/>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8" name="Text 26"/>
          <p:cNvSpPr/>
          <p:nvPr/>
        </p:nvSpPr>
        <p:spPr>
          <a:xfrm>
            <a:off x="6533210" y="4571702"/>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skipLibCheck: true</a:t>
            </a:r>
            <a:endParaRPr lang="en-US" sz="1266" kern="1200" dirty="0">
              <a:solidFill>
                <a:prstClr val="black"/>
              </a:solidFill>
              <a:latin typeface="Calibri" panose="020F0502020204030204"/>
              <a:ea typeface="+mn-ea"/>
              <a:cs typeface="+mn-cs"/>
            </a:endParaRPr>
          </a:p>
        </p:txBody>
      </p:sp>
      <p:sp>
        <p:nvSpPr>
          <p:cNvPr id="29" name="Text 27"/>
          <p:cNvSpPr/>
          <p:nvPr/>
        </p:nvSpPr>
        <p:spPr>
          <a:xfrm>
            <a:off x="6533210" y="4839857"/>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Skips type checks inside node_modules — required because some CDS generated files have loose types.</a:t>
            </a:r>
            <a:endParaRPr lang="en-US" sz="1133" kern="1200" dirty="0">
              <a:solidFill>
                <a:prstClr val="black"/>
              </a:solidFill>
              <a:latin typeface="Calibri" panose="020F0502020204030204"/>
              <a:ea typeface="+mn-ea"/>
              <a:cs typeface="+mn-cs"/>
            </a:endParaRPr>
          </a:p>
        </p:txBody>
      </p:sp>
      <p:sp>
        <p:nvSpPr>
          <p:cNvPr id="30" name="Shape 28"/>
          <p:cNvSpPr/>
          <p:nvPr/>
        </p:nvSpPr>
        <p:spPr>
          <a:xfrm>
            <a:off x="6338188" y="5242088"/>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9"/>
          <p:cNvSpPr/>
          <p:nvPr/>
        </p:nvSpPr>
        <p:spPr>
          <a:xfrm>
            <a:off x="6338188" y="5242088"/>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6533210" y="5266465"/>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"@cds-models/*"</a:t>
            </a:r>
            <a:endParaRPr lang="en-US" sz="1266" kern="1200" dirty="0">
              <a:solidFill>
                <a:prstClr val="black"/>
              </a:solidFill>
              <a:latin typeface="Calibri" panose="020F0502020204030204"/>
              <a:ea typeface="+mn-ea"/>
              <a:cs typeface="+mn-cs"/>
            </a:endParaRPr>
          </a:p>
        </p:txBody>
      </p:sp>
      <p:sp>
        <p:nvSpPr>
          <p:cNvPr id="33" name="Text 31"/>
          <p:cNvSpPr/>
          <p:nvPr/>
        </p:nvSpPr>
        <p:spPr>
          <a:xfrm>
            <a:off x="6533210" y="5534620"/>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Maps generated CDS model types (cds compile --to ts) to their import paths in service files.</a:t>
            </a:r>
            <a:endParaRPr lang="en-US" sz="1133" kern="1200" dirty="0">
              <a:solidFill>
                <a:prstClr val="black"/>
              </a:solidFill>
              <a:latin typeface="Calibri" panose="020F0502020204030204"/>
              <a:ea typeface="+mn-ea"/>
              <a:cs typeface="+mn-cs"/>
            </a:endParaRPr>
          </a:p>
        </p:txBody>
      </p:sp>
      <p:sp>
        <p:nvSpPr>
          <p:cNvPr id="34" name="Shape 32"/>
          <p:cNvSpPr/>
          <p:nvPr/>
        </p:nvSpPr>
        <p:spPr>
          <a:xfrm>
            <a:off x="6338188" y="5936851"/>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5" name="Shape 33"/>
          <p:cNvSpPr/>
          <p:nvPr/>
        </p:nvSpPr>
        <p:spPr>
          <a:xfrm>
            <a:off x="6338188" y="5936851"/>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6" name="Text 34"/>
          <p:cNvSpPr/>
          <p:nvPr/>
        </p:nvSpPr>
        <p:spPr>
          <a:xfrm>
            <a:off x="6533210" y="5961228"/>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types: [...cds-types]</a:t>
            </a:r>
            <a:endParaRPr lang="en-US" sz="1266" kern="1200" dirty="0">
              <a:solidFill>
                <a:prstClr val="black"/>
              </a:solidFill>
              <a:latin typeface="Calibri" panose="020F0502020204030204"/>
              <a:ea typeface="+mn-ea"/>
              <a:cs typeface="+mn-cs"/>
            </a:endParaRPr>
          </a:p>
        </p:txBody>
      </p:sp>
      <p:sp>
        <p:nvSpPr>
          <p:cNvPr id="37" name="Text 35"/>
          <p:cNvSpPr/>
          <p:nvPr/>
        </p:nvSpPr>
        <p:spPr>
          <a:xfrm>
            <a:off x="6533210" y="6229383"/>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Pulls in cds.Service, cds.Request, cds.ApplicationService global type declarations.</a:t>
            </a:r>
            <a:endParaRPr lang="en-US" sz="1133" kern="1200" dirty="0">
              <a:solidFill>
                <a:prstClr val="black"/>
              </a:solidFill>
              <a:latin typeface="Calibri" panose="020F0502020204030204"/>
              <a:ea typeface="+mn-ea"/>
              <a:cs typeface="+mn-cs"/>
            </a:endParaRPr>
          </a:p>
        </p:txBody>
      </p:sp>
      <p:pic>
        <p:nvPicPr>
          <p:cNvPr id="38" name="Google Shape;497;p1">
            <a:extLst>
              <a:ext uri="{FF2B5EF4-FFF2-40B4-BE49-F238E27FC236}">
                <a16:creationId xmlns:a16="http://schemas.microsoft.com/office/drawing/2014/main" id="{6469B17A-E92D-E703-7802-E1B5B3D0F1A9}"/>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2  </a:t>
            </a:r>
            <a:r>
              <a:rPr lang="en-US" sz="3333" b="1" kern="1200" dirty="0">
                <a:solidFill>
                  <a:srgbClr val="FFFFFF"/>
                </a:solidFill>
                <a:latin typeface="Calibri" pitchFamily="34" charset="0"/>
                <a:ea typeface="Calibri" pitchFamily="34" charset="-122"/>
                <a:cs typeface="Calibri" pitchFamily="34" charset="-120"/>
              </a:rPr>
              <a:t>utils/error-mapper.js → .ts</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Error Interface Hierarchy · ODataError, NormalisedError, union ErrorCategory</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Interface Definitions</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2"/>
            <a:ext cx="5484971"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4534243"/>
          </a:xfrm>
          <a:prstGeom prst="rect">
            <a:avLst/>
          </a:prstGeom>
          <a:noFill/>
          <a:ln/>
        </p:spPr>
        <p:txBody>
          <a:bodyPr wrap="square" lIns="0" tIns="0" rIns="0" bIns="0" rtlCol="0" anchor="t"/>
          <a:lstStyle/>
          <a:p>
            <a:pPr defTabSz="1218895">
              <a:buClrTx/>
            </a:pPr>
            <a:r>
              <a:rPr lang="en-US" sz="1200" kern="1200" dirty="0">
                <a:solidFill>
                  <a:srgbClr val="94A3B8"/>
                </a:solidFill>
                <a:latin typeface="Consolas" pitchFamily="34" charset="0"/>
                <a:ea typeface="Consolas" pitchFamily="34" charset="-122"/>
                <a:cs typeface="Consolas" pitchFamily="34" charset="-120"/>
              </a:rPr>
              <a:t>// Shape of a raw CAP/OData error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interface ODataError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code: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message: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innererror?: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errordetails?: ErrorDetail[];</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type?: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interface ErrorDetail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code: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message: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target?: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severity?:'error'|'warning'|'info';</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export interface NormalisedError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status: number;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category: ErrorCategory;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message: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details: ErrorDetail[];</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type ErrorCategory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 'NOT_FOUND'  | 'VALIDATION'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 'AUTHORIZATION' | 'SERVER_ERROR';</a:t>
            </a:r>
            <a:endParaRPr lang="en-US" sz="1200" kern="1200" dirty="0">
              <a:solidFill>
                <a:prstClr val="black"/>
              </a:solidFill>
              <a:latin typeface="Calibri" panose="020F0502020204030204"/>
              <a:ea typeface="+mn-ea"/>
              <a:cs typeface="+mn-cs"/>
            </a:endParaRPr>
          </a:p>
        </p:txBody>
      </p:sp>
      <p:sp>
        <p:nvSpPr>
          <p:cNvPr id="9" name="Text 7"/>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Typed Implementation</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68272"/>
            <a:ext cx="5606860"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890161"/>
            <a:ext cx="5338705" cy="4534243"/>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export function mapError(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status: number,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raw: ODataError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NormalisedError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category = resolveCategory(status);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details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raw.innererror?.errordetails ??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status, category,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message: raw.message,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details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function resolveCategory(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status: number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ErrorCategory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(status===404) return 'NOT_FOUND';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(status===400) return 'VALIDATION';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(status===403) return 'AUTHORIZATION';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'SERVER_ERROR';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12" name="Shape 10"/>
          <p:cNvSpPr/>
          <p:nvPr/>
        </p:nvSpPr>
        <p:spPr>
          <a:xfrm>
            <a:off x="487553" y="6607236"/>
            <a:ext cx="11213719" cy="304721"/>
          </a:xfrm>
          <a:prstGeom prst="rect">
            <a:avLst/>
          </a:prstGeom>
          <a:solidFill>
            <a:srgbClr val="EDE9FE"/>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09441" y="6631614"/>
            <a:ext cx="10969943" cy="268154"/>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  Union types for ErrorCategory prevent invalid strings. Optional chaining (?.) and nullish coalescing (??) handle the nested innererror safely under strict mode.</a:t>
            </a:r>
            <a:endParaRPr lang="en-US" sz="1200" kern="1200" dirty="0">
              <a:solidFill>
                <a:prstClr val="black"/>
              </a:solidFill>
              <a:latin typeface="Calibri" panose="020F0502020204030204"/>
              <a:ea typeface="+mn-ea"/>
              <a:cs typeface="+mn-cs"/>
            </a:endParaRPr>
          </a:p>
        </p:txBody>
      </p:sp>
      <p:pic>
        <p:nvPicPr>
          <p:cNvPr id="14" name="Google Shape;497;p1">
            <a:extLst>
              <a:ext uri="{FF2B5EF4-FFF2-40B4-BE49-F238E27FC236}">
                <a16:creationId xmlns:a16="http://schemas.microsoft.com/office/drawing/2014/main" id="{91BD1543-9E94-AF6A-33B0-B46C31A1E088}"/>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3  </a:t>
            </a:r>
            <a:r>
              <a:rPr lang="en-US" sz="3333" b="1" kern="1200" dirty="0">
                <a:solidFill>
                  <a:srgbClr val="FFFFFF"/>
                </a:solidFill>
                <a:latin typeface="Calibri" pitchFamily="34" charset="0"/>
                <a:ea typeface="Calibri" pitchFamily="34" charset="-122"/>
                <a:cs typeface="Calibri" pitchFamily="34" charset="-120"/>
              </a:rPr>
              <a:t>utils/payload-transformer.js → .ts</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Utility Migration · ODataResponse&lt;T&gt;, EntityRecord, strict null guards</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B91C1C"/>
                </a:solidFill>
                <a:latin typeface="Calibri" pitchFamily="34" charset="0"/>
                <a:ea typeface="Calibri" pitchFamily="34" charset="-122"/>
                <a:cs typeface="Calibri" pitchFamily="34" charset="-120"/>
              </a:rPr>
              <a:t>❌  Before (JavaScript)</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2"/>
            <a:ext cx="5484971"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4534243"/>
          </a:xfrm>
          <a:prstGeom prst="rect">
            <a:avLst/>
          </a:prstGeom>
          <a:noFill/>
          <a:ln/>
        </p:spPr>
        <p:txBody>
          <a:bodyPr wrap="square" lIns="0" tIns="0" rIns="0" bIns="0" rtlCol="0" anchor="t"/>
          <a:lstStyle/>
          <a:p>
            <a:pPr defTabSz="1218895">
              <a:buClrTx/>
            </a:pPr>
            <a:r>
              <a:rPr lang="en-US" sz="1200" kern="1200" dirty="0">
                <a:solidFill>
                  <a:srgbClr val="94A3B8"/>
                </a:solidFill>
                <a:latin typeface="Consolas" pitchFamily="34" charset="0"/>
                <a:ea typeface="Consolas" pitchFamily="34" charset="-122"/>
                <a:cs typeface="Consolas" pitchFamily="34" charset="-120"/>
              </a:rPr>
              <a:t>// utils/payload-transformer.js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function flattenODataResponse(response)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(!response || !response.value)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response.value.map(entity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mapEntity(entity);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function mapEntity(entity)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result =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for (const key of Object.keys(entity))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(!key.startsWith('@'))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result[key] = entity[key];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result;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module.exports = { flattenODataResponse };</a:t>
            </a:r>
            <a:endParaRPr lang="en-US" sz="1200" kern="1200" dirty="0">
              <a:solidFill>
                <a:prstClr val="black"/>
              </a:solidFill>
              <a:latin typeface="Calibri" panose="020F0502020204030204"/>
              <a:ea typeface="+mn-ea"/>
              <a:cs typeface="+mn-cs"/>
            </a:endParaRPr>
          </a:p>
        </p:txBody>
      </p:sp>
      <p:sp>
        <p:nvSpPr>
          <p:cNvPr id="9" name="Text 7"/>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10B981"/>
                </a:solidFill>
                <a:latin typeface="Calibri" pitchFamily="34" charset="0"/>
                <a:ea typeface="Calibri" pitchFamily="34" charset="-122"/>
                <a:cs typeface="Calibri" pitchFamily="34" charset="-120"/>
              </a:rPr>
              <a:t>✅  After (TypeScript)</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68272"/>
            <a:ext cx="5606860"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890161"/>
            <a:ext cx="5338705" cy="4534243"/>
          </a:xfrm>
          <a:prstGeom prst="rect">
            <a:avLst/>
          </a:prstGeom>
          <a:noFill/>
          <a:ln/>
        </p:spPr>
        <p:txBody>
          <a:bodyPr wrap="square" lIns="0" tIns="0" rIns="0" bIns="0" rtlCol="0" anchor="t"/>
          <a:lstStyle/>
          <a:p>
            <a:pPr defTabSz="1218895">
              <a:buClrTx/>
            </a:pPr>
            <a:r>
              <a:rPr lang="en-US" sz="1200" kern="1200" dirty="0">
                <a:solidFill>
                  <a:srgbClr val="94A3B8"/>
                </a:solidFill>
                <a:latin typeface="Consolas" pitchFamily="34" charset="0"/>
                <a:ea typeface="Consolas" pitchFamily="34" charset="-122"/>
                <a:cs typeface="Consolas" pitchFamily="34" charset="-120"/>
              </a:rPr>
              <a:t>// utils/payload-transformer.ts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interface ODataResponse&lt;T&gt;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value?: 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'@odata.context'?: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'@odata.count'?:  number;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type EntityRecord = Record&lt;string, unknown&gt;;</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export function flattenODataResponse&lt;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T extends EntityRecord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&gt;(response: ODataResponse&lt;T&gt;): EntityRecord[]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(!response?.value) return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response.value.map(mapEntity);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function mapEntity(entity: EntityRecord)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 EntityRecord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Object.fromEntries(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Object.entries(entity)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.filter(([k]) =&gt; !k.startsWith('@'))</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12" name="Shape 10"/>
          <p:cNvSpPr/>
          <p:nvPr/>
        </p:nvSpPr>
        <p:spPr>
          <a:xfrm>
            <a:off x="487552" y="6607236"/>
            <a:ext cx="2803430" cy="182832"/>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511930" y="6607236"/>
            <a:ext cx="2754674" cy="182832"/>
          </a:xfrm>
          <a:prstGeom prst="rect">
            <a:avLst/>
          </a:prstGeom>
          <a:noFill/>
          <a:ln/>
        </p:spPr>
        <p:txBody>
          <a:bodyPr wrap="square" lIns="0" tIns="0" rIns="0" bIns="0" rtlCol="0" anchor="ctr"/>
          <a:lstStyle/>
          <a:p>
            <a:pPr algn="ctr" defTabSz="1218895">
              <a:buClrTx/>
            </a:pPr>
            <a:r>
              <a:rPr lang="en-US" sz="866" b="1" kern="1200" dirty="0">
                <a:solidFill>
                  <a:srgbClr val="FFFFFF"/>
                </a:solidFill>
                <a:latin typeface="Consolas" pitchFamily="34" charset="0"/>
                <a:ea typeface="Consolas" pitchFamily="34" charset="-122"/>
                <a:cs typeface="Consolas" pitchFamily="34" charset="-120"/>
              </a:rPr>
              <a:t>ODataResponse&lt;T&gt;</a:t>
            </a:r>
            <a:endParaRPr lang="en-US" sz="866" kern="1200" dirty="0">
              <a:solidFill>
                <a:prstClr val="black"/>
              </a:solidFill>
              <a:latin typeface="Calibri" panose="020F0502020204030204"/>
              <a:ea typeface="+mn-ea"/>
              <a:cs typeface="+mn-cs"/>
            </a:endParaRPr>
          </a:p>
        </p:txBody>
      </p:sp>
      <p:sp>
        <p:nvSpPr>
          <p:cNvPr id="14" name="Text 12"/>
          <p:cNvSpPr/>
          <p:nvPr/>
        </p:nvSpPr>
        <p:spPr>
          <a:xfrm>
            <a:off x="511930" y="6790069"/>
            <a:ext cx="2754674" cy="79227"/>
          </a:xfrm>
          <a:prstGeom prst="rect">
            <a:avLst/>
          </a:prstGeom>
          <a:noFill/>
          <a:ln/>
        </p:spPr>
        <p:txBody>
          <a:bodyPr wrap="square" lIns="0" tIns="0" rIns="0" bIns="0" rtlCol="0" anchor="ctr"/>
          <a:lstStyle/>
          <a:p>
            <a:pPr defTabSz="1218895">
              <a:buClrTx/>
            </a:pPr>
            <a:r>
              <a:rPr lang="en-US" sz="2399" kern="1200" dirty="0">
                <a:solidFill>
                  <a:srgbClr val="334155"/>
                </a:solidFill>
                <a:latin typeface="Calibri" pitchFamily="34" charset="0"/>
                <a:ea typeface="Calibri" pitchFamily="34" charset="-122"/>
                <a:cs typeface="Calibri" pitchFamily="34" charset="-120"/>
              </a:rPr>
              <a:t>Generic — value array typed by T</a:t>
            </a:r>
            <a:endParaRPr lang="en-US" sz="2399" kern="1200" dirty="0">
              <a:solidFill>
                <a:prstClr val="black"/>
              </a:solidFill>
              <a:latin typeface="Calibri" panose="020F0502020204030204"/>
              <a:ea typeface="+mn-ea"/>
              <a:cs typeface="+mn-cs"/>
            </a:endParaRPr>
          </a:p>
        </p:txBody>
      </p:sp>
      <p:sp>
        <p:nvSpPr>
          <p:cNvPr id="15" name="Shape 13"/>
          <p:cNvSpPr/>
          <p:nvPr/>
        </p:nvSpPr>
        <p:spPr>
          <a:xfrm>
            <a:off x="3437248" y="6607236"/>
            <a:ext cx="2803430" cy="182832"/>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3461626" y="6607236"/>
            <a:ext cx="2754674" cy="182832"/>
          </a:xfrm>
          <a:prstGeom prst="rect">
            <a:avLst/>
          </a:prstGeom>
          <a:noFill/>
          <a:ln/>
        </p:spPr>
        <p:txBody>
          <a:bodyPr wrap="square" lIns="0" tIns="0" rIns="0" bIns="0" rtlCol="0" anchor="ctr"/>
          <a:lstStyle/>
          <a:p>
            <a:pPr algn="ctr" defTabSz="1218895">
              <a:buClrTx/>
            </a:pPr>
            <a:r>
              <a:rPr lang="en-US" sz="866" b="1" kern="1200" dirty="0">
                <a:solidFill>
                  <a:srgbClr val="FFFFFF"/>
                </a:solidFill>
                <a:latin typeface="Consolas" pitchFamily="34" charset="0"/>
                <a:ea typeface="Consolas" pitchFamily="34" charset="-122"/>
                <a:cs typeface="Consolas" pitchFamily="34" charset="-120"/>
              </a:rPr>
              <a:t>EntityRecord</a:t>
            </a:r>
            <a:endParaRPr lang="en-US" sz="866" kern="1200" dirty="0">
              <a:solidFill>
                <a:prstClr val="black"/>
              </a:solidFill>
              <a:latin typeface="Calibri" panose="020F0502020204030204"/>
              <a:ea typeface="+mn-ea"/>
              <a:cs typeface="+mn-cs"/>
            </a:endParaRPr>
          </a:p>
        </p:txBody>
      </p:sp>
      <p:sp>
        <p:nvSpPr>
          <p:cNvPr id="17" name="Text 15"/>
          <p:cNvSpPr/>
          <p:nvPr/>
        </p:nvSpPr>
        <p:spPr>
          <a:xfrm>
            <a:off x="3461626" y="6790069"/>
            <a:ext cx="2754674" cy="79227"/>
          </a:xfrm>
          <a:prstGeom prst="rect">
            <a:avLst/>
          </a:prstGeom>
          <a:noFill/>
          <a:ln/>
        </p:spPr>
        <p:txBody>
          <a:bodyPr wrap="square" lIns="0" tIns="0" rIns="0" bIns="0" rtlCol="0" anchor="ctr"/>
          <a:lstStyle/>
          <a:p>
            <a:pPr defTabSz="1218895">
              <a:buClrTx/>
            </a:pPr>
            <a:r>
              <a:rPr lang="en-US" sz="2399" kern="1200" dirty="0">
                <a:solidFill>
                  <a:srgbClr val="334155"/>
                </a:solidFill>
                <a:latin typeface="Calibri" pitchFamily="34" charset="0"/>
                <a:ea typeface="Calibri" pitchFamily="34" charset="-122"/>
                <a:cs typeface="Calibri" pitchFamily="34" charset="-120"/>
              </a:rPr>
              <a:t>Record&lt;string, unknown&gt; alias</a:t>
            </a:r>
            <a:endParaRPr lang="en-US" sz="2399" kern="1200" dirty="0">
              <a:solidFill>
                <a:prstClr val="black"/>
              </a:solidFill>
              <a:latin typeface="Calibri" panose="020F0502020204030204"/>
              <a:ea typeface="+mn-ea"/>
              <a:cs typeface="+mn-cs"/>
            </a:endParaRPr>
          </a:p>
        </p:txBody>
      </p:sp>
      <p:sp>
        <p:nvSpPr>
          <p:cNvPr id="18" name="Shape 16"/>
          <p:cNvSpPr/>
          <p:nvPr/>
        </p:nvSpPr>
        <p:spPr>
          <a:xfrm>
            <a:off x="6386944" y="6607236"/>
            <a:ext cx="2803430" cy="182832"/>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6411322" y="6607236"/>
            <a:ext cx="2754674" cy="182832"/>
          </a:xfrm>
          <a:prstGeom prst="rect">
            <a:avLst/>
          </a:prstGeom>
          <a:noFill/>
          <a:ln/>
        </p:spPr>
        <p:txBody>
          <a:bodyPr wrap="square" lIns="0" tIns="0" rIns="0" bIns="0" rtlCol="0" anchor="ctr"/>
          <a:lstStyle/>
          <a:p>
            <a:pPr algn="ctr" defTabSz="1218895">
              <a:buClrTx/>
            </a:pPr>
            <a:r>
              <a:rPr lang="en-US" sz="866" b="1" kern="1200" dirty="0">
                <a:solidFill>
                  <a:srgbClr val="FFFFFF"/>
                </a:solidFill>
                <a:latin typeface="Consolas" pitchFamily="34" charset="0"/>
                <a:ea typeface="Consolas" pitchFamily="34" charset="-122"/>
                <a:cs typeface="Consolas" pitchFamily="34" charset="-120"/>
              </a:rPr>
              <a:t>flattenODataResponse&lt;T extends EntityRecord&gt;</a:t>
            </a:r>
            <a:endParaRPr lang="en-US" sz="866" kern="1200" dirty="0">
              <a:solidFill>
                <a:prstClr val="black"/>
              </a:solidFill>
              <a:latin typeface="Calibri" panose="020F0502020204030204"/>
              <a:ea typeface="+mn-ea"/>
              <a:cs typeface="+mn-cs"/>
            </a:endParaRPr>
          </a:p>
        </p:txBody>
      </p:sp>
      <p:sp>
        <p:nvSpPr>
          <p:cNvPr id="20" name="Text 18"/>
          <p:cNvSpPr/>
          <p:nvPr/>
        </p:nvSpPr>
        <p:spPr>
          <a:xfrm>
            <a:off x="6411322" y="6790069"/>
            <a:ext cx="2754674" cy="79227"/>
          </a:xfrm>
          <a:prstGeom prst="rect">
            <a:avLst/>
          </a:prstGeom>
          <a:noFill/>
          <a:ln/>
        </p:spPr>
        <p:txBody>
          <a:bodyPr wrap="square" lIns="0" tIns="0" rIns="0" bIns="0" rtlCol="0" anchor="ctr"/>
          <a:lstStyle/>
          <a:p>
            <a:pPr defTabSz="1218895">
              <a:buClrTx/>
            </a:pPr>
            <a:r>
              <a:rPr lang="en-US" sz="2399" kern="1200" dirty="0">
                <a:solidFill>
                  <a:srgbClr val="334155"/>
                </a:solidFill>
                <a:latin typeface="Calibri" pitchFamily="34" charset="0"/>
                <a:ea typeface="Calibri" pitchFamily="34" charset="-122"/>
                <a:cs typeface="Calibri" pitchFamily="34" charset="-120"/>
              </a:rPr>
              <a:t>Constrained generic, explicit return</a:t>
            </a:r>
            <a:endParaRPr lang="en-US" sz="2399" kern="1200" dirty="0">
              <a:solidFill>
                <a:prstClr val="black"/>
              </a:solidFill>
              <a:latin typeface="Calibri" panose="020F0502020204030204"/>
              <a:ea typeface="+mn-ea"/>
              <a:cs typeface="+mn-cs"/>
            </a:endParaRPr>
          </a:p>
        </p:txBody>
      </p:sp>
      <p:sp>
        <p:nvSpPr>
          <p:cNvPr id="21" name="Shape 19"/>
          <p:cNvSpPr/>
          <p:nvPr/>
        </p:nvSpPr>
        <p:spPr>
          <a:xfrm>
            <a:off x="9336639" y="6607236"/>
            <a:ext cx="2803430" cy="182832"/>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Text 20"/>
          <p:cNvSpPr/>
          <p:nvPr/>
        </p:nvSpPr>
        <p:spPr>
          <a:xfrm>
            <a:off x="9361017" y="6607236"/>
            <a:ext cx="2754674" cy="182832"/>
          </a:xfrm>
          <a:prstGeom prst="rect">
            <a:avLst/>
          </a:prstGeom>
          <a:noFill/>
          <a:ln/>
        </p:spPr>
        <p:txBody>
          <a:bodyPr wrap="square" lIns="0" tIns="0" rIns="0" bIns="0" rtlCol="0" anchor="ctr"/>
          <a:lstStyle/>
          <a:p>
            <a:pPr algn="ctr" defTabSz="1218895">
              <a:buClrTx/>
            </a:pPr>
            <a:r>
              <a:rPr lang="en-US" sz="866" b="1" kern="1200" dirty="0">
                <a:solidFill>
                  <a:srgbClr val="FFFFFF"/>
                </a:solidFill>
                <a:latin typeface="Consolas" pitchFamily="34" charset="0"/>
                <a:ea typeface="Consolas" pitchFamily="34" charset="-122"/>
                <a:cs typeface="Consolas" pitchFamily="34" charset="-120"/>
              </a:rPr>
              <a:t>response?.value</a:t>
            </a:r>
            <a:endParaRPr lang="en-US" sz="866" kern="1200" dirty="0">
              <a:solidFill>
                <a:prstClr val="black"/>
              </a:solidFill>
              <a:latin typeface="Calibri" panose="020F0502020204030204"/>
              <a:ea typeface="+mn-ea"/>
              <a:cs typeface="+mn-cs"/>
            </a:endParaRPr>
          </a:p>
        </p:txBody>
      </p:sp>
      <p:sp>
        <p:nvSpPr>
          <p:cNvPr id="23" name="Text 21"/>
          <p:cNvSpPr/>
          <p:nvPr/>
        </p:nvSpPr>
        <p:spPr>
          <a:xfrm>
            <a:off x="9361017" y="6790069"/>
            <a:ext cx="2754674" cy="79227"/>
          </a:xfrm>
          <a:prstGeom prst="rect">
            <a:avLst/>
          </a:prstGeom>
          <a:noFill/>
          <a:ln/>
        </p:spPr>
        <p:txBody>
          <a:bodyPr wrap="square" lIns="0" tIns="0" rIns="0" bIns="0" rtlCol="0" anchor="ctr"/>
          <a:lstStyle/>
          <a:p>
            <a:pPr defTabSz="1218895">
              <a:buClrTx/>
            </a:pPr>
            <a:r>
              <a:rPr lang="en-US" sz="2399" kern="1200" dirty="0">
                <a:solidFill>
                  <a:srgbClr val="334155"/>
                </a:solidFill>
                <a:latin typeface="Calibri" pitchFamily="34" charset="0"/>
                <a:ea typeface="Calibri" pitchFamily="34" charset="-122"/>
                <a:cs typeface="Calibri" pitchFamily="34" charset="-120"/>
              </a:rPr>
              <a:t>Optional chaining — strictNullChecks guard</a:t>
            </a:r>
            <a:endParaRPr lang="en-US" sz="2399" kern="1200" dirty="0">
              <a:solidFill>
                <a:prstClr val="black"/>
              </a:solidFill>
              <a:latin typeface="Calibri" panose="020F0502020204030204"/>
              <a:ea typeface="+mn-ea"/>
              <a:cs typeface="+mn-cs"/>
            </a:endParaRPr>
          </a:p>
        </p:txBody>
      </p:sp>
      <p:pic>
        <p:nvPicPr>
          <p:cNvPr id="24" name="Google Shape;497;p1">
            <a:extLst>
              <a:ext uri="{FF2B5EF4-FFF2-40B4-BE49-F238E27FC236}">
                <a16:creationId xmlns:a16="http://schemas.microsoft.com/office/drawing/2014/main" id="{7AAE0F54-F670-B66B-D884-A0682185E9CD}"/>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4a  </a:t>
            </a:r>
            <a:r>
              <a:rPr lang="en-US" sz="3333" b="1" kern="1200" dirty="0">
                <a:solidFill>
                  <a:srgbClr val="FFFFFF"/>
                </a:solidFill>
                <a:latin typeface="Calibri" pitchFamily="34" charset="0"/>
                <a:ea typeface="Calibri" pitchFamily="34" charset="-122"/>
                <a:cs typeface="Calibri" pitchFamily="34" charset="-120"/>
              </a:rPr>
              <a:t>srv/CatalogService.js → .ts — Concept &amp; CDS Types</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Handler Migration · understanding the CDS type system before writing code</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11213719" cy="341287"/>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CDS Type Hierarchy (from @cap-js/cds-types)</a:t>
            </a:r>
            <a:endParaRPr lang="en-US" sz="1600" kern="1200" dirty="0">
              <a:solidFill>
                <a:prstClr val="black"/>
              </a:solidFill>
              <a:latin typeface="Calibri" panose="020F0502020204030204"/>
              <a:ea typeface="+mn-ea"/>
              <a:cs typeface="+mn-cs"/>
            </a:endParaRPr>
          </a:p>
        </p:txBody>
      </p:sp>
      <p:sp>
        <p:nvSpPr>
          <p:cNvPr id="7" name="Shape 5"/>
          <p:cNvSpPr/>
          <p:nvPr/>
        </p:nvSpPr>
        <p:spPr>
          <a:xfrm>
            <a:off x="4387977" y="1829217"/>
            <a:ext cx="3412871" cy="633819"/>
          </a:xfrm>
          <a:prstGeom prst="rect">
            <a:avLst/>
          </a:prstGeom>
          <a:solidFill>
            <a:srgbClr val="0D1B2A"/>
          </a:solidFill>
          <a:ln w="12700">
            <a:solidFill>
              <a:srgbClr val="0D1B2A"/>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4387977" y="1829217"/>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cds.Service</a:t>
            </a:r>
            <a:endParaRPr lang="en-US" sz="1200" kern="1200" dirty="0">
              <a:solidFill>
                <a:prstClr val="black"/>
              </a:solidFill>
              <a:latin typeface="Calibri" panose="020F0502020204030204"/>
              <a:ea typeface="+mn-ea"/>
              <a:cs typeface="+mn-cs"/>
            </a:endParaRPr>
          </a:p>
        </p:txBody>
      </p:sp>
      <p:sp>
        <p:nvSpPr>
          <p:cNvPr id="9" name="Shape 7"/>
          <p:cNvSpPr/>
          <p:nvPr/>
        </p:nvSpPr>
        <p:spPr>
          <a:xfrm>
            <a:off x="2437765" y="3048099"/>
            <a:ext cx="3412871" cy="633819"/>
          </a:xfrm>
          <a:prstGeom prst="rect">
            <a:avLst/>
          </a:prstGeom>
          <a:solidFill>
            <a:srgbClr val="D97706"/>
          </a:solidFill>
          <a:ln w="12700">
            <a:solidFill>
              <a:srgbClr val="D97706"/>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2437765" y="3048099"/>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cds.ApplicationService</a:t>
            </a:r>
            <a:endParaRPr lang="en-US" sz="1200" kern="1200" dirty="0">
              <a:solidFill>
                <a:prstClr val="black"/>
              </a:solidFill>
              <a:latin typeface="Calibri" panose="020F0502020204030204"/>
              <a:ea typeface="+mn-ea"/>
              <a:cs typeface="+mn-cs"/>
            </a:endParaRPr>
          </a:p>
        </p:txBody>
      </p:sp>
      <p:sp>
        <p:nvSpPr>
          <p:cNvPr id="11" name="Shape 9"/>
          <p:cNvSpPr/>
          <p:nvPr/>
        </p:nvSpPr>
        <p:spPr>
          <a:xfrm>
            <a:off x="6460077" y="3048099"/>
            <a:ext cx="3412871" cy="633819"/>
          </a:xfrm>
          <a:prstGeom prst="rect">
            <a:avLst/>
          </a:prstGeom>
          <a:solidFill>
            <a:srgbClr val="1D4ED8"/>
          </a:solidFill>
          <a:ln w="12700">
            <a:solidFill>
              <a:srgbClr val="1D4ED8"/>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6460077" y="3048099"/>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cds.RemoteService</a:t>
            </a:r>
            <a:endParaRPr lang="en-US" sz="1200" kern="1200" dirty="0">
              <a:solidFill>
                <a:prstClr val="black"/>
              </a:solidFill>
              <a:latin typeface="Calibri" panose="020F0502020204030204"/>
              <a:ea typeface="+mn-ea"/>
              <a:cs typeface="+mn-cs"/>
            </a:endParaRPr>
          </a:p>
        </p:txBody>
      </p:sp>
      <p:sp>
        <p:nvSpPr>
          <p:cNvPr id="13" name="Shape 11"/>
          <p:cNvSpPr/>
          <p:nvPr/>
        </p:nvSpPr>
        <p:spPr>
          <a:xfrm>
            <a:off x="609441" y="4266982"/>
            <a:ext cx="3412871" cy="633819"/>
          </a:xfrm>
          <a:prstGeom prst="rect">
            <a:avLst/>
          </a:prstGeom>
          <a:solidFill>
            <a:srgbClr val="065F46"/>
          </a:solidFill>
          <a:ln w="12700">
            <a:solidFill>
              <a:srgbClr val="065F46"/>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09441" y="4266982"/>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Your CatalogService extends</a:t>
            </a:r>
            <a:endParaRPr lang="en-US" sz="1200" kern="1200" dirty="0">
              <a:solidFill>
                <a:prstClr val="black"/>
              </a:solidFill>
              <a:latin typeface="Calibri" panose="020F0502020204030204"/>
              <a:ea typeface="+mn-ea"/>
              <a:cs typeface="+mn-cs"/>
            </a:endParaRPr>
          </a:p>
        </p:txBody>
      </p:sp>
      <p:sp>
        <p:nvSpPr>
          <p:cNvPr id="15" name="Shape 13"/>
          <p:cNvSpPr/>
          <p:nvPr/>
        </p:nvSpPr>
        <p:spPr>
          <a:xfrm>
            <a:off x="4387977" y="4266982"/>
            <a:ext cx="3412871" cy="633819"/>
          </a:xfrm>
          <a:prstGeom prst="rect">
            <a:avLst/>
          </a:prstGeom>
          <a:solidFill>
            <a:srgbClr val="0070F2"/>
          </a:solidFill>
          <a:ln w="12700">
            <a:solidFill>
              <a:srgbClr val="0070F2"/>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4387977" y="4266982"/>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cds.Request&lt;Data&gt;</a:t>
            </a:r>
            <a:endParaRPr lang="en-US" sz="1200" kern="1200" dirty="0">
              <a:solidFill>
                <a:prstClr val="black"/>
              </a:solidFill>
              <a:latin typeface="Calibri" panose="020F0502020204030204"/>
              <a:ea typeface="+mn-ea"/>
              <a:cs typeface="+mn-cs"/>
            </a:endParaRPr>
          </a:p>
        </p:txBody>
      </p:sp>
      <p:sp>
        <p:nvSpPr>
          <p:cNvPr id="17" name="Shape 15"/>
          <p:cNvSpPr/>
          <p:nvPr/>
        </p:nvSpPr>
        <p:spPr>
          <a:xfrm>
            <a:off x="8166512" y="4266982"/>
            <a:ext cx="3412871" cy="633819"/>
          </a:xfrm>
          <a:prstGeom prst="rect">
            <a:avLst/>
          </a:prstGeom>
          <a:solidFill>
            <a:srgbClr val="7C3AED"/>
          </a:solidFill>
          <a:ln w="12700">
            <a:solidFill>
              <a:srgbClr val="7C3AED"/>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Text 16"/>
          <p:cNvSpPr/>
          <p:nvPr/>
        </p:nvSpPr>
        <p:spPr>
          <a:xfrm>
            <a:off x="8166512" y="4266982"/>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cds.connect.to()</a:t>
            </a:r>
            <a:endParaRPr lang="en-US" sz="1200" kern="1200" dirty="0">
              <a:solidFill>
                <a:prstClr val="black"/>
              </a:solidFill>
              <a:latin typeface="Calibri" panose="020F0502020204030204"/>
              <a:ea typeface="+mn-ea"/>
              <a:cs typeface="+mn-cs"/>
            </a:endParaRPr>
          </a:p>
        </p:txBody>
      </p:sp>
      <p:sp>
        <p:nvSpPr>
          <p:cNvPr id="19" name="Shape 17"/>
          <p:cNvSpPr/>
          <p:nvPr/>
        </p:nvSpPr>
        <p:spPr>
          <a:xfrm>
            <a:off x="6094412" y="2463035"/>
            <a:ext cx="0" cy="585064"/>
          </a:xfrm>
          <a:prstGeom prst="line">
            <a:avLst/>
          </a:prstGeom>
          <a:noFill/>
          <a:ln w="12700">
            <a:solidFill>
              <a:srgbClr val="94A3B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Shape 18"/>
          <p:cNvSpPr/>
          <p:nvPr/>
        </p:nvSpPr>
        <p:spPr>
          <a:xfrm>
            <a:off x="6094412" y="2463035"/>
            <a:ext cx="2072100" cy="585064"/>
          </a:xfrm>
          <a:prstGeom prst="line">
            <a:avLst/>
          </a:prstGeom>
          <a:noFill/>
          <a:ln w="12700">
            <a:solidFill>
              <a:srgbClr val="94A3B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1" name="Shape 19"/>
          <p:cNvSpPr/>
          <p:nvPr/>
        </p:nvSpPr>
        <p:spPr>
          <a:xfrm>
            <a:off x="4144200" y="3681918"/>
            <a:ext cx="0" cy="585064"/>
          </a:xfrm>
          <a:prstGeom prst="line">
            <a:avLst/>
          </a:prstGeom>
          <a:noFill/>
          <a:ln w="12700">
            <a:solidFill>
              <a:srgbClr val="94A3B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Shape 20"/>
          <p:cNvSpPr/>
          <p:nvPr/>
        </p:nvSpPr>
        <p:spPr>
          <a:xfrm>
            <a:off x="6094412" y="3681918"/>
            <a:ext cx="0" cy="585064"/>
          </a:xfrm>
          <a:prstGeom prst="line">
            <a:avLst/>
          </a:prstGeom>
          <a:noFill/>
          <a:ln w="12700">
            <a:solidFill>
              <a:srgbClr val="94A3B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21"/>
          <p:cNvSpPr/>
          <p:nvPr/>
        </p:nvSpPr>
        <p:spPr>
          <a:xfrm>
            <a:off x="487552" y="5059255"/>
            <a:ext cx="3778536" cy="1584547"/>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Shape 22"/>
          <p:cNvSpPr/>
          <p:nvPr/>
        </p:nvSpPr>
        <p:spPr>
          <a:xfrm>
            <a:off x="487552" y="5059255"/>
            <a:ext cx="85322" cy="1584547"/>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Text 23"/>
          <p:cNvSpPr/>
          <p:nvPr/>
        </p:nvSpPr>
        <p:spPr>
          <a:xfrm>
            <a:off x="694763" y="5095822"/>
            <a:ext cx="3473815" cy="341287"/>
          </a:xfrm>
          <a:prstGeom prst="rect">
            <a:avLst/>
          </a:prstGeom>
          <a:noFill/>
          <a:ln/>
        </p:spPr>
        <p:txBody>
          <a:bodyPr wrap="square" lIns="0" tIns="0" rIns="0" bIns="0" rtlCol="0" anchor="ctr"/>
          <a:lstStyle/>
          <a:p>
            <a:pPr defTabSz="1218895">
              <a:buClrTx/>
            </a:pPr>
            <a:r>
              <a:rPr lang="en-US" sz="1333" b="1" kern="1200" dirty="0">
                <a:solidFill>
                  <a:srgbClr val="D97706"/>
                </a:solidFill>
                <a:latin typeface="Consolas" pitchFamily="34" charset="0"/>
                <a:ea typeface="Consolas" pitchFamily="34" charset="-122"/>
                <a:cs typeface="Consolas" pitchFamily="34" charset="-120"/>
              </a:rPr>
              <a:t>cds.ApplicationService</a:t>
            </a:r>
            <a:endParaRPr lang="en-US" sz="1333" kern="1200" dirty="0">
              <a:solidFill>
                <a:prstClr val="black"/>
              </a:solidFill>
              <a:latin typeface="Calibri" panose="020F0502020204030204"/>
              <a:ea typeface="+mn-ea"/>
              <a:cs typeface="+mn-cs"/>
            </a:endParaRPr>
          </a:p>
        </p:txBody>
      </p:sp>
      <p:sp>
        <p:nvSpPr>
          <p:cNvPr id="26" name="Text 24"/>
          <p:cNvSpPr/>
          <p:nvPr/>
        </p:nvSpPr>
        <p:spPr>
          <a:xfrm>
            <a:off x="694763" y="5461486"/>
            <a:ext cx="3473815" cy="1145750"/>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The base class for all CAP service implementations. Your CatalogService MUST extend this. Provides this.on(), this.before(), this.after(), this.send().</a:t>
            </a:r>
            <a:endParaRPr lang="en-US" sz="1133" kern="1200" dirty="0">
              <a:solidFill>
                <a:prstClr val="black"/>
              </a:solidFill>
              <a:latin typeface="Calibri" panose="020F0502020204030204"/>
              <a:ea typeface="+mn-ea"/>
              <a:cs typeface="+mn-cs"/>
            </a:endParaRPr>
          </a:p>
        </p:txBody>
      </p:sp>
      <p:sp>
        <p:nvSpPr>
          <p:cNvPr id="27" name="Shape 25"/>
          <p:cNvSpPr/>
          <p:nvPr/>
        </p:nvSpPr>
        <p:spPr>
          <a:xfrm>
            <a:off x="4448921" y="5059255"/>
            <a:ext cx="3778536" cy="1584547"/>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8" name="Shape 26"/>
          <p:cNvSpPr/>
          <p:nvPr/>
        </p:nvSpPr>
        <p:spPr>
          <a:xfrm>
            <a:off x="4448921" y="5059255"/>
            <a:ext cx="85322" cy="1584547"/>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9" name="Text 27"/>
          <p:cNvSpPr/>
          <p:nvPr/>
        </p:nvSpPr>
        <p:spPr>
          <a:xfrm>
            <a:off x="4656131" y="5095822"/>
            <a:ext cx="3473815" cy="341287"/>
          </a:xfrm>
          <a:prstGeom prst="rect">
            <a:avLst/>
          </a:prstGeom>
          <a:noFill/>
          <a:ln/>
        </p:spPr>
        <p:txBody>
          <a:bodyPr wrap="square" lIns="0" tIns="0" rIns="0" bIns="0" rtlCol="0" anchor="ctr"/>
          <a:lstStyle/>
          <a:p>
            <a:pPr defTabSz="1218895">
              <a:buClrTx/>
            </a:pPr>
            <a:r>
              <a:rPr lang="en-US" sz="1333" b="1" kern="1200" dirty="0">
                <a:solidFill>
                  <a:srgbClr val="0070F2"/>
                </a:solidFill>
                <a:latin typeface="Consolas" pitchFamily="34" charset="0"/>
                <a:ea typeface="Consolas" pitchFamily="34" charset="-122"/>
                <a:cs typeface="Consolas" pitchFamily="34" charset="-120"/>
              </a:rPr>
              <a:t>cds.Request&lt;Data&gt;</a:t>
            </a:r>
            <a:endParaRPr lang="en-US" sz="1333" kern="1200" dirty="0">
              <a:solidFill>
                <a:prstClr val="black"/>
              </a:solidFill>
              <a:latin typeface="Calibri" panose="020F0502020204030204"/>
              <a:ea typeface="+mn-ea"/>
              <a:cs typeface="+mn-cs"/>
            </a:endParaRPr>
          </a:p>
        </p:txBody>
      </p:sp>
      <p:sp>
        <p:nvSpPr>
          <p:cNvPr id="30" name="Text 28"/>
          <p:cNvSpPr/>
          <p:nvPr/>
        </p:nvSpPr>
        <p:spPr>
          <a:xfrm>
            <a:off x="4656131" y="5461486"/>
            <a:ext cx="3473815" cy="1145750"/>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Generic type for every incoming request. Data is the shape of req.data. Also carries req.user, req.locale, req.params — all typed.</a:t>
            </a:r>
            <a:endParaRPr lang="en-US" sz="1133" kern="1200" dirty="0">
              <a:solidFill>
                <a:prstClr val="black"/>
              </a:solidFill>
              <a:latin typeface="Calibri" panose="020F0502020204030204"/>
              <a:ea typeface="+mn-ea"/>
              <a:cs typeface="+mn-cs"/>
            </a:endParaRPr>
          </a:p>
        </p:txBody>
      </p:sp>
      <p:sp>
        <p:nvSpPr>
          <p:cNvPr id="31" name="Shape 29"/>
          <p:cNvSpPr/>
          <p:nvPr/>
        </p:nvSpPr>
        <p:spPr>
          <a:xfrm>
            <a:off x="8410289" y="5059255"/>
            <a:ext cx="3778536" cy="1584547"/>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Shape 30"/>
          <p:cNvSpPr/>
          <p:nvPr/>
        </p:nvSpPr>
        <p:spPr>
          <a:xfrm>
            <a:off x="8410289" y="5059255"/>
            <a:ext cx="85322" cy="1584547"/>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3" name="Text 31"/>
          <p:cNvSpPr/>
          <p:nvPr/>
        </p:nvSpPr>
        <p:spPr>
          <a:xfrm>
            <a:off x="8617499" y="5095822"/>
            <a:ext cx="3473815" cy="341287"/>
          </a:xfrm>
          <a:prstGeom prst="rect">
            <a:avLst/>
          </a:prstGeom>
          <a:noFill/>
          <a:ln/>
        </p:spPr>
        <p:txBody>
          <a:bodyPr wrap="square" lIns="0" tIns="0" rIns="0" bIns="0" rtlCol="0" anchor="ctr"/>
          <a:lstStyle/>
          <a:p>
            <a:pPr defTabSz="1218895">
              <a:buClrTx/>
            </a:pPr>
            <a:r>
              <a:rPr lang="en-US" sz="1333" b="1" kern="1200" dirty="0">
                <a:solidFill>
                  <a:srgbClr val="7C3AED"/>
                </a:solidFill>
                <a:latin typeface="Consolas" pitchFamily="34" charset="0"/>
                <a:ea typeface="Consolas" pitchFamily="34" charset="-122"/>
                <a:cs typeface="Consolas" pitchFamily="34" charset="-120"/>
              </a:rPr>
              <a:t>cds.connect.to()</a:t>
            </a:r>
            <a:endParaRPr lang="en-US" sz="1333" kern="1200" dirty="0">
              <a:solidFill>
                <a:prstClr val="black"/>
              </a:solidFill>
              <a:latin typeface="Calibri" panose="020F0502020204030204"/>
              <a:ea typeface="+mn-ea"/>
              <a:cs typeface="+mn-cs"/>
            </a:endParaRPr>
          </a:p>
        </p:txBody>
      </p:sp>
      <p:sp>
        <p:nvSpPr>
          <p:cNvPr id="34" name="Text 32"/>
          <p:cNvSpPr/>
          <p:nvPr/>
        </p:nvSpPr>
        <p:spPr>
          <a:xfrm>
            <a:off x="8617499" y="5461486"/>
            <a:ext cx="3473815" cy="1145750"/>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Returns Promise&lt;cds.Service&gt;. Use with await and assign to a typed variable. Strict null checks require null-guards before calling methods on it.</a:t>
            </a:r>
            <a:endParaRPr lang="en-US" sz="1133" kern="1200" dirty="0">
              <a:solidFill>
                <a:prstClr val="black"/>
              </a:solidFill>
              <a:latin typeface="Calibri" panose="020F0502020204030204"/>
              <a:ea typeface="+mn-ea"/>
              <a:cs typeface="+mn-cs"/>
            </a:endParaRPr>
          </a:p>
        </p:txBody>
      </p:sp>
      <p:pic>
        <p:nvPicPr>
          <p:cNvPr id="35" name="Google Shape;497;p1">
            <a:extLst>
              <a:ext uri="{FF2B5EF4-FFF2-40B4-BE49-F238E27FC236}">
                <a16:creationId xmlns:a16="http://schemas.microsoft.com/office/drawing/2014/main" id="{312872BE-52F1-20B0-4497-E4FA88735F8B}"/>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4b  </a:t>
            </a:r>
            <a:r>
              <a:rPr lang="en-US" sz="3333" b="1" kern="1200" dirty="0">
                <a:solidFill>
                  <a:srgbClr val="FFFFFF"/>
                </a:solidFill>
                <a:latin typeface="Calibri" pitchFamily="34" charset="0"/>
                <a:ea typeface="Calibri" pitchFamily="34" charset="-122"/>
                <a:cs typeface="Calibri" pitchFamily="34" charset="-120"/>
              </a:rPr>
              <a:t>CatalogService.js → .ts — Full Before/After</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Code Migration · adding CDS types to a typical CRUD service handler</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B91C1C"/>
                </a:solidFill>
                <a:latin typeface="Calibri" pitchFamily="34" charset="0"/>
                <a:ea typeface="Calibri" pitchFamily="34" charset="-122"/>
                <a:cs typeface="Calibri" pitchFamily="34" charset="-120"/>
              </a:rPr>
              <a:t>❌  Before (CatalogService.js)</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3"/>
            <a:ext cx="5484971" cy="4875530"/>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4656131"/>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const cds = require('@sap/cds');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module.exports = class CatalogService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extends cds.ApplicationService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init()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 no types — all implicit any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this.on('READ', 'Books', req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this.books(req);</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this.on('CREATE','Orders', req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this.createOrder(req);</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super.init();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books(req)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const { ID } = req.data;  // any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SELECT.from('Books')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.where({ ID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createOrder(req)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const order = req.data;  // any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INSERT.into('Orders').entries(order);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9" name="Text 7"/>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10B981"/>
                </a:solidFill>
                <a:latin typeface="Calibri" pitchFamily="34" charset="0"/>
                <a:ea typeface="Calibri" pitchFamily="34" charset="-122"/>
                <a:cs typeface="Calibri" pitchFamily="34" charset="-120"/>
              </a:rPr>
              <a:t>✅  After (CatalogService.ts)</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68273"/>
            <a:ext cx="5606860" cy="4875530"/>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890161"/>
            <a:ext cx="5338705" cy="4656131"/>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import cds from '@sap/cds';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CDS-generated entity interfaces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interface Book  { ID: string; title: string;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interface Order { ID: string; book_ID: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amount: number;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export default class CatalogService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extends cds.ApplicationService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init(): Promise&lt;void&gt;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this.on('READ','Books',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(req: cds.Request) =&gt; this.books(req));</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this.on('CREATE','Orders',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(req: cds.Request) =&gt; this.createOrder(req));</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super.init();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books(req: cds.Request): Promise&lt;Book[]&gt;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const { ID } = req.data as { ID: string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SELECT.from('Books').where({ ID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createOrder(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req: cds.Request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 Promise&lt;Order&gt;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const order = req.data as 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INSERT.into('Orders').entries(order);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pic>
        <p:nvPicPr>
          <p:cNvPr id="12" name="Google Shape;497;p1">
            <a:extLst>
              <a:ext uri="{FF2B5EF4-FFF2-40B4-BE49-F238E27FC236}">
                <a16:creationId xmlns:a16="http://schemas.microsoft.com/office/drawing/2014/main" id="{48C27DE6-9E27-F4A0-9426-6FD3CDF62EE7}"/>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4c  </a:t>
            </a:r>
            <a:r>
              <a:rPr lang="en-US" sz="3333" b="1" kern="1200" dirty="0">
                <a:solidFill>
                  <a:srgbClr val="FFFFFF"/>
                </a:solidFill>
                <a:latin typeface="Calibri" pitchFamily="34" charset="0"/>
                <a:ea typeface="Calibri" pitchFamily="34" charset="-122"/>
                <a:cs typeface="Calibri" pitchFamily="34" charset="-120"/>
              </a:rPr>
              <a:t>srv/CDSService.js → .ts — Generic Handler Pattern</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Generic Migration · typed this.on/before/after with reusable handler registration</a:t>
            </a:r>
            <a:endParaRPr lang="en-US" kern="1200" dirty="0">
              <a:solidFill>
                <a:prstClr val="black"/>
              </a:solidFill>
              <a:latin typeface="Calibri" panose="020F0502020204030204"/>
              <a:ea typeface="+mn-ea"/>
              <a:cs typeface="+mn-cs"/>
            </a:endParaRPr>
          </a:p>
        </p:txBody>
      </p:sp>
      <p:sp>
        <p:nvSpPr>
          <p:cNvPr id="6" name="Shape 4"/>
          <p:cNvSpPr/>
          <p:nvPr/>
        </p:nvSpPr>
        <p:spPr>
          <a:xfrm>
            <a:off x="487553" y="1402608"/>
            <a:ext cx="11213719" cy="670385"/>
          </a:xfrm>
          <a:prstGeom prst="rect">
            <a:avLst/>
          </a:prstGeom>
          <a:solidFill>
            <a:srgbClr val="FFF7ED"/>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58196" y="1439174"/>
            <a:ext cx="10969943" cy="609441"/>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Pattern: </a:t>
            </a:r>
            <a:r>
              <a:rPr lang="en-US" kern="1200" dirty="0">
                <a:solidFill>
                  <a:srgbClr val="334155"/>
                </a:solidFill>
                <a:latin typeface="Calibri" pitchFamily="34" charset="0"/>
                <a:ea typeface="Calibri" pitchFamily="34" charset="-122"/>
                <a:cs typeface="Calibri" pitchFamily="34" charset="-120"/>
              </a:rPr>
              <a:t>CDSService.js is a generic bootstrap file that registers handlers for multiple entities. The migration challenge is typing the handler callbacks — specifically the </a:t>
            </a:r>
            <a:r>
              <a:rPr lang="en-US" b="1" kern="1200" dirty="0">
                <a:solidFill>
                  <a:srgbClr val="0070F2"/>
                </a:solidFill>
                <a:latin typeface="Calibri" pitchFamily="34" charset="0"/>
                <a:ea typeface="Calibri" pitchFamily="34" charset="-122"/>
                <a:cs typeface="Calibri" pitchFamily="34" charset="-120"/>
              </a:rPr>
              <a:t>req: cds.Request</a:t>
            </a:r>
            <a:r>
              <a:rPr lang="en-US" kern="1200" dirty="0">
                <a:solidFill>
                  <a:srgbClr val="334155"/>
                </a:solidFill>
                <a:latin typeface="Calibri" pitchFamily="34" charset="0"/>
                <a:ea typeface="Calibri" pitchFamily="34" charset="-122"/>
                <a:cs typeface="Calibri" pitchFamily="34" charset="-120"/>
              </a:rPr>
              <a:t> parameter and return types for each entity operation.</a:t>
            </a:r>
            <a:endParaRPr lang="en-US" kern="1200" dirty="0">
              <a:solidFill>
                <a:prstClr val="black"/>
              </a:solidFill>
              <a:latin typeface="Calibri" panose="020F0502020204030204"/>
              <a:ea typeface="+mn-ea"/>
              <a:cs typeface="+mn-cs"/>
            </a:endParaRPr>
          </a:p>
        </p:txBody>
      </p:sp>
      <p:sp>
        <p:nvSpPr>
          <p:cNvPr id="8" name="Text 6"/>
          <p:cNvSpPr/>
          <p:nvPr/>
        </p:nvSpPr>
        <p:spPr>
          <a:xfrm>
            <a:off x="487553" y="2194882"/>
            <a:ext cx="5484971" cy="341287"/>
          </a:xfrm>
          <a:prstGeom prst="rect">
            <a:avLst/>
          </a:prstGeom>
          <a:noFill/>
          <a:ln/>
        </p:spPr>
        <p:txBody>
          <a:bodyPr wrap="square" lIns="0" tIns="0" rIns="0" bIns="0" rtlCol="0" anchor="ctr"/>
          <a:lstStyle/>
          <a:p>
            <a:pPr defTabSz="1218895">
              <a:buClrTx/>
            </a:pPr>
            <a:r>
              <a:rPr lang="en-US" sz="1466" b="1" kern="1200" dirty="0">
                <a:solidFill>
                  <a:srgbClr val="B91C1C"/>
                </a:solidFill>
                <a:latin typeface="Calibri" pitchFamily="34" charset="0"/>
                <a:ea typeface="Calibri" pitchFamily="34" charset="-122"/>
                <a:cs typeface="Calibri" pitchFamily="34" charset="-120"/>
              </a:rPr>
              <a:t>❌  Before (CDSService.js — generic handler)</a:t>
            </a:r>
            <a:endParaRPr lang="en-US" sz="1466" kern="1200" dirty="0">
              <a:solidFill>
                <a:prstClr val="black"/>
              </a:solidFill>
              <a:latin typeface="Calibri" panose="020F0502020204030204"/>
              <a:ea typeface="+mn-ea"/>
              <a:cs typeface="+mn-cs"/>
            </a:endParaRPr>
          </a:p>
        </p:txBody>
      </p:sp>
      <p:sp>
        <p:nvSpPr>
          <p:cNvPr id="9" name="Shape 7"/>
          <p:cNvSpPr/>
          <p:nvPr/>
        </p:nvSpPr>
        <p:spPr>
          <a:xfrm>
            <a:off x="487553" y="2560546"/>
            <a:ext cx="5484971" cy="408325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670385" y="2682434"/>
            <a:ext cx="5216817" cy="3863858"/>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const cds = require('@sap/cds');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Generic handler — no type info</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module.exports = class CDSService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extends cds.ApplicationService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init()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 this.before — no req type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this.before('*', '*', req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(!req.user.is('authenticated'))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req.reject(403,'Unauthorized');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this.after('READ', '*', (data, req)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 data is any — no safety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console.log(data.length);</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super.init();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11" name="Text 9"/>
          <p:cNvSpPr/>
          <p:nvPr/>
        </p:nvSpPr>
        <p:spPr>
          <a:xfrm>
            <a:off x="6277244" y="2194882"/>
            <a:ext cx="5606860" cy="341287"/>
          </a:xfrm>
          <a:prstGeom prst="rect">
            <a:avLst/>
          </a:prstGeom>
          <a:noFill/>
          <a:ln/>
        </p:spPr>
        <p:txBody>
          <a:bodyPr wrap="square" lIns="0" tIns="0" rIns="0" bIns="0" rtlCol="0" anchor="ctr"/>
          <a:lstStyle/>
          <a:p>
            <a:pPr defTabSz="1218895">
              <a:buClrTx/>
            </a:pPr>
            <a:r>
              <a:rPr lang="en-US" sz="1466" b="1" kern="1200" dirty="0">
                <a:solidFill>
                  <a:srgbClr val="10B981"/>
                </a:solidFill>
                <a:latin typeface="Calibri" pitchFamily="34" charset="0"/>
                <a:ea typeface="Calibri" pitchFamily="34" charset="-122"/>
                <a:cs typeface="Calibri" pitchFamily="34" charset="-120"/>
              </a:rPr>
              <a:t>✅  After (CDSService.ts — fully typed)</a:t>
            </a:r>
            <a:endParaRPr lang="en-US" sz="1466" kern="1200" dirty="0">
              <a:solidFill>
                <a:prstClr val="black"/>
              </a:solidFill>
              <a:latin typeface="Calibri" panose="020F0502020204030204"/>
              <a:ea typeface="+mn-ea"/>
              <a:cs typeface="+mn-cs"/>
            </a:endParaRPr>
          </a:p>
        </p:txBody>
      </p:sp>
      <p:sp>
        <p:nvSpPr>
          <p:cNvPr id="12" name="Shape 10"/>
          <p:cNvSpPr/>
          <p:nvPr/>
        </p:nvSpPr>
        <p:spPr>
          <a:xfrm>
            <a:off x="6277244" y="2560546"/>
            <a:ext cx="5606860" cy="408325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460077" y="2682434"/>
            <a:ext cx="5338705" cy="3863858"/>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import cds from '@sap/cds';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type Handler&lt;D=unknown&gt; =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req: cds.Request&lt;D&gt;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=&gt; Promise&lt;void&gt; | void;</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export default class CDSService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extends cds.ApplicationService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init(): Promise&lt;void&gt;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 before: req is cds.Request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this.before('*','*',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(req: cds.Request): void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(!req.user?.is('authenticated'))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req.reject(403,'Unauthorized');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 after: data is typed array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this.after('READ','*',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(data: unknown[], req: cds.Request)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console.log(data.length); // safe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super.init();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14" name="Shape 12"/>
          <p:cNvSpPr/>
          <p:nvPr/>
        </p:nvSpPr>
        <p:spPr>
          <a:xfrm>
            <a:off x="487552" y="6729124"/>
            <a:ext cx="3778536" cy="73133"/>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Text 13"/>
          <p:cNvSpPr/>
          <p:nvPr/>
        </p:nvSpPr>
        <p:spPr>
          <a:xfrm>
            <a:off x="487552" y="6765691"/>
            <a:ext cx="3778536" cy="79227"/>
          </a:xfrm>
          <a:prstGeom prst="rect">
            <a:avLst/>
          </a:prstGeom>
          <a:noFill/>
          <a:ln/>
        </p:spPr>
        <p:txBody>
          <a:bodyPr wrap="square" lIns="0" tIns="0" rIns="0" bIns="0" rtlCol="0" anchor="ctr"/>
          <a:lstStyle/>
          <a:p>
            <a:pPr defTabSz="1218895">
              <a:buClrTx/>
            </a:pPr>
            <a:r>
              <a:rPr lang="en-US" sz="2399" b="1" kern="1200" dirty="0">
                <a:solidFill>
                  <a:srgbClr val="D97706"/>
                </a:solidFill>
                <a:latin typeface="Calibri" pitchFamily="34" charset="0"/>
                <a:ea typeface="Calibri" pitchFamily="34" charset="-122"/>
                <a:cs typeface="Calibri" pitchFamily="34" charset="-120"/>
              </a:rPr>
              <a:t>Handler&lt;D&gt;  </a:t>
            </a:r>
            <a:r>
              <a:rPr lang="en-US" sz="2399" kern="1200" dirty="0">
                <a:solidFill>
                  <a:srgbClr val="334155"/>
                </a:solidFill>
                <a:latin typeface="Calibri" pitchFamily="34" charset="0"/>
                <a:ea typeface="Calibri" pitchFamily="34" charset="-122"/>
                <a:cs typeface="Calibri" pitchFamily="34" charset="-120"/>
              </a:rPr>
              <a:t>Reusable typed callback alias — avoids repeating cds.Request&lt;D&gt; everywhere</a:t>
            </a:r>
            <a:endParaRPr lang="en-US" sz="2399" kern="1200" dirty="0">
              <a:solidFill>
                <a:prstClr val="black"/>
              </a:solidFill>
              <a:latin typeface="Calibri" panose="020F0502020204030204"/>
              <a:ea typeface="+mn-ea"/>
              <a:cs typeface="+mn-cs"/>
            </a:endParaRPr>
          </a:p>
        </p:txBody>
      </p:sp>
      <p:sp>
        <p:nvSpPr>
          <p:cNvPr id="16" name="Shape 14"/>
          <p:cNvSpPr/>
          <p:nvPr/>
        </p:nvSpPr>
        <p:spPr>
          <a:xfrm>
            <a:off x="4485487" y="6729124"/>
            <a:ext cx="3778536" cy="73133"/>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4485487" y="6765691"/>
            <a:ext cx="3778536" cy="79227"/>
          </a:xfrm>
          <a:prstGeom prst="rect">
            <a:avLst/>
          </a:prstGeom>
          <a:noFill/>
          <a:ln/>
        </p:spPr>
        <p:txBody>
          <a:bodyPr wrap="square" lIns="0" tIns="0" rIns="0" bIns="0" rtlCol="0" anchor="ctr"/>
          <a:lstStyle/>
          <a:p>
            <a:pPr defTabSz="1218895">
              <a:buClrTx/>
            </a:pPr>
            <a:r>
              <a:rPr lang="en-US" sz="2399" b="1" kern="1200" dirty="0">
                <a:solidFill>
                  <a:srgbClr val="D97706"/>
                </a:solidFill>
                <a:latin typeface="Calibri" pitchFamily="34" charset="0"/>
                <a:ea typeface="Calibri" pitchFamily="34" charset="-122"/>
                <a:cs typeface="Calibri" pitchFamily="34" charset="-120"/>
              </a:rPr>
              <a:t>this.before()  </a:t>
            </a:r>
            <a:r>
              <a:rPr lang="en-US" sz="2399" kern="1200" dirty="0">
                <a:solidFill>
                  <a:srgbClr val="334155"/>
                </a:solidFill>
                <a:latin typeface="Calibri" pitchFamily="34" charset="0"/>
                <a:ea typeface="Calibri" pitchFamily="34" charset="-122"/>
                <a:cs typeface="Calibri" pitchFamily="34" charset="-120"/>
              </a:rPr>
              <a:t>Typed as (event, entity, callback) — callback always gets cds.Request</a:t>
            </a:r>
            <a:endParaRPr lang="en-US" sz="2399" kern="1200" dirty="0">
              <a:solidFill>
                <a:prstClr val="black"/>
              </a:solidFill>
              <a:latin typeface="Calibri" panose="020F0502020204030204"/>
              <a:ea typeface="+mn-ea"/>
              <a:cs typeface="+mn-cs"/>
            </a:endParaRPr>
          </a:p>
        </p:txBody>
      </p:sp>
      <p:sp>
        <p:nvSpPr>
          <p:cNvPr id="18" name="Shape 16"/>
          <p:cNvSpPr/>
          <p:nvPr/>
        </p:nvSpPr>
        <p:spPr>
          <a:xfrm>
            <a:off x="8483422" y="6729124"/>
            <a:ext cx="3778536" cy="73133"/>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8483422" y="6765691"/>
            <a:ext cx="3778536" cy="79227"/>
          </a:xfrm>
          <a:prstGeom prst="rect">
            <a:avLst/>
          </a:prstGeom>
          <a:noFill/>
          <a:ln/>
        </p:spPr>
        <p:txBody>
          <a:bodyPr wrap="square" lIns="0" tIns="0" rIns="0" bIns="0" rtlCol="0" anchor="ctr"/>
          <a:lstStyle/>
          <a:p>
            <a:pPr defTabSz="1218895">
              <a:buClrTx/>
            </a:pPr>
            <a:r>
              <a:rPr lang="en-US" sz="2399" b="1" kern="1200" dirty="0">
                <a:solidFill>
                  <a:srgbClr val="D97706"/>
                </a:solidFill>
                <a:latin typeface="Calibri" pitchFamily="34" charset="0"/>
                <a:ea typeface="Calibri" pitchFamily="34" charset="-122"/>
                <a:cs typeface="Calibri" pitchFamily="34" charset="-120"/>
              </a:rPr>
              <a:t>req.user?.is()  </a:t>
            </a:r>
            <a:r>
              <a:rPr lang="en-US" sz="2399" kern="1200" dirty="0">
                <a:solidFill>
                  <a:srgbClr val="334155"/>
                </a:solidFill>
                <a:latin typeface="Calibri" pitchFamily="34" charset="0"/>
                <a:ea typeface="Calibri" pitchFamily="34" charset="-122"/>
                <a:cs typeface="Calibri" pitchFamily="34" charset="-120"/>
              </a:rPr>
              <a:t>Optional chain required in strict mode — req.user can be null for anonymous requests</a:t>
            </a:r>
            <a:endParaRPr lang="en-US" sz="2399" kern="1200" dirty="0">
              <a:solidFill>
                <a:prstClr val="black"/>
              </a:solidFill>
              <a:latin typeface="Calibri" panose="020F0502020204030204"/>
              <a:ea typeface="+mn-ea"/>
              <a:cs typeface="+mn-cs"/>
            </a:endParaRPr>
          </a:p>
        </p:txBody>
      </p:sp>
      <p:sp>
        <p:nvSpPr>
          <p:cNvPr id="20" name="Shape 18"/>
          <p:cNvSpPr/>
          <p:nvPr/>
        </p:nvSpPr>
        <p:spPr>
          <a:xfrm>
            <a:off x="487553" y="6631614"/>
            <a:ext cx="11213719" cy="304721"/>
          </a:xfrm>
          <a:prstGeom prst="rect">
            <a:avLst/>
          </a:prstGeom>
          <a:solidFill>
            <a:srgbClr val="FFF7ED"/>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1" name="Text 19"/>
          <p:cNvSpPr/>
          <p:nvPr/>
        </p:nvSpPr>
        <p:spPr>
          <a:xfrm>
            <a:off x="609441" y="6655991"/>
            <a:ext cx="10969943" cy="268154"/>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  Key difference: this.before receives cds.Request; this.after receives (data, req) where data is the returned array. Both must be explicitly typed.</a:t>
            </a:r>
            <a:endParaRPr lang="en-US" sz="1200" kern="1200" dirty="0">
              <a:solidFill>
                <a:prstClr val="black"/>
              </a:solidFill>
              <a:latin typeface="Calibri" panose="020F0502020204030204"/>
              <a:ea typeface="+mn-ea"/>
              <a:cs typeface="+mn-cs"/>
            </a:endParaRPr>
          </a:p>
        </p:txBody>
      </p:sp>
      <p:pic>
        <p:nvPicPr>
          <p:cNvPr id="22" name="Google Shape;497;p1">
            <a:extLst>
              <a:ext uri="{FF2B5EF4-FFF2-40B4-BE49-F238E27FC236}">
                <a16:creationId xmlns:a16="http://schemas.microsoft.com/office/drawing/2014/main" id="{E4D60F2C-8315-586A-0CA4-4C554C81BCEA}"/>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59669"/>
          </a:solidFill>
          <a:ln w="12700">
            <a:solidFill>
              <a:srgbClr val="059669"/>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5  </a:t>
            </a:r>
            <a:r>
              <a:rPr lang="en-US" sz="3333" b="1" kern="1200" dirty="0">
                <a:solidFill>
                  <a:srgbClr val="FFFFFF"/>
                </a:solidFill>
                <a:latin typeface="Calibri" pitchFamily="34" charset="0"/>
                <a:ea typeface="Calibri" pitchFamily="34" charset="-122"/>
                <a:cs typeface="Calibri" pitchFamily="34" charset="-120"/>
              </a:rPr>
              <a:t>Diagnose &amp; Fix Common CAP Migration Type Errors</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Diagnostics · real error codes you will see when migrating CAP handlers</a:t>
            </a:r>
            <a:endParaRPr lang="en-US" kern="1200" dirty="0">
              <a:solidFill>
                <a:prstClr val="black"/>
              </a:solidFill>
              <a:latin typeface="Calibri" panose="020F0502020204030204"/>
              <a:ea typeface="+mn-ea"/>
              <a:cs typeface="+mn-cs"/>
            </a:endParaRPr>
          </a:p>
        </p:txBody>
      </p:sp>
      <p:sp>
        <p:nvSpPr>
          <p:cNvPr id="6" name="Shape 4"/>
          <p:cNvSpPr/>
          <p:nvPr/>
        </p:nvSpPr>
        <p:spPr>
          <a:xfrm>
            <a:off x="426608" y="1402608"/>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426608" y="1402608"/>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426608" y="1402608"/>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TS7006</a:t>
            </a:r>
            <a:endParaRPr lang="en-US" kern="1200" dirty="0">
              <a:solidFill>
                <a:prstClr val="black"/>
              </a:solidFill>
              <a:latin typeface="Calibri" panose="020F0502020204030204"/>
              <a:ea typeface="+mn-ea"/>
              <a:cs typeface="+mn-cs"/>
            </a:endParaRPr>
          </a:p>
        </p:txBody>
      </p:sp>
      <p:sp>
        <p:nvSpPr>
          <p:cNvPr id="9" name="Text 7"/>
          <p:cNvSpPr/>
          <p:nvPr/>
        </p:nvSpPr>
        <p:spPr>
          <a:xfrm>
            <a:off x="1791757" y="1463552"/>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Parameter implicitly has an 'any' type</a:t>
            </a:r>
            <a:endParaRPr lang="en-US" sz="1333" kern="1200" dirty="0">
              <a:solidFill>
                <a:prstClr val="black"/>
              </a:solidFill>
              <a:latin typeface="Calibri" panose="020F0502020204030204"/>
              <a:ea typeface="+mn-ea"/>
              <a:cs typeface="+mn-cs"/>
            </a:endParaRPr>
          </a:p>
        </p:txBody>
      </p:sp>
      <p:sp>
        <p:nvSpPr>
          <p:cNvPr id="10" name="Text 8"/>
          <p:cNvSpPr/>
          <p:nvPr/>
        </p:nvSpPr>
        <p:spPr>
          <a:xfrm>
            <a:off x="572874" y="1890161"/>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async books(req) { ... }</a:t>
            </a:r>
            <a:endParaRPr lang="en-US" sz="1133" kern="1200" dirty="0">
              <a:solidFill>
                <a:prstClr val="black"/>
              </a:solidFill>
              <a:latin typeface="Calibri" panose="020F0502020204030204"/>
              <a:ea typeface="+mn-ea"/>
              <a:cs typeface="+mn-cs"/>
            </a:endParaRPr>
          </a:p>
        </p:txBody>
      </p:sp>
      <p:sp>
        <p:nvSpPr>
          <p:cNvPr id="11" name="Text 9"/>
          <p:cNvSpPr/>
          <p:nvPr/>
        </p:nvSpPr>
        <p:spPr>
          <a:xfrm>
            <a:off x="572874" y="2207070"/>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async books(req: cds.Request): Promise&lt;Book[]&gt; { ... }</a:t>
            </a:r>
            <a:endParaRPr lang="en-US" sz="1133" kern="1200" dirty="0">
              <a:solidFill>
                <a:prstClr val="black"/>
              </a:solidFill>
              <a:latin typeface="Calibri" panose="020F0502020204030204"/>
              <a:ea typeface="+mn-ea"/>
              <a:cs typeface="+mn-cs"/>
            </a:endParaRPr>
          </a:p>
        </p:txBody>
      </p:sp>
      <p:sp>
        <p:nvSpPr>
          <p:cNvPr id="12" name="Shape 10"/>
          <p:cNvSpPr/>
          <p:nvPr/>
        </p:nvSpPr>
        <p:spPr>
          <a:xfrm>
            <a:off x="6423510" y="1402608"/>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Shape 11"/>
          <p:cNvSpPr/>
          <p:nvPr/>
        </p:nvSpPr>
        <p:spPr>
          <a:xfrm>
            <a:off x="6423510" y="1402608"/>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423510" y="1402608"/>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TS2339</a:t>
            </a:r>
            <a:endParaRPr lang="en-US" kern="1200" dirty="0">
              <a:solidFill>
                <a:prstClr val="black"/>
              </a:solidFill>
              <a:latin typeface="Calibri" panose="020F0502020204030204"/>
              <a:ea typeface="+mn-ea"/>
              <a:cs typeface="+mn-cs"/>
            </a:endParaRPr>
          </a:p>
        </p:txBody>
      </p:sp>
      <p:sp>
        <p:nvSpPr>
          <p:cNvPr id="15" name="Text 13"/>
          <p:cNvSpPr/>
          <p:nvPr/>
        </p:nvSpPr>
        <p:spPr>
          <a:xfrm>
            <a:off x="7788659" y="1463552"/>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Property 'data' does not exist on type 'never'</a:t>
            </a:r>
            <a:endParaRPr lang="en-US" sz="1333" kern="1200" dirty="0">
              <a:solidFill>
                <a:prstClr val="black"/>
              </a:solidFill>
              <a:latin typeface="Calibri" panose="020F0502020204030204"/>
              <a:ea typeface="+mn-ea"/>
              <a:cs typeface="+mn-cs"/>
            </a:endParaRPr>
          </a:p>
        </p:txBody>
      </p:sp>
      <p:sp>
        <p:nvSpPr>
          <p:cNvPr id="16" name="Text 14"/>
          <p:cNvSpPr/>
          <p:nvPr/>
        </p:nvSpPr>
        <p:spPr>
          <a:xfrm>
            <a:off x="6569776" y="1890161"/>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this.on('READ','Books', req =&gt; { req.data })</a:t>
            </a:r>
            <a:endParaRPr lang="en-US" sz="1133" kern="1200" dirty="0">
              <a:solidFill>
                <a:prstClr val="black"/>
              </a:solidFill>
              <a:latin typeface="Calibri" panose="020F0502020204030204"/>
              <a:ea typeface="+mn-ea"/>
              <a:cs typeface="+mn-cs"/>
            </a:endParaRPr>
          </a:p>
        </p:txBody>
      </p:sp>
      <p:sp>
        <p:nvSpPr>
          <p:cNvPr id="17" name="Text 15"/>
          <p:cNvSpPr/>
          <p:nvPr/>
        </p:nvSpPr>
        <p:spPr>
          <a:xfrm>
            <a:off x="6569776" y="2207070"/>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this.on('READ','Books', (req: cds.Request) =&gt; { req.data })</a:t>
            </a:r>
            <a:endParaRPr lang="en-US" sz="1133" kern="1200" dirty="0">
              <a:solidFill>
                <a:prstClr val="black"/>
              </a:solidFill>
              <a:latin typeface="Calibri" panose="020F0502020204030204"/>
              <a:ea typeface="+mn-ea"/>
              <a:cs typeface="+mn-cs"/>
            </a:endParaRPr>
          </a:p>
        </p:txBody>
      </p:sp>
      <p:sp>
        <p:nvSpPr>
          <p:cNvPr id="18" name="Shape 16"/>
          <p:cNvSpPr/>
          <p:nvPr/>
        </p:nvSpPr>
        <p:spPr>
          <a:xfrm>
            <a:off x="426608" y="3194365"/>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426608" y="3194365"/>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426608" y="3194365"/>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TS2532</a:t>
            </a:r>
            <a:endParaRPr lang="en-US" kern="1200" dirty="0">
              <a:solidFill>
                <a:prstClr val="black"/>
              </a:solidFill>
              <a:latin typeface="Calibri" panose="020F0502020204030204"/>
              <a:ea typeface="+mn-ea"/>
              <a:cs typeface="+mn-cs"/>
            </a:endParaRPr>
          </a:p>
        </p:txBody>
      </p:sp>
      <p:sp>
        <p:nvSpPr>
          <p:cNvPr id="21" name="Text 19"/>
          <p:cNvSpPr/>
          <p:nvPr/>
        </p:nvSpPr>
        <p:spPr>
          <a:xfrm>
            <a:off x="1791757" y="3255309"/>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Object is possibly 'undefined'</a:t>
            </a:r>
            <a:endParaRPr lang="en-US" sz="1333" kern="1200" dirty="0">
              <a:solidFill>
                <a:prstClr val="black"/>
              </a:solidFill>
              <a:latin typeface="Calibri" panose="020F0502020204030204"/>
              <a:ea typeface="+mn-ea"/>
              <a:cs typeface="+mn-cs"/>
            </a:endParaRPr>
          </a:p>
        </p:txBody>
      </p:sp>
      <p:sp>
        <p:nvSpPr>
          <p:cNvPr id="22" name="Text 20"/>
          <p:cNvSpPr/>
          <p:nvPr/>
        </p:nvSpPr>
        <p:spPr>
          <a:xfrm>
            <a:off x="572874" y="3681918"/>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const { ID } = req.data;  // data may be undefined</a:t>
            </a:r>
            <a:endParaRPr lang="en-US" sz="1133" kern="1200" dirty="0">
              <a:solidFill>
                <a:prstClr val="black"/>
              </a:solidFill>
              <a:latin typeface="Calibri" panose="020F0502020204030204"/>
              <a:ea typeface="+mn-ea"/>
              <a:cs typeface="+mn-cs"/>
            </a:endParaRPr>
          </a:p>
        </p:txBody>
      </p:sp>
      <p:sp>
        <p:nvSpPr>
          <p:cNvPr id="23" name="Text 21"/>
          <p:cNvSpPr/>
          <p:nvPr/>
        </p:nvSpPr>
        <p:spPr>
          <a:xfrm>
            <a:off x="572874" y="3998828"/>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const { ID } = (req.data ?? {}) as { ID: string };</a:t>
            </a:r>
            <a:endParaRPr lang="en-US" sz="1133" kern="1200" dirty="0">
              <a:solidFill>
                <a:prstClr val="black"/>
              </a:solidFill>
              <a:latin typeface="Calibri" panose="020F0502020204030204"/>
              <a:ea typeface="+mn-ea"/>
              <a:cs typeface="+mn-cs"/>
            </a:endParaRPr>
          </a:p>
        </p:txBody>
      </p:sp>
      <p:sp>
        <p:nvSpPr>
          <p:cNvPr id="24" name="Shape 22"/>
          <p:cNvSpPr/>
          <p:nvPr/>
        </p:nvSpPr>
        <p:spPr>
          <a:xfrm>
            <a:off x="6423510" y="3194365"/>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Shape 23"/>
          <p:cNvSpPr/>
          <p:nvPr/>
        </p:nvSpPr>
        <p:spPr>
          <a:xfrm>
            <a:off x="6423510" y="3194365"/>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423510" y="3194365"/>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TS2345</a:t>
            </a:r>
            <a:endParaRPr lang="en-US" kern="1200" dirty="0">
              <a:solidFill>
                <a:prstClr val="black"/>
              </a:solidFill>
              <a:latin typeface="Calibri" panose="020F0502020204030204"/>
              <a:ea typeface="+mn-ea"/>
              <a:cs typeface="+mn-cs"/>
            </a:endParaRPr>
          </a:p>
        </p:txBody>
      </p:sp>
      <p:sp>
        <p:nvSpPr>
          <p:cNvPr id="27" name="Text 25"/>
          <p:cNvSpPr/>
          <p:nvPr/>
        </p:nvSpPr>
        <p:spPr>
          <a:xfrm>
            <a:off x="7788659" y="3255309"/>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Argument of type 'any' not assignable to 'Book'</a:t>
            </a:r>
            <a:endParaRPr lang="en-US" sz="1333" kern="1200" dirty="0">
              <a:solidFill>
                <a:prstClr val="black"/>
              </a:solidFill>
              <a:latin typeface="Calibri" panose="020F0502020204030204"/>
              <a:ea typeface="+mn-ea"/>
              <a:cs typeface="+mn-cs"/>
            </a:endParaRPr>
          </a:p>
        </p:txBody>
      </p:sp>
      <p:sp>
        <p:nvSpPr>
          <p:cNvPr id="28" name="Text 26"/>
          <p:cNvSpPr/>
          <p:nvPr/>
        </p:nvSpPr>
        <p:spPr>
          <a:xfrm>
            <a:off x="6569776" y="3681918"/>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return INSERT.into('Books').entries(req.data);</a:t>
            </a:r>
            <a:endParaRPr lang="en-US" sz="1133" kern="1200" dirty="0">
              <a:solidFill>
                <a:prstClr val="black"/>
              </a:solidFill>
              <a:latin typeface="Calibri" panose="020F0502020204030204"/>
              <a:ea typeface="+mn-ea"/>
              <a:cs typeface="+mn-cs"/>
            </a:endParaRPr>
          </a:p>
        </p:txBody>
      </p:sp>
      <p:sp>
        <p:nvSpPr>
          <p:cNvPr id="29" name="Text 27"/>
          <p:cNvSpPr/>
          <p:nvPr/>
        </p:nvSpPr>
        <p:spPr>
          <a:xfrm>
            <a:off x="6569776" y="3998828"/>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return INSERT.into('Books').entries(req.data as Book);</a:t>
            </a:r>
            <a:endParaRPr lang="en-US" sz="1133" kern="1200" dirty="0">
              <a:solidFill>
                <a:prstClr val="black"/>
              </a:solidFill>
              <a:latin typeface="Calibri" panose="020F0502020204030204"/>
              <a:ea typeface="+mn-ea"/>
              <a:cs typeface="+mn-cs"/>
            </a:endParaRPr>
          </a:p>
        </p:txBody>
      </p:sp>
      <p:sp>
        <p:nvSpPr>
          <p:cNvPr id="30" name="Shape 28"/>
          <p:cNvSpPr/>
          <p:nvPr/>
        </p:nvSpPr>
        <p:spPr>
          <a:xfrm>
            <a:off x="426608" y="4986122"/>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9"/>
          <p:cNvSpPr/>
          <p:nvPr/>
        </p:nvSpPr>
        <p:spPr>
          <a:xfrm>
            <a:off x="426608" y="4986122"/>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426608" y="4986122"/>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TS2304</a:t>
            </a:r>
            <a:endParaRPr lang="en-US" kern="1200" dirty="0">
              <a:solidFill>
                <a:prstClr val="black"/>
              </a:solidFill>
              <a:latin typeface="Calibri" panose="020F0502020204030204"/>
              <a:ea typeface="+mn-ea"/>
              <a:cs typeface="+mn-cs"/>
            </a:endParaRPr>
          </a:p>
        </p:txBody>
      </p:sp>
      <p:sp>
        <p:nvSpPr>
          <p:cNvPr id="33" name="Text 31"/>
          <p:cNvSpPr/>
          <p:nvPr/>
        </p:nvSpPr>
        <p:spPr>
          <a:xfrm>
            <a:off x="1791757" y="5047067"/>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Cannot find name 'SELECT' / 'INSERT'</a:t>
            </a:r>
            <a:endParaRPr lang="en-US" sz="1333" kern="1200" dirty="0">
              <a:solidFill>
                <a:prstClr val="black"/>
              </a:solidFill>
              <a:latin typeface="Calibri" panose="020F0502020204030204"/>
              <a:ea typeface="+mn-ea"/>
              <a:cs typeface="+mn-cs"/>
            </a:endParaRPr>
          </a:p>
        </p:txBody>
      </p:sp>
      <p:sp>
        <p:nvSpPr>
          <p:cNvPr id="34" name="Text 32"/>
          <p:cNvSpPr/>
          <p:nvPr/>
        </p:nvSpPr>
        <p:spPr>
          <a:xfrm>
            <a:off x="572874" y="5473675"/>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 No global CQL types — CAP's SELECT is global</a:t>
            </a:r>
            <a:endParaRPr lang="en-US" sz="1133" kern="1200" dirty="0">
              <a:solidFill>
                <a:prstClr val="black"/>
              </a:solidFill>
              <a:latin typeface="Calibri" panose="020F0502020204030204"/>
              <a:ea typeface="+mn-ea"/>
              <a:cs typeface="+mn-cs"/>
            </a:endParaRPr>
          </a:p>
        </p:txBody>
      </p:sp>
      <p:sp>
        <p:nvSpPr>
          <p:cNvPr id="35" name="Text 33"/>
          <p:cNvSpPr/>
          <p:nvPr/>
        </p:nvSpPr>
        <p:spPr>
          <a:xfrm>
            <a:off x="572874" y="5790585"/>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Add "@cap-js/cds-types" to tsconfig types array</a:t>
            </a:r>
            <a:endParaRPr lang="en-US" sz="1133" kern="1200" dirty="0">
              <a:solidFill>
                <a:prstClr val="black"/>
              </a:solidFill>
              <a:latin typeface="Calibri" panose="020F0502020204030204"/>
              <a:ea typeface="+mn-ea"/>
              <a:cs typeface="+mn-cs"/>
            </a:endParaRPr>
          </a:p>
        </p:txBody>
      </p:sp>
      <p:sp>
        <p:nvSpPr>
          <p:cNvPr id="36" name="Shape 34"/>
          <p:cNvSpPr/>
          <p:nvPr/>
        </p:nvSpPr>
        <p:spPr>
          <a:xfrm>
            <a:off x="6423510" y="4986122"/>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Shape 35"/>
          <p:cNvSpPr/>
          <p:nvPr/>
        </p:nvSpPr>
        <p:spPr>
          <a:xfrm>
            <a:off x="6423510" y="4986122"/>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8" name="Text 36"/>
          <p:cNvSpPr/>
          <p:nvPr/>
        </p:nvSpPr>
        <p:spPr>
          <a:xfrm>
            <a:off x="6423510" y="4986122"/>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TS2554</a:t>
            </a:r>
            <a:endParaRPr lang="en-US" kern="1200" dirty="0">
              <a:solidFill>
                <a:prstClr val="black"/>
              </a:solidFill>
              <a:latin typeface="Calibri" panose="020F0502020204030204"/>
              <a:ea typeface="+mn-ea"/>
              <a:cs typeface="+mn-cs"/>
            </a:endParaRPr>
          </a:p>
        </p:txBody>
      </p:sp>
      <p:sp>
        <p:nvSpPr>
          <p:cNvPr id="39" name="Text 37"/>
          <p:cNvSpPr/>
          <p:nvPr/>
        </p:nvSpPr>
        <p:spPr>
          <a:xfrm>
            <a:off x="7788659" y="5047067"/>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Expected 2 arguments but got 1</a:t>
            </a:r>
            <a:endParaRPr lang="en-US" sz="1333" kern="1200" dirty="0">
              <a:solidFill>
                <a:prstClr val="black"/>
              </a:solidFill>
              <a:latin typeface="Calibri" panose="020F0502020204030204"/>
              <a:ea typeface="+mn-ea"/>
              <a:cs typeface="+mn-cs"/>
            </a:endParaRPr>
          </a:p>
        </p:txBody>
      </p:sp>
      <p:sp>
        <p:nvSpPr>
          <p:cNvPr id="40" name="Text 38"/>
          <p:cNvSpPr/>
          <p:nvPr/>
        </p:nvSpPr>
        <p:spPr>
          <a:xfrm>
            <a:off x="6569776" y="5473675"/>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await cds.connect.to('destination');</a:t>
            </a:r>
            <a:endParaRPr lang="en-US" sz="1133" kern="1200" dirty="0">
              <a:solidFill>
                <a:prstClr val="black"/>
              </a:solidFill>
              <a:latin typeface="Calibri" panose="020F0502020204030204"/>
              <a:ea typeface="+mn-ea"/>
              <a:cs typeface="+mn-cs"/>
            </a:endParaRPr>
          </a:p>
        </p:txBody>
      </p:sp>
      <p:sp>
        <p:nvSpPr>
          <p:cNvPr id="41" name="Text 39"/>
          <p:cNvSpPr/>
          <p:nvPr/>
        </p:nvSpPr>
        <p:spPr>
          <a:xfrm>
            <a:off x="6569776" y="5790585"/>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const svc: cds.Service = await cds.connect.to('destination');</a:t>
            </a:r>
            <a:endParaRPr lang="en-US" sz="1133" kern="1200" dirty="0">
              <a:solidFill>
                <a:prstClr val="black"/>
              </a:solidFill>
              <a:latin typeface="Calibri" panose="020F0502020204030204"/>
              <a:ea typeface="+mn-ea"/>
              <a:cs typeface="+mn-cs"/>
            </a:endParaRPr>
          </a:p>
        </p:txBody>
      </p:sp>
      <p:pic>
        <p:nvPicPr>
          <p:cNvPr id="42" name="Google Shape;497;p1">
            <a:extLst>
              <a:ext uri="{FF2B5EF4-FFF2-40B4-BE49-F238E27FC236}">
                <a16:creationId xmlns:a16="http://schemas.microsoft.com/office/drawing/2014/main" id="{EF05902A-12B2-BE9A-6D5A-113677690D1B}"/>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6a  </a:t>
            </a:r>
            <a:r>
              <a:rPr lang="en-US" sz="3333" b="1" kern="1200" dirty="0">
                <a:solidFill>
                  <a:srgbClr val="FFFFFF"/>
                </a:solidFill>
                <a:latin typeface="Calibri" pitchFamily="34" charset="0"/>
                <a:ea typeface="Calibri" pitchFamily="34" charset="-122"/>
                <a:cs typeface="Calibri" pitchFamily="34" charset="-120"/>
              </a:rPr>
              <a:t>Branded Types for Entity Keys — The Problem</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Concept · why plain 'string' IDs are dangerous in BTP services</a:t>
            </a:r>
            <a:endParaRPr lang="en-US" kern="1200" dirty="0">
              <a:solidFill>
                <a:prstClr val="black"/>
              </a:solidFill>
              <a:latin typeface="Calibri" panose="020F0502020204030204"/>
              <a:ea typeface="+mn-ea"/>
              <a:cs typeface="+mn-cs"/>
            </a:endParaRPr>
          </a:p>
        </p:txBody>
      </p:sp>
      <p:sp>
        <p:nvSpPr>
          <p:cNvPr id="6" name="Shape 4"/>
          <p:cNvSpPr/>
          <p:nvPr/>
        </p:nvSpPr>
        <p:spPr>
          <a:xfrm>
            <a:off x="487553" y="1402608"/>
            <a:ext cx="11213719" cy="828840"/>
          </a:xfrm>
          <a:prstGeom prst="rect">
            <a:avLst/>
          </a:prstGeom>
          <a:solidFill>
            <a:srgbClr val="FEF2F2"/>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439174"/>
            <a:ext cx="10969943" cy="755707"/>
          </a:xfrm>
          <a:prstGeom prst="rect">
            <a:avLst/>
          </a:prstGeom>
          <a:noFill/>
          <a:ln/>
        </p:spPr>
        <p:txBody>
          <a:bodyPr wrap="square" lIns="0" tIns="0" rIns="0" bIns="0" rtlCol="0" anchor="ctr"/>
          <a:lstStyle/>
          <a:p>
            <a:pPr defTabSz="1218895">
              <a:buClrTx/>
            </a:pPr>
            <a:r>
              <a:rPr lang="en-US" sz="1533" b="1" kern="1200" dirty="0">
                <a:solidFill>
                  <a:srgbClr val="DC2626"/>
                </a:solidFill>
                <a:latin typeface="Calibri" pitchFamily="34" charset="0"/>
                <a:ea typeface="Calibri" pitchFamily="34" charset="-122"/>
                <a:cs typeface="Calibri" pitchFamily="34" charset="-120"/>
              </a:rPr>
              <a:t>Problem: </a:t>
            </a:r>
            <a:r>
              <a:rPr lang="en-US" sz="1533" kern="1200" dirty="0">
                <a:solidFill>
                  <a:srgbClr val="334155"/>
                </a:solidFill>
                <a:latin typeface="Calibri" pitchFamily="34" charset="0"/>
                <a:ea typeface="Calibri" pitchFamily="34" charset="-122"/>
                <a:cs typeface="Calibri" pitchFamily="34" charset="-120"/>
              </a:rPr>
              <a:t>In a BTP service with multiple entity types (Books, Orders, Customers), every primary key is typed as </a:t>
            </a:r>
            <a:r>
              <a:rPr lang="en-US" sz="1533" b="1" kern="1200" dirty="0">
                <a:solidFill>
                  <a:srgbClr val="DC2626"/>
                </a:solidFill>
                <a:latin typeface="Consolas" pitchFamily="34" charset="0"/>
                <a:ea typeface="Consolas" pitchFamily="34" charset="-122"/>
                <a:cs typeface="Consolas" pitchFamily="34" charset="-120"/>
              </a:rPr>
              <a:t>string</a:t>
            </a:r>
            <a:r>
              <a:rPr lang="en-US" sz="1533" kern="1200" dirty="0">
                <a:solidFill>
                  <a:srgbClr val="334155"/>
                </a:solidFill>
                <a:latin typeface="Calibri" pitchFamily="34" charset="0"/>
                <a:ea typeface="Calibri" pitchFamily="34" charset="-122"/>
                <a:cs typeface="Calibri" pitchFamily="34" charset="-120"/>
              </a:rPr>
              <a:t>. TypeScript will not stop you from passing a BookId where an OrderId is expected — both are just strings. This silently corrupts data.</a:t>
            </a:r>
            <a:endParaRPr lang="en-US" sz="1533" kern="1200" dirty="0">
              <a:solidFill>
                <a:prstClr val="black"/>
              </a:solidFill>
              <a:latin typeface="Calibri" panose="020F0502020204030204"/>
              <a:ea typeface="+mn-ea"/>
              <a:cs typeface="+mn-cs"/>
            </a:endParaRPr>
          </a:p>
        </p:txBody>
      </p:sp>
      <p:sp>
        <p:nvSpPr>
          <p:cNvPr id="8" name="Text 6"/>
          <p:cNvSpPr/>
          <p:nvPr/>
        </p:nvSpPr>
        <p:spPr>
          <a:xfrm>
            <a:off x="487553" y="2353336"/>
            <a:ext cx="5484971" cy="341287"/>
          </a:xfrm>
          <a:prstGeom prst="rect">
            <a:avLst/>
          </a:prstGeom>
          <a:noFill/>
          <a:ln/>
        </p:spPr>
        <p:txBody>
          <a:bodyPr wrap="square" lIns="0" tIns="0" rIns="0" bIns="0" rtlCol="0" anchor="ctr"/>
          <a:lstStyle/>
          <a:p>
            <a:pPr defTabSz="1218895">
              <a:buClrTx/>
            </a:pPr>
            <a:r>
              <a:rPr lang="en-US" sz="1466" b="1" kern="1200" dirty="0">
                <a:solidFill>
                  <a:srgbClr val="B91C1C"/>
                </a:solidFill>
                <a:latin typeface="Calibri" pitchFamily="34" charset="0"/>
                <a:ea typeface="Calibri" pitchFamily="34" charset="-122"/>
                <a:cs typeface="Calibri" pitchFamily="34" charset="-120"/>
              </a:rPr>
              <a:t>The Bug — TypeScript doesn't catch this:</a:t>
            </a:r>
            <a:endParaRPr lang="en-US" sz="1466" kern="1200" dirty="0">
              <a:solidFill>
                <a:prstClr val="black"/>
              </a:solidFill>
              <a:latin typeface="Calibri" panose="020F0502020204030204"/>
              <a:ea typeface="+mn-ea"/>
              <a:cs typeface="+mn-cs"/>
            </a:endParaRPr>
          </a:p>
        </p:txBody>
      </p:sp>
      <p:sp>
        <p:nvSpPr>
          <p:cNvPr id="9" name="Shape 7"/>
          <p:cNvSpPr/>
          <p:nvPr/>
        </p:nvSpPr>
        <p:spPr>
          <a:xfrm>
            <a:off x="487553" y="2719001"/>
            <a:ext cx="5484971" cy="2559653"/>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670385" y="2840889"/>
            <a:ext cx="5216817" cy="2340254"/>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All IDs are just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async function getOrder(orderId: string)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SELECT.from('Orders')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.where({ ID: orderId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const bookId = '4a7b-...'; // Book's 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await getOrder(bookId);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 No error! Wrong ID — silent bug</a:t>
            </a:r>
            <a:endParaRPr lang="en-US" sz="1266" kern="1200" dirty="0">
              <a:solidFill>
                <a:prstClr val="black"/>
              </a:solidFill>
              <a:latin typeface="Calibri" panose="020F0502020204030204"/>
              <a:ea typeface="+mn-ea"/>
              <a:cs typeface="+mn-cs"/>
            </a:endParaRPr>
          </a:p>
        </p:txBody>
      </p:sp>
      <p:sp>
        <p:nvSpPr>
          <p:cNvPr id="11" name="Text 9"/>
          <p:cNvSpPr/>
          <p:nvPr/>
        </p:nvSpPr>
        <p:spPr>
          <a:xfrm>
            <a:off x="6277244" y="2353336"/>
            <a:ext cx="5606860" cy="341287"/>
          </a:xfrm>
          <a:prstGeom prst="rect">
            <a:avLst/>
          </a:prstGeom>
          <a:noFill/>
          <a:ln/>
        </p:spPr>
        <p:txBody>
          <a:bodyPr wrap="square" lIns="0" tIns="0" rIns="0" bIns="0" rtlCol="0" anchor="ctr"/>
          <a:lstStyle/>
          <a:p>
            <a:pPr defTabSz="1218895">
              <a:buClrTx/>
            </a:pPr>
            <a:r>
              <a:rPr lang="en-US" sz="1466" b="1" kern="1200" dirty="0">
                <a:solidFill>
                  <a:srgbClr val="10B981"/>
                </a:solidFill>
                <a:latin typeface="Calibri" pitchFamily="34" charset="0"/>
                <a:ea typeface="Calibri" pitchFamily="34" charset="-122"/>
                <a:cs typeface="Calibri" pitchFamily="34" charset="-120"/>
              </a:rPr>
              <a:t>With Branded Types — caught at compile time:</a:t>
            </a:r>
            <a:endParaRPr lang="en-US" sz="1466" kern="1200" dirty="0">
              <a:solidFill>
                <a:prstClr val="black"/>
              </a:solidFill>
              <a:latin typeface="Calibri" panose="020F0502020204030204"/>
              <a:ea typeface="+mn-ea"/>
              <a:cs typeface="+mn-cs"/>
            </a:endParaRPr>
          </a:p>
        </p:txBody>
      </p:sp>
      <p:sp>
        <p:nvSpPr>
          <p:cNvPr id="12" name="Shape 10"/>
          <p:cNvSpPr/>
          <p:nvPr/>
        </p:nvSpPr>
        <p:spPr>
          <a:xfrm>
            <a:off x="6277244" y="2719001"/>
            <a:ext cx="5606860" cy="2559653"/>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460077" y="2840889"/>
            <a:ext cx="5338705" cy="2340254"/>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OrderId and BookId are distinct types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async function getOrder(id: OrderId)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SELECT.from('Orders')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.where({ ID: id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const bookId = '4a7b-...' as BookId;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await getOrder(bookId);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ERROR: BookId not assignable to OrderId!</a:t>
            </a:r>
            <a:endParaRPr lang="en-US" sz="1266" kern="1200" dirty="0">
              <a:solidFill>
                <a:prstClr val="black"/>
              </a:solidFill>
              <a:latin typeface="Calibri" panose="020F0502020204030204"/>
              <a:ea typeface="+mn-ea"/>
              <a:cs typeface="+mn-cs"/>
            </a:endParaRPr>
          </a:p>
        </p:txBody>
      </p:sp>
      <p:sp>
        <p:nvSpPr>
          <p:cNvPr id="14" name="Shape 12"/>
          <p:cNvSpPr/>
          <p:nvPr/>
        </p:nvSpPr>
        <p:spPr>
          <a:xfrm>
            <a:off x="487552" y="5388353"/>
            <a:ext cx="3778536" cy="1340771"/>
          </a:xfrm>
          <a:prstGeom prst="rect">
            <a:avLst/>
          </a:prstGeom>
          <a:solidFill>
            <a:srgbClr val="FFF5F5"/>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Shape 13"/>
          <p:cNvSpPr/>
          <p:nvPr/>
        </p:nvSpPr>
        <p:spPr>
          <a:xfrm>
            <a:off x="487552" y="5388353"/>
            <a:ext cx="85322" cy="1340771"/>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694762" y="5437109"/>
            <a:ext cx="3486004" cy="341287"/>
          </a:xfrm>
          <a:prstGeom prst="rect">
            <a:avLst/>
          </a:prstGeom>
          <a:noFill/>
          <a:ln/>
        </p:spPr>
        <p:txBody>
          <a:bodyPr wrap="square" lIns="0" tIns="0" rIns="0" bIns="0" rtlCol="0" anchor="ctr"/>
          <a:lstStyle/>
          <a:p>
            <a:pPr defTabSz="1218895">
              <a:buClrTx/>
            </a:pPr>
            <a:r>
              <a:rPr lang="en-US" sz="1333" b="1" kern="1200" dirty="0">
                <a:solidFill>
                  <a:srgbClr val="DC2626"/>
                </a:solidFill>
                <a:latin typeface="Calibri" pitchFamily="34" charset="0"/>
                <a:ea typeface="Calibri" pitchFamily="34" charset="-122"/>
                <a:cs typeface="Calibri" pitchFamily="34" charset="-120"/>
              </a:rPr>
              <a:t>What is a branded type?</a:t>
            </a:r>
            <a:endParaRPr lang="en-US" sz="1333" kern="1200" dirty="0">
              <a:solidFill>
                <a:prstClr val="black"/>
              </a:solidFill>
              <a:latin typeface="Calibri" panose="020F0502020204030204"/>
              <a:ea typeface="+mn-ea"/>
              <a:cs typeface="+mn-cs"/>
            </a:endParaRPr>
          </a:p>
        </p:txBody>
      </p:sp>
      <p:sp>
        <p:nvSpPr>
          <p:cNvPr id="17" name="Text 15"/>
          <p:cNvSpPr/>
          <p:nvPr/>
        </p:nvSpPr>
        <p:spPr>
          <a:xfrm>
            <a:off x="694762" y="5802774"/>
            <a:ext cx="3486004" cy="877595"/>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A branded (opaque) type is a string (or number) with a phantom type tag that makes it structurally distinct from other strings — even though at runtime they are identical.</a:t>
            </a:r>
            <a:endParaRPr lang="en-US" sz="1200" kern="1200" dirty="0">
              <a:solidFill>
                <a:prstClr val="black"/>
              </a:solidFill>
              <a:latin typeface="Calibri" panose="020F0502020204030204"/>
              <a:ea typeface="+mn-ea"/>
              <a:cs typeface="+mn-cs"/>
            </a:endParaRPr>
          </a:p>
        </p:txBody>
      </p:sp>
      <p:sp>
        <p:nvSpPr>
          <p:cNvPr id="18" name="Shape 16"/>
          <p:cNvSpPr/>
          <p:nvPr/>
        </p:nvSpPr>
        <p:spPr>
          <a:xfrm>
            <a:off x="4485487" y="5388353"/>
            <a:ext cx="3778536" cy="1340771"/>
          </a:xfrm>
          <a:prstGeom prst="rect">
            <a:avLst/>
          </a:prstGeom>
          <a:solidFill>
            <a:srgbClr val="FFF5F5"/>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4485487" y="5388353"/>
            <a:ext cx="85322" cy="1340771"/>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4692697" y="5437109"/>
            <a:ext cx="3486004" cy="341287"/>
          </a:xfrm>
          <a:prstGeom prst="rect">
            <a:avLst/>
          </a:prstGeom>
          <a:noFill/>
          <a:ln/>
        </p:spPr>
        <p:txBody>
          <a:bodyPr wrap="square" lIns="0" tIns="0" rIns="0" bIns="0" rtlCol="0" anchor="ctr"/>
          <a:lstStyle/>
          <a:p>
            <a:pPr defTabSz="1218895">
              <a:buClrTx/>
            </a:pPr>
            <a:r>
              <a:rPr lang="en-US" sz="1333" b="1" kern="1200" dirty="0">
                <a:solidFill>
                  <a:srgbClr val="DC2626"/>
                </a:solidFill>
                <a:latin typeface="Calibri" pitchFamily="34" charset="0"/>
                <a:ea typeface="Calibri" pitchFamily="34" charset="-122"/>
                <a:cs typeface="Calibri" pitchFamily="34" charset="-120"/>
              </a:rPr>
              <a:t>Zero runtime cost</a:t>
            </a:r>
            <a:endParaRPr lang="en-US" sz="1333" kern="1200" dirty="0">
              <a:solidFill>
                <a:prstClr val="black"/>
              </a:solidFill>
              <a:latin typeface="Calibri" panose="020F0502020204030204"/>
              <a:ea typeface="+mn-ea"/>
              <a:cs typeface="+mn-cs"/>
            </a:endParaRPr>
          </a:p>
        </p:txBody>
      </p:sp>
      <p:sp>
        <p:nvSpPr>
          <p:cNvPr id="21" name="Text 19"/>
          <p:cNvSpPr/>
          <p:nvPr/>
        </p:nvSpPr>
        <p:spPr>
          <a:xfrm>
            <a:off x="4692697" y="5802774"/>
            <a:ext cx="3486004" cy="877595"/>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Branded types are purely a compile-time construct. After tsc runs, the generated JS has no trace of them — no wrappers, no classes, no overhead.</a:t>
            </a:r>
            <a:endParaRPr lang="en-US" sz="1200" kern="1200" dirty="0">
              <a:solidFill>
                <a:prstClr val="black"/>
              </a:solidFill>
              <a:latin typeface="Calibri" panose="020F0502020204030204"/>
              <a:ea typeface="+mn-ea"/>
              <a:cs typeface="+mn-cs"/>
            </a:endParaRPr>
          </a:p>
        </p:txBody>
      </p:sp>
      <p:sp>
        <p:nvSpPr>
          <p:cNvPr id="22" name="Shape 20"/>
          <p:cNvSpPr/>
          <p:nvPr/>
        </p:nvSpPr>
        <p:spPr>
          <a:xfrm>
            <a:off x="8483422" y="5388353"/>
            <a:ext cx="3778536" cy="1340771"/>
          </a:xfrm>
          <a:prstGeom prst="rect">
            <a:avLst/>
          </a:prstGeom>
          <a:solidFill>
            <a:srgbClr val="FFF5F5"/>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21"/>
          <p:cNvSpPr/>
          <p:nvPr/>
        </p:nvSpPr>
        <p:spPr>
          <a:xfrm>
            <a:off x="8483422" y="5388353"/>
            <a:ext cx="85322" cy="1340771"/>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Text 22"/>
          <p:cNvSpPr/>
          <p:nvPr/>
        </p:nvSpPr>
        <p:spPr>
          <a:xfrm>
            <a:off x="8690632" y="5437109"/>
            <a:ext cx="3486004" cy="341287"/>
          </a:xfrm>
          <a:prstGeom prst="rect">
            <a:avLst/>
          </a:prstGeom>
          <a:noFill/>
          <a:ln/>
        </p:spPr>
        <p:txBody>
          <a:bodyPr wrap="square" lIns="0" tIns="0" rIns="0" bIns="0" rtlCol="0" anchor="ctr"/>
          <a:lstStyle/>
          <a:p>
            <a:pPr defTabSz="1218895">
              <a:buClrTx/>
            </a:pPr>
            <a:r>
              <a:rPr lang="en-US" sz="1333" b="1" kern="1200" dirty="0">
                <a:solidFill>
                  <a:srgbClr val="DC2626"/>
                </a:solidFill>
                <a:latin typeface="Calibri" pitchFamily="34" charset="0"/>
                <a:ea typeface="Calibri" pitchFamily="34" charset="-122"/>
                <a:cs typeface="Calibri" pitchFamily="34" charset="-120"/>
              </a:rPr>
              <a:t>BTP use cases</a:t>
            </a:r>
            <a:endParaRPr lang="en-US" sz="1333" kern="1200" dirty="0">
              <a:solidFill>
                <a:prstClr val="black"/>
              </a:solidFill>
              <a:latin typeface="Calibri" panose="020F0502020204030204"/>
              <a:ea typeface="+mn-ea"/>
              <a:cs typeface="+mn-cs"/>
            </a:endParaRPr>
          </a:p>
        </p:txBody>
      </p:sp>
      <p:sp>
        <p:nvSpPr>
          <p:cNvPr id="25" name="Text 23"/>
          <p:cNvSpPr/>
          <p:nvPr/>
        </p:nvSpPr>
        <p:spPr>
          <a:xfrm>
            <a:off x="8690632" y="5802774"/>
            <a:ext cx="3486004" cy="877595"/>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Entity IDs (BookId, OrderId, CustomerId), GUID keys, UUID fields, correlation IDs, tenant IDs — any string that should not be freely interchangeable.</a:t>
            </a:r>
            <a:endParaRPr lang="en-US" sz="1200" kern="1200" dirty="0">
              <a:solidFill>
                <a:prstClr val="black"/>
              </a:solidFill>
              <a:latin typeface="Calibri" panose="020F0502020204030204"/>
              <a:ea typeface="+mn-ea"/>
              <a:cs typeface="+mn-cs"/>
            </a:endParaRPr>
          </a:p>
        </p:txBody>
      </p:sp>
      <p:pic>
        <p:nvPicPr>
          <p:cNvPr id="26" name="Google Shape;497;p1">
            <a:extLst>
              <a:ext uri="{FF2B5EF4-FFF2-40B4-BE49-F238E27FC236}">
                <a16:creationId xmlns:a16="http://schemas.microsoft.com/office/drawing/2014/main" id="{928B38E6-68A2-1B04-1FAC-E3A6D3731517}"/>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6b  </a:t>
            </a:r>
            <a:r>
              <a:rPr lang="en-US" sz="3333" b="1" kern="1200" dirty="0">
                <a:solidFill>
                  <a:srgbClr val="FFFFFF"/>
                </a:solidFill>
                <a:latin typeface="Calibri" pitchFamily="34" charset="0"/>
                <a:ea typeface="Calibri" pitchFamily="34" charset="-122"/>
                <a:cs typeface="Calibri" pitchFamily="34" charset="-120"/>
              </a:rPr>
              <a:t>Branded Types — Implementation &amp; Usage in CAP</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Code · three patterns from simple brand to type-safe factory function</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Pattern 1 — Declare in entity-keys.ts</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3"/>
            <a:ext cx="5484971" cy="2900940"/>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2681542"/>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entity-keys.ts — single source of truth</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The __brand trick: phantom field never set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declare const __brand: unique symbol;</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type Brand&lt;B, T&gt; = T &amp; { [__brand]: B };</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One line per entity key type</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export type BookId     = Brand&lt;'BookId',     string&gt;;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export type OrderId    = Brand&lt;'OrderId',    string&gt;;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export type CustomerId = Brand&lt;'CustomerId', string&gt;;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Type-safe cast factory</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export const asBookId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  (s: string): BookId =&gt; s as BookId;</a:t>
            </a:r>
            <a:endParaRPr lang="en-US" sz="1266" kern="1200" dirty="0">
              <a:solidFill>
                <a:prstClr val="black"/>
              </a:solidFill>
              <a:latin typeface="Calibri" panose="020F0502020204030204"/>
              <a:ea typeface="+mn-ea"/>
              <a:cs typeface="+mn-cs"/>
            </a:endParaRPr>
          </a:p>
        </p:txBody>
      </p:sp>
      <p:sp>
        <p:nvSpPr>
          <p:cNvPr id="9" name="Text 7"/>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Pattern 2 — Use in Entity Interfaces</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68273"/>
            <a:ext cx="5606860" cy="2900940"/>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890161"/>
            <a:ext cx="5338705" cy="2681542"/>
          </a:xfrm>
          <a:prstGeom prst="rect">
            <a:avLst/>
          </a:prstGeom>
          <a:noFill/>
          <a:ln/>
        </p:spPr>
        <p:txBody>
          <a:bodyPr wrap="square" lIns="0" tIns="0" rIns="0" bIns="0" rtlCol="0" anchor="t"/>
          <a:lstStyle/>
          <a:p>
            <a:pPr defTabSz="1218895">
              <a:buClrTx/>
            </a:pPr>
            <a:r>
              <a:rPr lang="en-US" sz="1266" kern="1200" dirty="0">
                <a:solidFill>
                  <a:srgbClr val="818CF8"/>
                </a:solidFill>
                <a:latin typeface="Consolas" pitchFamily="34" charset="0"/>
                <a:ea typeface="Consolas" pitchFamily="34" charset="-122"/>
                <a:cs typeface="Consolas" pitchFamily="34" charset="-120"/>
              </a:rPr>
              <a:t>import { BookId, OrderId } from './entity-keys';</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interface Book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ID:    BookId;      // branded, not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title: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stock: number;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interface Order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ID:      OrderId;   // distinct from BookId!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book_ID: BookId;    // references Book</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amount:  number;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p:txBody>
      </p:sp>
      <p:sp>
        <p:nvSpPr>
          <p:cNvPr id="12" name="Text 10"/>
          <p:cNvSpPr/>
          <p:nvPr/>
        </p:nvSpPr>
        <p:spPr>
          <a:xfrm>
            <a:off x="487553" y="4778912"/>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Pattern 3 — Type-Safe Handler Usage</a:t>
            </a:r>
            <a:endParaRPr lang="en-US" sz="1466" kern="1200" dirty="0">
              <a:solidFill>
                <a:prstClr val="black"/>
              </a:solidFill>
              <a:latin typeface="Calibri" panose="020F0502020204030204"/>
              <a:ea typeface="+mn-ea"/>
              <a:cs typeface="+mn-cs"/>
            </a:endParaRPr>
          </a:p>
        </p:txBody>
      </p:sp>
      <p:sp>
        <p:nvSpPr>
          <p:cNvPr id="13" name="Shape 11"/>
          <p:cNvSpPr/>
          <p:nvPr/>
        </p:nvSpPr>
        <p:spPr>
          <a:xfrm>
            <a:off x="487553" y="5144577"/>
            <a:ext cx="5484971" cy="1487037"/>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70385" y="5266465"/>
            <a:ext cx="5216817" cy="1267638"/>
          </a:xfrm>
          <a:prstGeom prst="rect">
            <a:avLst/>
          </a:prstGeom>
          <a:noFill/>
          <a:ln/>
        </p:spPr>
        <p:txBody>
          <a:bodyPr wrap="square" lIns="0" tIns="0" rIns="0" bIns="0" rtlCol="0" anchor="t"/>
          <a:lstStyle/>
          <a:p>
            <a:pPr defTabSz="1218895">
              <a:buClrTx/>
            </a:pPr>
            <a:r>
              <a:rPr lang="en-US" sz="1266" kern="1200" dirty="0">
                <a:solidFill>
                  <a:srgbClr val="818CF8"/>
                </a:solidFill>
                <a:latin typeface="Consolas" pitchFamily="34" charset="0"/>
                <a:ea typeface="Consolas" pitchFamily="34" charset="-122"/>
                <a:cs typeface="Consolas" pitchFamily="34" charset="-120"/>
              </a:rPr>
              <a:t>async findBook(id: BookId): Promise&lt;Book|null&gt;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SELECT.one.from('Books').where({ID:id});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Reading from req.data — cast once at boundary</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const id = asBookId(req.data.ID as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const book = await findBook(id); // ✅ typed</a:t>
            </a:r>
            <a:endParaRPr lang="en-US" sz="1266" kern="1200" dirty="0">
              <a:solidFill>
                <a:prstClr val="black"/>
              </a:solidFill>
              <a:latin typeface="Calibri" panose="020F0502020204030204"/>
              <a:ea typeface="+mn-ea"/>
              <a:cs typeface="+mn-cs"/>
            </a:endParaRPr>
          </a:p>
        </p:txBody>
      </p:sp>
      <p:sp>
        <p:nvSpPr>
          <p:cNvPr id="15" name="Text 13"/>
          <p:cNvSpPr/>
          <p:nvPr/>
        </p:nvSpPr>
        <p:spPr>
          <a:xfrm>
            <a:off x="6277244" y="4778912"/>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Compiler catches wrong ID:</a:t>
            </a:r>
            <a:endParaRPr lang="en-US" sz="1466" kern="1200" dirty="0">
              <a:solidFill>
                <a:prstClr val="black"/>
              </a:solidFill>
              <a:latin typeface="Calibri" panose="020F0502020204030204"/>
              <a:ea typeface="+mn-ea"/>
              <a:cs typeface="+mn-cs"/>
            </a:endParaRPr>
          </a:p>
        </p:txBody>
      </p:sp>
      <p:sp>
        <p:nvSpPr>
          <p:cNvPr id="16" name="Shape 14"/>
          <p:cNvSpPr/>
          <p:nvPr/>
        </p:nvSpPr>
        <p:spPr>
          <a:xfrm>
            <a:off x="6277244" y="5144577"/>
            <a:ext cx="5606860" cy="1487037"/>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6460077" y="5266465"/>
            <a:ext cx="5338705" cy="1267638"/>
          </a:xfrm>
          <a:prstGeom prst="rect">
            <a:avLst/>
          </a:prstGeom>
          <a:noFill/>
          <a:ln/>
        </p:spPr>
        <p:txBody>
          <a:bodyPr wrap="square" lIns="0" tIns="0" rIns="0" bIns="0" rtlCol="0" anchor="t"/>
          <a:lstStyle/>
          <a:p>
            <a:pPr defTabSz="1218895">
              <a:buClrTx/>
            </a:pPr>
            <a:r>
              <a:rPr lang="en-US" sz="1266" kern="1200" dirty="0">
                <a:solidFill>
                  <a:srgbClr val="F9A8D4"/>
                </a:solidFill>
                <a:latin typeface="Consolas" pitchFamily="34" charset="0"/>
                <a:ea typeface="Consolas" pitchFamily="34" charset="-122"/>
                <a:cs typeface="Consolas" pitchFamily="34" charset="-120"/>
              </a:rPr>
              <a:t>const orderId = '...' as OrderId;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await findBook(orderId);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TS2345: Argument of type 'OrderId' is not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assignable to parameter of type 'BookId'.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Bug caught at compile time, not runtime!</a:t>
            </a:r>
            <a:endParaRPr lang="en-US" sz="1266" kern="1200" dirty="0">
              <a:solidFill>
                <a:prstClr val="black"/>
              </a:solidFill>
              <a:latin typeface="Calibri" panose="020F0502020204030204"/>
              <a:ea typeface="+mn-ea"/>
              <a:cs typeface="+mn-cs"/>
            </a:endParaRPr>
          </a:p>
        </p:txBody>
      </p:sp>
      <p:pic>
        <p:nvPicPr>
          <p:cNvPr id="18" name="Google Shape;497;p1">
            <a:extLst>
              <a:ext uri="{FF2B5EF4-FFF2-40B4-BE49-F238E27FC236}">
                <a16:creationId xmlns:a16="http://schemas.microsoft.com/office/drawing/2014/main" id="{235F35F1-964F-6C20-1EA4-33D1DBD8B1FE}"/>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7a  </a:t>
            </a:r>
            <a:r>
              <a:rPr lang="en-US" sz="3333" b="1" kern="1200" dirty="0">
                <a:solidFill>
                  <a:srgbClr val="FFFFFF"/>
                </a:solidFill>
                <a:latin typeface="Calibri" pitchFamily="34" charset="0"/>
                <a:ea typeface="Calibri" pitchFamily="34" charset="-122"/>
                <a:cs typeface="Calibri" pitchFamily="34" charset="-120"/>
              </a:rPr>
              <a:t>Strict Null-Safe Service Calls — The Problem</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Concept · where null/undefined sneaks into CAP service code and how to guard it</a:t>
            </a:r>
            <a:endParaRPr lang="en-US" kern="1200" dirty="0">
              <a:solidFill>
                <a:prstClr val="black"/>
              </a:solidFill>
              <a:latin typeface="Calibri" panose="020F0502020204030204"/>
              <a:ea typeface="+mn-ea"/>
              <a:cs typeface="+mn-cs"/>
            </a:endParaRPr>
          </a:p>
        </p:txBody>
      </p:sp>
      <p:sp>
        <p:nvSpPr>
          <p:cNvPr id="6" name="Shape 4"/>
          <p:cNvSpPr/>
          <p:nvPr/>
        </p:nvSpPr>
        <p:spPr>
          <a:xfrm>
            <a:off x="487553" y="1402608"/>
            <a:ext cx="11213719" cy="792274"/>
          </a:xfrm>
          <a:prstGeom prst="rect">
            <a:avLst/>
          </a:prstGeom>
          <a:solidFill>
            <a:srgbClr val="EFF6FF"/>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439174"/>
            <a:ext cx="10969943" cy="731330"/>
          </a:xfrm>
          <a:prstGeom prst="rect">
            <a:avLst/>
          </a:prstGeom>
          <a:noFill/>
          <a:ln/>
        </p:spPr>
        <p:txBody>
          <a:bodyPr wrap="square" lIns="0" tIns="0" rIns="0" bIns="0" rtlCol="0" anchor="ctr"/>
          <a:lstStyle/>
          <a:p>
            <a:pPr defTabSz="1218895">
              <a:buClrTx/>
            </a:pPr>
            <a:r>
              <a:rPr lang="en-US" sz="1533" b="1" kern="1200" dirty="0">
                <a:solidFill>
                  <a:srgbClr val="1D4ED8"/>
                </a:solidFill>
                <a:latin typeface="Calibri" pitchFamily="34" charset="0"/>
                <a:ea typeface="Calibri" pitchFamily="34" charset="-122"/>
                <a:cs typeface="Calibri" pitchFamily="34" charset="-120"/>
              </a:rPr>
              <a:t>Problem: </a:t>
            </a:r>
            <a:r>
              <a:rPr lang="en-US" sz="1533" kern="1200" dirty="0">
                <a:solidFill>
                  <a:srgbClr val="334155"/>
                </a:solidFill>
                <a:latin typeface="Calibri" pitchFamily="34" charset="0"/>
                <a:ea typeface="Calibri" pitchFamily="34" charset="-122"/>
                <a:cs typeface="Calibri" pitchFamily="34" charset="-120"/>
              </a:rPr>
              <a:t>strictNullChecks forces you to acknowledge that cds.connect.to() can fail, req.data can be null, and query results can be null or undefined. In plain JS all of these are silently ignored. With strict: true, every one must be guarded before use.</a:t>
            </a:r>
            <a:endParaRPr lang="en-US" sz="1533" kern="1200" dirty="0">
              <a:solidFill>
                <a:prstClr val="black"/>
              </a:solidFill>
              <a:latin typeface="Calibri" panose="020F0502020204030204"/>
              <a:ea typeface="+mn-ea"/>
              <a:cs typeface="+mn-cs"/>
            </a:endParaRPr>
          </a:p>
        </p:txBody>
      </p:sp>
      <p:sp>
        <p:nvSpPr>
          <p:cNvPr id="8" name="Text 6"/>
          <p:cNvSpPr/>
          <p:nvPr/>
        </p:nvSpPr>
        <p:spPr>
          <a:xfrm>
            <a:off x="487553" y="2316770"/>
            <a:ext cx="11213719" cy="341287"/>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Four Null Risk Zones in a CAP Service</a:t>
            </a:r>
            <a:endParaRPr lang="en-US" sz="1600" kern="1200" dirty="0">
              <a:solidFill>
                <a:prstClr val="black"/>
              </a:solidFill>
              <a:latin typeface="Calibri" panose="020F0502020204030204"/>
              <a:ea typeface="+mn-ea"/>
              <a:cs typeface="+mn-cs"/>
            </a:endParaRPr>
          </a:p>
        </p:txBody>
      </p:sp>
      <p:sp>
        <p:nvSpPr>
          <p:cNvPr id="9" name="Shape 7"/>
          <p:cNvSpPr/>
          <p:nvPr/>
        </p:nvSpPr>
        <p:spPr>
          <a:xfrm>
            <a:off x="487552" y="2706812"/>
            <a:ext cx="5606860" cy="180394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Shape 8"/>
          <p:cNvSpPr/>
          <p:nvPr/>
        </p:nvSpPr>
        <p:spPr>
          <a:xfrm>
            <a:off x="487552" y="2706812"/>
            <a:ext cx="5606860" cy="390042"/>
          </a:xfrm>
          <a:prstGeom prst="rect">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09441" y="2706812"/>
            <a:ext cx="5484971" cy="390042"/>
          </a:xfrm>
          <a:prstGeom prst="rect">
            <a:avLst/>
          </a:prstGeom>
          <a:noFill/>
          <a:ln/>
        </p:spPr>
        <p:txBody>
          <a:bodyPr wrap="square" lIns="0" tIns="0" rIns="0" bIns="0" rtlCol="0" anchor="ctr"/>
          <a:lstStyle/>
          <a:p>
            <a:pPr defTabSz="1218895">
              <a:buClrTx/>
            </a:pPr>
            <a:r>
              <a:rPr lang="en-US" b="1" kern="1200" dirty="0">
                <a:solidFill>
                  <a:srgbClr val="FFFFFF"/>
                </a:solidFill>
                <a:latin typeface="Calibri" pitchFamily="34" charset="0"/>
                <a:ea typeface="Calibri" pitchFamily="34" charset="-122"/>
                <a:cs typeface="Calibri" pitchFamily="34" charset="-120"/>
              </a:rPr>
              <a:t>Zone 1 — cds.connect()</a:t>
            </a:r>
            <a:endParaRPr lang="en-US" kern="1200" dirty="0">
              <a:solidFill>
                <a:prstClr val="black"/>
              </a:solidFill>
              <a:latin typeface="Calibri" panose="020F0502020204030204"/>
              <a:ea typeface="+mn-ea"/>
              <a:cs typeface="+mn-cs"/>
            </a:endParaRPr>
          </a:p>
        </p:txBody>
      </p:sp>
      <p:sp>
        <p:nvSpPr>
          <p:cNvPr id="12" name="Text 10"/>
          <p:cNvSpPr/>
          <p:nvPr/>
        </p:nvSpPr>
        <p:spPr>
          <a:xfrm>
            <a:off x="609441" y="3145610"/>
            <a:ext cx="5387461" cy="536308"/>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const svc = await cds.connect.to('dest');</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991B1B"/>
                </a:solidFill>
                <a:latin typeface="Consolas" pitchFamily="34" charset="0"/>
                <a:ea typeface="Consolas" pitchFamily="34" charset="-122"/>
                <a:cs typeface="Consolas" pitchFamily="34" charset="-120"/>
              </a:rPr>
              <a:t>svc.run(query); // svc could be null!</a:t>
            </a:r>
            <a:endParaRPr lang="en-US" sz="1133" kern="1200" dirty="0">
              <a:solidFill>
                <a:prstClr val="black"/>
              </a:solidFill>
              <a:latin typeface="Calibri" panose="020F0502020204030204"/>
              <a:ea typeface="+mn-ea"/>
              <a:cs typeface="+mn-cs"/>
            </a:endParaRPr>
          </a:p>
        </p:txBody>
      </p:sp>
      <p:sp>
        <p:nvSpPr>
          <p:cNvPr id="13" name="Shape 11"/>
          <p:cNvSpPr/>
          <p:nvPr/>
        </p:nvSpPr>
        <p:spPr>
          <a:xfrm>
            <a:off x="487552" y="3706296"/>
            <a:ext cx="5606860" cy="12189"/>
          </a:xfrm>
          <a:prstGeom prst="rect">
            <a:avLst/>
          </a:prstGeom>
          <a:solidFill>
            <a:srgbClr val="E2E8F0"/>
          </a:solidFill>
          <a:ln w="1270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09441" y="3755051"/>
            <a:ext cx="5387461" cy="670385"/>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const svc = await cds.connect.to('dest');</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if (!svc) throw new Error('No service');</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svc.run(query); // ✅ safe</a:t>
            </a:r>
            <a:endParaRPr lang="en-US" sz="1133" kern="1200" dirty="0">
              <a:solidFill>
                <a:prstClr val="black"/>
              </a:solidFill>
              <a:latin typeface="Calibri" panose="020F0502020204030204"/>
              <a:ea typeface="+mn-ea"/>
              <a:cs typeface="+mn-cs"/>
            </a:endParaRPr>
          </a:p>
        </p:txBody>
      </p:sp>
      <p:sp>
        <p:nvSpPr>
          <p:cNvPr id="15" name="Shape 13"/>
          <p:cNvSpPr/>
          <p:nvPr/>
        </p:nvSpPr>
        <p:spPr>
          <a:xfrm>
            <a:off x="6240678" y="2706812"/>
            <a:ext cx="5606860" cy="180394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Shape 14"/>
          <p:cNvSpPr/>
          <p:nvPr/>
        </p:nvSpPr>
        <p:spPr>
          <a:xfrm>
            <a:off x="6240678" y="2706812"/>
            <a:ext cx="5606860" cy="390042"/>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6362566" y="2706812"/>
            <a:ext cx="5484971" cy="390042"/>
          </a:xfrm>
          <a:prstGeom prst="rect">
            <a:avLst/>
          </a:prstGeom>
          <a:noFill/>
          <a:ln/>
        </p:spPr>
        <p:txBody>
          <a:bodyPr wrap="square" lIns="0" tIns="0" rIns="0" bIns="0" rtlCol="0" anchor="ctr"/>
          <a:lstStyle/>
          <a:p>
            <a:pPr defTabSz="1218895">
              <a:buClrTx/>
            </a:pPr>
            <a:r>
              <a:rPr lang="en-US" b="1" kern="1200" dirty="0">
                <a:solidFill>
                  <a:srgbClr val="FFFFFF"/>
                </a:solidFill>
                <a:latin typeface="Calibri" pitchFamily="34" charset="0"/>
                <a:ea typeface="Calibri" pitchFamily="34" charset="-122"/>
                <a:cs typeface="Calibri" pitchFamily="34" charset="-120"/>
              </a:rPr>
              <a:t>Zone 2 — req.data</a:t>
            </a:r>
            <a:endParaRPr lang="en-US" kern="1200" dirty="0">
              <a:solidFill>
                <a:prstClr val="black"/>
              </a:solidFill>
              <a:latin typeface="Calibri" panose="020F0502020204030204"/>
              <a:ea typeface="+mn-ea"/>
              <a:cs typeface="+mn-cs"/>
            </a:endParaRPr>
          </a:p>
        </p:txBody>
      </p:sp>
      <p:sp>
        <p:nvSpPr>
          <p:cNvPr id="18" name="Text 16"/>
          <p:cNvSpPr/>
          <p:nvPr/>
        </p:nvSpPr>
        <p:spPr>
          <a:xfrm>
            <a:off x="6362566" y="3145610"/>
            <a:ext cx="5387461" cy="536308"/>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const { bookId } = req.data;</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991B1B"/>
                </a:solidFill>
                <a:latin typeface="Consolas" pitchFamily="34" charset="0"/>
                <a:ea typeface="Consolas" pitchFamily="34" charset="-122"/>
                <a:cs typeface="Consolas" pitchFamily="34" charset="-120"/>
              </a:rPr>
              <a:t>// TS2532: req.data possibly undefined</a:t>
            </a:r>
            <a:endParaRPr lang="en-US" sz="1133" kern="1200" dirty="0">
              <a:solidFill>
                <a:prstClr val="black"/>
              </a:solidFill>
              <a:latin typeface="Calibri" panose="020F0502020204030204"/>
              <a:ea typeface="+mn-ea"/>
              <a:cs typeface="+mn-cs"/>
            </a:endParaRPr>
          </a:p>
        </p:txBody>
      </p:sp>
      <p:sp>
        <p:nvSpPr>
          <p:cNvPr id="19" name="Shape 17"/>
          <p:cNvSpPr/>
          <p:nvPr/>
        </p:nvSpPr>
        <p:spPr>
          <a:xfrm>
            <a:off x="6240678" y="3706296"/>
            <a:ext cx="5606860" cy="12189"/>
          </a:xfrm>
          <a:prstGeom prst="rect">
            <a:avLst/>
          </a:prstGeom>
          <a:solidFill>
            <a:srgbClr val="E2E8F0"/>
          </a:solidFill>
          <a:ln w="1270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6362566" y="3755051"/>
            <a:ext cx="5387461" cy="670385"/>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if (!req.data) return req.reject(400,'No data');</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const { bookId } = req.data as CreateOrder;</a:t>
            </a:r>
            <a:endParaRPr lang="en-US" sz="1133" kern="1200" dirty="0">
              <a:solidFill>
                <a:prstClr val="black"/>
              </a:solidFill>
              <a:latin typeface="Calibri" panose="020F0502020204030204"/>
              <a:ea typeface="+mn-ea"/>
              <a:cs typeface="+mn-cs"/>
            </a:endParaRPr>
          </a:p>
        </p:txBody>
      </p:sp>
      <p:sp>
        <p:nvSpPr>
          <p:cNvPr id="21" name="Shape 19"/>
          <p:cNvSpPr/>
          <p:nvPr/>
        </p:nvSpPr>
        <p:spPr>
          <a:xfrm>
            <a:off x="487552" y="4657024"/>
            <a:ext cx="5606860" cy="180394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Shape 20"/>
          <p:cNvSpPr/>
          <p:nvPr/>
        </p:nvSpPr>
        <p:spPr>
          <a:xfrm>
            <a:off x="487552" y="4657024"/>
            <a:ext cx="5606860" cy="390042"/>
          </a:xfrm>
          <a:prstGeom prst="rect">
            <a:avLst/>
          </a:prstGeom>
          <a:solidFill>
            <a:srgbClr val="065F46"/>
          </a:solidFill>
          <a:ln w="12700">
            <a:solidFill>
              <a:srgbClr val="065F4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609441" y="4657024"/>
            <a:ext cx="5484971" cy="390042"/>
          </a:xfrm>
          <a:prstGeom prst="rect">
            <a:avLst/>
          </a:prstGeom>
          <a:noFill/>
          <a:ln/>
        </p:spPr>
        <p:txBody>
          <a:bodyPr wrap="square" lIns="0" tIns="0" rIns="0" bIns="0" rtlCol="0" anchor="ctr"/>
          <a:lstStyle/>
          <a:p>
            <a:pPr defTabSz="1218895">
              <a:buClrTx/>
            </a:pPr>
            <a:r>
              <a:rPr lang="en-US" b="1" kern="1200" dirty="0">
                <a:solidFill>
                  <a:srgbClr val="FFFFFF"/>
                </a:solidFill>
                <a:latin typeface="Calibri" pitchFamily="34" charset="0"/>
                <a:ea typeface="Calibri" pitchFamily="34" charset="-122"/>
                <a:cs typeface="Calibri" pitchFamily="34" charset="-120"/>
              </a:rPr>
              <a:t>Zone 3 — SELECT results</a:t>
            </a:r>
            <a:endParaRPr lang="en-US" kern="1200" dirty="0">
              <a:solidFill>
                <a:prstClr val="black"/>
              </a:solidFill>
              <a:latin typeface="Calibri" panose="020F0502020204030204"/>
              <a:ea typeface="+mn-ea"/>
              <a:cs typeface="+mn-cs"/>
            </a:endParaRPr>
          </a:p>
        </p:txBody>
      </p:sp>
      <p:sp>
        <p:nvSpPr>
          <p:cNvPr id="24" name="Text 22"/>
          <p:cNvSpPr/>
          <p:nvPr/>
        </p:nvSpPr>
        <p:spPr>
          <a:xfrm>
            <a:off x="609441" y="5095822"/>
            <a:ext cx="5387461" cy="536308"/>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const book = await SELECT.one.from('Books');</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991B1B"/>
                </a:solidFill>
                <a:latin typeface="Consolas" pitchFamily="34" charset="0"/>
                <a:ea typeface="Consolas" pitchFamily="34" charset="-122"/>
                <a:cs typeface="Consolas" pitchFamily="34" charset="-120"/>
              </a:rPr>
              <a:t>book.title; // TS2532: book possibly null</a:t>
            </a:r>
            <a:endParaRPr lang="en-US" sz="1133" kern="1200" dirty="0">
              <a:solidFill>
                <a:prstClr val="black"/>
              </a:solidFill>
              <a:latin typeface="Calibri" panose="020F0502020204030204"/>
              <a:ea typeface="+mn-ea"/>
              <a:cs typeface="+mn-cs"/>
            </a:endParaRPr>
          </a:p>
        </p:txBody>
      </p:sp>
      <p:sp>
        <p:nvSpPr>
          <p:cNvPr id="25" name="Shape 23"/>
          <p:cNvSpPr/>
          <p:nvPr/>
        </p:nvSpPr>
        <p:spPr>
          <a:xfrm>
            <a:off x="487552" y="5656508"/>
            <a:ext cx="5606860" cy="12189"/>
          </a:xfrm>
          <a:prstGeom prst="rect">
            <a:avLst/>
          </a:prstGeom>
          <a:solidFill>
            <a:srgbClr val="E2E8F0"/>
          </a:solidFill>
          <a:ln w="1270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09441" y="5705263"/>
            <a:ext cx="5387461" cy="670385"/>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const book = await SELECT.one.from('Books');</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if (!book) return req.reject(404,'Not found');</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book.title; // ✅ safe</a:t>
            </a:r>
            <a:endParaRPr lang="en-US" sz="1133" kern="1200" dirty="0">
              <a:solidFill>
                <a:prstClr val="black"/>
              </a:solidFill>
              <a:latin typeface="Calibri" panose="020F0502020204030204"/>
              <a:ea typeface="+mn-ea"/>
              <a:cs typeface="+mn-cs"/>
            </a:endParaRPr>
          </a:p>
        </p:txBody>
      </p:sp>
      <p:sp>
        <p:nvSpPr>
          <p:cNvPr id="27" name="Shape 25"/>
          <p:cNvSpPr/>
          <p:nvPr/>
        </p:nvSpPr>
        <p:spPr>
          <a:xfrm>
            <a:off x="6240678" y="4657024"/>
            <a:ext cx="5606860" cy="180394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8" name="Shape 26"/>
          <p:cNvSpPr/>
          <p:nvPr/>
        </p:nvSpPr>
        <p:spPr>
          <a:xfrm>
            <a:off x="6240678" y="4657024"/>
            <a:ext cx="5606860" cy="390042"/>
          </a:xfrm>
          <a:prstGeom prst="rect">
            <a:avLst/>
          </a:prstGeom>
          <a:solidFill>
            <a:srgbClr val="92400E"/>
          </a:solidFill>
          <a:ln w="12700">
            <a:solidFill>
              <a:srgbClr val="92400E"/>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9" name="Text 27"/>
          <p:cNvSpPr/>
          <p:nvPr/>
        </p:nvSpPr>
        <p:spPr>
          <a:xfrm>
            <a:off x="6362566" y="4657024"/>
            <a:ext cx="5484971" cy="390042"/>
          </a:xfrm>
          <a:prstGeom prst="rect">
            <a:avLst/>
          </a:prstGeom>
          <a:noFill/>
          <a:ln/>
        </p:spPr>
        <p:txBody>
          <a:bodyPr wrap="square" lIns="0" tIns="0" rIns="0" bIns="0" rtlCol="0" anchor="ctr"/>
          <a:lstStyle/>
          <a:p>
            <a:pPr defTabSz="1218895">
              <a:buClrTx/>
            </a:pPr>
            <a:r>
              <a:rPr lang="en-US" b="1" kern="1200" dirty="0">
                <a:solidFill>
                  <a:srgbClr val="FFFFFF"/>
                </a:solidFill>
                <a:latin typeface="Calibri" pitchFamily="34" charset="0"/>
                <a:ea typeface="Calibri" pitchFamily="34" charset="-122"/>
                <a:cs typeface="Calibri" pitchFamily="34" charset="-120"/>
              </a:rPr>
              <a:t>Zone 4 — req.user / req.locale</a:t>
            </a:r>
            <a:endParaRPr lang="en-US" kern="1200" dirty="0">
              <a:solidFill>
                <a:prstClr val="black"/>
              </a:solidFill>
              <a:latin typeface="Calibri" panose="020F0502020204030204"/>
              <a:ea typeface="+mn-ea"/>
              <a:cs typeface="+mn-cs"/>
            </a:endParaRPr>
          </a:p>
        </p:txBody>
      </p:sp>
      <p:sp>
        <p:nvSpPr>
          <p:cNvPr id="30" name="Text 28"/>
          <p:cNvSpPr/>
          <p:nvPr/>
        </p:nvSpPr>
        <p:spPr>
          <a:xfrm>
            <a:off x="6362566" y="5095822"/>
            <a:ext cx="5387461" cy="536308"/>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const tenant = req.user.tenant;</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991B1B"/>
                </a:solidFill>
                <a:latin typeface="Consolas" pitchFamily="34" charset="0"/>
                <a:ea typeface="Consolas" pitchFamily="34" charset="-122"/>
                <a:cs typeface="Consolas" pitchFamily="34" charset="-120"/>
              </a:rPr>
              <a:t>// TS2532: req.user possibly null</a:t>
            </a:r>
            <a:endParaRPr lang="en-US" sz="1133" kern="1200" dirty="0">
              <a:solidFill>
                <a:prstClr val="black"/>
              </a:solidFill>
              <a:latin typeface="Calibri" panose="020F0502020204030204"/>
              <a:ea typeface="+mn-ea"/>
              <a:cs typeface="+mn-cs"/>
            </a:endParaRPr>
          </a:p>
        </p:txBody>
      </p:sp>
      <p:sp>
        <p:nvSpPr>
          <p:cNvPr id="31" name="Shape 29"/>
          <p:cNvSpPr/>
          <p:nvPr/>
        </p:nvSpPr>
        <p:spPr>
          <a:xfrm>
            <a:off x="6240678" y="5656508"/>
            <a:ext cx="5606860" cy="12189"/>
          </a:xfrm>
          <a:prstGeom prst="rect">
            <a:avLst/>
          </a:prstGeom>
          <a:solidFill>
            <a:srgbClr val="E2E8F0"/>
          </a:solidFill>
          <a:ln w="1270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6362566" y="5705263"/>
            <a:ext cx="5387461" cy="670385"/>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const tenant = req.user?.tenant ?? 'default';</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 ✅ optional chain + nullish coalescing</a:t>
            </a:r>
            <a:endParaRPr lang="en-US" sz="1133" kern="1200" dirty="0">
              <a:solidFill>
                <a:prstClr val="black"/>
              </a:solidFill>
              <a:latin typeface="Calibri" panose="020F0502020204030204"/>
              <a:ea typeface="+mn-ea"/>
              <a:cs typeface="+mn-cs"/>
            </a:endParaRPr>
          </a:p>
        </p:txBody>
      </p:sp>
      <p:pic>
        <p:nvPicPr>
          <p:cNvPr id="33" name="Google Shape;497;p1">
            <a:extLst>
              <a:ext uri="{FF2B5EF4-FFF2-40B4-BE49-F238E27FC236}">
                <a16:creationId xmlns:a16="http://schemas.microsoft.com/office/drawing/2014/main" id="{74A35674-DB29-8B15-691D-46F87BD19ABB}"/>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7b  </a:t>
            </a:r>
            <a:r>
              <a:rPr lang="en-US" sz="3333" b="1" kern="1200" dirty="0">
                <a:solidFill>
                  <a:srgbClr val="FFFFFF"/>
                </a:solidFill>
                <a:latin typeface="Calibri" pitchFamily="34" charset="0"/>
                <a:ea typeface="Calibri" pitchFamily="34" charset="-122"/>
                <a:cs typeface="Calibri" pitchFamily="34" charset="-120"/>
              </a:rPr>
              <a:t>Null-Safe Service Calls — Patterns &amp; Full Example</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Implementation · reusable guard helpers and a complete null-safe handler</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Reusable Guard Helpers</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2"/>
            <a:ext cx="5484971"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4534243"/>
          </a:xfrm>
          <a:prstGeom prst="rect">
            <a:avLst/>
          </a:prstGeom>
          <a:noFill/>
          <a:ln/>
        </p:spPr>
        <p:txBody>
          <a:bodyPr wrap="square" lIns="0" tIns="0" rIns="0" bIns="0" rtlCol="0" anchor="t"/>
          <a:lstStyle/>
          <a:p>
            <a:pPr defTabSz="1218895">
              <a:buClrTx/>
            </a:pPr>
            <a:r>
              <a:rPr lang="en-US" sz="1173" kern="1200" dirty="0">
                <a:solidFill>
                  <a:srgbClr val="94A3B8"/>
                </a:solidFill>
                <a:latin typeface="Consolas" pitchFamily="34" charset="0"/>
                <a:ea typeface="Consolas" pitchFamily="34" charset="-122"/>
                <a:cs typeface="Consolas" pitchFamily="34" charset="-120"/>
              </a:rPr>
              <a:t>// utils/guards.ts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import cds from '@sap/cds';</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Assert service connected, throw if not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export function assertService(</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svc: cds.Service | null | undefined,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name: string</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asserts svc is cds.Service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if (!svc) throw new Error(</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`Service '${name}' not connected`);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Assert req.data is defined &amp; cast it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export function requireData&lt;T&gt;(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req: cds.Request,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entity: string</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if (!req.data) req.reject(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400, `${entity} data required`);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return req.data as 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Assert SELECT result is not null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export function requireFound&lt;T&gt;(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item: T | null | undefined,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id: string</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asserts item is 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if (!item) throw Object.assign(</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new Error(`Not found: ${id}`),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 status: 404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a:t>
            </a:r>
            <a:endParaRPr lang="en-US" sz="1173" kern="1200" dirty="0">
              <a:solidFill>
                <a:prstClr val="black"/>
              </a:solidFill>
              <a:latin typeface="Calibri" panose="020F0502020204030204"/>
              <a:ea typeface="+mn-ea"/>
              <a:cs typeface="+mn-cs"/>
            </a:endParaRPr>
          </a:p>
        </p:txBody>
      </p:sp>
      <p:sp>
        <p:nvSpPr>
          <p:cNvPr id="9" name="Text 7"/>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Complete Null-Safe Handler</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68272"/>
            <a:ext cx="5606860"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890161"/>
            <a:ext cx="5338705" cy="4534243"/>
          </a:xfrm>
          <a:prstGeom prst="rect">
            <a:avLst/>
          </a:prstGeom>
          <a:noFill/>
          <a:ln/>
        </p:spPr>
        <p:txBody>
          <a:bodyPr wrap="square" lIns="0" tIns="0" rIns="0" bIns="0" rtlCol="0" anchor="t"/>
          <a:lstStyle/>
          <a:p>
            <a:pPr defTabSz="1218895">
              <a:buClrTx/>
            </a:pPr>
            <a:r>
              <a:rPr lang="en-US" sz="1173" kern="1200" dirty="0">
                <a:solidFill>
                  <a:srgbClr val="818CF8"/>
                </a:solidFill>
                <a:latin typeface="Consolas" pitchFamily="34" charset="0"/>
                <a:ea typeface="Consolas" pitchFamily="34" charset="-122"/>
                <a:cs typeface="Consolas" pitchFamily="34" charset="-120"/>
              </a:rPr>
              <a:t>import cds from '@sap/cds';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import {assertService,requireData,</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requireFound} from './guards';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import type { Order, BookId } from './types';</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export default class OrderService</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extends cds.ApplicationService {</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private bookSvc!: cds.Service;</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async init(): Promise&lt;void&gt;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 Zone 1: guard connect()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svc = await cds.connect.to('Books');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4ADE80"/>
                </a:solidFill>
                <a:latin typeface="Consolas" pitchFamily="34" charset="0"/>
                <a:ea typeface="Consolas" pitchFamily="34" charset="-122"/>
                <a:cs typeface="Consolas" pitchFamily="34" charset="-120"/>
              </a:rPr>
              <a:t>    assertService(svc, 'Books');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this.bookSvc = svc;</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this.on('CREATE','Orders',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req =&gt; this.onCreate(req));</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return super.init();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async onCreate(req: cds.Request): Promise&lt;Order&gt;{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 Zone 2: guard req.data</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4ADE80"/>
                </a:solidFill>
                <a:latin typeface="Consolas" pitchFamily="34" charset="0"/>
                <a:ea typeface="Consolas" pitchFamily="34" charset="-122"/>
                <a:cs typeface="Consolas" pitchFamily="34" charset="-120"/>
              </a:rPr>
              <a:t>    const data = requireData&lt;Order&gt;(req,'Order');</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 Zone 3: guard SELECT result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book = await SELECT.one</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.from('Books').where({ID: data.book_ID});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4ADE80"/>
                </a:solidFill>
                <a:latin typeface="Consolas" pitchFamily="34" charset="0"/>
                <a:ea typeface="Consolas" pitchFamily="34" charset="-122"/>
                <a:cs typeface="Consolas" pitchFamily="34" charset="-120"/>
              </a:rPr>
              <a:t>    requireFound(book, data.book_ID);</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return INSERT.into('Orders').entries(data);</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a:t>
            </a:r>
            <a:endParaRPr lang="en-US" sz="1173" kern="1200" dirty="0">
              <a:solidFill>
                <a:prstClr val="black"/>
              </a:solidFill>
              <a:latin typeface="Calibri" panose="020F0502020204030204"/>
              <a:ea typeface="+mn-ea"/>
              <a:cs typeface="+mn-cs"/>
            </a:endParaRPr>
          </a:p>
        </p:txBody>
      </p:sp>
      <p:pic>
        <p:nvPicPr>
          <p:cNvPr id="12" name="Google Shape;497;p1">
            <a:extLst>
              <a:ext uri="{FF2B5EF4-FFF2-40B4-BE49-F238E27FC236}">
                <a16:creationId xmlns:a16="http://schemas.microsoft.com/office/drawing/2014/main" id="{F3D0944A-7CC4-DF0A-01F6-116381DE8260}"/>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59669"/>
          </a:solidFill>
          <a:ln w="12700">
            <a:solidFill>
              <a:srgbClr val="059669"/>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8  </a:t>
            </a:r>
            <a:r>
              <a:rPr lang="en-US" sz="3333" b="1" kern="1200" dirty="0">
                <a:solidFill>
                  <a:srgbClr val="FFFFFF"/>
                </a:solidFill>
                <a:latin typeface="Calibri" pitchFamily="34" charset="0"/>
                <a:ea typeface="Calibri" pitchFamily="34" charset="-122"/>
                <a:cs typeface="Calibri" pitchFamily="34" charset="-120"/>
              </a:rPr>
              <a:t>Verify: tsc --noEmit  +  Jest Test Suite</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Final verification · compilation clean + all existing tests pass unchanged</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1 — Type Check All Files</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3"/>
            <a:ext cx="5484971" cy="201115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1791757"/>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Type-check every .ts file in the project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npx tsc --noEmit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SUCCESS: no output, exit code 0</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FAILURE: errors listed with file:line:col</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Strict check on a single file:</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npx tsc --noEmit --strict srv/CatalogService.ts</a:t>
            </a:r>
            <a:endParaRPr lang="en-US" sz="1266" kern="1200" dirty="0">
              <a:solidFill>
                <a:prstClr val="black"/>
              </a:solidFill>
              <a:latin typeface="Calibri" panose="020F0502020204030204"/>
              <a:ea typeface="+mn-ea"/>
              <a:cs typeface="+mn-cs"/>
            </a:endParaRPr>
          </a:p>
        </p:txBody>
      </p:sp>
      <p:sp>
        <p:nvSpPr>
          <p:cNvPr id="9" name="Text 7"/>
          <p:cNvSpPr/>
          <p:nvPr/>
        </p:nvSpPr>
        <p:spPr>
          <a:xfrm>
            <a:off x="487553" y="3876939"/>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2 — jest.config.js for ts-jest</a:t>
            </a:r>
            <a:endParaRPr lang="en-US" sz="1466" kern="1200" dirty="0">
              <a:solidFill>
                <a:prstClr val="black"/>
              </a:solidFill>
              <a:latin typeface="Calibri" panose="020F0502020204030204"/>
              <a:ea typeface="+mn-ea"/>
              <a:cs typeface="+mn-cs"/>
            </a:endParaRPr>
          </a:p>
        </p:txBody>
      </p:sp>
      <p:sp>
        <p:nvSpPr>
          <p:cNvPr id="10" name="Shape 8"/>
          <p:cNvSpPr/>
          <p:nvPr/>
        </p:nvSpPr>
        <p:spPr>
          <a:xfrm>
            <a:off x="487553" y="4242604"/>
            <a:ext cx="5484971" cy="2462143"/>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70385" y="4364492"/>
            <a:ext cx="5216817" cy="2242744"/>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jest.config.js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module.exports =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preset: 'ts-jest',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testEnvironment: 'node',</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globals: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'ts-jest':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tsconfig: './tsconfig.json',</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testMatch: ['**/test/**/*.test.{ts,js}'],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p:txBody>
      </p:sp>
      <p:sp>
        <p:nvSpPr>
          <p:cNvPr id="12" name="Text 10"/>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10B981"/>
                </a:solidFill>
                <a:latin typeface="Calibri" pitchFamily="34" charset="0"/>
                <a:ea typeface="Calibri" pitchFamily="34" charset="-122"/>
                <a:cs typeface="Calibri" pitchFamily="34" charset="-120"/>
              </a:rPr>
              <a:t>Expected Output — All Green ✅</a:t>
            </a:r>
            <a:endParaRPr lang="en-US" sz="1466" kern="1200" dirty="0">
              <a:solidFill>
                <a:prstClr val="black"/>
              </a:solidFill>
              <a:latin typeface="Calibri" panose="020F0502020204030204"/>
              <a:ea typeface="+mn-ea"/>
              <a:cs typeface="+mn-cs"/>
            </a:endParaRPr>
          </a:p>
        </p:txBody>
      </p:sp>
      <p:sp>
        <p:nvSpPr>
          <p:cNvPr id="13" name="Shape 11"/>
          <p:cNvSpPr/>
          <p:nvPr/>
        </p:nvSpPr>
        <p:spPr>
          <a:xfrm>
            <a:off x="6277244" y="1768273"/>
            <a:ext cx="5606860" cy="3534759"/>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460077" y="1890161"/>
            <a:ext cx="5338705" cy="3315360"/>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npm run build  # tsc --noEmit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(no output — success!)</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npm test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PASS  test/utils.test.js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payload-transformer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flattens response.value array (3ms)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strips @odata metadata keys (1ms)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returns [] for empty response (1ms)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error-mapper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maps 404 to NOT_FOUND (2ms)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maps 400 to VALIDATION (1ms)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extracts innererror details (1ms)</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Tests: 6 passed, 6 total</a:t>
            </a:r>
            <a:endParaRPr lang="en-US" sz="1266" kern="1200" dirty="0">
              <a:solidFill>
                <a:prstClr val="black"/>
              </a:solidFill>
              <a:latin typeface="Calibri" panose="020F0502020204030204"/>
              <a:ea typeface="+mn-ea"/>
              <a:cs typeface="+mn-cs"/>
            </a:endParaRPr>
          </a:p>
        </p:txBody>
      </p:sp>
      <p:sp>
        <p:nvSpPr>
          <p:cNvPr id="15" name="Shape 13"/>
          <p:cNvSpPr/>
          <p:nvPr/>
        </p:nvSpPr>
        <p:spPr>
          <a:xfrm>
            <a:off x="6277244" y="5388354"/>
            <a:ext cx="5606860" cy="1316393"/>
          </a:xfrm>
          <a:prstGeom prst="rect">
            <a:avLst/>
          </a:prstGeom>
          <a:solidFill>
            <a:srgbClr val="ECFDF5"/>
          </a:solidFill>
          <a:ln w="12700">
            <a:solidFill>
              <a:srgbClr val="6EE7B7"/>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6435699" y="5437109"/>
            <a:ext cx="5241195" cy="316909"/>
          </a:xfrm>
          <a:prstGeom prst="rect">
            <a:avLst/>
          </a:prstGeom>
          <a:noFill/>
          <a:ln/>
        </p:spPr>
        <p:txBody>
          <a:bodyPr wrap="square" lIns="0" tIns="0" rIns="0" bIns="0" rtlCol="0" anchor="ctr"/>
          <a:lstStyle/>
          <a:p>
            <a:pPr defTabSz="1218895">
              <a:buClrTx/>
            </a:pPr>
            <a:r>
              <a:rPr lang="en-US" b="1" kern="1200" dirty="0">
                <a:solidFill>
                  <a:srgbClr val="065F46"/>
                </a:solidFill>
                <a:latin typeface="Calibri" pitchFamily="34" charset="0"/>
                <a:ea typeface="Calibri" pitchFamily="34" charset="-122"/>
                <a:cs typeface="Calibri" pitchFamily="34" charset="-120"/>
              </a:rPr>
              <a:t>Done-Done Checklist</a:t>
            </a:r>
            <a:endParaRPr lang="en-US" kern="1200" dirty="0">
              <a:solidFill>
                <a:prstClr val="black"/>
              </a:solidFill>
              <a:latin typeface="Calibri" panose="020F0502020204030204"/>
              <a:ea typeface="+mn-ea"/>
              <a:cs typeface="+mn-cs"/>
            </a:endParaRPr>
          </a:p>
        </p:txBody>
      </p:sp>
      <p:sp>
        <p:nvSpPr>
          <p:cNvPr id="17" name="Text 15"/>
          <p:cNvSpPr/>
          <p:nvPr/>
        </p:nvSpPr>
        <p:spPr>
          <a:xfrm>
            <a:off x="6435699" y="5790585"/>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tsc --noEmit exits with code 0</a:t>
            </a:r>
            <a:endParaRPr lang="en-US" sz="1133" kern="1200" dirty="0">
              <a:solidFill>
                <a:prstClr val="black"/>
              </a:solidFill>
              <a:latin typeface="Calibri" panose="020F0502020204030204"/>
              <a:ea typeface="+mn-ea"/>
              <a:cs typeface="+mn-cs"/>
            </a:endParaRPr>
          </a:p>
        </p:txBody>
      </p:sp>
      <p:sp>
        <p:nvSpPr>
          <p:cNvPr id="18" name="Text 16"/>
          <p:cNvSpPr/>
          <p:nvPr/>
        </p:nvSpPr>
        <p:spPr>
          <a:xfrm>
            <a:off x="9239129" y="5790585"/>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No @ts-ignore anywhere</a:t>
            </a:r>
            <a:endParaRPr lang="en-US" sz="1133" kern="1200" dirty="0">
              <a:solidFill>
                <a:prstClr val="black"/>
              </a:solidFill>
              <a:latin typeface="Calibri" panose="020F0502020204030204"/>
              <a:ea typeface="+mn-ea"/>
              <a:cs typeface="+mn-cs"/>
            </a:endParaRPr>
          </a:p>
        </p:txBody>
      </p:sp>
      <p:sp>
        <p:nvSpPr>
          <p:cNvPr id="19" name="Text 17"/>
          <p:cNvSpPr/>
          <p:nvPr/>
        </p:nvSpPr>
        <p:spPr>
          <a:xfrm>
            <a:off x="6435699" y="6083117"/>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All 6 Jest tests pass unchanged</a:t>
            </a:r>
            <a:endParaRPr lang="en-US" sz="1133" kern="1200" dirty="0">
              <a:solidFill>
                <a:prstClr val="black"/>
              </a:solidFill>
              <a:latin typeface="Calibri" panose="020F0502020204030204"/>
              <a:ea typeface="+mn-ea"/>
              <a:cs typeface="+mn-cs"/>
            </a:endParaRPr>
          </a:p>
        </p:txBody>
      </p:sp>
      <p:sp>
        <p:nvSpPr>
          <p:cNvPr id="20" name="Text 18"/>
          <p:cNvSpPr/>
          <p:nvPr/>
        </p:nvSpPr>
        <p:spPr>
          <a:xfrm>
            <a:off x="9239129" y="6083117"/>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No business logic modified</a:t>
            </a:r>
            <a:endParaRPr lang="en-US" sz="1133" kern="1200" dirty="0">
              <a:solidFill>
                <a:prstClr val="black"/>
              </a:solidFill>
              <a:latin typeface="Calibri" panose="020F0502020204030204"/>
              <a:ea typeface="+mn-ea"/>
              <a:cs typeface="+mn-cs"/>
            </a:endParaRPr>
          </a:p>
        </p:txBody>
      </p:sp>
      <p:sp>
        <p:nvSpPr>
          <p:cNvPr id="21" name="Text 19"/>
          <p:cNvSpPr/>
          <p:nvPr/>
        </p:nvSpPr>
        <p:spPr>
          <a:xfrm>
            <a:off x="6435699" y="6375648"/>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No as any workarounds</a:t>
            </a:r>
            <a:endParaRPr lang="en-US" sz="1133" kern="1200" dirty="0">
              <a:solidFill>
                <a:prstClr val="black"/>
              </a:solidFill>
              <a:latin typeface="Calibri" panose="020F0502020204030204"/>
              <a:ea typeface="+mn-ea"/>
              <a:cs typeface="+mn-cs"/>
            </a:endParaRPr>
          </a:p>
        </p:txBody>
      </p:sp>
      <p:sp>
        <p:nvSpPr>
          <p:cNvPr id="22" name="Text 20"/>
          <p:cNvSpPr/>
          <p:nvPr/>
        </p:nvSpPr>
        <p:spPr>
          <a:xfrm>
            <a:off x="9239129" y="6375648"/>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Branded types applied to all IDs</a:t>
            </a:r>
            <a:endParaRPr lang="en-US" sz="1133" kern="1200" dirty="0">
              <a:solidFill>
                <a:prstClr val="black"/>
              </a:solidFill>
              <a:latin typeface="Calibri" panose="020F0502020204030204"/>
              <a:ea typeface="+mn-ea"/>
              <a:cs typeface="+mn-cs"/>
            </a:endParaRPr>
          </a:p>
        </p:txBody>
      </p:sp>
      <p:pic>
        <p:nvPicPr>
          <p:cNvPr id="23" name="Google Shape;497;p1">
            <a:extLst>
              <a:ext uri="{FF2B5EF4-FFF2-40B4-BE49-F238E27FC236}">
                <a16:creationId xmlns:a16="http://schemas.microsoft.com/office/drawing/2014/main" id="{9D1DBDE7-DC13-EBDD-21C1-F3516415E39C}"/>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FFFFF"/>
                </a:solidFill>
                <a:latin typeface="Calibri" pitchFamily="34" charset="0"/>
                <a:ea typeface="Calibri" pitchFamily="34" charset="-122"/>
                <a:cs typeface="Calibri" pitchFamily="34" charset="-120"/>
              </a:rPr>
              <a:t>Quick Reference — Complete Migration Cheat Sheet</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Reference · all patterns, commands, and gotchas in one slide</a:t>
            </a:r>
            <a:endParaRPr lang="en-US" kern="1200" dirty="0">
              <a:solidFill>
                <a:prstClr val="black"/>
              </a:solidFill>
              <a:latin typeface="Calibri" panose="020F0502020204030204"/>
              <a:ea typeface="+mn-ea"/>
              <a:cs typeface="+mn-cs"/>
            </a:endParaRPr>
          </a:p>
        </p:txBody>
      </p:sp>
      <p:graphicFrame>
        <p:nvGraphicFramePr>
          <p:cNvPr id="18" name="Table 0"/>
          <p:cNvGraphicFramePr>
            <a:graphicFrameLocks noGrp="1"/>
          </p:cNvGraphicFramePr>
          <p:nvPr/>
        </p:nvGraphicFramePr>
        <p:xfrm>
          <a:off x="426609" y="1402608"/>
          <a:ext cx="11335608" cy="5241192"/>
        </p:xfrm>
        <a:graphic>
          <a:graphicData uri="http://schemas.openxmlformats.org/drawingml/2006/table">
            <a:tbl>
              <a:tblPr/>
              <a:tblGrid>
                <a:gridCol w="3778536">
                  <a:extLst>
                    <a:ext uri="{9D8B030D-6E8A-4147-A177-3AD203B41FA5}">
                      <a16:colId xmlns:a16="http://schemas.microsoft.com/office/drawing/2014/main" val="20000"/>
                    </a:ext>
                  </a:extLst>
                </a:gridCol>
                <a:gridCol w="4144201">
                  <a:extLst>
                    <a:ext uri="{9D8B030D-6E8A-4147-A177-3AD203B41FA5}">
                      <a16:colId xmlns:a16="http://schemas.microsoft.com/office/drawing/2014/main" val="20001"/>
                    </a:ext>
                  </a:extLst>
                </a:gridCol>
                <a:gridCol w="3412871">
                  <a:extLst>
                    <a:ext uri="{9D8B030D-6E8A-4147-A177-3AD203B41FA5}">
                      <a16:colId xmlns:a16="http://schemas.microsoft.com/office/drawing/2014/main" val="20002"/>
                    </a:ext>
                  </a:extLst>
                </a:gridCol>
              </a:tblGrid>
              <a:tr h="436766">
                <a:tc>
                  <a:txBody>
                    <a:bodyPr/>
                    <a:lstStyle/>
                    <a:p>
                      <a:pPr marL="0" indent="0" algn="l">
                        <a:buNone/>
                      </a:pPr>
                      <a:r>
                        <a:rPr lang="en-US" sz="1400" b="1" dirty="0">
                          <a:solidFill>
                            <a:srgbClr val="FFFFFF"/>
                          </a:solidFill>
                          <a:latin typeface="Consolas" pitchFamily="34" charset="0"/>
                          <a:ea typeface="Consolas" pitchFamily="34" charset="-122"/>
                          <a:cs typeface="Consolas" pitchFamily="34" charset="-120"/>
                        </a:rPr>
                        <a:t>JS Pattern / Issue</a:t>
                      </a:r>
                      <a:endParaRPr lang="en-US" sz="14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1B2A"/>
                    </a:solidFill>
                  </a:tcPr>
                </a:tc>
                <a:tc>
                  <a:txBody>
                    <a:bodyPr/>
                    <a:lstStyle/>
                    <a:p>
                      <a:pPr marL="0" indent="0" algn="l">
                        <a:buNone/>
                      </a:pPr>
                      <a:r>
                        <a:rPr lang="en-US" sz="1400" b="1" dirty="0">
                          <a:solidFill>
                            <a:srgbClr val="FFFFFF"/>
                          </a:solidFill>
                          <a:latin typeface="Consolas" pitchFamily="34" charset="0"/>
                          <a:ea typeface="Consolas" pitchFamily="34" charset="-122"/>
                          <a:cs typeface="Consolas" pitchFamily="34" charset="-120"/>
                        </a:rPr>
                        <a:t>TypeScript Fix</a:t>
                      </a:r>
                      <a:endParaRPr lang="en-US" sz="14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1B2A"/>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Why</a:t>
                      </a:r>
                      <a:endParaRPr lang="en-US" sz="14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function f(x)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function f(x: T): R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noImplicitAny requires types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this.on('READ','Bks', req =&gt;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this.on('READ','Bks',(req:cds.Request)=&gt;{})</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req must be typed for req.data access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extLst>
                  <a:ext uri="{0D108BD9-81ED-4DB2-BD59-A6C34878D82A}">
                    <a16:rowId xmlns:a16="http://schemas.microsoft.com/office/drawing/2014/main" val="10002"/>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req.data.bookId</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(req.data as CreateOrder).bookId</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req.data is unknown in strict mode</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response.value.map()</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response?.value?.map()</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strictNullChecks: value may be undefined</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extLst>
                  <a:ext uri="{0D108BD9-81ED-4DB2-BD59-A6C34878D82A}">
                    <a16:rowId xmlns:a16="http://schemas.microsoft.com/office/drawing/2014/main" val="10004"/>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 only falls back for null/undefined</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const id: string</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const id: BookId</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Branded types prevent ID mix-ups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extLst>
                  <a:ext uri="{0D108BD9-81ED-4DB2-BD59-A6C34878D82A}">
                    <a16:rowId xmlns:a16="http://schemas.microsoft.com/office/drawing/2014/main" val="10006"/>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await cds.connect.to('x')</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assertService(await cds.connect.to('x'))</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connect can return null/undefined</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SELECT.one.from(...) → use directly</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if(!result) req.reject(404,...)</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SELECT.one can return null</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extLst>
                  <a:ext uri="{0D108BD9-81ED-4DB2-BD59-A6C34878D82A}">
                    <a16:rowId xmlns:a16="http://schemas.microsoft.com/office/drawing/2014/main" val="10008"/>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module.exports = class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export default class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ES module exports for typed imports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require('@sap/cds')</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import cds from '@sap/cds'</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Typed import uses @cap-js/cds-types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extLst>
                  <a:ext uri="{0D108BD9-81ED-4DB2-BD59-A6C34878D82A}">
                    <a16:rowId xmlns:a16="http://schemas.microsoft.com/office/drawing/2014/main" val="10010"/>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 @ts-ignore</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Fix the actual type!</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@ts-ignore hides real bugs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bl>
          </a:graphicData>
        </a:graphic>
      </p:graphicFrame>
      <p:sp>
        <p:nvSpPr>
          <p:cNvPr id="7" name="Shape 4"/>
          <p:cNvSpPr/>
          <p:nvPr/>
        </p:nvSpPr>
        <p:spPr>
          <a:xfrm>
            <a:off x="426609" y="6729125"/>
            <a:ext cx="11335607" cy="48755"/>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Shape 5"/>
          <p:cNvSpPr/>
          <p:nvPr/>
        </p:nvSpPr>
        <p:spPr>
          <a:xfrm>
            <a:off x="487553" y="6777879"/>
            <a:ext cx="11213719" cy="304721"/>
          </a:xfrm>
          <a:prstGeom prst="rect">
            <a:avLst/>
          </a:prstGeom>
          <a:solidFill>
            <a:srgbClr val="EFF6FF"/>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9" name="Text 6"/>
          <p:cNvSpPr/>
          <p:nvPr/>
        </p:nvSpPr>
        <p:spPr>
          <a:xfrm>
            <a:off x="609441" y="6802257"/>
            <a:ext cx="10969943" cy="268154"/>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  Never use // @ts-ignore or as any to silence errors — fix the root cause to get the full benefit of TypeScript.</a:t>
            </a:r>
            <a:endParaRPr lang="en-US" sz="1200" kern="1200" dirty="0">
              <a:solidFill>
                <a:prstClr val="black"/>
              </a:solidFill>
              <a:latin typeface="Calibri" panose="020F0502020204030204"/>
              <a:ea typeface="+mn-ea"/>
              <a:cs typeface="+mn-cs"/>
            </a:endParaRPr>
          </a:p>
        </p:txBody>
      </p:sp>
      <p:pic>
        <p:nvPicPr>
          <p:cNvPr id="6" name="Google Shape;497;p1">
            <a:extLst>
              <a:ext uri="{FF2B5EF4-FFF2-40B4-BE49-F238E27FC236}">
                <a16:creationId xmlns:a16="http://schemas.microsoft.com/office/drawing/2014/main" id="{D1F276A5-9E90-FFD0-F7AC-4C7CE86A4577}"/>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Text 0"/>
          <p:cNvSpPr/>
          <p:nvPr/>
        </p:nvSpPr>
        <p:spPr>
          <a:xfrm>
            <a:off x="7557071" y="244669"/>
            <a:ext cx="4875530" cy="6338189"/>
          </a:xfrm>
          <a:prstGeom prst="rect">
            <a:avLst/>
          </a:prstGeom>
          <a:noFill/>
          <a:ln/>
        </p:spPr>
        <p:txBody>
          <a:bodyPr wrap="square" lIns="0" tIns="0" rIns="0" bIns="0" rtlCol="0" anchor="ctr"/>
          <a:lstStyle/>
          <a:p>
            <a:pPr defTabSz="1218895">
              <a:buClrTx/>
            </a:pPr>
            <a:r>
              <a:rPr lang="en-US" sz="26660" b="1" kern="1200" dirty="0">
                <a:solidFill>
                  <a:srgbClr val="1B6CA8">
                    <a:alpha val="12000"/>
                  </a:srgbClr>
                </a:solidFill>
                <a:latin typeface="Consolas" pitchFamily="34" charset="0"/>
                <a:ea typeface="Consolas" pitchFamily="34" charset="-122"/>
                <a:cs typeface="Consolas" pitchFamily="34" charset="-120"/>
              </a:rPr>
              <a:t>{ }</a:t>
            </a:r>
            <a:endParaRPr lang="en-US" sz="26660" kern="1200" dirty="0">
              <a:solidFill>
                <a:prstClr val="black"/>
              </a:solidFill>
              <a:latin typeface="Calibri" panose="020F0502020204030204"/>
              <a:ea typeface="+mn-ea"/>
              <a:cs typeface="+mn-cs"/>
            </a:endParaRPr>
          </a:p>
        </p:txBody>
      </p:sp>
      <p:sp>
        <p:nvSpPr>
          <p:cNvPr id="3" name="Shape 1"/>
          <p:cNvSpPr/>
          <p:nvPr/>
        </p:nvSpPr>
        <p:spPr>
          <a:xfrm>
            <a:off x="-1" y="893"/>
            <a:ext cx="219399" cy="6856214"/>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609441" y="634712"/>
            <a:ext cx="9751060" cy="670385"/>
          </a:xfrm>
          <a:prstGeom prst="rect">
            <a:avLst/>
          </a:prstGeom>
          <a:noFill/>
          <a:ln/>
        </p:spPr>
        <p:txBody>
          <a:bodyPr wrap="square" lIns="0" tIns="0" rIns="0" bIns="0" rtlCol="0" anchor="ctr"/>
          <a:lstStyle/>
          <a:p>
            <a:pPr defTabSz="1218895">
              <a:buClrTx/>
            </a:pPr>
            <a:r>
              <a:rPr lang="en-US" sz="3999" b="1" kern="1200" dirty="0">
                <a:solidFill>
                  <a:srgbClr val="FFFFFF"/>
                </a:solidFill>
                <a:latin typeface="Calibri" pitchFamily="34" charset="0"/>
                <a:ea typeface="Calibri" pitchFamily="34" charset="-122"/>
                <a:cs typeface="Calibri" pitchFamily="34" charset="-120"/>
              </a:rPr>
              <a:t>Migration Complete 🎉</a:t>
            </a:r>
            <a:endParaRPr lang="en-US" sz="3999" kern="1200" dirty="0">
              <a:solidFill>
                <a:prstClr val="black"/>
              </a:solidFill>
              <a:latin typeface="Calibri" panose="020F0502020204030204"/>
              <a:ea typeface="+mn-ea"/>
              <a:cs typeface="+mn-cs"/>
            </a:endParaRPr>
          </a:p>
        </p:txBody>
      </p:sp>
      <p:sp>
        <p:nvSpPr>
          <p:cNvPr id="5" name="Text 3"/>
          <p:cNvSpPr/>
          <p:nvPr/>
        </p:nvSpPr>
        <p:spPr>
          <a:xfrm>
            <a:off x="609441" y="1390419"/>
            <a:ext cx="9141619" cy="585064"/>
          </a:xfrm>
          <a:prstGeom prst="rect">
            <a:avLst/>
          </a:prstGeom>
          <a:noFill/>
          <a:ln/>
        </p:spPr>
        <p:txBody>
          <a:bodyPr wrap="square" lIns="0" tIns="0" rIns="0" bIns="0" rtlCol="0" anchor="ctr"/>
          <a:lstStyle/>
          <a:p>
            <a:pPr defTabSz="1218895">
              <a:buClrTx/>
            </a:pPr>
            <a:r>
              <a:rPr lang="en-US" sz="1733" kern="1200" dirty="0">
                <a:solidFill>
                  <a:srgbClr val="2D9CDB"/>
                </a:solidFill>
                <a:latin typeface="Calibri" pitchFamily="34" charset="0"/>
                <a:ea typeface="Calibri" pitchFamily="34" charset="-122"/>
                <a:cs typeface="Calibri" pitchFamily="34" charset="-120"/>
              </a:rPr>
              <a:t>You now have a fully typed SAP BTP CAP project — from utilities to service handlers to entity keys.</a:t>
            </a:r>
            <a:endParaRPr lang="en-US" sz="1733" kern="1200" dirty="0">
              <a:solidFill>
                <a:prstClr val="black"/>
              </a:solidFill>
              <a:latin typeface="Calibri" panose="020F0502020204030204"/>
              <a:ea typeface="+mn-ea"/>
              <a:cs typeface="+mn-cs"/>
            </a:endParaRPr>
          </a:p>
        </p:txBody>
      </p:sp>
      <p:sp>
        <p:nvSpPr>
          <p:cNvPr id="6" name="Shape 4"/>
          <p:cNvSpPr/>
          <p:nvPr/>
        </p:nvSpPr>
        <p:spPr>
          <a:xfrm>
            <a:off x="609441" y="2133937"/>
            <a:ext cx="10726166" cy="682574"/>
          </a:xfrm>
          <a:prstGeom prst="rect">
            <a:avLst/>
          </a:prstGeom>
          <a:solidFill>
            <a:srgbClr val="0070F2">
              <a:alpha val="18000"/>
            </a:srgbClr>
          </a:solidFill>
          <a:ln w="12700">
            <a:solidFill>
              <a:srgbClr val="0070F2">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670385" y="219488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8" name="Image 0" descr="preencoded.png"/>
          <p:cNvPicPr>
            <a:picLocks noChangeAspect="1"/>
          </p:cNvPicPr>
          <p:nvPr/>
        </p:nvPicPr>
        <p:blipFill>
          <a:blip r:embed="rId3"/>
          <a:stretch>
            <a:fillRect/>
          </a:stretch>
        </p:blipFill>
        <p:spPr>
          <a:xfrm>
            <a:off x="694763" y="2219259"/>
            <a:ext cx="487553" cy="487553"/>
          </a:xfrm>
          <a:prstGeom prst="rect">
            <a:avLst/>
          </a:prstGeom>
        </p:spPr>
      </p:pic>
      <p:sp>
        <p:nvSpPr>
          <p:cNvPr id="9" name="Text 6"/>
          <p:cNvSpPr/>
          <p:nvPr/>
        </p:nvSpPr>
        <p:spPr>
          <a:xfrm>
            <a:off x="1365148" y="2194882"/>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Dependencies installed: typescript, @cap-js/cds-types, ts-jest — tsconfig.json tuned for CAP</a:t>
            </a:r>
            <a:endParaRPr lang="en-US" sz="1533" kern="1200" dirty="0">
              <a:solidFill>
                <a:prstClr val="black"/>
              </a:solidFill>
              <a:latin typeface="Calibri" panose="020F0502020204030204"/>
              <a:ea typeface="+mn-ea"/>
              <a:cs typeface="+mn-cs"/>
            </a:endParaRPr>
          </a:p>
        </p:txBody>
      </p:sp>
      <p:sp>
        <p:nvSpPr>
          <p:cNvPr id="10" name="Shape 7"/>
          <p:cNvSpPr/>
          <p:nvPr/>
        </p:nvSpPr>
        <p:spPr>
          <a:xfrm>
            <a:off x="609441" y="2889645"/>
            <a:ext cx="10726166" cy="682574"/>
          </a:xfrm>
          <a:prstGeom prst="rect">
            <a:avLst/>
          </a:prstGeom>
          <a:solidFill>
            <a:srgbClr val="0D9488">
              <a:alpha val="18000"/>
            </a:srgbClr>
          </a:solidFill>
          <a:ln w="12700">
            <a:solidFill>
              <a:srgbClr val="0D9488">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Shape 8"/>
          <p:cNvSpPr/>
          <p:nvPr/>
        </p:nvSpPr>
        <p:spPr>
          <a:xfrm>
            <a:off x="670385" y="2950589"/>
            <a:ext cx="536308" cy="536308"/>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12" name="Image 1" descr="preencoded.png"/>
          <p:cNvPicPr>
            <a:picLocks noChangeAspect="1"/>
          </p:cNvPicPr>
          <p:nvPr/>
        </p:nvPicPr>
        <p:blipFill>
          <a:blip r:embed="rId4"/>
          <a:stretch>
            <a:fillRect/>
          </a:stretch>
        </p:blipFill>
        <p:spPr>
          <a:xfrm>
            <a:off x="694763" y="2974966"/>
            <a:ext cx="487553" cy="487553"/>
          </a:xfrm>
          <a:prstGeom prst="rect">
            <a:avLst/>
          </a:prstGeom>
        </p:spPr>
      </p:pic>
      <p:sp>
        <p:nvSpPr>
          <p:cNvPr id="13" name="Text 9"/>
          <p:cNvSpPr/>
          <p:nvPr/>
        </p:nvSpPr>
        <p:spPr>
          <a:xfrm>
            <a:off x="1365148" y="2950589"/>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payload-transformer.ts &amp; error-mapper.ts: ODataResponse&lt;T&gt;, NormalisedError, union types</a:t>
            </a:r>
            <a:endParaRPr lang="en-US" sz="1533" kern="1200" dirty="0">
              <a:solidFill>
                <a:prstClr val="black"/>
              </a:solidFill>
              <a:latin typeface="Calibri" panose="020F0502020204030204"/>
              <a:ea typeface="+mn-ea"/>
              <a:cs typeface="+mn-cs"/>
            </a:endParaRPr>
          </a:p>
        </p:txBody>
      </p:sp>
      <p:sp>
        <p:nvSpPr>
          <p:cNvPr id="14" name="Shape 10"/>
          <p:cNvSpPr/>
          <p:nvPr/>
        </p:nvSpPr>
        <p:spPr>
          <a:xfrm>
            <a:off x="609441" y="3645352"/>
            <a:ext cx="10726166" cy="682574"/>
          </a:xfrm>
          <a:prstGeom prst="rect">
            <a:avLst/>
          </a:prstGeom>
          <a:solidFill>
            <a:srgbClr val="D97706">
              <a:alpha val="18000"/>
            </a:srgbClr>
          </a:solidFill>
          <a:ln w="12700">
            <a:solidFill>
              <a:srgbClr val="D97706">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Shape 11"/>
          <p:cNvSpPr/>
          <p:nvPr/>
        </p:nvSpPr>
        <p:spPr>
          <a:xfrm>
            <a:off x="670385" y="3706296"/>
            <a:ext cx="536308" cy="536308"/>
          </a:xfrm>
          <a:prstGeom prst="ellipse">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16" name="Image 2" descr="preencoded.png"/>
          <p:cNvPicPr>
            <a:picLocks noChangeAspect="1"/>
          </p:cNvPicPr>
          <p:nvPr/>
        </p:nvPicPr>
        <p:blipFill>
          <a:blip r:embed="rId5"/>
          <a:stretch>
            <a:fillRect/>
          </a:stretch>
        </p:blipFill>
        <p:spPr>
          <a:xfrm>
            <a:off x="694763" y="3730673"/>
            <a:ext cx="487553" cy="487553"/>
          </a:xfrm>
          <a:prstGeom prst="rect">
            <a:avLst/>
          </a:prstGeom>
        </p:spPr>
      </p:pic>
      <p:sp>
        <p:nvSpPr>
          <p:cNvPr id="17" name="Text 12"/>
          <p:cNvSpPr/>
          <p:nvPr/>
        </p:nvSpPr>
        <p:spPr>
          <a:xfrm>
            <a:off x="1365148" y="3706296"/>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CatalogService.ts &amp; CDSService.ts: cds.Request types, typed this.on/before/after handlers</a:t>
            </a:r>
            <a:endParaRPr lang="en-US" sz="1533" kern="1200" dirty="0">
              <a:solidFill>
                <a:prstClr val="black"/>
              </a:solidFill>
              <a:latin typeface="Calibri" panose="020F0502020204030204"/>
              <a:ea typeface="+mn-ea"/>
              <a:cs typeface="+mn-cs"/>
            </a:endParaRPr>
          </a:p>
        </p:txBody>
      </p:sp>
      <p:sp>
        <p:nvSpPr>
          <p:cNvPr id="18" name="Shape 13"/>
          <p:cNvSpPr/>
          <p:nvPr/>
        </p:nvSpPr>
        <p:spPr>
          <a:xfrm>
            <a:off x="609441" y="4401059"/>
            <a:ext cx="10726166" cy="682574"/>
          </a:xfrm>
          <a:prstGeom prst="rect">
            <a:avLst/>
          </a:prstGeom>
          <a:solidFill>
            <a:srgbClr val="DC2626">
              <a:alpha val="18000"/>
            </a:srgbClr>
          </a:solidFill>
          <a:ln w="12700">
            <a:solidFill>
              <a:srgbClr val="DC2626">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4"/>
          <p:cNvSpPr/>
          <p:nvPr/>
        </p:nvSpPr>
        <p:spPr>
          <a:xfrm>
            <a:off x="670385" y="4462003"/>
            <a:ext cx="536308" cy="536308"/>
          </a:xfrm>
          <a:prstGeom prst="ellipse">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0" name="Image 3" descr="preencoded.png"/>
          <p:cNvPicPr>
            <a:picLocks noChangeAspect="1"/>
          </p:cNvPicPr>
          <p:nvPr/>
        </p:nvPicPr>
        <p:blipFill>
          <a:blip r:embed="rId6"/>
          <a:stretch>
            <a:fillRect/>
          </a:stretch>
        </p:blipFill>
        <p:spPr>
          <a:xfrm>
            <a:off x="694763" y="4486381"/>
            <a:ext cx="487553" cy="487553"/>
          </a:xfrm>
          <a:prstGeom prst="rect">
            <a:avLst/>
          </a:prstGeom>
        </p:spPr>
      </p:pic>
      <p:sp>
        <p:nvSpPr>
          <p:cNvPr id="21" name="Text 15"/>
          <p:cNvSpPr/>
          <p:nvPr/>
        </p:nvSpPr>
        <p:spPr>
          <a:xfrm>
            <a:off x="1365148" y="4462003"/>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Branded types: BookId, OrderId, CustomerId — ID mix-ups are compile-time errors</a:t>
            </a:r>
            <a:endParaRPr lang="en-US" sz="1533" kern="1200" dirty="0">
              <a:solidFill>
                <a:prstClr val="black"/>
              </a:solidFill>
              <a:latin typeface="Calibri" panose="020F0502020204030204"/>
              <a:ea typeface="+mn-ea"/>
              <a:cs typeface="+mn-cs"/>
            </a:endParaRPr>
          </a:p>
        </p:txBody>
      </p:sp>
      <p:sp>
        <p:nvSpPr>
          <p:cNvPr id="22" name="Shape 16"/>
          <p:cNvSpPr/>
          <p:nvPr/>
        </p:nvSpPr>
        <p:spPr>
          <a:xfrm>
            <a:off x="609441" y="5156766"/>
            <a:ext cx="10726166" cy="682574"/>
          </a:xfrm>
          <a:prstGeom prst="rect">
            <a:avLst/>
          </a:prstGeom>
          <a:solidFill>
            <a:srgbClr val="1D4ED8">
              <a:alpha val="18000"/>
            </a:srgbClr>
          </a:solidFill>
          <a:ln w="12700">
            <a:solidFill>
              <a:srgbClr val="1D4ED8">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17"/>
          <p:cNvSpPr/>
          <p:nvPr/>
        </p:nvSpPr>
        <p:spPr>
          <a:xfrm>
            <a:off x="670385" y="5217710"/>
            <a:ext cx="536308" cy="536308"/>
          </a:xfrm>
          <a:prstGeom prst="ellipse">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4" name="Image 4" descr="preencoded.png"/>
          <p:cNvPicPr>
            <a:picLocks noChangeAspect="1"/>
          </p:cNvPicPr>
          <p:nvPr/>
        </p:nvPicPr>
        <p:blipFill>
          <a:blip r:embed="rId7"/>
          <a:stretch>
            <a:fillRect/>
          </a:stretch>
        </p:blipFill>
        <p:spPr>
          <a:xfrm>
            <a:off x="694763" y="5242088"/>
            <a:ext cx="487553" cy="487553"/>
          </a:xfrm>
          <a:prstGeom prst="rect">
            <a:avLst/>
          </a:prstGeom>
        </p:spPr>
      </p:pic>
      <p:sp>
        <p:nvSpPr>
          <p:cNvPr id="25" name="Text 18"/>
          <p:cNvSpPr/>
          <p:nvPr/>
        </p:nvSpPr>
        <p:spPr>
          <a:xfrm>
            <a:off x="1365148" y="5217710"/>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Null-safe guards: assertService(), requireData(), requireFound() — all four risk zones covered</a:t>
            </a:r>
            <a:endParaRPr lang="en-US" sz="1533" kern="1200" dirty="0">
              <a:solidFill>
                <a:prstClr val="black"/>
              </a:solidFill>
              <a:latin typeface="Calibri" panose="020F0502020204030204"/>
              <a:ea typeface="+mn-ea"/>
              <a:cs typeface="+mn-cs"/>
            </a:endParaRPr>
          </a:p>
        </p:txBody>
      </p:sp>
      <p:sp>
        <p:nvSpPr>
          <p:cNvPr id="26" name="Shape 19"/>
          <p:cNvSpPr/>
          <p:nvPr/>
        </p:nvSpPr>
        <p:spPr>
          <a:xfrm>
            <a:off x="609441" y="5912473"/>
            <a:ext cx="10726166" cy="682574"/>
          </a:xfrm>
          <a:prstGeom prst="rect">
            <a:avLst/>
          </a:prstGeom>
          <a:solidFill>
            <a:srgbClr val="059669">
              <a:alpha val="18000"/>
            </a:srgbClr>
          </a:solidFill>
          <a:ln w="12700">
            <a:solidFill>
              <a:srgbClr val="059669">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Shape 20"/>
          <p:cNvSpPr/>
          <p:nvPr/>
        </p:nvSpPr>
        <p:spPr>
          <a:xfrm>
            <a:off x="670385" y="5973417"/>
            <a:ext cx="536308" cy="536308"/>
          </a:xfrm>
          <a:prstGeom prst="ellipse">
            <a:avLst/>
          </a:prstGeom>
          <a:solidFill>
            <a:srgbClr val="059669"/>
          </a:solidFill>
          <a:ln w="12700">
            <a:solidFill>
              <a:srgbClr val="059669"/>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8" name="Image 5" descr="preencoded.png"/>
          <p:cNvPicPr>
            <a:picLocks noChangeAspect="1"/>
          </p:cNvPicPr>
          <p:nvPr/>
        </p:nvPicPr>
        <p:blipFill>
          <a:blip r:embed="rId8"/>
          <a:stretch>
            <a:fillRect/>
          </a:stretch>
        </p:blipFill>
        <p:spPr>
          <a:xfrm>
            <a:off x="694763" y="5997795"/>
            <a:ext cx="487553" cy="487553"/>
          </a:xfrm>
          <a:prstGeom prst="rect">
            <a:avLst/>
          </a:prstGeom>
        </p:spPr>
      </p:pic>
      <p:sp>
        <p:nvSpPr>
          <p:cNvPr id="29" name="Text 21"/>
          <p:cNvSpPr/>
          <p:nvPr/>
        </p:nvSpPr>
        <p:spPr>
          <a:xfrm>
            <a:off x="1365148" y="5973417"/>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tsc --noEmit exits 0  ·  All 6 Jest tests pass unchanged  ·  No @ts-ignore</a:t>
            </a:r>
            <a:endParaRPr lang="en-US" sz="1533" kern="1200" dirty="0">
              <a:solidFill>
                <a:prstClr val="black"/>
              </a:solidFill>
              <a:latin typeface="Calibri" panose="020F0502020204030204"/>
              <a:ea typeface="+mn-ea"/>
              <a:cs typeface="+mn-cs"/>
            </a:endParaRPr>
          </a:p>
        </p:txBody>
      </p:sp>
      <p:sp>
        <p:nvSpPr>
          <p:cNvPr id="30" name="Shape 22"/>
          <p:cNvSpPr/>
          <p:nvPr/>
        </p:nvSpPr>
        <p:spPr>
          <a:xfrm>
            <a:off x="609441" y="6521914"/>
            <a:ext cx="10969943" cy="268154"/>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Text 23"/>
          <p:cNvSpPr/>
          <p:nvPr/>
        </p:nvSpPr>
        <p:spPr>
          <a:xfrm>
            <a:off x="609441" y="6521914"/>
            <a:ext cx="10969943" cy="268154"/>
          </a:xfrm>
          <a:prstGeom prst="rect">
            <a:avLst/>
          </a:prstGeom>
          <a:noFill/>
          <a:ln/>
        </p:spPr>
        <p:txBody>
          <a:bodyPr wrap="square" lIns="0" tIns="0" rIns="0" bIns="0" rtlCol="0" anchor="ctr"/>
          <a:lstStyle/>
          <a:p>
            <a:pPr algn="ctr" defTabSz="1218895">
              <a:buClrTx/>
            </a:pPr>
            <a:r>
              <a:rPr lang="en-US" sz="1333" kern="1200" dirty="0">
                <a:solidFill>
                  <a:srgbClr val="FFFFFF"/>
                </a:solidFill>
                <a:latin typeface="Calibri" pitchFamily="34" charset="0"/>
                <a:ea typeface="Calibri" pitchFamily="34" charset="-122"/>
                <a:cs typeface="Calibri" pitchFamily="34" charset="-120"/>
              </a:rPr>
              <a:t>Next Module: Generics Workshop  |  Decorators  |  Utility Types  |  Conditional Types</a:t>
            </a:r>
            <a:endParaRPr lang="en-US" sz="1333" kern="1200" dirty="0">
              <a:solidFill>
                <a:prstClr val="black"/>
              </a:solidFill>
              <a:latin typeface="Calibri" panose="020F0502020204030204"/>
              <a:ea typeface="+mn-ea"/>
              <a:cs typeface="+mn-cs"/>
            </a:endParaRPr>
          </a:p>
        </p:txBody>
      </p:sp>
      <p:pic>
        <p:nvPicPr>
          <p:cNvPr id="32" name="Google Shape;497;p1">
            <a:extLst>
              <a:ext uri="{FF2B5EF4-FFF2-40B4-BE49-F238E27FC236}">
                <a16:creationId xmlns:a16="http://schemas.microsoft.com/office/drawing/2014/main" id="{10BF4CCF-38EA-BC72-532E-F5421EEBEF87}"/>
              </a:ext>
            </a:extLst>
          </p:cNvPr>
          <p:cNvPicPr preferRelativeResize="0"/>
          <p:nvPr/>
        </p:nvPicPr>
        <p:blipFill rotWithShape="1">
          <a:blip r:embed="rId9">
            <a:alphaModFix/>
          </a:blip>
          <a:srcRect/>
          <a:stretch/>
        </p:blipFill>
        <p:spPr>
          <a:xfrm>
            <a:off x="10503584" y="-58217"/>
            <a:ext cx="1733995" cy="165618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1" y="893"/>
            <a:ext cx="219399" cy="6856214"/>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Text 1"/>
          <p:cNvSpPr/>
          <p:nvPr/>
        </p:nvSpPr>
        <p:spPr>
          <a:xfrm>
            <a:off x="7069518" y="366558"/>
            <a:ext cx="5484971" cy="5484971"/>
          </a:xfrm>
          <a:prstGeom prst="rect">
            <a:avLst/>
          </a:prstGeom>
          <a:noFill/>
          <a:ln/>
        </p:spPr>
        <p:txBody>
          <a:bodyPr wrap="square" lIns="0" tIns="0" rIns="0" bIns="0" rtlCol="0" anchor="ctr"/>
          <a:lstStyle/>
          <a:p>
            <a:pPr defTabSz="1218895">
              <a:buClrTx/>
            </a:pPr>
            <a:r>
              <a:rPr lang="en-US" sz="26660" b="1" kern="1200" dirty="0">
                <a:solidFill>
                  <a:srgbClr val="818CF8">
                    <a:alpha val="14000"/>
                  </a:srgbClr>
                </a:solidFill>
                <a:latin typeface="Consolas" pitchFamily="34" charset="0"/>
                <a:ea typeface="Consolas" pitchFamily="34" charset="-122"/>
                <a:cs typeface="Consolas" pitchFamily="34" charset="-120"/>
              </a:rPr>
              <a:t>&lt;T&gt;</a:t>
            </a:r>
            <a:endParaRPr lang="en-US" sz="26660" kern="1200" dirty="0">
              <a:solidFill>
                <a:prstClr val="black"/>
              </a:solidFill>
              <a:latin typeface="Calibri" panose="020F0502020204030204"/>
              <a:ea typeface="+mn-ea"/>
              <a:cs typeface="+mn-cs"/>
            </a:endParaRPr>
          </a:p>
        </p:txBody>
      </p:sp>
      <p:sp>
        <p:nvSpPr>
          <p:cNvPr id="4" name="Text 2"/>
          <p:cNvSpPr/>
          <p:nvPr/>
        </p:nvSpPr>
        <p:spPr>
          <a:xfrm>
            <a:off x="609441" y="915055"/>
            <a:ext cx="10360501" cy="463175"/>
          </a:xfrm>
          <a:prstGeom prst="rect">
            <a:avLst/>
          </a:prstGeom>
          <a:noFill/>
          <a:ln/>
        </p:spPr>
        <p:txBody>
          <a:bodyPr wrap="square" lIns="0" tIns="0" rIns="0" bIns="0" rtlCol="0" anchor="ctr"/>
          <a:lstStyle/>
          <a:p>
            <a:pPr defTabSz="1218895">
              <a:buClrTx/>
            </a:pPr>
            <a:r>
              <a:rPr lang="en-US" sz="1600" i="1" kern="1200" dirty="0">
                <a:solidFill>
                  <a:srgbClr val="94A3B8"/>
                </a:solidFill>
                <a:latin typeface="Calibri" pitchFamily="34" charset="0"/>
                <a:ea typeface="Calibri" pitchFamily="34" charset="-122"/>
                <a:cs typeface="Calibri" pitchFamily="34" charset="-120"/>
              </a:rPr>
              <a:t>SAP BTP CAP  ·  TypeScript Workshop  ·  Module 2</a:t>
            </a:r>
            <a:endParaRPr lang="en-US" sz="1600" kern="1200" dirty="0">
              <a:solidFill>
                <a:prstClr val="black"/>
              </a:solidFill>
              <a:latin typeface="Calibri" panose="020F0502020204030204"/>
              <a:ea typeface="+mn-ea"/>
              <a:cs typeface="+mn-cs"/>
            </a:endParaRPr>
          </a:p>
        </p:txBody>
      </p:sp>
      <p:sp>
        <p:nvSpPr>
          <p:cNvPr id="5" name="Text 3"/>
          <p:cNvSpPr/>
          <p:nvPr/>
        </p:nvSpPr>
        <p:spPr>
          <a:xfrm>
            <a:off x="609441" y="1585440"/>
            <a:ext cx="9751060" cy="3047206"/>
          </a:xfrm>
          <a:prstGeom prst="rect">
            <a:avLst/>
          </a:prstGeom>
          <a:noFill/>
          <a:ln/>
        </p:spPr>
        <p:txBody>
          <a:bodyPr wrap="square" lIns="0" tIns="0" rIns="0" bIns="0" rtlCol="0" anchor="t"/>
          <a:lstStyle/>
          <a:p>
            <a:pPr defTabSz="1218895">
              <a:buClrTx/>
            </a:pPr>
            <a:r>
              <a:rPr lang="en-US" sz="5065" b="1" kern="1200" dirty="0">
                <a:solidFill>
                  <a:srgbClr val="FFFFFF"/>
                </a:solidFill>
                <a:latin typeface="Calibri" pitchFamily="34" charset="0"/>
                <a:ea typeface="Calibri" pitchFamily="34" charset="-122"/>
                <a:cs typeface="Calibri" pitchFamily="34" charset="-120"/>
              </a:rPr>
              <a:t>Generics, Decorators</a:t>
            </a:r>
            <a:endParaRPr lang="en-US" sz="5065" kern="1200" dirty="0">
              <a:solidFill>
                <a:prstClr val="black"/>
              </a:solidFill>
              <a:latin typeface="Calibri" panose="020F0502020204030204"/>
              <a:ea typeface="+mn-ea"/>
              <a:cs typeface="+mn-cs"/>
            </a:endParaRPr>
          </a:p>
          <a:p>
            <a:pPr defTabSz="1218895">
              <a:buClrTx/>
            </a:pPr>
            <a:r>
              <a:rPr lang="en-US" sz="5065" b="1" kern="1200" dirty="0">
                <a:solidFill>
                  <a:srgbClr val="FFFFFF"/>
                </a:solidFill>
                <a:latin typeface="Calibri" pitchFamily="34" charset="0"/>
                <a:ea typeface="Calibri" pitchFamily="34" charset="-122"/>
                <a:cs typeface="Calibri" pitchFamily="34" charset="-120"/>
              </a:rPr>
              <a:t>&amp; Utility Types</a:t>
            </a:r>
            <a:endParaRPr lang="en-US" sz="5065" kern="1200" dirty="0">
              <a:solidFill>
                <a:prstClr val="black"/>
              </a:solidFill>
              <a:latin typeface="Calibri" panose="020F0502020204030204"/>
              <a:ea typeface="+mn-ea"/>
              <a:cs typeface="+mn-cs"/>
            </a:endParaRPr>
          </a:p>
          <a:p>
            <a:pPr defTabSz="1218895">
              <a:buClrTx/>
            </a:pPr>
            <a:r>
              <a:rPr lang="en-US" sz="3732" kern="1200" dirty="0">
                <a:solidFill>
                  <a:srgbClr val="A78BFA"/>
                </a:solidFill>
                <a:latin typeface="Calibri" pitchFamily="34" charset="0"/>
                <a:ea typeface="Calibri" pitchFamily="34" charset="-122"/>
                <a:cs typeface="Calibri" pitchFamily="34" charset="-120"/>
              </a:rPr>
              <a:t>Workshop</a:t>
            </a:r>
            <a:endParaRPr lang="en-US" sz="5065" kern="1200" dirty="0">
              <a:solidFill>
                <a:prstClr val="black"/>
              </a:solidFill>
              <a:latin typeface="Calibri" panose="020F0502020204030204"/>
              <a:ea typeface="+mn-ea"/>
              <a:cs typeface="+mn-cs"/>
            </a:endParaRPr>
          </a:p>
        </p:txBody>
      </p:sp>
      <p:sp>
        <p:nvSpPr>
          <p:cNvPr id="6" name="Shape 4"/>
          <p:cNvSpPr/>
          <p:nvPr/>
        </p:nvSpPr>
        <p:spPr>
          <a:xfrm>
            <a:off x="609441" y="4998311"/>
            <a:ext cx="3534759" cy="877595"/>
          </a:xfrm>
          <a:prstGeom prst="rect">
            <a:avLst/>
          </a:prstGeom>
          <a:solidFill>
            <a:srgbClr val="7C3AED">
              <a:alpha val="85000"/>
            </a:srgbClr>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09441" y="5022689"/>
            <a:ext cx="3534759" cy="390042"/>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Exercise A</a:t>
            </a:r>
            <a:endParaRPr lang="en-US" sz="1733" kern="1200" dirty="0">
              <a:solidFill>
                <a:prstClr val="black"/>
              </a:solidFill>
              <a:latin typeface="Calibri" panose="020F0502020204030204"/>
              <a:ea typeface="+mn-ea"/>
              <a:cs typeface="+mn-cs"/>
            </a:endParaRPr>
          </a:p>
        </p:txBody>
      </p:sp>
      <p:sp>
        <p:nvSpPr>
          <p:cNvPr id="8" name="Text 6"/>
          <p:cNvSpPr/>
          <p:nvPr/>
        </p:nvSpPr>
        <p:spPr>
          <a:xfrm>
            <a:off x="609441" y="5388353"/>
            <a:ext cx="3534759" cy="438798"/>
          </a:xfrm>
          <a:prstGeom prst="rect">
            <a:avLst/>
          </a:prstGeom>
          <a:noFill/>
          <a:ln/>
        </p:spPr>
        <p:txBody>
          <a:bodyPr wrap="square" lIns="0" tIns="0" rIns="0" bIns="0" rtlCol="0" anchor="ctr"/>
          <a:lstStyle/>
          <a:p>
            <a:pPr algn="ctr" defTabSz="1218895">
              <a:buClrTx/>
            </a:pPr>
            <a:r>
              <a:rPr lang="en-US" sz="1466" kern="1200" dirty="0">
                <a:solidFill>
                  <a:srgbClr val="FFFFFF"/>
                </a:solidFill>
                <a:latin typeface="Consolas" pitchFamily="34" charset="0"/>
                <a:ea typeface="Consolas" pitchFamily="34" charset="-122"/>
                <a:cs typeface="Consolas" pitchFamily="34" charset="-120"/>
              </a:rPr>
              <a:t>Generics</a:t>
            </a:r>
            <a:endParaRPr lang="en-US" sz="1466" kern="1200" dirty="0">
              <a:solidFill>
                <a:prstClr val="black"/>
              </a:solidFill>
              <a:latin typeface="Calibri" panose="020F0502020204030204"/>
              <a:ea typeface="+mn-ea"/>
              <a:cs typeface="+mn-cs"/>
            </a:endParaRPr>
          </a:p>
        </p:txBody>
      </p:sp>
      <p:sp>
        <p:nvSpPr>
          <p:cNvPr id="9" name="Shape 7"/>
          <p:cNvSpPr/>
          <p:nvPr/>
        </p:nvSpPr>
        <p:spPr>
          <a:xfrm>
            <a:off x="4485487" y="4998311"/>
            <a:ext cx="3534759" cy="877595"/>
          </a:xfrm>
          <a:prstGeom prst="rect">
            <a:avLst/>
          </a:prstGeom>
          <a:solidFill>
            <a:srgbClr val="0D9488">
              <a:alpha val="85000"/>
            </a:srgbClr>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4485487" y="5022689"/>
            <a:ext cx="3534759" cy="390042"/>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Exercise B</a:t>
            </a:r>
            <a:endParaRPr lang="en-US" sz="1733" kern="1200" dirty="0">
              <a:solidFill>
                <a:prstClr val="black"/>
              </a:solidFill>
              <a:latin typeface="Calibri" panose="020F0502020204030204"/>
              <a:ea typeface="+mn-ea"/>
              <a:cs typeface="+mn-cs"/>
            </a:endParaRPr>
          </a:p>
        </p:txBody>
      </p:sp>
      <p:sp>
        <p:nvSpPr>
          <p:cNvPr id="11" name="Text 9"/>
          <p:cNvSpPr/>
          <p:nvPr/>
        </p:nvSpPr>
        <p:spPr>
          <a:xfrm>
            <a:off x="4485487" y="5388353"/>
            <a:ext cx="3534759" cy="438798"/>
          </a:xfrm>
          <a:prstGeom prst="rect">
            <a:avLst/>
          </a:prstGeom>
          <a:noFill/>
          <a:ln/>
        </p:spPr>
        <p:txBody>
          <a:bodyPr wrap="square" lIns="0" tIns="0" rIns="0" bIns="0" rtlCol="0" anchor="ctr"/>
          <a:lstStyle/>
          <a:p>
            <a:pPr algn="ctr" defTabSz="1218895">
              <a:buClrTx/>
            </a:pPr>
            <a:r>
              <a:rPr lang="en-US" sz="1466" kern="1200" dirty="0">
                <a:solidFill>
                  <a:srgbClr val="FFFFFF"/>
                </a:solidFill>
                <a:latin typeface="Consolas" pitchFamily="34" charset="0"/>
                <a:ea typeface="Consolas" pitchFamily="34" charset="-122"/>
                <a:cs typeface="Consolas" pitchFamily="34" charset="-120"/>
              </a:rPr>
              <a:t>Decorators</a:t>
            </a:r>
            <a:endParaRPr lang="en-US" sz="1466" kern="1200" dirty="0">
              <a:solidFill>
                <a:prstClr val="black"/>
              </a:solidFill>
              <a:latin typeface="Calibri" panose="020F0502020204030204"/>
              <a:ea typeface="+mn-ea"/>
              <a:cs typeface="+mn-cs"/>
            </a:endParaRPr>
          </a:p>
        </p:txBody>
      </p:sp>
      <p:sp>
        <p:nvSpPr>
          <p:cNvPr id="12" name="Shape 10"/>
          <p:cNvSpPr/>
          <p:nvPr/>
        </p:nvSpPr>
        <p:spPr>
          <a:xfrm>
            <a:off x="8361534" y="4998311"/>
            <a:ext cx="3534759" cy="877595"/>
          </a:xfrm>
          <a:prstGeom prst="rect">
            <a:avLst/>
          </a:prstGeom>
          <a:solidFill>
            <a:srgbClr val="D97706">
              <a:alpha val="85000"/>
            </a:srgbClr>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8361534" y="5022689"/>
            <a:ext cx="3534759" cy="390042"/>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Exercise C</a:t>
            </a:r>
            <a:endParaRPr lang="en-US" sz="1733" kern="1200" dirty="0">
              <a:solidFill>
                <a:prstClr val="black"/>
              </a:solidFill>
              <a:latin typeface="Calibri" panose="020F0502020204030204"/>
              <a:ea typeface="+mn-ea"/>
              <a:cs typeface="+mn-cs"/>
            </a:endParaRPr>
          </a:p>
        </p:txBody>
      </p:sp>
      <p:sp>
        <p:nvSpPr>
          <p:cNvPr id="14" name="Text 12"/>
          <p:cNvSpPr/>
          <p:nvPr/>
        </p:nvSpPr>
        <p:spPr>
          <a:xfrm>
            <a:off x="8361534" y="5388353"/>
            <a:ext cx="3534759" cy="438798"/>
          </a:xfrm>
          <a:prstGeom prst="rect">
            <a:avLst/>
          </a:prstGeom>
          <a:noFill/>
          <a:ln/>
        </p:spPr>
        <p:txBody>
          <a:bodyPr wrap="square" lIns="0" tIns="0" rIns="0" bIns="0" rtlCol="0" anchor="ctr"/>
          <a:lstStyle/>
          <a:p>
            <a:pPr algn="ctr" defTabSz="1218895">
              <a:buClrTx/>
            </a:pPr>
            <a:r>
              <a:rPr lang="en-US" sz="1466" kern="1200" dirty="0">
                <a:solidFill>
                  <a:srgbClr val="FFFFFF"/>
                </a:solidFill>
                <a:latin typeface="Consolas" pitchFamily="34" charset="0"/>
                <a:ea typeface="Consolas" pitchFamily="34" charset="-122"/>
                <a:cs typeface="Consolas" pitchFamily="34" charset="-120"/>
              </a:rPr>
              <a:t>Utility Types</a:t>
            </a:r>
            <a:endParaRPr lang="en-US" sz="1466" kern="1200" dirty="0">
              <a:solidFill>
                <a:prstClr val="black"/>
              </a:solidFill>
              <a:latin typeface="Calibri" panose="020F0502020204030204"/>
              <a:ea typeface="+mn-ea"/>
              <a:cs typeface="+mn-cs"/>
            </a:endParaRPr>
          </a:p>
        </p:txBody>
      </p:sp>
      <p:sp>
        <p:nvSpPr>
          <p:cNvPr id="15" name="Shape 13"/>
          <p:cNvSpPr/>
          <p:nvPr/>
        </p:nvSpPr>
        <p:spPr>
          <a:xfrm>
            <a:off x="9507283" y="5973417"/>
            <a:ext cx="2437765" cy="755707"/>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9507283" y="5973417"/>
            <a:ext cx="2437765" cy="755707"/>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Hands-On Lab</a:t>
            </a:r>
            <a:endParaRPr lang="en-US" sz="1600" kern="1200" dirty="0">
              <a:solidFill>
                <a:prstClr val="black"/>
              </a:solidFill>
              <a:latin typeface="Calibri" panose="020F0502020204030204"/>
              <a:ea typeface="+mn-ea"/>
              <a:cs typeface="+mn-cs"/>
            </a:endParaRPr>
          </a:p>
        </p:txBody>
      </p:sp>
      <p:pic>
        <p:nvPicPr>
          <p:cNvPr id="17" name="Google Shape;497;p1">
            <a:extLst>
              <a:ext uri="{FF2B5EF4-FFF2-40B4-BE49-F238E27FC236}">
                <a16:creationId xmlns:a16="http://schemas.microsoft.com/office/drawing/2014/main" id="{53643AF3-7C42-1827-A511-4A8059FC4EAB}"/>
              </a:ext>
            </a:extLst>
          </p:cNvPr>
          <p:cNvPicPr preferRelativeResize="0"/>
          <p:nvPr/>
        </p:nvPicPr>
        <p:blipFill rotWithShape="1">
          <a:blip r:embed="rId3">
            <a:alphaModFix/>
          </a:blip>
          <a:srcRect/>
          <a:stretch/>
        </p:blipFill>
        <p:spPr>
          <a:xfrm>
            <a:off x="7348589" y="979768"/>
            <a:ext cx="3621353" cy="3499743"/>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Workshop Overview</a:t>
            </a:r>
            <a:endParaRPr lang="en-US" sz="3466" kern="1200" dirty="0">
              <a:solidFill>
                <a:prstClr val="black"/>
              </a:solidFill>
              <a:latin typeface="Calibri" panose="020F0502020204030204"/>
              <a:ea typeface="+mn-ea"/>
              <a:cs typeface="+mn-cs"/>
            </a:endParaRPr>
          </a:p>
        </p:txBody>
      </p:sp>
      <p:sp>
        <p:nvSpPr>
          <p:cNvPr id="5" name="Shape 3"/>
          <p:cNvSpPr/>
          <p:nvPr/>
        </p:nvSpPr>
        <p:spPr>
          <a:xfrm>
            <a:off x="426608" y="1402608"/>
            <a:ext cx="3656648" cy="63381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6" name="Image 0" descr="preencoded.png"/>
          <p:cNvPicPr>
            <a:picLocks noChangeAspect="1"/>
          </p:cNvPicPr>
          <p:nvPr/>
        </p:nvPicPr>
        <p:blipFill>
          <a:blip r:embed="rId3"/>
          <a:stretch>
            <a:fillRect/>
          </a:stretch>
        </p:blipFill>
        <p:spPr>
          <a:xfrm>
            <a:off x="548496" y="1463552"/>
            <a:ext cx="438798" cy="438798"/>
          </a:xfrm>
          <a:prstGeom prst="rect">
            <a:avLst/>
          </a:prstGeom>
        </p:spPr>
      </p:pic>
      <p:sp>
        <p:nvSpPr>
          <p:cNvPr id="7" name="Text 4"/>
          <p:cNvSpPr/>
          <p:nvPr/>
        </p:nvSpPr>
        <p:spPr>
          <a:xfrm>
            <a:off x="1084805" y="1439174"/>
            <a:ext cx="2925318" cy="585064"/>
          </a:xfrm>
          <a:prstGeom prst="rect">
            <a:avLst/>
          </a:prstGeom>
          <a:noFill/>
          <a:ln/>
        </p:spPr>
        <p:txBody>
          <a:bodyPr wrap="square" lIns="0" tIns="0" rIns="0" bIns="0" rtlCol="0" anchor="ctr"/>
          <a:lstStyle/>
          <a:p>
            <a:pPr defTabSz="1218895">
              <a:buClrTx/>
            </a:pPr>
            <a:r>
              <a:rPr lang="en-US" sz="1600" b="1" kern="1200" dirty="0">
                <a:solidFill>
                  <a:srgbClr val="FFFFFF"/>
                </a:solidFill>
                <a:latin typeface="Calibri" pitchFamily="34" charset="0"/>
                <a:ea typeface="Calibri" pitchFamily="34" charset="-122"/>
                <a:cs typeface="Calibri" pitchFamily="34" charset="-120"/>
              </a:rPr>
              <a:t>A  — Generics</a:t>
            </a:r>
            <a:endParaRPr lang="en-US" sz="1600" kern="1200" dirty="0">
              <a:solidFill>
                <a:prstClr val="black"/>
              </a:solidFill>
              <a:latin typeface="Calibri" panose="020F0502020204030204"/>
              <a:ea typeface="+mn-ea"/>
              <a:cs typeface="+mn-cs"/>
            </a:endParaRPr>
          </a:p>
        </p:txBody>
      </p:sp>
      <p:sp>
        <p:nvSpPr>
          <p:cNvPr id="8" name="Shape 5"/>
          <p:cNvSpPr/>
          <p:nvPr/>
        </p:nvSpPr>
        <p:spPr>
          <a:xfrm>
            <a:off x="426608" y="2036427"/>
            <a:ext cx="3656648" cy="4534243"/>
          </a:xfrm>
          <a:prstGeom prst="rect">
            <a:avLst/>
          </a:prstGeom>
          <a:solidFill>
            <a:srgbClr val="EDE9FE"/>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9" name="Text 6"/>
          <p:cNvSpPr/>
          <p:nvPr/>
        </p:nvSpPr>
        <p:spPr>
          <a:xfrm>
            <a:off x="597252" y="2158315"/>
            <a:ext cx="3351927" cy="755707"/>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What are generics &amp; why they exist</a:t>
            </a:r>
            <a:endParaRPr lang="en-US" kern="1200" dirty="0">
              <a:solidFill>
                <a:prstClr val="black"/>
              </a:solidFill>
              <a:latin typeface="Calibri" panose="020F0502020204030204"/>
              <a:ea typeface="+mn-ea"/>
              <a:cs typeface="+mn-cs"/>
            </a:endParaRPr>
          </a:p>
        </p:txBody>
      </p:sp>
      <p:sp>
        <p:nvSpPr>
          <p:cNvPr id="10" name="Text 7"/>
          <p:cNvSpPr/>
          <p:nvPr/>
        </p:nvSpPr>
        <p:spPr>
          <a:xfrm>
            <a:off x="597252" y="3011533"/>
            <a:ext cx="3351927" cy="755707"/>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Type parameters: T, K, V</a:t>
            </a:r>
            <a:endParaRPr lang="en-US" kern="1200" dirty="0">
              <a:solidFill>
                <a:prstClr val="black"/>
              </a:solidFill>
              <a:latin typeface="Calibri" panose="020F0502020204030204"/>
              <a:ea typeface="+mn-ea"/>
              <a:cs typeface="+mn-cs"/>
            </a:endParaRPr>
          </a:p>
        </p:txBody>
      </p:sp>
      <p:sp>
        <p:nvSpPr>
          <p:cNvPr id="11" name="Text 8"/>
          <p:cNvSpPr/>
          <p:nvPr/>
        </p:nvSpPr>
        <p:spPr>
          <a:xfrm>
            <a:off x="597252" y="3864751"/>
            <a:ext cx="3351927" cy="755707"/>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Generic constraints: extends</a:t>
            </a:r>
            <a:endParaRPr lang="en-US" kern="1200" dirty="0">
              <a:solidFill>
                <a:prstClr val="black"/>
              </a:solidFill>
              <a:latin typeface="Calibri" panose="020F0502020204030204"/>
              <a:ea typeface="+mn-ea"/>
              <a:cs typeface="+mn-cs"/>
            </a:endParaRPr>
          </a:p>
        </p:txBody>
      </p:sp>
      <p:sp>
        <p:nvSpPr>
          <p:cNvPr id="12" name="Text 9"/>
          <p:cNvSpPr/>
          <p:nvPr/>
        </p:nvSpPr>
        <p:spPr>
          <a:xfrm>
            <a:off x="597252" y="4717968"/>
            <a:ext cx="3351927" cy="755707"/>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ConfigLoader&lt;T&gt; implementation</a:t>
            </a:r>
            <a:endParaRPr lang="en-US" kern="1200" dirty="0">
              <a:solidFill>
                <a:prstClr val="black"/>
              </a:solidFill>
              <a:latin typeface="Calibri" panose="020F0502020204030204"/>
              <a:ea typeface="+mn-ea"/>
              <a:cs typeface="+mn-cs"/>
            </a:endParaRPr>
          </a:p>
        </p:txBody>
      </p:sp>
      <p:sp>
        <p:nvSpPr>
          <p:cNvPr id="13" name="Text 10"/>
          <p:cNvSpPr/>
          <p:nvPr/>
        </p:nvSpPr>
        <p:spPr>
          <a:xfrm>
            <a:off x="597252" y="5571186"/>
            <a:ext cx="3351927" cy="755707"/>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Testing two config shapes</a:t>
            </a:r>
            <a:endParaRPr lang="en-US" kern="1200" dirty="0">
              <a:solidFill>
                <a:prstClr val="black"/>
              </a:solidFill>
              <a:latin typeface="Calibri" panose="020F0502020204030204"/>
              <a:ea typeface="+mn-ea"/>
              <a:cs typeface="+mn-cs"/>
            </a:endParaRPr>
          </a:p>
        </p:txBody>
      </p:sp>
      <p:sp>
        <p:nvSpPr>
          <p:cNvPr id="14" name="Shape 11"/>
          <p:cNvSpPr/>
          <p:nvPr/>
        </p:nvSpPr>
        <p:spPr>
          <a:xfrm>
            <a:off x="4351410" y="1402608"/>
            <a:ext cx="3656648" cy="63381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15" name="Image 1" descr="preencoded.png"/>
          <p:cNvPicPr>
            <a:picLocks noChangeAspect="1"/>
          </p:cNvPicPr>
          <p:nvPr/>
        </p:nvPicPr>
        <p:blipFill>
          <a:blip r:embed="rId4"/>
          <a:stretch>
            <a:fillRect/>
          </a:stretch>
        </p:blipFill>
        <p:spPr>
          <a:xfrm>
            <a:off x="4473298" y="1463552"/>
            <a:ext cx="438798" cy="438798"/>
          </a:xfrm>
          <a:prstGeom prst="rect">
            <a:avLst/>
          </a:prstGeom>
        </p:spPr>
      </p:pic>
      <p:sp>
        <p:nvSpPr>
          <p:cNvPr id="16" name="Text 12"/>
          <p:cNvSpPr/>
          <p:nvPr/>
        </p:nvSpPr>
        <p:spPr>
          <a:xfrm>
            <a:off x="5009607" y="1439174"/>
            <a:ext cx="2925318" cy="585064"/>
          </a:xfrm>
          <a:prstGeom prst="rect">
            <a:avLst/>
          </a:prstGeom>
          <a:noFill/>
          <a:ln/>
        </p:spPr>
        <p:txBody>
          <a:bodyPr wrap="square" lIns="0" tIns="0" rIns="0" bIns="0" rtlCol="0" anchor="ctr"/>
          <a:lstStyle/>
          <a:p>
            <a:pPr defTabSz="1218895">
              <a:buClrTx/>
            </a:pPr>
            <a:r>
              <a:rPr lang="en-US" sz="1600" b="1" kern="1200" dirty="0">
                <a:solidFill>
                  <a:srgbClr val="FFFFFF"/>
                </a:solidFill>
                <a:latin typeface="Calibri" pitchFamily="34" charset="0"/>
                <a:ea typeface="Calibri" pitchFamily="34" charset="-122"/>
                <a:cs typeface="Calibri" pitchFamily="34" charset="-120"/>
              </a:rPr>
              <a:t>B  — Decorators</a:t>
            </a:r>
            <a:endParaRPr lang="en-US" sz="1600" kern="1200" dirty="0">
              <a:solidFill>
                <a:prstClr val="black"/>
              </a:solidFill>
              <a:latin typeface="Calibri" panose="020F0502020204030204"/>
              <a:ea typeface="+mn-ea"/>
              <a:cs typeface="+mn-cs"/>
            </a:endParaRPr>
          </a:p>
        </p:txBody>
      </p:sp>
      <p:sp>
        <p:nvSpPr>
          <p:cNvPr id="17" name="Shape 13"/>
          <p:cNvSpPr/>
          <p:nvPr/>
        </p:nvSpPr>
        <p:spPr>
          <a:xfrm>
            <a:off x="4351410" y="2036427"/>
            <a:ext cx="3656648" cy="4534243"/>
          </a:xfrm>
          <a:prstGeom prst="rect">
            <a:avLst/>
          </a:prstGeom>
          <a:solidFill>
            <a:srgbClr val="CCFBF1"/>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Text 14"/>
          <p:cNvSpPr/>
          <p:nvPr/>
        </p:nvSpPr>
        <p:spPr>
          <a:xfrm>
            <a:off x="4522054" y="2158315"/>
            <a:ext cx="3351927" cy="75570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What is a decorator?</a:t>
            </a:r>
            <a:endParaRPr lang="en-US" kern="1200" dirty="0">
              <a:solidFill>
                <a:prstClr val="black"/>
              </a:solidFill>
              <a:latin typeface="Calibri" panose="020F0502020204030204"/>
              <a:ea typeface="+mn-ea"/>
              <a:cs typeface="+mn-cs"/>
            </a:endParaRPr>
          </a:p>
        </p:txBody>
      </p:sp>
      <p:sp>
        <p:nvSpPr>
          <p:cNvPr id="19" name="Text 15"/>
          <p:cNvSpPr/>
          <p:nvPr/>
        </p:nvSpPr>
        <p:spPr>
          <a:xfrm>
            <a:off x="4522054" y="3011533"/>
            <a:ext cx="3351927" cy="75570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How TS decorators work</a:t>
            </a:r>
            <a:endParaRPr lang="en-US" kern="1200" dirty="0">
              <a:solidFill>
                <a:prstClr val="black"/>
              </a:solidFill>
              <a:latin typeface="Calibri" panose="020F0502020204030204"/>
              <a:ea typeface="+mn-ea"/>
              <a:cs typeface="+mn-cs"/>
            </a:endParaRPr>
          </a:p>
        </p:txBody>
      </p:sp>
      <p:sp>
        <p:nvSpPr>
          <p:cNvPr id="20" name="Text 16"/>
          <p:cNvSpPr/>
          <p:nvPr/>
        </p:nvSpPr>
        <p:spPr>
          <a:xfrm>
            <a:off x="4522054" y="3864751"/>
            <a:ext cx="3351927" cy="75570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Method decorator anatomy</a:t>
            </a:r>
            <a:endParaRPr lang="en-US" kern="1200" dirty="0">
              <a:solidFill>
                <a:prstClr val="black"/>
              </a:solidFill>
              <a:latin typeface="Calibri" panose="020F0502020204030204"/>
              <a:ea typeface="+mn-ea"/>
              <a:cs typeface="+mn-cs"/>
            </a:endParaRPr>
          </a:p>
        </p:txBody>
      </p:sp>
      <p:sp>
        <p:nvSpPr>
          <p:cNvPr id="21" name="Text 17"/>
          <p:cNvSpPr/>
          <p:nvPr/>
        </p:nvSpPr>
        <p:spPr>
          <a:xfrm>
            <a:off x="4522054" y="4717968"/>
            <a:ext cx="3351927" cy="75570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@LogRequest implementation</a:t>
            </a:r>
            <a:endParaRPr lang="en-US" kern="1200" dirty="0">
              <a:solidFill>
                <a:prstClr val="black"/>
              </a:solidFill>
              <a:latin typeface="Calibri" panose="020F0502020204030204"/>
              <a:ea typeface="+mn-ea"/>
              <a:cs typeface="+mn-cs"/>
            </a:endParaRPr>
          </a:p>
        </p:txBody>
      </p:sp>
      <p:sp>
        <p:nvSpPr>
          <p:cNvPr id="22" name="Text 18"/>
          <p:cNvSpPr/>
          <p:nvPr/>
        </p:nvSpPr>
        <p:spPr>
          <a:xfrm>
            <a:off x="4522054" y="5571186"/>
            <a:ext cx="3351927" cy="75570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Applying to CAP handler class</a:t>
            </a:r>
            <a:endParaRPr lang="en-US" kern="1200" dirty="0">
              <a:solidFill>
                <a:prstClr val="black"/>
              </a:solidFill>
              <a:latin typeface="Calibri" panose="020F0502020204030204"/>
              <a:ea typeface="+mn-ea"/>
              <a:cs typeface="+mn-cs"/>
            </a:endParaRPr>
          </a:p>
        </p:txBody>
      </p:sp>
      <p:sp>
        <p:nvSpPr>
          <p:cNvPr id="23" name="Shape 19"/>
          <p:cNvSpPr/>
          <p:nvPr/>
        </p:nvSpPr>
        <p:spPr>
          <a:xfrm>
            <a:off x="8276211" y="1402608"/>
            <a:ext cx="3656648" cy="63381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4" name="Image 2" descr="preencoded.png"/>
          <p:cNvPicPr>
            <a:picLocks noChangeAspect="1"/>
          </p:cNvPicPr>
          <p:nvPr/>
        </p:nvPicPr>
        <p:blipFill>
          <a:blip r:embed="rId5"/>
          <a:stretch>
            <a:fillRect/>
          </a:stretch>
        </p:blipFill>
        <p:spPr>
          <a:xfrm>
            <a:off x="8398100" y="1463552"/>
            <a:ext cx="438798" cy="438798"/>
          </a:xfrm>
          <a:prstGeom prst="rect">
            <a:avLst/>
          </a:prstGeom>
        </p:spPr>
      </p:pic>
      <p:sp>
        <p:nvSpPr>
          <p:cNvPr id="25" name="Text 20"/>
          <p:cNvSpPr/>
          <p:nvPr/>
        </p:nvSpPr>
        <p:spPr>
          <a:xfrm>
            <a:off x="8934408" y="1439174"/>
            <a:ext cx="2925318" cy="585064"/>
          </a:xfrm>
          <a:prstGeom prst="rect">
            <a:avLst/>
          </a:prstGeom>
          <a:noFill/>
          <a:ln/>
        </p:spPr>
        <p:txBody>
          <a:bodyPr wrap="square" lIns="0" tIns="0" rIns="0" bIns="0" rtlCol="0" anchor="ctr"/>
          <a:lstStyle/>
          <a:p>
            <a:pPr defTabSz="1218895">
              <a:buClrTx/>
            </a:pPr>
            <a:r>
              <a:rPr lang="en-US" sz="1600" b="1" kern="1200" dirty="0">
                <a:solidFill>
                  <a:srgbClr val="FFFFFF"/>
                </a:solidFill>
                <a:latin typeface="Calibri" pitchFamily="34" charset="0"/>
                <a:ea typeface="Calibri" pitchFamily="34" charset="-122"/>
                <a:cs typeface="Calibri" pitchFamily="34" charset="-120"/>
              </a:rPr>
              <a:t>C  — Utility Types</a:t>
            </a:r>
            <a:endParaRPr lang="en-US" sz="1600" kern="1200" dirty="0">
              <a:solidFill>
                <a:prstClr val="black"/>
              </a:solidFill>
              <a:latin typeface="Calibri" panose="020F0502020204030204"/>
              <a:ea typeface="+mn-ea"/>
              <a:cs typeface="+mn-cs"/>
            </a:endParaRPr>
          </a:p>
        </p:txBody>
      </p:sp>
      <p:sp>
        <p:nvSpPr>
          <p:cNvPr id="26" name="Shape 21"/>
          <p:cNvSpPr/>
          <p:nvPr/>
        </p:nvSpPr>
        <p:spPr>
          <a:xfrm>
            <a:off x="8276211" y="2036427"/>
            <a:ext cx="3656648" cy="4534243"/>
          </a:xfrm>
          <a:prstGeom prst="rect">
            <a:avLst/>
          </a:prstGeom>
          <a:solidFill>
            <a:srgbClr val="FEF3C7"/>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Text 22"/>
          <p:cNvSpPr/>
          <p:nvPr/>
        </p:nvSpPr>
        <p:spPr>
          <a:xfrm>
            <a:off x="8446855" y="2158315"/>
            <a:ext cx="3351927" cy="755707"/>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Built-in mapped types</a:t>
            </a:r>
            <a:endParaRPr lang="en-US" kern="1200" dirty="0">
              <a:solidFill>
                <a:prstClr val="black"/>
              </a:solidFill>
              <a:latin typeface="Calibri" panose="020F0502020204030204"/>
              <a:ea typeface="+mn-ea"/>
              <a:cs typeface="+mn-cs"/>
            </a:endParaRPr>
          </a:p>
        </p:txBody>
      </p:sp>
      <p:sp>
        <p:nvSpPr>
          <p:cNvPr id="28" name="Text 23"/>
          <p:cNvSpPr/>
          <p:nvPr/>
        </p:nvSpPr>
        <p:spPr>
          <a:xfrm>
            <a:off x="8446855" y="3011533"/>
            <a:ext cx="3351927" cy="755707"/>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Readonly&lt;T&gt;, Partial&lt;T&gt;</a:t>
            </a:r>
            <a:endParaRPr lang="en-US" kern="1200" dirty="0">
              <a:solidFill>
                <a:prstClr val="black"/>
              </a:solidFill>
              <a:latin typeface="Calibri" panose="020F0502020204030204"/>
              <a:ea typeface="+mn-ea"/>
              <a:cs typeface="+mn-cs"/>
            </a:endParaRPr>
          </a:p>
        </p:txBody>
      </p:sp>
      <p:sp>
        <p:nvSpPr>
          <p:cNvPr id="29" name="Text 24"/>
          <p:cNvSpPr/>
          <p:nvPr/>
        </p:nvSpPr>
        <p:spPr>
          <a:xfrm>
            <a:off x="8446855" y="3864751"/>
            <a:ext cx="3351927" cy="755707"/>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Omit&lt;T,K&gt;, Pick&lt;T,K&gt;</a:t>
            </a:r>
            <a:endParaRPr lang="en-US" kern="1200" dirty="0">
              <a:solidFill>
                <a:prstClr val="black"/>
              </a:solidFill>
              <a:latin typeface="Calibri" panose="020F0502020204030204"/>
              <a:ea typeface="+mn-ea"/>
              <a:cs typeface="+mn-cs"/>
            </a:endParaRPr>
          </a:p>
        </p:txBody>
      </p:sp>
      <p:sp>
        <p:nvSpPr>
          <p:cNvPr id="30" name="Text 25"/>
          <p:cNvSpPr/>
          <p:nvPr/>
        </p:nvSpPr>
        <p:spPr>
          <a:xfrm>
            <a:off x="8446855" y="4717968"/>
            <a:ext cx="3351927" cy="755707"/>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Deriving BTP entity types</a:t>
            </a:r>
            <a:endParaRPr lang="en-US" kern="1200" dirty="0">
              <a:solidFill>
                <a:prstClr val="black"/>
              </a:solidFill>
              <a:latin typeface="Calibri" panose="020F0502020204030204"/>
              <a:ea typeface="+mn-ea"/>
              <a:cs typeface="+mn-cs"/>
            </a:endParaRPr>
          </a:p>
        </p:txBody>
      </p:sp>
      <p:sp>
        <p:nvSpPr>
          <p:cNvPr id="31" name="Text 26"/>
          <p:cNvSpPr/>
          <p:nvPr/>
        </p:nvSpPr>
        <p:spPr>
          <a:xfrm>
            <a:off x="8446855" y="5571186"/>
            <a:ext cx="3351927" cy="755707"/>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Eliminating duplication</a:t>
            </a:r>
            <a:endParaRPr lang="en-US" kern="1200" dirty="0">
              <a:solidFill>
                <a:prstClr val="black"/>
              </a:solidFill>
              <a:latin typeface="Calibri" panose="020F0502020204030204"/>
              <a:ea typeface="+mn-ea"/>
              <a:cs typeface="+mn-cs"/>
            </a:endParaRPr>
          </a:p>
        </p:txBody>
      </p:sp>
      <p:pic>
        <p:nvPicPr>
          <p:cNvPr id="32" name="Google Shape;497;p1">
            <a:extLst>
              <a:ext uri="{FF2B5EF4-FFF2-40B4-BE49-F238E27FC236}">
                <a16:creationId xmlns:a16="http://schemas.microsoft.com/office/drawing/2014/main" id="{11790480-726A-7584-4476-F0E2D47AAB87}"/>
              </a:ext>
            </a:extLst>
          </p:cNvPr>
          <p:cNvPicPr preferRelativeResize="0"/>
          <p:nvPr/>
        </p:nvPicPr>
        <p:blipFill rotWithShape="1">
          <a:blip r:embed="rId6">
            <a:alphaModFix/>
          </a:blip>
          <a:srcRect/>
          <a:stretch/>
        </p:blipFill>
        <p:spPr>
          <a:xfrm>
            <a:off x="10503584" y="-58217"/>
            <a:ext cx="1733995" cy="165618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A — Generics: The Big Idea</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Concept  ·  Why generics exist &amp; what problem they solve</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3" y="1402608"/>
            <a:ext cx="11213719" cy="877595"/>
          </a:xfrm>
          <a:prstGeom prst="rect">
            <a:avLst/>
          </a:prstGeom>
          <a:solidFill>
            <a:srgbClr val="EDE9FE"/>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439175"/>
            <a:ext cx="10848054" cy="804462"/>
          </a:xfrm>
          <a:prstGeom prst="rect">
            <a:avLst/>
          </a:prstGeom>
          <a:noFill/>
          <a:ln/>
        </p:spPr>
        <p:txBody>
          <a:bodyPr wrap="square" lIns="0" tIns="0" rIns="0" bIns="0" rtlCol="0" anchor="ctr"/>
          <a:lstStyle/>
          <a:p>
            <a:pPr defTabSz="1218895">
              <a:buClrTx/>
            </a:pPr>
            <a:r>
              <a:rPr lang="en-US" sz="1600" b="1" kern="1200" dirty="0">
                <a:solidFill>
                  <a:srgbClr val="7C3AED"/>
                </a:solidFill>
                <a:latin typeface="Calibri" pitchFamily="34" charset="0"/>
                <a:ea typeface="Calibri" pitchFamily="34" charset="-122"/>
                <a:cs typeface="Calibri" pitchFamily="34" charset="-120"/>
              </a:rPr>
              <a:t>Problem: </a:t>
            </a:r>
            <a:r>
              <a:rPr lang="en-US" sz="1600" kern="1200" dirty="0">
                <a:solidFill>
                  <a:srgbClr val="334155"/>
                </a:solidFill>
                <a:latin typeface="Calibri" pitchFamily="34" charset="0"/>
                <a:ea typeface="Calibri" pitchFamily="34" charset="-122"/>
                <a:cs typeface="Calibri" pitchFamily="34" charset="-120"/>
              </a:rPr>
              <a:t>Without generics, reusable functions must accept </a:t>
            </a:r>
            <a:r>
              <a:rPr lang="en-US" sz="1600" b="1" kern="1200" dirty="0">
                <a:solidFill>
                  <a:srgbClr val="DC2626"/>
                </a:solidFill>
                <a:latin typeface="Calibri" pitchFamily="34" charset="0"/>
                <a:ea typeface="Calibri" pitchFamily="34" charset="-122"/>
                <a:cs typeface="Calibri" pitchFamily="34" charset="-120"/>
              </a:rPr>
              <a:t>any </a:t>
            </a:r>
            <a:r>
              <a:rPr lang="en-US" sz="1600" kern="1200" dirty="0">
                <a:solidFill>
                  <a:srgbClr val="334155"/>
                </a:solidFill>
                <a:latin typeface="Calibri" pitchFamily="34" charset="0"/>
                <a:ea typeface="Calibri" pitchFamily="34" charset="-122"/>
                <a:cs typeface="Calibri" pitchFamily="34" charset="-120"/>
              </a:rPr>
              <a:t>— losing all type safety. Generics let you write one function that works for </a:t>
            </a:r>
            <a:r>
              <a:rPr lang="en-US" sz="1600" b="1" kern="1200" dirty="0">
                <a:solidFill>
                  <a:srgbClr val="7C3AED"/>
                </a:solidFill>
                <a:latin typeface="Calibri" pitchFamily="34" charset="0"/>
                <a:ea typeface="Calibri" pitchFamily="34" charset="-122"/>
                <a:cs typeface="Calibri" pitchFamily="34" charset="-120"/>
              </a:rPr>
              <a:t>many types</a:t>
            </a:r>
            <a:r>
              <a:rPr lang="en-US" sz="1600" kern="1200" dirty="0">
                <a:solidFill>
                  <a:srgbClr val="334155"/>
                </a:solidFill>
                <a:latin typeface="Calibri" pitchFamily="34" charset="0"/>
                <a:ea typeface="Calibri" pitchFamily="34" charset="-122"/>
                <a:cs typeface="Calibri" pitchFamily="34" charset="-120"/>
              </a:rPr>
              <a:t> while preserving the compiler's ability to check correctness.</a:t>
            </a:r>
            <a:endParaRPr lang="en-US" sz="1600" kern="1200" dirty="0">
              <a:solidFill>
                <a:prstClr val="black"/>
              </a:solidFill>
              <a:latin typeface="Calibri" panose="020F0502020204030204"/>
              <a:ea typeface="+mn-ea"/>
              <a:cs typeface="+mn-cs"/>
            </a:endParaRPr>
          </a:p>
        </p:txBody>
      </p:sp>
      <p:sp>
        <p:nvSpPr>
          <p:cNvPr id="8" name="Text 6"/>
          <p:cNvSpPr/>
          <p:nvPr/>
        </p:nvSpPr>
        <p:spPr>
          <a:xfrm>
            <a:off x="487553" y="2414281"/>
            <a:ext cx="5484971" cy="390042"/>
          </a:xfrm>
          <a:prstGeom prst="rect">
            <a:avLst/>
          </a:prstGeom>
          <a:noFill/>
          <a:ln/>
        </p:spPr>
        <p:txBody>
          <a:bodyPr wrap="square" lIns="0" tIns="0" rIns="0" bIns="0" rtlCol="0" anchor="ctr"/>
          <a:lstStyle/>
          <a:p>
            <a:pPr defTabSz="1218895">
              <a:buClrTx/>
            </a:pPr>
            <a:r>
              <a:rPr lang="en-US" sz="1600" b="1" kern="1200" dirty="0">
                <a:solidFill>
                  <a:srgbClr val="B91C1C"/>
                </a:solidFill>
                <a:latin typeface="Calibri" pitchFamily="34" charset="0"/>
                <a:ea typeface="Calibri" pitchFamily="34" charset="-122"/>
                <a:cs typeface="Calibri" pitchFamily="34" charset="-120"/>
              </a:rPr>
              <a:t>❌  Without Generics</a:t>
            </a:r>
            <a:endParaRPr lang="en-US" sz="1600" kern="1200" dirty="0">
              <a:solidFill>
                <a:prstClr val="black"/>
              </a:solidFill>
              <a:latin typeface="Calibri" panose="020F0502020204030204"/>
              <a:ea typeface="+mn-ea"/>
              <a:cs typeface="+mn-cs"/>
            </a:endParaRPr>
          </a:p>
        </p:txBody>
      </p:sp>
      <p:sp>
        <p:nvSpPr>
          <p:cNvPr id="9" name="Shape 7"/>
          <p:cNvSpPr/>
          <p:nvPr/>
        </p:nvSpPr>
        <p:spPr>
          <a:xfrm>
            <a:off x="487553" y="2828700"/>
            <a:ext cx="5484971" cy="201115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670385" y="2950589"/>
            <a:ext cx="5216817" cy="1791757"/>
          </a:xfrm>
          <a:prstGeom prst="rect">
            <a:avLst/>
          </a:prstGeom>
          <a:noFill/>
          <a:ln/>
        </p:spPr>
        <p:txBody>
          <a:bodyPr wrap="square" lIns="0" tIns="0" rIns="0" bIns="0" rtlCol="0" anchor="t"/>
          <a:lstStyle/>
          <a:p>
            <a:pPr defTabSz="1218895">
              <a:buClrTx/>
            </a:pPr>
            <a:r>
              <a:rPr lang="en-US" sz="1266" kern="1200" dirty="0">
                <a:solidFill>
                  <a:srgbClr val="64748B"/>
                </a:solidFill>
                <a:latin typeface="Consolas" pitchFamily="34" charset="0"/>
                <a:ea typeface="Consolas" pitchFamily="34" charset="-122"/>
                <a:cs typeface="Consolas" pitchFamily="34" charset="-120"/>
              </a:rPr>
              <a:t>// Must use any — loses type info</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function getFirst(arr: any[]): any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arr[0];</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const x = getFirst([1, 2, 3]);</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x is 'any' — no autocomplete!</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x.toUpperCase(); // no error ❌</a:t>
            </a:r>
            <a:endParaRPr lang="en-US" sz="1266" kern="1200" dirty="0">
              <a:solidFill>
                <a:prstClr val="black"/>
              </a:solidFill>
              <a:latin typeface="Calibri" panose="020F0502020204030204"/>
              <a:ea typeface="+mn-ea"/>
              <a:cs typeface="+mn-cs"/>
            </a:endParaRPr>
          </a:p>
        </p:txBody>
      </p:sp>
      <p:sp>
        <p:nvSpPr>
          <p:cNvPr id="11" name="Text 9"/>
          <p:cNvSpPr/>
          <p:nvPr/>
        </p:nvSpPr>
        <p:spPr>
          <a:xfrm>
            <a:off x="6277244" y="2414281"/>
            <a:ext cx="5606860" cy="390042"/>
          </a:xfrm>
          <a:prstGeom prst="rect">
            <a:avLst/>
          </a:prstGeom>
          <a:noFill/>
          <a:ln/>
        </p:spPr>
        <p:txBody>
          <a:bodyPr wrap="square" lIns="0" tIns="0" rIns="0" bIns="0" rtlCol="0" anchor="ctr"/>
          <a:lstStyle/>
          <a:p>
            <a:pPr defTabSz="1218895">
              <a:buClrTx/>
            </a:pPr>
            <a:r>
              <a:rPr lang="en-US" sz="1600" b="1" kern="1200" dirty="0">
                <a:solidFill>
                  <a:srgbClr val="0D9488"/>
                </a:solidFill>
                <a:latin typeface="Calibri" pitchFamily="34" charset="0"/>
                <a:ea typeface="Calibri" pitchFamily="34" charset="-122"/>
                <a:cs typeface="Calibri" pitchFamily="34" charset="-120"/>
              </a:rPr>
              <a:t>✅  With Generics</a:t>
            </a:r>
            <a:endParaRPr lang="en-US" sz="1600" kern="1200" dirty="0">
              <a:solidFill>
                <a:prstClr val="black"/>
              </a:solidFill>
              <a:latin typeface="Calibri" panose="020F0502020204030204"/>
              <a:ea typeface="+mn-ea"/>
              <a:cs typeface="+mn-cs"/>
            </a:endParaRPr>
          </a:p>
        </p:txBody>
      </p:sp>
      <p:sp>
        <p:nvSpPr>
          <p:cNvPr id="12" name="Shape 10"/>
          <p:cNvSpPr/>
          <p:nvPr/>
        </p:nvSpPr>
        <p:spPr>
          <a:xfrm>
            <a:off x="6277244" y="2828700"/>
            <a:ext cx="5606860" cy="201115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460077" y="2950589"/>
            <a:ext cx="5338705" cy="1791757"/>
          </a:xfrm>
          <a:prstGeom prst="rect">
            <a:avLst/>
          </a:prstGeom>
          <a:noFill/>
          <a:ln/>
        </p:spPr>
        <p:txBody>
          <a:bodyPr wrap="square" lIns="0" tIns="0" rIns="0" bIns="0" rtlCol="0" anchor="t"/>
          <a:lstStyle/>
          <a:p>
            <a:pPr defTabSz="1218895">
              <a:buClrTx/>
            </a:pPr>
            <a:r>
              <a:rPr lang="en-US" sz="1266" kern="1200" dirty="0">
                <a:solidFill>
                  <a:srgbClr val="64748B"/>
                </a:solidFill>
                <a:latin typeface="Consolas" pitchFamily="34" charset="0"/>
                <a:ea typeface="Consolas" pitchFamily="34" charset="-122"/>
                <a:cs typeface="Consolas" pitchFamily="34" charset="-120"/>
              </a:rPr>
              <a:t>// T is inferred from the call site</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function getFirst&lt;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function getFirst&lt;T&gt;(arr: T[]): 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arr[0];</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const x = getFirst([1, 2, 3]);</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x is 'number' — full type safety!</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x.toUpperCase(); // Error: number ✅</a:t>
            </a:r>
            <a:endParaRPr lang="en-US" sz="1266" kern="1200" dirty="0">
              <a:solidFill>
                <a:prstClr val="black"/>
              </a:solidFill>
              <a:latin typeface="Calibri" panose="020F0502020204030204"/>
              <a:ea typeface="+mn-ea"/>
              <a:cs typeface="+mn-cs"/>
            </a:endParaRPr>
          </a:p>
        </p:txBody>
      </p:sp>
      <p:sp>
        <p:nvSpPr>
          <p:cNvPr id="14" name="Shape 12"/>
          <p:cNvSpPr/>
          <p:nvPr/>
        </p:nvSpPr>
        <p:spPr>
          <a:xfrm>
            <a:off x="487552" y="4998311"/>
            <a:ext cx="3656648" cy="1096994"/>
          </a:xfrm>
          <a:prstGeom prst="rect">
            <a:avLst/>
          </a:prstGeom>
          <a:solidFill>
            <a:srgbClr val="FFFFFF"/>
          </a:solidFill>
          <a:ln w="12700">
            <a:solidFill>
              <a:srgbClr val="7C3AED"/>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Shape 13"/>
          <p:cNvSpPr/>
          <p:nvPr/>
        </p:nvSpPr>
        <p:spPr>
          <a:xfrm>
            <a:off x="487552" y="4998311"/>
            <a:ext cx="3656648" cy="36566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487552" y="4998311"/>
            <a:ext cx="3656648" cy="36566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&lt;T&gt;</a:t>
            </a:r>
            <a:endParaRPr lang="en-US" sz="1600" kern="1200" dirty="0">
              <a:solidFill>
                <a:prstClr val="black"/>
              </a:solidFill>
              <a:latin typeface="Calibri" panose="020F0502020204030204"/>
              <a:ea typeface="+mn-ea"/>
              <a:cs typeface="+mn-cs"/>
            </a:endParaRPr>
          </a:p>
        </p:txBody>
      </p:sp>
      <p:sp>
        <p:nvSpPr>
          <p:cNvPr id="17" name="Text 15"/>
          <p:cNvSpPr/>
          <p:nvPr/>
        </p:nvSpPr>
        <p:spPr>
          <a:xfrm>
            <a:off x="609441" y="5388354"/>
            <a:ext cx="3412871" cy="670385"/>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Type parameter — a placeholder resolved at the call site</a:t>
            </a:r>
            <a:endParaRPr lang="en-US" sz="1266" kern="1200" dirty="0">
              <a:solidFill>
                <a:prstClr val="black"/>
              </a:solidFill>
              <a:latin typeface="Calibri" panose="020F0502020204030204"/>
              <a:ea typeface="+mn-ea"/>
              <a:cs typeface="+mn-cs"/>
            </a:endParaRPr>
          </a:p>
        </p:txBody>
      </p:sp>
      <p:sp>
        <p:nvSpPr>
          <p:cNvPr id="18" name="Shape 16"/>
          <p:cNvSpPr/>
          <p:nvPr/>
        </p:nvSpPr>
        <p:spPr>
          <a:xfrm>
            <a:off x="4387976" y="4998311"/>
            <a:ext cx="3656648" cy="1096994"/>
          </a:xfrm>
          <a:prstGeom prst="rect">
            <a:avLst/>
          </a:prstGeom>
          <a:solidFill>
            <a:srgbClr val="FFFFFF"/>
          </a:solidFill>
          <a:ln w="12700">
            <a:solidFill>
              <a:srgbClr val="7C3AED"/>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4387976" y="4998311"/>
            <a:ext cx="3656648" cy="36566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4387976" y="4998311"/>
            <a:ext cx="3656648" cy="36566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extends</a:t>
            </a:r>
            <a:endParaRPr lang="en-US" sz="1600" kern="1200" dirty="0">
              <a:solidFill>
                <a:prstClr val="black"/>
              </a:solidFill>
              <a:latin typeface="Calibri" panose="020F0502020204030204"/>
              <a:ea typeface="+mn-ea"/>
              <a:cs typeface="+mn-cs"/>
            </a:endParaRPr>
          </a:p>
        </p:txBody>
      </p:sp>
      <p:sp>
        <p:nvSpPr>
          <p:cNvPr id="21" name="Text 19"/>
          <p:cNvSpPr/>
          <p:nvPr/>
        </p:nvSpPr>
        <p:spPr>
          <a:xfrm>
            <a:off x="4509865" y="5388354"/>
            <a:ext cx="3412871" cy="670385"/>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Constraint — T must satisfy a shape (e.g., T extends object)</a:t>
            </a:r>
            <a:endParaRPr lang="en-US" sz="1266" kern="1200" dirty="0">
              <a:solidFill>
                <a:prstClr val="black"/>
              </a:solidFill>
              <a:latin typeface="Calibri" panose="020F0502020204030204"/>
              <a:ea typeface="+mn-ea"/>
              <a:cs typeface="+mn-cs"/>
            </a:endParaRPr>
          </a:p>
        </p:txBody>
      </p:sp>
      <p:sp>
        <p:nvSpPr>
          <p:cNvPr id="22" name="Shape 20"/>
          <p:cNvSpPr/>
          <p:nvPr/>
        </p:nvSpPr>
        <p:spPr>
          <a:xfrm>
            <a:off x="8288400" y="4998311"/>
            <a:ext cx="3656648" cy="1096994"/>
          </a:xfrm>
          <a:prstGeom prst="rect">
            <a:avLst/>
          </a:prstGeom>
          <a:solidFill>
            <a:srgbClr val="FFFFFF"/>
          </a:solidFill>
          <a:ln w="12700">
            <a:solidFill>
              <a:srgbClr val="7C3AED"/>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21"/>
          <p:cNvSpPr/>
          <p:nvPr/>
        </p:nvSpPr>
        <p:spPr>
          <a:xfrm>
            <a:off x="8288400" y="4998311"/>
            <a:ext cx="3656648" cy="36566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Text 22"/>
          <p:cNvSpPr/>
          <p:nvPr/>
        </p:nvSpPr>
        <p:spPr>
          <a:xfrm>
            <a:off x="8288400" y="4998311"/>
            <a:ext cx="3656648" cy="36566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Inference</a:t>
            </a:r>
            <a:endParaRPr lang="en-US" sz="1600" kern="1200" dirty="0">
              <a:solidFill>
                <a:prstClr val="black"/>
              </a:solidFill>
              <a:latin typeface="Calibri" panose="020F0502020204030204"/>
              <a:ea typeface="+mn-ea"/>
              <a:cs typeface="+mn-cs"/>
            </a:endParaRPr>
          </a:p>
        </p:txBody>
      </p:sp>
      <p:sp>
        <p:nvSpPr>
          <p:cNvPr id="25" name="Text 23"/>
          <p:cNvSpPr/>
          <p:nvPr/>
        </p:nvSpPr>
        <p:spPr>
          <a:xfrm>
            <a:off x="8410289" y="5388354"/>
            <a:ext cx="3412871" cy="670385"/>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TS infers T from arguments — no explicit annotation needed</a:t>
            </a:r>
            <a:endParaRPr lang="en-US" sz="1266" kern="1200" dirty="0">
              <a:solidFill>
                <a:prstClr val="black"/>
              </a:solidFill>
              <a:latin typeface="Calibri" panose="020F0502020204030204"/>
              <a:ea typeface="+mn-ea"/>
              <a:cs typeface="+mn-cs"/>
            </a:endParaRPr>
          </a:p>
        </p:txBody>
      </p:sp>
      <p:pic>
        <p:nvPicPr>
          <p:cNvPr id="26" name="Google Shape;497;p1">
            <a:extLst>
              <a:ext uri="{FF2B5EF4-FFF2-40B4-BE49-F238E27FC236}">
                <a16:creationId xmlns:a16="http://schemas.microsoft.com/office/drawing/2014/main" id="{A525B3E0-F1F9-06F8-1C7E-C788DFCE02EE}"/>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Generics — How Type Parameters Flow</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Diagram  ·  From call site → type parameter → return type</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3" y="1890161"/>
            <a:ext cx="2437765" cy="1218883"/>
          </a:xfrm>
          <a:prstGeom prst="rect">
            <a:avLst/>
          </a:prstGeom>
          <a:solidFill>
            <a:srgbClr val="334155"/>
          </a:solidFill>
          <a:ln w="12700">
            <a:solidFill>
              <a:srgbClr val="334155"/>
            </a:solidFill>
            <a:prstDash val="solid"/>
          </a:ln>
          <a:effectLst>
            <a:outerShdw blurRad="76200" dist="25400" dir="8100000" algn="bl" rotWithShape="0">
              <a:srgbClr val="000000">
                <a:alpha val="12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487553" y="1987671"/>
            <a:ext cx="2437765" cy="438798"/>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Call Site</a:t>
            </a:r>
            <a:endParaRPr lang="en-US" sz="1600" kern="1200" dirty="0">
              <a:solidFill>
                <a:prstClr val="black"/>
              </a:solidFill>
              <a:latin typeface="Calibri" panose="020F0502020204030204"/>
              <a:ea typeface="+mn-ea"/>
              <a:cs typeface="+mn-cs"/>
            </a:endParaRPr>
          </a:p>
        </p:txBody>
      </p:sp>
      <p:sp>
        <p:nvSpPr>
          <p:cNvPr id="8" name="Text 6"/>
          <p:cNvSpPr/>
          <p:nvPr/>
        </p:nvSpPr>
        <p:spPr>
          <a:xfrm>
            <a:off x="487553" y="2450847"/>
            <a:ext cx="2437765" cy="560686"/>
          </a:xfrm>
          <a:prstGeom prst="rect">
            <a:avLst/>
          </a:prstGeom>
          <a:noFill/>
          <a:ln/>
        </p:spPr>
        <p:txBody>
          <a:bodyPr wrap="square" lIns="0" tIns="0" rIns="0" bIns="0" rtlCol="0" anchor="ctr"/>
          <a:lstStyle/>
          <a:p>
            <a:pPr algn="ctr" defTabSz="1218895">
              <a:buClrTx/>
            </a:pPr>
            <a:r>
              <a:rPr lang="en-US" sz="1200" kern="1200" dirty="0">
                <a:solidFill>
                  <a:srgbClr val="E2E8F0"/>
                </a:solidFill>
                <a:latin typeface="Consolas" pitchFamily="34" charset="0"/>
                <a:ea typeface="Consolas" pitchFamily="34" charset="-122"/>
                <a:cs typeface="Consolas" pitchFamily="34" charset="-120"/>
              </a:rPr>
              <a:t>getFirst([1,2,3])</a:t>
            </a:r>
            <a:endParaRPr lang="en-US" sz="1200" kern="1200" dirty="0">
              <a:solidFill>
                <a:prstClr val="black"/>
              </a:solidFill>
              <a:latin typeface="Calibri" panose="020F0502020204030204"/>
              <a:ea typeface="+mn-ea"/>
              <a:cs typeface="+mn-cs"/>
            </a:endParaRPr>
          </a:p>
        </p:txBody>
      </p:sp>
      <p:sp>
        <p:nvSpPr>
          <p:cNvPr id="9" name="Shape 7"/>
          <p:cNvSpPr/>
          <p:nvPr/>
        </p:nvSpPr>
        <p:spPr>
          <a:xfrm>
            <a:off x="2974073" y="2499602"/>
            <a:ext cx="511931"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3351926" y="2304581"/>
            <a:ext cx="219399" cy="390042"/>
          </a:xfrm>
          <a:prstGeom prst="rect">
            <a:avLst/>
          </a:prstGeom>
          <a:noFill/>
          <a:ln/>
        </p:spPr>
        <p:txBody>
          <a:bodyPr wrap="square" lIns="0" tIns="0" rIns="0" bIns="0" rtlCol="0" anchor="ctr"/>
          <a:lstStyle/>
          <a:p>
            <a:pPr defTabSz="1218895">
              <a:buClrTx/>
            </a:pPr>
            <a:r>
              <a:rPr lang="en-US" sz="1466" kern="1200" dirty="0">
                <a:solidFill>
                  <a:srgbClr val="7C3AED"/>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1" name="Shape 9"/>
          <p:cNvSpPr/>
          <p:nvPr/>
        </p:nvSpPr>
        <p:spPr>
          <a:xfrm>
            <a:off x="3169094" y="1890161"/>
            <a:ext cx="2437765" cy="1218883"/>
          </a:xfrm>
          <a:prstGeom prst="rect">
            <a:avLst/>
          </a:prstGeom>
          <a:solidFill>
            <a:srgbClr val="7C3AED"/>
          </a:solidFill>
          <a:ln w="12700">
            <a:solidFill>
              <a:srgbClr val="7C3AED"/>
            </a:solidFill>
            <a:prstDash val="solid"/>
          </a:ln>
          <a:effectLst>
            <a:outerShdw blurRad="76200" dist="25400" dir="8100000" algn="bl" rotWithShape="0">
              <a:srgbClr val="000000">
                <a:alpha val="12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3169094" y="1987671"/>
            <a:ext cx="2437765" cy="438798"/>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T  is inferred</a:t>
            </a:r>
            <a:endParaRPr lang="en-US" sz="1600" kern="1200" dirty="0">
              <a:solidFill>
                <a:prstClr val="black"/>
              </a:solidFill>
              <a:latin typeface="Calibri" panose="020F0502020204030204"/>
              <a:ea typeface="+mn-ea"/>
              <a:cs typeface="+mn-cs"/>
            </a:endParaRPr>
          </a:p>
        </p:txBody>
      </p:sp>
      <p:sp>
        <p:nvSpPr>
          <p:cNvPr id="13" name="Text 11"/>
          <p:cNvSpPr/>
          <p:nvPr/>
        </p:nvSpPr>
        <p:spPr>
          <a:xfrm>
            <a:off x="3169094" y="2450847"/>
            <a:ext cx="2437765" cy="560686"/>
          </a:xfrm>
          <a:prstGeom prst="rect">
            <a:avLst/>
          </a:prstGeom>
          <a:noFill/>
          <a:ln/>
        </p:spPr>
        <p:txBody>
          <a:bodyPr wrap="square" lIns="0" tIns="0" rIns="0" bIns="0" rtlCol="0" anchor="ctr"/>
          <a:lstStyle/>
          <a:p>
            <a:pPr algn="ctr" defTabSz="1218895">
              <a:buClrTx/>
            </a:pPr>
            <a:r>
              <a:rPr lang="en-US" sz="1200" kern="1200" dirty="0">
                <a:solidFill>
                  <a:srgbClr val="E2E8F0"/>
                </a:solidFill>
                <a:latin typeface="Consolas" pitchFamily="34" charset="0"/>
                <a:ea typeface="Consolas" pitchFamily="34" charset="-122"/>
                <a:cs typeface="Consolas" pitchFamily="34" charset="-120"/>
              </a:rPr>
              <a:t>T = number</a:t>
            </a:r>
            <a:endParaRPr lang="en-US" sz="1200" kern="1200" dirty="0">
              <a:solidFill>
                <a:prstClr val="black"/>
              </a:solidFill>
              <a:latin typeface="Calibri" panose="020F0502020204030204"/>
              <a:ea typeface="+mn-ea"/>
              <a:cs typeface="+mn-cs"/>
            </a:endParaRPr>
          </a:p>
        </p:txBody>
      </p:sp>
      <p:sp>
        <p:nvSpPr>
          <p:cNvPr id="14" name="Shape 12"/>
          <p:cNvSpPr/>
          <p:nvPr/>
        </p:nvSpPr>
        <p:spPr>
          <a:xfrm>
            <a:off x="5655614" y="2499602"/>
            <a:ext cx="511931"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Text 13"/>
          <p:cNvSpPr/>
          <p:nvPr/>
        </p:nvSpPr>
        <p:spPr>
          <a:xfrm>
            <a:off x="6033468" y="2304581"/>
            <a:ext cx="219399" cy="390042"/>
          </a:xfrm>
          <a:prstGeom prst="rect">
            <a:avLst/>
          </a:prstGeom>
          <a:noFill/>
          <a:ln/>
        </p:spPr>
        <p:txBody>
          <a:bodyPr wrap="square" lIns="0" tIns="0" rIns="0" bIns="0" rtlCol="0" anchor="ctr"/>
          <a:lstStyle/>
          <a:p>
            <a:pPr defTabSz="1218895">
              <a:buClrTx/>
            </a:pPr>
            <a:r>
              <a:rPr lang="en-US" sz="1466" kern="1200" dirty="0">
                <a:solidFill>
                  <a:srgbClr val="7C3AED"/>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6" name="Shape 14"/>
          <p:cNvSpPr/>
          <p:nvPr/>
        </p:nvSpPr>
        <p:spPr>
          <a:xfrm>
            <a:off x="5972524" y="1890161"/>
            <a:ext cx="2437765" cy="1218883"/>
          </a:xfrm>
          <a:prstGeom prst="rect">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5972524" y="1987671"/>
            <a:ext cx="2437765" cy="438798"/>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Function Body</a:t>
            </a:r>
            <a:endParaRPr lang="en-US" sz="1600" kern="1200" dirty="0">
              <a:solidFill>
                <a:prstClr val="black"/>
              </a:solidFill>
              <a:latin typeface="Calibri" panose="020F0502020204030204"/>
              <a:ea typeface="+mn-ea"/>
              <a:cs typeface="+mn-cs"/>
            </a:endParaRPr>
          </a:p>
        </p:txBody>
      </p:sp>
      <p:sp>
        <p:nvSpPr>
          <p:cNvPr id="18" name="Text 16"/>
          <p:cNvSpPr/>
          <p:nvPr/>
        </p:nvSpPr>
        <p:spPr>
          <a:xfrm>
            <a:off x="5972524" y="2450847"/>
            <a:ext cx="2437765" cy="560686"/>
          </a:xfrm>
          <a:prstGeom prst="rect">
            <a:avLst/>
          </a:prstGeom>
          <a:noFill/>
          <a:ln/>
        </p:spPr>
        <p:txBody>
          <a:bodyPr wrap="square" lIns="0" tIns="0" rIns="0" bIns="0" rtlCol="0" anchor="ctr"/>
          <a:lstStyle/>
          <a:p>
            <a:pPr algn="ctr" defTabSz="1218895">
              <a:buClrTx/>
            </a:pPr>
            <a:r>
              <a:rPr lang="en-US" sz="1200" kern="1200" dirty="0">
                <a:solidFill>
                  <a:srgbClr val="E2E8F0"/>
                </a:solidFill>
                <a:latin typeface="Consolas" pitchFamily="34" charset="0"/>
                <a:ea typeface="Consolas" pitchFamily="34" charset="-122"/>
                <a:cs typeface="Consolas" pitchFamily="34" charset="-120"/>
              </a:rPr>
              <a:t>arr: T[] = number[]</a:t>
            </a:r>
            <a:endParaRPr lang="en-US" sz="1200" kern="1200" dirty="0">
              <a:solidFill>
                <a:prstClr val="black"/>
              </a:solidFill>
              <a:latin typeface="Calibri" panose="020F0502020204030204"/>
              <a:ea typeface="+mn-ea"/>
              <a:cs typeface="+mn-cs"/>
            </a:endParaRPr>
          </a:p>
        </p:txBody>
      </p:sp>
      <p:sp>
        <p:nvSpPr>
          <p:cNvPr id="19" name="Shape 17"/>
          <p:cNvSpPr/>
          <p:nvPr/>
        </p:nvSpPr>
        <p:spPr>
          <a:xfrm>
            <a:off x="8459044" y="2499602"/>
            <a:ext cx="511931"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8836898" y="2304581"/>
            <a:ext cx="219399" cy="390042"/>
          </a:xfrm>
          <a:prstGeom prst="rect">
            <a:avLst/>
          </a:prstGeom>
          <a:noFill/>
          <a:ln/>
        </p:spPr>
        <p:txBody>
          <a:bodyPr wrap="square" lIns="0" tIns="0" rIns="0" bIns="0" rtlCol="0" anchor="ctr"/>
          <a:lstStyle/>
          <a:p>
            <a:pPr defTabSz="1218895">
              <a:buClrTx/>
            </a:pPr>
            <a:r>
              <a:rPr lang="en-US" sz="1466" kern="1200" dirty="0">
                <a:solidFill>
                  <a:srgbClr val="7C3AED"/>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21" name="Shape 19"/>
          <p:cNvSpPr/>
          <p:nvPr/>
        </p:nvSpPr>
        <p:spPr>
          <a:xfrm>
            <a:off x="8775954" y="1890161"/>
            <a:ext cx="2437765" cy="1218883"/>
          </a:xfrm>
          <a:prstGeom prst="rect">
            <a:avLst/>
          </a:prstGeom>
          <a:solidFill>
            <a:srgbClr val="1D4ED8"/>
          </a:solidFill>
          <a:ln w="12700">
            <a:solidFill>
              <a:srgbClr val="1D4ED8"/>
            </a:solidFill>
            <a:prstDash val="solid"/>
          </a:ln>
          <a:effectLst>
            <a:outerShdw blurRad="76200" dist="25400" dir="8100000" algn="bl" rotWithShape="0">
              <a:srgbClr val="000000">
                <a:alpha val="12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Text 20"/>
          <p:cNvSpPr/>
          <p:nvPr/>
        </p:nvSpPr>
        <p:spPr>
          <a:xfrm>
            <a:off x="8775954" y="1987671"/>
            <a:ext cx="2437765" cy="438798"/>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Return Type</a:t>
            </a:r>
            <a:endParaRPr lang="en-US" sz="1600" kern="1200" dirty="0">
              <a:solidFill>
                <a:prstClr val="black"/>
              </a:solidFill>
              <a:latin typeface="Calibri" panose="020F0502020204030204"/>
              <a:ea typeface="+mn-ea"/>
              <a:cs typeface="+mn-cs"/>
            </a:endParaRPr>
          </a:p>
        </p:txBody>
      </p:sp>
      <p:sp>
        <p:nvSpPr>
          <p:cNvPr id="23" name="Text 21"/>
          <p:cNvSpPr/>
          <p:nvPr/>
        </p:nvSpPr>
        <p:spPr>
          <a:xfrm>
            <a:off x="8775954" y="2450847"/>
            <a:ext cx="2437765" cy="560686"/>
          </a:xfrm>
          <a:prstGeom prst="rect">
            <a:avLst/>
          </a:prstGeom>
          <a:noFill/>
          <a:ln/>
        </p:spPr>
        <p:txBody>
          <a:bodyPr wrap="square" lIns="0" tIns="0" rIns="0" bIns="0" rtlCol="0" anchor="ctr"/>
          <a:lstStyle/>
          <a:p>
            <a:pPr algn="ctr" defTabSz="1218895">
              <a:buClrTx/>
            </a:pPr>
            <a:r>
              <a:rPr lang="en-US" sz="1200" kern="1200" dirty="0">
                <a:solidFill>
                  <a:srgbClr val="E2E8F0"/>
                </a:solidFill>
                <a:latin typeface="Consolas" pitchFamily="34" charset="0"/>
                <a:ea typeface="Consolas" pitchFamily="34" charset="-122"/>
                <a:cs typeface="Consolas" pitchFamily="34" charset="-120"/>
              </a:rPr>
              <a:t>returns T = number</a:t>
            </a:r>
            <a:endParaRPr lang="en-US" sz="1200" kern="1200" dirty="0">
              <a:solidFill>
                <a:prstClr val="black"/>
              </a:solidFill>
              <a:latin typeface="Calibri" panose="020F0502020204030204"/>
              <a:ea typeface="+mn-ea"/>
              <a:cs typeface="+mn-cs"/>
            </a:endParaRPr>
          </a:p>
        </p:txBody>
      </p:sp>
      <p:sp>
        <p:nvSpPr>
          <p:cNvPr id="24" name="Text 22"/>
          <p:cNvSpPr/>
          <p:nvPr/>
        </p:nvSpPr>
        <p:spPr>
          <a:xfrm>
            <a:off x="487553" y="3438142"/>
            <a:ext cx="11213719" cy="390042"/>
          </a:xfrm>
          <a:prstGeom prst="rect">
            <a:avLst/>
          </a:prstGeom>
          <a:noFill/>
          <a:ln/>
        </p:spPr>
        <p:txBody>
          <a:bodyPr wrap="square" lIns="0" tIns="0" rIns="0" bIns="0" rtlCol="0" anchor="ctr"/>
          <a:lstStyle/>
          <a:p>
            <a:pPr defTabSz="1218895">
              <a:buClrTx/>
            </a:pPr>
            <a:r>
              <a:rPr lang="en-US" sz="1733" b="1" kern="1200" dirty="0">
                <a:solidFill>
                  <a:srgbClr val="1E293B"/>
                </a:solidFill>
                <a:latin typeface="Calibri" pitchFamily="34" charset="0"/>
                <a:ea typeface="Calibri" pitchFamily="34" charset="-122"/>
                <a:cs typeface="Calibri" pitchFamily="34" charset="-120"/>
              </a:rPr>
              <a:t>Generic Constraint Pattern (extends)</a:t>
            </a:r>
            <a:endParaRPr lang="en-US" sz="1733" kern="1200" dirty="0">
              <a:solidFill>
                <a:prstClr val="black"/>
              </a:solidFill>
              <a:latin typeface="Calibri" panose="020F0502020204030204"/>
              <a:ea typeface="+mn-ea"/>
              <a:cs typeface="+mn-cs"/>
            </a:endParaRPr>
          </a:p>
        </p:txBody>
      </p:sp>
      <p:sp>
        <p:nvSpPr>
          <p:cNvPr id="25" name="Shape 23"/>
          <p:cNvSpPr/>
          <p:nvPr/>
        </p:nvSpPr>
        <p:spPr>
          <a:xfrm>
            <a:off x="487553" y="3852561"/>
            <a:ext cx="5484971" cy="2193989"/>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70385" y="3974450"/>
            <a:ext cx="5216817" cy="1974590"/>
          </a:xfrm>
          <a:prstGeom prst="rect">
            <a:avLst/>
          </a:prstGeom>
          <a:noFill/>
          <a:ln/>
        </p:spPr>
        <p:txBody>
          <a:bodyPr wrap="square" lIns="0" tIns="0" rIns="0" bIns="0" rtlCol="0" anchor="t"/>
          <a:lstStyle/>
          <a:p>
            <a:pPr defTabSz="1218895">
              <a:buClrTx/>
            </a:pPr>
            <a:r>
              <a:rPr lang="en-US" sz="1266" kern="1200" dirty="0">
                <a:solidFill>
                  <a:srgbClr val="64748B"/>
                </a:solidFill>
                <a:latin typeface="Consolas" pitchFamily="34" charset="0"/>
                <a:ea typeface="Consolas" pitchFamily="34" charset="-122"/>
                <a:cs typeface="Consolas" pitchFamily="34" charset="-120"/>
              </a:rPr>
              <a:t>// Constrained generic</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interface HasId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id: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function findById&lt;T extends HasId&gt;(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items: 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id: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 T | undefined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items.find(i =&gt; i.id === 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p:txBody>
      </p:sp>
      <p:sp>
        <p:nvSpPr>
          <p:cNvPr id="27" name="Shape 25"/>
          <p:cNvSpPr/>
          <p:nvPr/>
        </p:nvSpPr>
        <p:spPr>
          <a:xfrm>
            <a:off x="6216300" y="3852561"/>
            <a:ext cx="5667804" cy="658197"/>
          </a:xfrm>
          <a:prstGeom prst="rect">
            <a:avLst/>
          </a:prstGeom>
          <a:solidFill>
            <a:srgbClr val="EDE9FE"/>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8" name="Shape 26"/>
          <p:cNvSpPr/>
          <p:nvPr/>
        </p:nvSpPr>
        <p:spPr>
          <a:xfrm>
            <a:off x="6216300" y="3852561"/>
            <a:ext cx="85322" cy="658197"/>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9" name="Text 27"/>
          <p:cNvSpPr/>
          <p:nvPr/>
        </p:nvSpPr>
        <p:spPr>
          <a:xfrm>
            <a:off x="6411321" y="3876939"/>
            <a:ext cx="5363083" cy="268154"/>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T extends HasId means…</a:t>
            </a:r>
            <a:endParaRPr lang="en-US" sz="1266" kern="1200" dirty="0">
              <a:solidFill>
                <a:prstClr val="black"/>
              </a:solidFill>
              <a:latin typeface="Calibri" panose="020F0502020204030204"/>
              <a:ea typeface="+mn-ea"/>
              <a:cs typeface="+mn-cs"/>
            </a:endParaRPr>
          </a:p>
        </p:txBody>
      </p:sp>
      <p:sp>
        <p:nvSpPr>
          <p:cNvPr id="30" name="Text 28"/>
          <p:cNvSpPr/>
          <p:nvPr/>
        </p:nvSpPr>
        <p:spPr>
          <a:xfrm>
            <a:off x="6411321" y="4145094"/>
            <a:ext cx="5363083"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T must have at least an id: string field. Other fields are allowed — this is structural typing.</a:t>
            </a:r>
            <a:endParaRPr lang="en-US" sz="1133" kern="1200" dirty="0">
              <a:solidFill>
                <a:prstClr val="black"/>
              </a:solidFill>
              <a:latin typeface="Calibri" panose="020F0502020204030204"/>
              <a:ea typeface="+mn-ea"/>
              <a:cs typeface="+mn-cs"/>
            </a:endParaRPr>
          </a:p>
        </p:txBody>
      </p:sp>
      <p:sp>
        <p:nvSpPr>
          <p:cNvPr id="31" name="Shape 29"/>
          <p:cNvSpPr/>
          <p:nvPr/>
        </p:nvSpPr>
        <p:spPr>
          <a:xfrm>
            <a:off x="6216300" y="4583891"/>
            <a:ext cx="5667804" cy="658197"/>
          </a:xfrm>
          <a:prstGeom prst="rect">
            <a:avLst/>
          </a:prstGeom>
          <a:solidFill>
            <a:srgbClr val="EDE9FE"/>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Shape 30"/>
          <p:cNvSpPr/>
          <p:nvPr/>
        </p:nvSpPr>
        <p:spPr>
          <a:xfrm>
            <a:off x="6216300" y="4583891"/>
            <a:ext cx="85322" cy="658197"/>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3" name="Text 31"/>
          <p:cNvSpPr/>
          <p:nvPr/>
        </p:nvSpPr>
        <p:spPr>
          <a:xfrm>
            <a:off x="6411321" y="4608269"/>
            <a:ext cx="5363083" cy="268154"/>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Why constrain?</a:t>
            </a:r>
            <a:endParaRPr lang="en-US" sz="1266" kern="1200" dirty="0">
              <a:solidFill>
                <a:prstClr val="black"/>
              </a:solidFill>
              <a:latin typeface="Calibri" panose="020F0502020204030204"/>
              <a:ea typeface="+mn-ea"/>
              <a:cs typeface="+mn-cs"/>
            </a:endParaRPr>
          </a:p>
        </p:txBody>
      </p:sp>
      <p:sp>
        <p:nvSpPr>
          <p:cNvPr id="34" name="Text 32"/>
          <p:cNvSpPr/>
          <p:nvPr/>
        </p:nvSpPr>
        <p:spPr>
          <a:xfrm>
            <a:off x="6411321" y="4876423"/>
            <a:ext cx="5363083"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Without extends, T could be anything — even number. Constraint lets us safely use id inside the function body.</a:t>
            </a:r>
            <a:endParaRPr lang="en-US" sz="1133" kern="1200" dirty="0">
              <a:solidFill>
                <a:prstClr val="black"/>
              </a:solidFill>
              <a:latin typeface="Calibri" panose="020F0502020204030204"/>
              <a:ea typeface="+mn-ea"/>
              <a:cs typeface="+mn-cs"/>
            </a:endParaRPr>
          </a:p>
        </p:txBody>
      </p:sp>
      <p:sp>
        <p:nvSpPr>
          <p:cNvPr id="35" name="Shape 33"/>
          <p:cNvSpPr/>
          <p:nvPr/>
        </p:nvSpPr>
        <p:spPr>
          <a:xfrm>
            <a:off x="6216300" y="5315220"/>
            <a:ext cx="5667804" cy="658197"/>
          </a:xfrm>
          <a:prstGeom prst="rect">
            <a:avLst/>
          </a:prstGeom>
          <a:solidFill>
            <a:srgbClr val="EDE9FE"/>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6" name="Shape 34"/>
          <p:cNvSpPr/>
          <p:nvPr/>
        </p:nvSpPr>
        <p:spPr>
          <a:xfrm>
            <a:off x="6216300" y="5315220"/>
            <a:ext cx="85322" cy="658197"/>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Text 35"/>
          <p:cNvSpPr/>
          <p:nvPr/>
        </p:nvSpPr>
        <p:spPr>
          <a:xfrm>
            <a:off x="6411321" y="5339598"/>
            <a:ext cx="5363083" cy="268154"/>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BTP relevance</a:t>
            </a:r>
            <a:endParaRPr lang="en-US" sz="1266" kern="1200" dirty="0">
              <a:solidFill>
                <a:prstClr val="black"/>
              </a:solidFill>
              <a:latin typeface="Calibri" panose="020F0502020204030204"/>
              <a:ea typeface="+mn-ea"/>
              <a:cs typeface="+mn-cs"/>
            </a:endParaRPr>
          </a:p>
        </p:txBody>
      </p:sp>
      <p:sp>
        <p:nvSpPr>
          <p:cNvPr id="38" name="Text 36"/>
          <p:cNvSpPr/>
          <p:nvPr/>
        </p:nvSpPr>
        <p:spPr>
          <a:xfrm>
            <a:off x="6411321" y="5607753"/>
            <a:ext cx="5363083"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CAP entities always have an ID. ConfigLoader&lt;T extends object&gt; ensures we only accept object-shaped configs.</a:t>
            </a:r>
            <a:endParaRPr lang="en-US" sz="1133" kern="1200" dirty="0">
              <a:solidFill>
                <a:prstClr val="black"/>
              </a:solidFill>
              <a:latin typeface="Calibri" panose="020F0502020204030204"/>
              <a:ea typeface="+mn-ea"/>
              <a:cs typeface="+mn-cs"/>
            </a:endParaRPr>
          </a:p>
        </p:txBody>
      </p:sp>
      <p:pic>
        <p:nvPicPr>
          <p:cNvPr id="39" name="Google Shape;497;p1">
            <a:extLst>
              <a:ext uri="{FF2B5EF4-FFF2-40B4-BE49-F238E27FC236}">
                <a16:creationId xmlns:a16="http://schemas.microsoft.com/office/drawing/2014/main" id="{ECA16F5B-D435-D921-D7F3-655F3378B9F1}"/>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A — Implement ConfigLoader&lt;T&gt;</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Hands-on  ·  exercises/config-loader.ts</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3" y="1402608"/>
            <a:ext cx="11213719"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Architecture</a:t>
            </a:r>
            <a:endParaRPr lang="en-US" sz="1600" kern="1200" dirty="0">
              <a:solidFill>
                <a:prstClr val="black"/>
              </a:solidFill>
              <a:latin typeface="Calibri" panose="020F0502020204030204"/>
              <a:ea typeface="+mn-ea"/>
              <a:cs typeface="+mn-cs"/>
            </a:endParaRPr>
          </a:p>
        </p:txBody>
      </p:sp>
      <p:sp>
        <p:nvSpPr>
          <p:cNvPr id="7" name="Shape 5"/>
          <p:cNvSpPr/>
          <p:nvPr/>
        </p:nvSpPr>
        <p:spPr>
          <a:xfrm>
            <a:off x="487552" y="1829217"/>
            <a:ext cx="2193989" cy="877595"/>
          </a:xfrm>
          <a:prstGeom prst="rect">
            <a:avLst/>
          </a:prstGeom>
          <a:solidFill>
            <a:srgbClr val="334155"/>
          </a:solidFill>
          <a:ln w="12700">
            <a:solidFill>
              <a:srgbClr val="334155"/>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487552" y="1829217"/>
            <a:ext cx="2193989" cy="877595"/>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alibri" pitchFamily="34" charset="0"/>
                <a:ea typeface="Calibri" pitchFamily="34" charset="-122"/>
                <a:cs typeface="Calibri" pitchFamily="34" charset="-120"/>
              </a:rPr>
              <a:t>Raw JSON</a:t>
            </a:r>
            <a:endParaRPr lang="en-US" sz="1200" kern="1200" dirty="0">
              <a:solidFill>
                <a:prstClr val="black"/>
              </a:solidFill>
              <a:latin typeface="Calibri" panose="020F0502020204030204"/>
              <a:ea typeface="+mn-ea"/>
              <a:cs typeface="+mn-cs"/>
            </a:endParaRPr>
          </a:p>
          <a:p>
            <a:pPr algn="ctr" defTabSz="1218895">
              <a:buClrTx/>
            </a:pPr>
            <a:r>
              <a:rPr lang="en-US" sz="1200" b="1" kern="1200" dirty="0">
                <a:solidFill>
                  <a:srgbClr val="FFFFFF"/>
                </a:solidFill>
                <a:latin typeface="Calibri" pitchFamily="34" charset="0"/>
                <a:ea typeface="Calibri" pitchFamily="34" charset="-122"/>
                <a:cs typeface="Calibri" pitchFamily="34" charset="-120"/>
              </a:rPr>
              <a:t>config file</a:t>
            </a:r>
            <a:endParaRPr lang="en-US" sz="1200" kern="1200" dirty="0">
              <a:solidFill>
                <a:prstClr val="black"/>
              </a:solidFill>
              <a:latin typeface="Calibri" panose="020F0502020204030204"/>
              <a:ea typeface="+mn-ea"/>
              <a:cs typeface="+mn-cs"/>
            </a:endParaRPr>
          </a:p>
        </p:txBody>
      </p:sp>
      <p:sp>
        <p:nvSpPr>
          <p:cNvPr id="9" name="Shape 7"/>
          <p:cNvSpPr/>
          <p:nvPr/>
        </p:nvSpPr>
        <p:spPr>
          <a:xfrm>
            <a:off x="2705919" y="2268014"/>
            <a:ext cx="341287"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2925318" y="2146126"/>
            <a:ext cx="195021" cy="268154"/>
          </a:xfrm>
          <a:prstGeom prst="rect">
            <a:avLst/>
          </a:prstGeom>
          <a:noFill/>
          <a:ln/>
        </p:spPr>
        <p:txBody>
          <a:bodyPr wrap="square" lIns="0" tIns="0" rIns="0" bIns="0" rtlCol="0" anchor="ctr"/>
          <a:lstStyle/>
          <a:p>
            <a:pPr defTabSz="1218895">
              <a:buClrTx/>
            </a:pPr>
            <a:r>
              <a:rPr lang="en-US" sz="1333" kern="1200" dirty="0">
                <a:solidFill>
                  <a:srgbClr val="7C3AED"/>
                </a:solidFill>
                <a:latin typeface="Calibri" panose="020F0502020204030204"/>
                <a:ea typeface="+mn-ea"/>
                <a:cs typeface="+mn-cs"/>
              </a:rPr>
              <a:t>▶</a:t>
            </a:r>
            <a:endParaRPr lang="en-US" sz="1333" kern="1200" dirty="0">
              <a:solidFill>
                <a:prstClr val="black"/>
              </a:solidFill>
              <a:latin typeface="Calibri" panose="020F0502020204030204"/>
              <a:ea typeface="+mn-ea"/>
              <a:cs typeface="+mn-cs"/>
            </a:endParaRPr>
          </a:p>
        </p:txBody>
      </p:sp>
      <p:sp>
        <p:nvSpPr>
          <p:cNvPr id="11" name="Shape 9"/>
          <p:cNvSpPr/>
          <p:nvPr/>
        </p:nvSpPr>
        <p:spPr>
          <a:xfrm>
            <a:off x="3108150" y="1829217"/>
            <a:ext cx="2437765" cy="877595"/>
          </a:xfrm>
          <a:prstGeom prst="rect">
            <a:avLst/>
          </a:prstGeom>
          <a:solidFill>
            <a:srgbClr val="7C3AED"/>
          </a:solidFill>
          <a:ln w="12700">
            <a:solidFill>
              <a:srgbClr val="7C3AED"/>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3108150" y="1829217"/>
            <a:ext cx="2437765" cy="877595"/>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alibri" pitchFamily="34" charset="0"/>
                <a:ea typeface="Calibri" pitchFamily="34" charset="-122"/>
                <a:cs typeface="Calibri" pitchFamily="34" charset="-120"/>
              </a:rPr>
              <a:t>ConfigLoader&lt;T&gt;</a:t>
            </a:r>
            <a:endParaRPr lang="en-US" sz="1200" kern="1200" dirty="0">
              <a:solidFill>
                <a:prstClr val="black"/>
              </a:solidFill>
              <a:latin typeface="Calibri" panose="020F0502020204030204"/>
              <a:ea typeface="+mn-ea"/>
              <a:cs typeface="+mn-cs"/>
            </a:endParaRPr>
          </a:p>
          <a:p>
            <a:pPr algn="ctr" defTabSz="1218895">
              <a:buClrTx/>
            </a:pPr>
            <a:r>
              <a:rPr lang="en-US" sz="1200" b="1" kern="1200" dirty="0">
                <a:solidFill>
                  <a:srgbClr val="FFFFFF"/>
                </a:solidFill>
                <a:latin typeface="Calibri" pitchFamily="34" charset="0"/>
                <a:ea typeface="Calibri" pitchFamily="34" charset="-122"/>
                <a:cs typeface="Calibri" pitchFamily="34" charset="-120"/>
              </a:rPr>
              <a:t>.load()</a:t>
            </a:r>
            <a:endParaRPr lang="en-US" sz="1200" kern="1200" dirty="0">
              <a:solidFill>
                <a:prstClr val="black"/>
              </a:solidFill>
              <a:latin typeface="Calibri" panose="020F0502020204030204"/>
              <a:ea typeface="+mn-ea"/>
              <a:cs typeface="+mn-cs"/>
            </a:endParaRPr>
          </a:p>
        </p:txBody>
      </p:sp>
      <p:sp>
        <p:nvSpPr>
          <p:cNvPr id="13" name="Shape 11"/>
          <p:cNvSpPr/>
          <p:nvPr/>
        </p:nvSpPr>
        <p:spPr>
          <a:xfrm>
            <a:off x="5570293" y="2268014"/>
            <a:ext cx="341287"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5789691" y="2146126"/>
            <a:ext cx="195021" cy="268154"/>
          </a:xfrm>
          <a:prstGeom prst="rect">
            <a:avLst/>
          </a:prstGeom>
          <a:noFill/>
          <a:ln/>
        </p:spPr>
        <p:txBody>
          <a:bodyPr wrap="square" lIns="0" tIns="0" rIns="0" bIns="0" rtlCol="0" anchor="ctr"/>
          <a:lstStyle/>
          <a:p>
            <a:pPr defTabSz="1218895">
              <a:buClrTx/>
            </a:pPr>
            <a:r>
              <a:rPr lang="en-US" sz="1333" kern="1200" dirty="0">
                <a:solidFill>
                  <a:srgbClr val="7C3AED"/>
                </a:solidFill>
                <a:latin typeface="Calibri" panose="020F0502020204030204"/>
                <a:ea typeface="+mn-ea"/>
                <a:cs typeface="+mn-cs"/>
              </a:rPr>
              <a:t>▶</a:t>
            </a:r>
            <a:endParaRPr lang="en-US" sz="1333" kern="1200" dirty="0">
              <a:solidFill>
                <a:prstClr val="black"/>
              </a:solidFill>
              <a:latin typeface="Calibri" panose="020F0502020204030204"/>
              <a:ea typeface="+mn-ea"/>
              <a:cs typeface="+mn-cs"/>
            </a:endParaRPr>
          </a:p>
        </p:txBody>
      </p:sp>
      <p:sp>
        <p:nvSpPr>
          <p:cNvPr id="15" name="Shape 13"/>
          <p:cNvSpPr/>
          <p:nvPr/>
        </p:nvSpPr>
        <p:spPr>
          <a:xfrm>
            <a:off x="5996901" y="1829217"/>
            <a:ext cx="2437765" cy="877595"/>
          </a:xfrm>
          <a:prstGeom prst="rect">
            <a:avLst/>
          </a:prstGeom>
          <a:solidFill>
            <a:srgbClr val="4338CA"/>
          </a:solidFill>
          <a:ln w="12700">
            <a:solidFill>
              <a:srgbClr val="4338CA"/>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5996901" y="1829217"/>
            <a:ext cx="2437765" cy="877595"/>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alibri" pitchFamily="34" charset="0"/>
                <a:ea typeface="Calibri" pitchFamily="34" charset="-122"/>
                <a:cs typeface="Calibri" pitchFamily="34" charset="-120"/>
              </a:rPr>
              <a:t>Validator</a:t>
            </a:r>
            <a:endParaRPr lang="en-US" sz="1200" kern="1200" dirty="0">
              <a:solidFill>
                <a:prstClr val="black"/>
              </a:solidFill>
              <a:latin typeface="Calibri" panose="020F0502020204030204"/>
              <a:ea typeface="+mn-ea"/>
              <a:cs typeface="+mn-cs"/>
            </a:endParaRPr>
          </a:p>
          <a:p>
            <a:pPr algn="ctr" defTabSz="1218895">
              <a:buClrTx/>
            </a:pPr>
            <a:r>
              <a:rPr lang="en-US" sz="1200" b="1" kern="1200" dirty="0">
                <a:solidFill>
                  <a:srgbClr val="FFFFFF"/>
                </a:solidFill>
                <a:latin typeface="Calibri" pitchFamily="34" charset="0"/>
                <a:ea typeface="Calibri" pitchFamily="34" charset="-122"/>
                <a:cs typeface="Calibri" pitchFamily="34" charset="-120"/>
              </a:rPr>
              <a:t>T extends object</a:t>
            </a:r>
            <a:endParaRPr lang="en-US" sz="1200" kern="1200" dirty="0">
              <a:solidFill>
                <a:prstClr val="black"/>
              </a:solidFill>
              <a:latin typeface="Calibri" panose="020F0502020204030204"/>
              <a:ea typeface="+mn-ea"/>
              <a:cs typeface="+mn-cs"/>
            </a:endParaRPr>
          </a:p>
        </p:txBody>
      </p:sp>
      <p:sp>
        <p:nvSpPr>
          <p:cNvPr id="17" name="Shape 15"/>
          <p:cNvSpPr/>
          <p:nvPr/>
        </p:nvSpPr>
        <p:spPr>
          <a:xfrm>
            <a:off x="8459044" y="2268014"/>
            <a:ext cx="341287"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Text 16"/>
          <p:cNvSpPr/>
          <p:nvPr/>
        </p:nvSpPr>
        <p:spPr>
          <a:xfrm>
            <a:off x="8678443" y="2146126"/>
            <a:ext cx="195021" cy="268154"/>
          </a:xfrm>
          <a:prstGeom prst="rect">
            <a:avLst/>
          </a:prstGeom>
          <a:noFill/>
          <a:ln/>
        </p:spPr>
        <p:txBody>
          <a:bodyPr wrap="square" lIns="0" tIns="0" rIns="0" bIns="0" rtlCol="0" anchor="ctr"/>
          <a:lstStyle/>
          <a:p>
            <a:pPr defTabSz="1218895">
              <a:buClrTx/>
            </a:pPr>
            <a:r>
              <a:rPr lang="en-US" sz="1333" kern="1200" dirty="0">
                <a:solidFill>
                  <a:srgbClr val="7C3AED"/>
                </a:solidFill>
                <a:latin typeface="Calibri" panose="020F0502020204030204"/>
                <a:ea typeface="+mn-ea"/>
                <a:cs typeface="+mn-cs"/>
              </a:rPr>
              <a:t>▶</a:t>
            </a:r>
            <a:endParaRPr lang="en-US" sz="1333" kern="1200" dirty="0">
              <a:solidFill>
                <a:prstClr val="black"/>
              </a:solidFill>
              <a:latin typeface="Calibri" panose="020F0502020204030204"/>
              <a:ea typeface="+mn-ea"/>
              <a:cs typeface="+mn-cs"/>
            </a:endParaRPr>
          </a:p>
        </p:txBody>
      </p:sp>
      <p:sp>
        <p:nvSpPr>
          <p:cNvPr id="19" name="Shape 17"/>
          <p:cNvSpPr/>
          <p:nvPr/>
        </p:nvSpPr>
        <p:spPr>
          <a:xfrm>
            <a:off x="8873464" y="1829217"/>
            <a:ext cx="2559653" cy="877595"/>
          </a:xfrm>
          <a:prstGeom prst="rect">
            <a:avLst/>
          </a:prstGeom>
          <a:solidFill>
            <a:srgbClr val="0D9488"/>
          </a:solidFill>
          <a:ln w="12700">
            <a:solidFill>
              <a:srgbClr val="0D9488"/>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8873464" y="1829217"/>
            <a:ext cx="2559653" cy="877595"/>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alibri" pitchFamily="34" charset="0"/>
                <a:ea typeface="Calibri" pitchFamily="34" charset="-122"/>
                <a:cs typeface="Calibri" pitchFamily="34" charset="-120"/>
              </a:rPr>
              <a:t>Typed Config</a:t>
            </a:r>
            <a:endParaRPr lang="en-US" sz="1200" kern="1200" dirty="0">
              <a:solidFill>
                <a:prstClr val="black"/>
              </a:solidFill>
              <a:latin typeface="Calibri" panose="020F0502020204030204"/>
              <a:ea typeface="+mn-ea"/>
              <a:cs typeface="+mn-cs"/>
            </a:endParaRPr>
          </a:p>
          <a:p>
            <a:pPr algn="ctr" defTabSz="1218895">
              <a:buClrTx/>
            </a:pPr>
            <a:r>
              <a:rPr lang="en-US" sz="1200" b="1" kern="1200" dirty="0">
                <a:solidFill>
                  <a:srgbClr val="FFFFFF"/>
                </a:solidFill>
                <a:latin typeface="Calibri" pitchFamily="34" charset="0"/>
                <a:ea typeface="Calibri" pitchFamily="34" charset="-122"/>
                <a:cs typeface="Calibri" pitchFamily="34" charset="-120"/>
              </a:rPr>
              <a:t>returns T</a:t>
            </a:r>
            <a:endParaRPr lang="en-US" sz="1200" kern="1200" dirty="0">
              <a:solidFill>
                <a:prstClr val="black"/>
              </a:solidFill>
              <a:latin typeface="Calibri" panose="020F0502020204030204"/>
              <a:ea typeface="+mn-ea"/>
              <a:cs typeface="+mn-cs"/>
            </a:endParaRPr>
          </a:p>
        </p:txBody>
      </p:sp>
      <p:sp>
        <p:nvSpPr>
          <p:cNvPr id="21" name="Text 19"/>
          <p:cNvSpPr/>
          <p:nvPr/>
        </p:nvSpPr>
        <p:spPr>
          <a:xfrm>
            <a:off x="487553" y="2865267"/>
            <a:ext cx="5484971" cy="365665"/>
          </a:xfrm>
          <a:prstGeom prst="rect">
            <a:avLst/>
          </a:prstGeom>
          <a:noFill/>
          <a:ln/>
        </p:spPr>
        <p:txBody>
          <a:bodyPr wrap="square" lIns="0" tIns="0" rIns="0" bIns="0" rtlCol="0" anchor="ctr"/>
          <a:lstStyle/>
          <a:p>
            <a:pPr defTabSz="1218895">
              <a:buClrTx/>
            </a:pPr>
            <a:r>
              <a:rPr lang="en-US" sz="1466" b="1" kern="1200" dirty="0">
                <a:solidFill>
                  <a:srgbClr val="1E293B"/>
                </a:solidFill>
                <a:latin typeface="Calibri" pitchFamily="34" charset="0"/>
                <a:ea typeface="Calibri" pitchFamily="34" charset="-122"/>
                <a:cs typeface="Calibri" pitchFamily="34" charset="-120"/>
              </a:rPr>
              <a:t>Starter: config-loader.ts  (TODOs to fill)</a:t>
            </a:r>
            <a:endParaRPr lang="en-US" sz="1466" kern="1200" dirty="0">
              <a:solidFill>
                <a:prstClr val="black"/>
              </a:solidFill>
              <a:latin typeface="Calibri" panose="020F0502020204030204"/>
              <a:ea typeface="+mn-ea"/>
              <a:cs typeface="+mn-cs"/>
            </a:endParaRPr>
          </a:p>
        </p:txBody>
      </p:sp>
      <p:sp>
        <p:nvSpPr>
          <p:cNvPr id="22" name="Shape 20"/>
          <p:cNvSpPr/>
          <p:nvPr/>
        </p:nvSpPr>
        <p:spPr>
          <a:xfrm>
            <a:off x="487553" y="3255309"/>
            <a:ext cx="5484971" cy="336411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670385" y="3377197"/>
            <a:ext cx="5216817" cy="3144717"/>
          </a:xfrm>
          <a:prstGeom prst="rect">
            <a:avLst/>
          </a:prstGeom>
          <a:noFill/>
          <a:ln/>
        </p:spPr>
        <p:txBody>
          <a:bodyPr wrap="square" lIns="0" tIns="0" rIns="0" bIns="0" rtlCol="0" anchor="t"/>
          <a:lstStyle/>
          <a:p>
            <a:pPr defTabSz="1218895">
              <a:buClrTx/>
            </a:pPr>
            <a:r>
              <a:rPr lang="en-US" sz="1200" kern="1200" dirty="0">
                <a:solidFill>
                  <a:srgbClr val="64748B"/>
                </a:solidFill>
                <a:latin typeface="Consolas" pitchFamily="34" charset="0"/>
                <a:ea typeface="Consolas" pitchFamily="34" charset="-122"/>
                <a:cs typeface="Consolas" pitchFamily="34" charset="-120"/>
              </a:rPr>
              <a:t>// TODO 1: Add generic type param &lt;T&gt;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class ConfigLoader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private data: unknown;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TODO 2: read file, parse JSON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constructor(private path: string)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TODO 3: validate &amp; return 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load(): unknown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this.data;</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TODO 4: add validate method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private validate(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raw: unknown): asserts raw is 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throw if invalid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24" name="Text 22"/>
          <p:cNvSpPr/>
          <p:nvPr/>
        </p:nvSpPr>
        <p:spPr>
          <a:xfrm>
            <a:off x="6277244" y="2865267"/>
            <a:ext cx="5606860" cy="365665"/>
          </a:xfrm>
          <a:prstGeom prst="rect">
            <a:avLst/>
          </a:prstGeom>
          <a:noFill/>
          <a:ln/>
        </p:spPr>
        <p:txBody>
          <a:bodyPr wrap="square" lIns="0" tIns="0" rIns="0" bIns="0" rtlCol="0" anchor="ctr"/>
          <a:lstStyle/>
          <a:p>
            <a:pPr defTabSz="1218895">
              <a:buClrTx/>
            </a:pPr>
            <a:r>
              <a:rPr lang="en-US" sz="1466" b="1" kern="1200" dirty="0">
                <a:solidFill>
                  <a:srgbClr val="0D9488"/>
                </a:solidFill>
                <a:latin typeface="Calibri" pitchFamily="34" charset="0"/>
                <a:ea typeface="Calibri" pitchFamily="34" charset="-122"/>
                <a:cs typeface="Calibri" pitchFamily="34" charset="-120"/>
              </a:rPr>
              <a:t>Solution</a:t>
            </a:r>
            <a:endParaRPr lang="en-US" sz="1466" kern="1200" dirty="0">
              <a:solidFill>
                <a:prstClr val="black"/>
              </a:solidFill>
              <a:latin typeface="Calibri" panose="020F0502020204030204"/>
              <a:ea typeface="+mn-ea"/>
              <a:cs typeface="+mn-cs"/>
            </a:endParaRPr>
          </a:p>
        </p:txBody>
      </p:sp>
      <p:sp>
        <p:nvSpPr>
          <p:cNvPr id="25" name="Shape 23"/>
          <p:cNvSpPr/>
          <p:nvPr/>
        </p:nvSpPr>
        <p:spPr>
          <a:xfrm>
            <a:off x="6277244" y="3255309"/>
            <a:ext cx="5606860" cy="336411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460077" y="3377197"/>
            <a:ext cx="5338705" cy="3144717"/>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import fs from 'fs';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class ConfigLoader&lt;T extends object&gt;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private raw: unknown;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constructor(private path: string)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txt = fs.readFileSync(path,'utf-8');</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this.raw = JSON.parse(txt);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load(validator: (r:unknown) =&gt; T): 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validator(this.raw);</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Usage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const loader = new ConfigLoader&lt;DestConfig&gt;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('dest-config.json');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const cfg = loader.load(validateDest);</a:t>
            </a:r>
            <a:endParaRPr lang="en-US" sz="1200" kern="1200" dirty="0">
              <a:solidFill>
                <a:prstClr val="black"/>
              </a:solidFill>
              <a:latin typeface="Calibri" panose="020F0502020204030204"/>
              <a:ea typeface="+mn-ea"/>
              <a:cs typeface="+mn-cs"/>
            </a:endParaRPr>
          </a:p>
        </p:txBody>
      </p:sp>
      <p:pic>
        <p:nvPicPr>
          <p:cNvPr id="27" name="Google Shape;497;p1">
            <a:extLst>
              <a:ext uri="{FF2B5EF4-FFF2-40B4-BE49-F238E27FC236}">
                <a16:creationId xmlns:a16="http://schemas.microsoft.com/office/drawing/2014/main" id="{8552E296-DE10-7D16-EBCC-0D4A8D5BF13C}"/>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A — Testing Two Config Shapes</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Practice  ·  The same ConfigLoader&lt;T&gt; reused with different T</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3" y="1402608"/>
            <a:ext cx="11213719" cy="390042"/>
          </a:xfrm>
          <a:prstGeom prst="rect">
            <a:avLst/>
          </a:prstGeom>
          <a:noFill/>
          <a:ln/>
        </p:spPr>
        <p:txBody>
          <a:bodyPr wrap="square" lIns="0" tIns="0" rIns="0" bIns="0" rtlCol="0" anchor="ctr"/>
          <a:lstStyle/>
          <a:p>
            <a:pPr defTabSz="1218895">
              <a:buClrTx/>
            </a:pPr>
            <a:r>
              <a:rPr lang="en-US" sz="1466" i="1" kern="1200" dirty="0">
                <a:solidFill>
                  <a:srgbClr val="334155"/>
                </a:solidFill>
                <a:latin typeface="Calibri" pitchFamily="34" charset="0"/>
                <a:ea typeface="Calibri" pitchFamily="34" charset="-122"/>
                <a:cs typeface="Calibri" pitchFamily="34" charset="-120"/>
              </a:rPr>
              <a:t>One loader class — two completely different config shapes. TypeScript keeps each one fully typed.</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890161"/>
            <a:ext cx="5484971" cy="46317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487553" y="1890161"/>
            <a:ext cx="5484971"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Config Shape 1 — Destination Service</a:t>
            </a:r>
            <a:endParaRPr lang="en-US" sz="1466" kern="1200" dirty="0">
              <a:solidFill>
                <a:prstClr val="black"/>
              </a:solidFill>
              <a:latin typeface="Calibri" panose="020F0502020204030204"/>
              <a:ea typeface="+mn-ea"/>
              <a:cs typeface="+mn-cs"/>
            </a:endParaRPr>
          </a:p>
        </p:txBody>
      </p:sp>
      <p:sp>
        <p:nvSpPr>
          <p:cNvPr id="9" name="Shape 7"/>
          <p:cNvSpPr/>
          <p:nvPr/>
        </p:nvSpPr>
        <p:spPr>
          <a:xfrm>
            <a:off x="487553" y="2377714"/>
            <a:ext cx="5484971" cy="2096478"/>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670385" y="2499602"/>
            <a:ext cx="5216817" cy="1877079"/>
          </a:xfrm>
          <a:prstGeom prst="rect">
            <a:avLst/>
          </a:prstGeom>
          <a:noFill/>
          <a:ln/>
        </p:spPr>
        <p:txBody>
          <a:bodyPr wrap="square" lIns="0" tIns="0" rIns="0" bIns="0" rtlCol="0" anchor="t"/>
          <a:lstStyle/>
          <a:p>
            <a:pPr defTabSz="1218895">
              <a:buClrTx/>
            </a:pPr>
            <a:r>
              <a:rPr lang="en-US" sz="1200" kern="1200" dirty="0">
                <a:solidFill>
                  <a:srgbClr val="F472B6"/>
                </a:solidFill>
                <a:latin typeface="Consolas" pitchFamily="34" charset="0"/>
                <a:ea typeface="Consolas" pitchFamily="34" charset="-122"/>
                <a:cs typeface="Consolas" pitchFamily="34" charset="-120"/>
              </a:rPr>
              <a:t>interface DestinationConfig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name: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url: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authenticationType: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6EFAC"/>
                </a:solidFill>
                <a:latin typeface="Consolas" pitchFamily="34" charset="0"/>
                <a:ea typeface="Consolas" pitchFamily="34" charset="-122"/>
                <a:cs typeface="Consolas" pitchFamily="34" charset="-120"/>
              </a:rPr>
              <a:t>    'BasicAuthentication' | 'OAuth2';</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6EFAC"/>
                </a:solidFill>
                <a:latin typeface="Consolas" pitchFamily="34" charset="0"/>
                <a:ea typeface="Consolas" pitchFamily="34" charset="-122"/>
                <a:cs typeface="Consolas" pitchFamily="34" charset="-120"/>
              </a:rPr>
              <a:t>  proxyType: 'Internet' | 'OnPremise';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const destLoader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new ConfigLoader&lt;DestinationConfig&gt;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('dest.json');</a:t>
            </a:r>
            <a:endParaRPr lang="en-US" sz="1200" kern="1200" dirty="0">
              <a:solidFill>
                <a:prstClr val="black"/>
              </a:solidFill>
              <a:latin typeface="Calibri" panose="020F0502020204030204"/>
              <a:ea typeface="+mn-ea"/>
              <a:cs typeface="+mn-cs"/>
            </a:endParaRPr>
          </a:p>
        </p:txBody>
      </p:sp>
      <p:sp>
        <p:nvSpPr>
          <p:cNvPr id="11" name="Shape 9"/>
          <p:cNvSpPr/>
          <p:nvPr/>
        </p:nvSpPr>
        <p:spPr>
          <a:xfrm>
            <a:off x="6277244" y="1890161"/>
            <a:ext cx="5606860" cy="463175"/>
          </a:xfrm>
          <a:prstGeom prst="rect">
            <a:avLst/>
          </a:prstGeom>
          <a:solidFill>
            <a:srgbClr val="4338CA"/>
          </a:solidFill>
          <a:ln w="12700">
            <a:solidFill>
              <a:srgbClr val="4338C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6277244" y="1890161"/>
            <a:ext cx="5606860"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Config Shape 2 — XSUAA / Auth Config</a:t>
            </a:r>
            <a:endParaRPr lang="en-US" sz="1466" kern="1200" dirty="0">
              <a:solidFill>
                <a:prstClr val="black"/>
              </a:solidFill>
              <a:latin typeface="Calibri" panose="020F0502020204030204"/>
              <a:ea typeface="+mn-ea"/>
              <a:cs typeface="+mn-cs"/>
            </a:endParaRPr>
          </a:p>
        </p:txBody>
      </p:sp>
      <p:sp>
        <p:nvSpPr>
          <p:cNvPr id="13" name="Shape 11"/>
          <p:cNvSpPr/>
          <p:nvPr/>
        </p:nvSpPr>
        <p:spPr>
          <a:xfrm>
            <a:off x="6277244" y="2377714"/>
            <a:ext cx="5606860" cy="2096478"/>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460077" y="2499602"/>
            <a:ext cx="5338705" cy="1877079"/>
          </a:xfrm>
          <a:prstGeom prst="rect">
            <a:avLst/>
          </a:prstGeom>
          <a:noFill/>
          <a:ln/>
        </p:spPr>
        <p:txBody>
          <a:bodyPr wrap="square" lIns="0" tIns="0" rIns="0" bIns="0" rtlCol="0" anchor="t"/>
          <a:lstStyle/>
          <a:p>
            <a:pPr defTabSz="1218895">
              <a:buClrTx/>
            </a:pPr>
            <a:r>
              <a:rPr lang="en-US" sz="1200" kern="1200" dirty="0">
                <a:solidFill>
                  <a:srgbClr val="F472B6"/>
                </a:solidFill>
                <a:latin typeface="Consolas" pitchFamily="34" charset="0"/>
                <a:ea typeface="Consolas" pitchFamily="34" charset="-122"/>
                <a:cs typeface="Consolas" pitchFamily="34" charset="-120"/>
              </a:rPr>
              <a:t>interface XsuaaConfig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clientid: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clientsecret: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url: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tenantid: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xsappname: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const xsuaaLoader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new ConfigLoader&lt;XsuaaConfig&gt;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('xsuaa.json');</a:t>
            </a:r>
            <a:endParaRPr lang="en-US" sz="1200" kern="1200" dirty="0">
              <a:solidFill>
                <a:prstClr val="black"/>
              </a:solidFill>
              <a:latin typeface="Calibri" panose="020F0502020204030204"/>
              <a:ea typeface="+mn-ea"/>
              <a:cs typeface="+mn-cs"/>
            </a:endParaRPr>
          </a:p>
        </p:txBody>
      </p:sp>
      <p:sp>
        <p:nvSpPr>
          <p:cNvPr id="15" name="Shape 13"/>
          <p:cNvSpPr/>
          <p:nvPr/>
        </p:nvSpPr>
        <p:spPr>
          <a:xfrm>
            <a:off x="487553" y="4571703"/>
            <a:ext cx="11213719" cy="463175"/>
          </a:xfrm>
          <a:prstGeom prst="rect">
            <a:avLst/>
          </a:prstGeom>
          <a:solidFill>
            <a:srgbClr val="EDE9FE"/>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609441" y="4608269"/>
            <a:ext cx="10969943" cy="390042"/>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Key insight: ConfigLoader&lt;T&gt; is written once. The type T changes the shape of every method signature and return value.</a:t>
            </a:r>
            <a:endParaRPr lang="en-US" kern="1200" dirty="0">
              <a:solidFill>
                <a:prstClr val="black"/>
              </a:solidFill>
              <a:latin typeface="Calibri" panose="020F0502020204030204"/>
              <a:ea typeface="+mn-ea"/>
              <a:cs typeface="+mn-cs"/>
            </a:endParaRPr>
          </a:p>
        </p:txBody>
      </p:sp>
      <p:sp>
        <p:nvSpPr>
          <p:cNvPr id="17" name="Text 15"/>
          <p:cNvSpPr/>
          <p:nvPr/>
        </p:nvSpPr>
        <p:spPr>
          <a:xfrm>
            <a:off x="487553" y="5120200"/>
            <a:ext cx="11213719" cy="341287"/>
          </a:xfrm>
          <a:prstGeom prst="rect">
            <a:avLst/>
          </a:prstGeom>
          <a:noFill/>
          <a:ln/>
        </p:spPr>
        <p:txBody>
          <a:bodyPr wrap="square" lIns="0" tIns="0" rIns="0" bIns="0" rtlCol="0" anchor="ctr"/>
          <a:lstStyle/>
          <a:p>
            <a:pPr defTabSz="1218895">
              <a:buClrTx/>
            </a:pPr>
            <a:r>
              <a:rPr lang="en-US" sz="1466" b="1" kern="1200" dirty="0">
                <a:solidFill>
                  <a:srgbClr val="1E293B"/>
                </a:solidFill>
                <a:latin typeface="Calibri" pitchFamily="34" charset="0"/>
                <a:ea typeface="Calibri" pitchFamily="34" charset="-122"/>
                <a:cs typeface="Calibri" pitchFamily="34" charset="-120"/>
              </a:rPr>
              <a:t>Using Both Loaders (test scenario)</a:t>
            </a:r>
            <a:endParaRPr lang="en-US" sz="1466" kern="1200" dirty="0">
              <a:solidFill>
                <a:prstClr val="black"/>
              </a:solidFill>
              <a:latin typeface="Calibri" panose="020F0502020204030204"/>
              <a:ea typeface="+mn-ea"/>
              <a:cs typeface="+mn-cs"/>
            </a:endParaRPr>
          </a:p>
        </p:txBody>
      </p:sp>
      <p:sp>
        <p:nvSpPr>
          <p:cNvPr id="18" name="Shape 16"/>
          <p:cNvSpPr/>
          <p:nvPr/>
        </p:nvSpPr>
        <p:spPr>
          <a:xfrm>
            <a:off x="487553" y="5485864"/>
            <a:ext cx="11213719" cy="1194505"/>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670385" y="5607752"/>
            <a:ext cx="10945565" cy="975106"/>
          </a:xfrm>
          <a:prstGeom prst="rect">
            <a:avLst/>
          </a:prstGeom>
          <a:noFill/>
          <a:ln/>
        </p:spPr>
        <p:txBody>
          <a:bodyPr wrap="square" lIns="0" tIns="0" rIns="0" bIns="0" rtlCol="0" anchor="t"/>
          <a:lstStyle/>
          <a:p>
            <a:pPr defTabSz="1218895">
              <a:buClrTx/>
            </a:pPr>
            <a:r>
              <a:rPr lang="en-US" sz="1266" kern="1200" dirty="0">
                <a:solidFill>
                  <a:srgbClr val="4ADE80"/>
                </a:solidFill>
                <a:latin typeface="Consolas" pitchFamily="34" charset="0"/>
                <a:ea typeface="Consolas" pitchFamily="34" charset="-122"/>
                <a:cs typeface="Consolas" pitchFamily="34" charset="-120"/>
              </a:rPr>
              <a:t>const dest   = destLoader.load(validateDestConfig);   // type: DestinationConfig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const xsuaa  = xsuaaLoader.load(validateXsuaaConfig); // type: XsuaaConfig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dest.url;          // ✅ autocomplete works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xsuaa.xsappname;   // ✅ correct type</a:t>
            </a:r>
            <a:endParaRPr lang="en-US" sz="1266" kern="1200" dirty="0">
              <a:solidFill>
                <a:prstClr val="black"/>
              </a:solidFill>
              <a:latin typeface="Calibri" panose="020F0502020204030204"/>
              <a:ea typeface="+mn-ea"/>
              <a:cs typeface="+mn-cs"/>
            </a:endParaRPr>
          </a:p>
        </p:txBody>
      </p:sp>
      <p:pic>
        <p:nvPicPr>
          <p:cNvPr id="20" name="Google Shape;497;p1">
            <a:extLst>
              <a:ext uri="{FF2B5EF4-FFF2-40B4-BE49-F238E27FC236}">
                <a16:creationId xmlns:a16="http://schemas.microsoft.com/office/drawing/2014/main" id="{55292C83-2B94-6140-A766-0DB5E30954E4}"/>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B — Decorators: The Big Idea</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Concept  ·  What decorators are and why they have no JS equivalent</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3" y="1402608"/>
            <a:ext cx="11213719" cy="877595"/>
          </a:xfrm>
          <a:prstGeom prst="rect">
            <a:avLst/>
          </a:prstGeom>
          <a:solidFill>
            <a:srgbClr val="CCFBF1"/>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439175"/>
            <a:ext cx="10848054" cy="804462"/>
          </a:xfrm>
          <a:prstGeom prst="rect">
            <a:avLst/>
          </a:prstGeom>
          <a:noFill/>
          <a:ln/>
        </p:spPr>
        <p:txBody>
          <a:bodyPr wrap="square" lIns="0" tIns="0" rIns="0" bIns="0" rtlCol="0" anchor="ctr"/>
          <a:lstStyle/>
          <a:p>
            <a:pPr defTabSz="1218895">
              <a:buClrTx/>
            </a:pPr>
            <a:r>
              <a:rPr lang="en-US" sz="1533" b="1" kern="1200" dirty="0">
                <a:solidFill>
                  <a:srgbClr val="0D9488"/>
                </a:solidFill>
                <a:latin typeface="Calibri" pitchFamily="34" charset="0"/>
                <a:ea typeface="Calibri" pitchFamily="34" charset="-122"/>
                <a:cs typeface="Calibri" pitchFamily="34" charset="-120"/>
              </a:rPr>
              <a:t>Definition: </a:t>
            </a:r>
            <a:r>
              <a:rPr lang="en-US" sz="1533" kern="1200" dirty="0">
                <a:solidFill>
                  <a:srgbClr val="334155"/>
                </a:solidFill>
                <a:latin typeface="Calibri" pitchFamily="34" charset="0"/>
                <a:ea typeface="Calibri" pitchFamily="34" charset="-122"/>
                <a:cs typeface="Calibri" pitchFamily="34" charset="-120"/>
              </a:rPr>
              <a:t>A decorator is a special function that wraps a class, method, or property to add behaviour </a:t>
            </a:r>
            <a:r>
              <a:rPr lang="en-US" sz="1533" b="1" kern="1200" dirty="0">
                <a:solidFill>
                  <a:srgbClr val="334155"/>
                </a:solidFill>
                <a:latin typeface="Calibri" pitchFamily="34" charset="0"/>
                <a:ea typeface="Calibri" pitchFamily="34" charset="-122"/>
                <a:cs typeface="Calibri" pitchFamily="34" charset="-120"/>
              </a:rPr>
              <a:t>without modifying the original source code.</a:t>
            </a:r>
            <a:r>
              <a:rPr lang="en-US" sz="1533" kern="1200" dirty="0">
                <a:solidFill>
                  <a:srgbClr val="334155"/>
                </a:solidFill>
                <a:latin typeface="Calibri" pitchFamily="34" charset="0"/>
                <a:ea typeface="Calibri" pitchFamily="34" charset="-122"/>
                <a:cs typeface="Calibri" pitchFamily="34" charset="-120"/>
              </a:rPr>
              <a:t> This is the Aspect-Oriented Programming (AOP) pattern — cross-cutting concerns like logging,</a:t>
            </a:r>
            <a:endParaRPr lang="en-US" sz="1533" kern="1200" dirty="0">
              <a:solidFill>
                <a:prstClr val="black"/>
              </a:solidFill>
              <a:latin typeface="Calibri" panose="020F0502020204030204"/>
              <a:ea typeface="+mn-ea"/>
              <a:cs typeface="+mn-cs"/>
            </a:endParaRPr>
          </a:p>
          <a:p>
            <a:pPr defTabSz="1218895">
              <a:buClrTx/>
            </a:pPr>
            <a:r>
              <a:rPr lang="en-US" sz="1533" kern="1200" dirty="0">
                <a:solidFill>
                  <a:srgbClr val="334155"/>
                </a:solidFill>
                <a:latin typeface="Calibri" pitchFamily="34" charset="0"/>
                <a:ea typeface="Calibri" pitchFamily="34" charset="-122"/>
                <a:cs typeface="Calibri" pitchFamily="34" charset="-120"/>
              </a:rPr>
              <a:t>auth checks, and timing are injected around the actual logic.</a:t>
            </a:r>
            <a:endParaRPr lang="en-US" sz="1533" kern="1200" dirty="0">
              <a:solidFill>
                <a:prstClr val="black"/>
              </a:solidFill>
              <a:latin typeface="Calibri" panose="020F0502020204030204"/>
              <a:ea typeface="+mn-ea"/>
              <a:cs typeface="+mn-cs"/>
            </a:endParaRPr>
          </a:p>
        </p:txBody>
      </p:sp>
      <p:sp>
        <p:nvSpPr>
          <p:cNvPr id="8" name="Text 6"/>
          <p:cNvSpPr/>
          <p:nvPr/>
        </p:nvSpPr>
        <p:spPr>
          <a:xfrm>
            <a:off x="487553" y="2389903"/>
            <a:ext cx="11213719"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Mental Model — Decorator as a Wrapper</a:t>
            </a:r>
            <a:endParaRPr lang="en-US" sz="1600" kern="1200" dirty="0">
              <a:solidFill>
                <a:prstClr val="black"/>
              </a:solidFill>
              <a:latin typeface="Calibri" panose="020F0502020204030204"/>
              <a:ea typeface="+mn-ea"/>
              <a:cs typeface="+mn-cs"/>
            </a:endParaRPr>
          </a:p>
        </p:txBody>
      </p:sp>
      <p:sp>
        <p:nvSpPr>
          <p:cNvPr id="9" name="Shape 7"/>
          <p:cNvSpPr/>
          <p:nvPr/>
        </p:nvSpPr>
        <p:spPr>
          <a:xfrm>
            <a:off x="487552" y="2804323"/>
            <a:ext cx="6703854" cy="3230039"/>
          </a:xfrm>
          <a:prstGeom prst="rect">
            <a:avLst/>
          </a:prstGeom>
          <a:solidFill>
            <a:srgbClr val="CCFBF1"/>
          </a:solidFill>
          <a:ln w="254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585063" y="2853078"/>
            <a:ext cx="6521021" cy="341287"/>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@LogRequest  Decorator</a:t>
            </a:r>
            <a:endParaRPr lang="en-US" sz="1333" kern="1200" dirty="0">
              <a:solidFill>
                <a:prstClr val="black"/>
              </a:solidFill>
              <a:latin typeface="Calibri" panose="020F0502020204030204"/>
              <a:ea typeface="+mn-ea"/>
              <a:cs typeface="+mn-cs"/>
            </a:endParaRPr>
          </a:p>
        </p:txBody>
      </p:sp>
      <p:sp>
        <p:nvSpPr>
          <p:cNvPr id="11" name="Text 9"/>
          <p:cNvSpPr/>
          <p:nvPr/>
        </p:nvSpPr>
        <p:spPr>
          <a:xfrm>
            <a:off x="670385" y="3218743"/>
            <a:ext cx="3047206" cy="341287"/>
          </a:xfrm>
          <a:prstGeom prst="rect">
            <a:avLst/>
          </a:prstGeom>
          <a:noFill/>
          <a:ln/>
        </p:spPr>
        <p:txBody>
          <a:bodyPr wrap="square" lIns="0" tIns="0" rIns="0" bIns="0" rtlCol="0" anchor="ctr"/>
          <a:lstStyle/>
          <a:p>
            <a:pPr defTabSz="1218895">
              <a:buClrTx/>
            </a:pPr>
            <a:r>
              <a:rPr lang="en-US" sz="1266" kern="1200" dirty="0">
                <a:solidFill>
                  <a:srgbClr val="0D9488"/>
                </a:solidFill>
                <a:latin typeface="Calibri" pitchFamily="34" charset="0"/>
                <a:ea typeface="Calibri" pitchFamily="34" charset="-122"/>
                <a:cs typeface="Calibri" pitchFamily="34" charset="-120"/>
              </a:rPr>
              <a:t>① log method name + args</a:t>
            </a:r>
            <a:endParaRPr lang="en-US" sz="1266" kern="1200" dirty="0">
              <a:solidFill>
                <a:prstClr val="black"/>
              </a:solidFill>
              <a:latin typeface="Calibri" panose="020F0502020204030204"/>
              <a:ea typeface="+mn-ea"/>
              <a:cs typeface="+mn-cs"/>
            </a:endParaRPr>
          </a:p>
        </p:txBody>
      </p:sp>
      <p:sp>
        <p:nvSpPr>
          <p:cNvPr id="12" name="Text 10"/>
          <p:cNvSpPr/>
          <p:nvPr/>
        </p:nvSpPr>
        <p:spPr>
          <a:xfrm>
            <a:off x="670385" y="5510242"/>
            <a:ext cx="3047206" cy="341287"/>
          </a:xfrm>
          <a:prstGeom prst="rect">
            <a:avLst/>
          </a:prstGeom>
          <a:noFill/>
          <a:ln/>
        </p:spPr>
        <p:txBody>
          <a:bodyPr wrap="square" lIns="0" tIns="0" rIns="0" bIns="0" rtlCol="0" anchor="ctr"/>
          <a:lstStyle/>
          <a:p>
            <a:pPr defTabSz="1218895">
              <a:buClrTx/>
            </a:pPr>
            <a:r>
              <a:rPr lang="en-US" sz="1266" kern="1200" dirty="0">
                <a:solidFill>
                  <a:srgbClr val="0D9488"/>
                </a:solidFill>
                <a:latin typeface="Calibri" pitchFamily="34" charset="0"/>
                <a:ea typeface="Calibri" pitchFamily="34" charset="-122"/>
                <a:cs typeface="Calibri" pitchFamily="34" charset="-120"/>
              </a:rPr>
              <a:t>③ log execution time</a:t>
            </a:r>
            <a:endParaRPr lang="en-US" sz="1266" kern="1200" dirty="0">
              <a:solidFill>
                <a:prstClr val="black"/>
              </a:solidFill>
              <a:latin typeface="Calibri" panose="020F0502020204030204"/>
              <a:ea typeface="+mn-ea"/>
              <a:cs typeface="+mn-cs"/>
            </a:endParaRPr>
          </a:p>
        </p:txBody>
      </p:sp>
      <p:sp>
        <p:nvSpPr>
          <p:cNvPr id="13" name="Shape 11"/>
          <p:cNvSpPr/>
          <p:nvPr/>
        </p:nvSpPr>
        <p:spPr>
          <a:xfrm>
            <a:off x="1462658" y="3718485"/>
            <a:ext cx="4753642" cy="1682058"/>
          </a:xfrm>
          <a:prstGeom prst="rect">
            <a:avLst/>
          </a:prstGeom>
          <a:solidFill>
            <a:srgbClr val="1E293B"/>
          </a:solidFill>
          <a:ln w="12700">
            <a:solidFill>
              <a:srgbClr val="2DD4B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1462658" y="3718485"/>
            <a:ext cx="4753642" cy="390042"/>
          </a:xfrm>
          <a:prstGeom prst="rect">
            <a:avLst/>
          </a:prstGeom>
          <a:noFill/>
          <a:ln/>
        </p:spPr>
        <p:txBody>
          <a:bodyPr wrap="square" lIns="0" tIns="0" rIns="0" bIns="0" rtlCol="0" anchor="ctr"/>
          <a:lstStyle/>
          <a:p>
            <a:pPr algn="ctr" defTabSz="1218895">
              <a:buClrTx/>
            </a:pPr>
            <a:r>
              <a:rPr lang="en-US" sz="1333" b="1" kern="1200" dirty="0">
                <a:solidFill>
                  <a:srgbClr val="2DD4BF"/>
                </a:solidFill>
                <a:latin typeface="Calibri" pitchFamily="34" charset="0"/>
                <a:ea typeface="Calibri" pitchFamily="34" charset="-122"/>
                <a:cs typeface="Calibri" pitchFamily="34" charset="-120"/>
              </a:rPr>
              <a:t>Original Method Body</a:t>
            </a:r>
            <a:endParaRPr lang="en-US" sz="1333" kern="1200" dirty="0">
              <a:solidFill>
                <a:prstClr val="black"/>
              </a:solidFill>
              <a:latin typeface="Calibri" panose="020F0502020204030204"/>
              <a:ea typeface="+mn-ea"/>
              <a:cs typeface="+mn-cs"/>
            </a:endParaRPr>
          </a:p>
        </p:txBody>
      </p:sp>
      <p:sp>
        <p:nvSpPr>
          <p:cNvPr id="15" name="Text 13"/>
          <p:cNvSpPr/>
          <p:nvPr/>
        </p:nvSpPr>
        <p:spPr>
          <a:xfrm>
            <a:off x="1462658" y="4169471"/>
            <a:ext cx="4753642" cy="755707"/>
          </a:xfrm>
          <a:prstGeom prst="rect">
            <a:avLst/>
          </a:prstGeom>
          <a:noFill/>
          <a:ln/>
        </p:spPr>
        <p:txBody>
          <a:bodyPr wrap="square" lIns="0" tIns="0" rIns="0" bIns="0" rtlCol="0" anchor="ctr"/>
          <a:lstStyle/>
          <a:p>
            <a:pPr algn="ctr" defTabSz="1218895">
              <a:buClrTx/>
            </a:pPr>
            <a:r>
              <a:rPr lang="en-US" sz="1333" kern="1200" dirty="0">
                <a:solidFill>
                  <a:srgbClr val="FFFFFF"/>
                </a:solidFill>
                <a:latin typeface="Consolas" pitchFamily="34" charset="0"/>
                <a:ea typeface="Consolas" pitchFamily="34" charset="-122"/>
                <a:cs typeface="Consolas" pitchFamily="34" charset="-120"/>
              </a:rPr>
              <a:t>② actualMethod(args)</a:t>
            </a:r>
            <a:endParaRPr lang="en-US" sz="1333" kern="1200" dirty="0">
              <a:solidFill>
                <a:prstClr val="black"/>
              </a:solidFill>
              <a:latin typeface="Calibri" panose="020F0502020204030204"/>
              <a:ea typeface="+mn-ea"/>
              <a:cs typeface="+mn-cs"/>
            </a:endParaRPr>
          </a:p>
        </p:txBody>
      </p:sp>
      <p:sp>
        <p:nvSpPr>
          <p:cNvPr id="16" name="Text 14"/>
          <p:cNvSpPr/>
          <p:nvPr/>
        </p:nvSpPr>
        <p:spPr>
          <a:xfrm>
            <a:off x="1462658" y="4815479"/>
            <a:ext cx="4753642" cy="548497"/>
          </a:xfrm>
          <a:prstGeom prst="rect">
            <a:avLst/>
          </a:prstGeom>
          <a:noFill/>
          <a:ln/>
        </p:spPr>
        <p:txBody>
          <a:bodyPr wrap="square" lIns="0" tIns="0" rIns="0" bIns="0" rtlCol="0" anchor="ctr"/>
          <a:lstStyle/>
          <a:p>
            <a:pPr algn="ctr" defTabSz="1218895">
              <a:buClrTx/>
            </a:pPr>
            <a:r>
              <a:rPr lang="en-US" sz="1200" kern="1200" dirty="0">
                <a:solidFill>
                  <a:srgbClr val="94A3B8"/>
                </a:solidFill>
                <a:latin typeface="Calibri" pitchFamily="34" charset="0"/>
                <a:ea typeface="Calibri" pitchFamily="34" charset="-122"/>
                <a:cs typeface="Calibri" pitchFamily="34" charset="-120"/>
              </a:rPr>
              <a:t>handles the BTP request</a:t>
            </a:r>
            <a:endParaRPr lang="en-US" sz="1200" kern="1200" dirty="0">
              <a:solidFill>
                <a:prstClr val="black"/>
              </a:solidFill>
              <a:latin typeface="Calibri" panose="020F0502020204030204"/>
              <a:ea typeface="+mn-ea"/>
              <a:cs typeface="+mn-cs"/>
            </a:endParaRPr>
          </a:p>
        </p:txBody>
      </p:sp>
      <p:sp>
        <p:nvSpPr>
          <p:cNvPr id="17" name="Shape 15"/>
          <p:cNvSpPr/>
          <p:nvPr/>
        </p:nvSpPr>
        <p:spPr>
          <a:xfrm>
            <a:off x="7435183" y="2804323"/>
            <a:ext cx="4509865" cy="828840"/>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Shape 16"/>
          <p:cNvSpPr/>
          <p:nvPr/>
        </p:nvSpPr>
        <p:spPr>
          <a:xfrm>
            <a:off x="7435183" y="2804323"/>
            <a:ext cx="85322" cy="828840"/>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7630204" y="2840889"/>
            <a:ext cx="4266089"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Enabled via tsconfig</a:t>
            </a:r>
            <a:endParaRPr lang="en-US" sz="1266" kern="1200" dirty="0">
              <a:solidFill>
                <a:prstClr val="black"/>
              </a:solidFill>
              <a:latin typeface="Calibri" panose="020F0502020204030204"/>
              <a:ea typeface="+mn-ea"/>
              <a:cs typeface="+mn-cs"/>
            </a:endParaRPr>
          </a:p>
        </p:txBody>
      </p:sp>
      <p:sp>
        <p:nvSpPr>
          <p:cNvPr id="20" name="Text 18"/>
          <p:cNvSpPr/>
          <p:nvPr/>
        </p:nvSpPr>
        <p:spPr>
          <a:xfrm>
            <a:off x="7630204" y="3133421"/>
            <a:ext cx="4266089"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Set "experimentalDecorators": true and</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334155"/>
                </a:solidFill>
                <a:latin typeface="Calibri" pitchFamily="34" charset="0"/>
                <a:ea typeface="Calibri" pitchFamily="34" charset="-122"/>
                <a:cs typeface="Calibri" pitchFamily="34" charset="-120"/>
              </a:rPr>
              <a:t>"emitDecoratorMetadata": true in tsconfig.json</a:t>
            </a:r>
            <a:endParaRPr lang="en-US" sz="1133" kern="1200" dirty="0">
              <a:solidFill>
                <a:prstClr val="black"/>
              </a:solidFill>
              <a:latin typeface="Calibri" panose="020F0502020204030204"/>
              <a:ea typeface="+mn-ea"/>
              <a:cs typeface="+mn-cs"/>
            </a:endParaRPr>
          </a:p>
        </p:txBody>
      </p:sp>
      <p:sp>
        <p:nvSpPr>
          <p:cNvPr id="21" name="Shape 19"/>
          <p:cNvSpPr/>
          <p:nvPr/>
        </p:nvSpPr>
        <p:spPr>
          <a:xfrm>
            <a:off x="7435183" y="3706296"/>
            <a:ext cx="4509865" cy="828840"/>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Shape 20"/>
          <p:cNvSpPr/>
          <p:nvPr/>
        </p:nvSpPr>
        <p:spPr>
          <a:xfrm>
            <a:off x="7435183" y="3706296"/>
            <a:ext cx="85322" cy="828840"/>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7630204" y="3742862"/>
            <a:ext cx="4266089"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Method decorator signature</a:t>
            </a:r>
            <a:endParaRPr lang="en-US" sz="1266" kern="1200" dirty="0">
              <a:solidFill>
                <a:prstClr val="black"/>
              </a:solidFill>
              <a:latin typeface="Calibri" panose="020F0502020204030204"/>
              <a:ea typeface="+mn-ea"/>
              <a:cs typeface="+mn-cs"/>
            </a:endParaRPr>
          </a:p>
        </p:txBody>
      </p:sp>
      <p:sp>
        <p:nvSpPr>
          <p:cNvPr id="24" name="Text 22"/>
          <p:cNvSpPr/>
          <p:nvPr/>
        </p:nvSpPr>
        <p:spPr>
          <a:xfrm>
            <a:off x="7630204" y="4035394"/>
            <a:ext cx="4266089"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(target: any, key: string,</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334155"/>
                </a:solidFill>
                <a:latin typeface="Calibri" pitchFamily="34" charset="0"/>
                <a:ea typeface="Calibri" pitchFamily="34" charset="-122"/>
                <a:cs typeface="Calibri" pitchFamily="34" charset="-120"/>
              </a:rPr>
              <a:t> descriptor: PropertyDescriptor) =&gt; void</a:t>
            </a:r>
            <a:endParaRPr lang="en-US" sz="1133" kern="1200" dirty="0">
              <a:solidFill>
                <a:prstClr val="black"/>
              </a:solidFill>
              <a:latin typeface="Calibri" panose="020F0502020204030204"/>
              <a:ea typeface="+mn-ea"/>
              <a:cs typeface="+mn-cs"/>
            </a:endParaRPr>
          </a:p>
        </p:txBody>
      </p:sp>
      <p:sp>
        <p:nvSpPr>
          <p:cNvPr id="25" name="Shape 23"/>
          <p:cNvSpPr/>
          <p:nvPr/>
        </p:nvSpPr>
        <p:spPr>
          <a:xfrm>
            <a:off x="7435183" y="4608269"/>
            <a:ext cx="4509865" cy="828840"/>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Shape 24"/>
          <p:cNvSpPr/>
          <p:nvPr/>
        </p:nvSpPr>
        <p:spPr>
          <a:xfrm>
            <a:off x="7435183" y="4608269"/>
            <a:ext cx="85322" cy="828840"/>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Text 25"/>
          <p:cNvSpPr/>
          <p:nvPr/>
        </p:nvSpPr>
        <p:spPr>
          <a:xfrm>
            <a:off x="7630204" y="4644835"/>
            <a:ext cx="4266089"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No JS equivalent</a:t>
            </a:r>
            <a:endParaRPr lang="en-US" sz="1266" kern="1200" dirty="0">
              <a:solidFill>
                <a:prstClr val="black"/>
              </a:solidFill>
              <a:latin typeface="Calibri" panose="020F0502020204030204"/>
              <a:ea typeface="+mn-ea"/>
              <a:cs typeface="+mn-cs"/>
            </a:endParaRPr>
          </a:p>
        </p:txBody>
      </p:sp>
      <p:sp>
        <p:nvSpPr>
          <p:cNvPr id="28" name="Text 26"/>
          <p:cNvSpPr/>
          <p:nvPr/>
        </p:nvSpPr>
        <p:spPr>
          <a:xfrm>
            <a:off x="7630204" y="4937367"/>
            <a:ext cx="4266089"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JS class decorators (TC39) are Stage 3 and behave differently — TS decorators are the established pattern for CAP services today.</a:t>
            </a:r>
            <a:endParaRPr lang="en-US" sz="1133" kern="1200" dirty="0">
              <a:solidFill>
                <a:prstClr val="black"/>
              </a:solidFill>
              <a:latin typeface="Calibri" panose="020F0502020204030204"/>
              <a:ea typeface="+mn-ea"/>
              <a:cs typeface="+mn-cs"/>
            </a:endParaRPr>
          </a:p>
        </p:txBody>
      </p:sp>
      <p:sp>
        <p:nvSpPr>
          <p:cNvPr id="29" name="Shape 27"/>
          <p:cNvSpPr/>
          <p:nvPr/>
        </p:nvSpPr>
        <p:spPr>
          <a:xfrm>
            <a:off x="7435183" y="5510242"/>
            <a:ext cx="4509865" cy="828840"/>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0" name="Shape 28"/>
          <p:cNvSpPr/>
          <p:nvPr/>
        </p:nvSpPr>
        <p:spPr>
          <a:xfrm>
            <a:off x="7435183" y="5510242"/>
            <a:ext cx="85322" cy="828840"/>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Text 29"/>
          <p:cNvSpPr/>
          <p:nvPr/>
        </p:nvSpPr>
        <p:spPr>
          <a:xfrm>
            <a:off x="7630204" y="5546808"/>
            <a:ext cx="4266089"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Common BTP uses</a:t>
            </a:r>
            <a:endParaRPr lang="en-US" sz="1266" kern="1200" dirty="0">
              <a:solidFill>
                <a:prstClr val="black"/>
              </a:solidFill>
              <a:latin typeface="Calibri" panose="020F0502020204030204"/>
              <a:ea typeface="+mn-ea"/>
              <a:cs typeface="+mn-cs"/>
            </a:endParaRPr>
          </a:p>
        </p:txBody>
      </p:sp>
      <p:sp>
        <p:nvSpPr>
          <p:cNvPr id="32" name="Text 30"/>
          <p:cNvSpPr/>
          <p:nvPr/>
        </p:nvSpPr>
        <p:spPr>
          <a:xfrm>
            <a:off x="7630204" y="5839340"/>
            <a:ext cx="4266089"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Request logging, auth checks, performance timing, caching, retry logic — all without polluting handler code.</a:t>
            </a:r>
            <a:endParaRPr lang="en-US" sz="1133" kern="1200" dirty="0">
              <a:solidFill>
                <a:prstClr val="black"/>
              </a:solidFill>
              <a:latin typeface="Calibri" panose="020F0502020204030204"/>
              <a:ea typeface="+mn-ea"/>
              <a:cs typeface="+mn-cs"/>
            </a:endParaRPr>
          </a:p>
        </p:txBody>
      </p:sp>
      <p:pic>
        <p:nvPicPr>
          <p:cNvPr id="33" name="Google Shape;497;p1">
            <a:extLst>
              <a:ext uri="{FF2B5EF4-FFF2-40B4-BE49-F238E27FC236}">
                <a16:creationId xmlns:a16="http://schemas.microsoft.com/office/drawing/2014/main" id="{D7493829-BD80-B6F1-E2FE-5F9C99B48EF7}"/>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Decorator Anatomy — Step by Step</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Diagram  ·  How a method decorator is constructed and applied</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2" y="1402608"/>
            <a:ext cx="5606860"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Anatomy of a Method Decorator</a:t>
            </a:r>
            <a:endParaRPr lang="en-US" sz="1600" kern="1200" dirty="0">
              <a:solidFill>
                <a:prstClr val="black"/>
              </a:solidFill>
              <a:latin typeface="Calibri" panose="020F0502020204030204"/>
              <a:ea typeface="+mn-ea"/>
              <a:cs typeface="+mn-cs"/>
            </a:endParaRPr>
          </a:p>
        </p:txBody>
      </p:sp>
      <p:sp>
        <p:nvSpPr>
          <p:cNvPr id="7" name="Shape 5"/>
          <p:cNvSpPr/>
          <p:nvPr/>
        </p:nvSpPr>
        <p:spPr>
          <a:xfrm>
            <a:off x="487552" y="1792650"/>
            <a:ext cx="5606860" cy="4826775"/>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914538"/>
            <a:ext cx="5338705" cy="4607376"/>
          </a:xfrm>
          <a:prstGeom prst="rect">
            <a:avLst/>
          </a:prstGeom>
          <a:noFill/>
          <a:ln/>
        </p:spPr>
        <p:txBody>
          <a:bodyPr wrap="square" lIns="0" tIns="0" rIns="0" bIns="0" rtlCol="0" anchor="t"/>
          <a:lstStyle/>
          <a:p>
            <a:pPr defTabSz="1218895">
              <a:buClrTx/>
            </a:pPr>
            <a:r>
              <a:rPr lang="en-US" sz="1173" kern="1200" dirty="0">
                <a:solidFill>
                  <a:srgbClr val="64748B"/>
                </a:solidFill>
                <a:latin typeface="Consolas" pitchFamily="34" charset="0"/>
                <a:ea typeface="Consolas" pitchFamily="34" charset="-122"/>
                <a:cs typeface="Consolas" pitchFamily="34" charset="-120"/>
              </a:rPr>
              <a:t>// A decorator factory (takes options)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function LogRequest(options?: LogOpts)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64748B"/>
                </a:solidFill>
                <a:latin typeface="Consolas" pitchFamily="34" charset="0"/>
                <a:ea typeface="Consolas" pitchFamily="34" charset="-122"/>
                <a:cs typeface="Consolas" pitchFamily="34" charset="-120"/>
              </a:rPr>
              <a:t>  //  ↑ outer fn: creates the decorator</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return function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target: object,         // ①</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methodName: string,     // ②</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descriptor: PropertyDescriptor // ③</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64748B"/>
                </a:solidFill>
                <a:latin typeface="Consolas" pitchFamily="34" charset="0"/>
                <a:ea typeface="Consolas" pitchFamily="34" charset="-122"/>
                <a:cs typeface="Consolas" pitchFamily="34" charset="-120"/>
              </a:rPr>
              <a:t>    // ④ save original method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original = descriptor.value;</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64748B"/>
                </a:solidFill>
                <a:latin typeface="Consolas" pitchFamily="34" charset="0"/>
                <a:ea typeface="Consolas" pitchFamily="34" charset="-122"/>
                <a:cs typeface="Consolas" pitchFamily="34" charset="-120"/>
              </a:rPr>
              <a:t>    // ⑤ replace with wrapped version</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descriptor.value = function(...args: unknown[])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console.log(`→ ${methodName}`, args);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t0 = Date.now();</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result = original.apply(this, args);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ms = Date.now() - t0;</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console.log(`← ${methodName} ${ms}ms`);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return result;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return descriptor;</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a:t>
            </a:r>
            <a:endParaRPr lang="en-US" sz="1173" kern="1200" dirty="0">
              <a:solidFill>
                <a:prstClr val="black"/>
              </a:solidFill>
              <a:latin typeface="Calibri" panose="020F0502020204030204"/>
              <a:ea typeface="+mn-ea"/>
              <a:cs typeface="+mn-cs"/>
            </a:endParaRPr>
          </a:p>
        </p:txBody>
      </p:sp>
      <p:sp>
        <p:nvSpPr>
          <p:cNvPr id="9" name="Text 7"/>
          <p:cNvSpPr/>
          <p:nvPr/>
        </p:nvSpPr>
        <p:spPr>
          <a:xfrm>
            <a:off x="6362566" y="1402608"/>
            <a:ext cx="5484971"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What each argument means</a:t>
            </a:r>
            <a:endParaRPr lang="en-US" sz="1600" kern="1200" dirty="0">
              <a:solidFill>
                <a:prstClr val="black"/>
              </a:solidFill>
              <a:latin typeface="Calibri" panose="020F0502020204030204"/>
              <a:ea typeface="+mn-ea"/>
              <a:cs typeface="+mn-cs"/>
            </a:endParaRPr>
          </a:p>
        </p:txBody>
      </p:sp>
      <p:sp>
        <p:nvSpPr>
          <p:cNvPr id="10" name="Shape 8"/>
          <p:cNvSpPr/>
          <p:nvPr/>
        </p:nvSpPr>
        <p:spPr>
          <a:xfrm>
            <a:off x="6362566" y="1829217"/>
            <a:ext cx="463175" cy="463175"/>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362566" y="1829217"/>
            <a:ext cx="463175"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①</a:t>
            </a:r>
            <a:endParaRPr lang="en-US" sz="1466" kern="1200" dirty="0">
              <a:solidFill>
                <a:prstClr val="black"/>
              </a:solidFill>
              <a:latin typeface="Calibri" panose="020F0502020204030204"/>
              <a:ea typeface="+mn-ea"/>
              <a:cs typeface="+mn-cs"/>
            </a:endParaRPr>
          </a:p>
        </p:txBody>
      </p:sp>
      <p:sp>
        <p:nvSpPr>
          <p:cNvPr id="12" name="Text 10"/>
          <p:cNvSpPr/>
          <p:nvPr/>
        </p:nvSpPr>
        <p:spPr>
          <a:xfrm>
            <a:off x="6923252" y="1829217"/>
            <a:ext cx="1828324" cy="268154"/>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target</a:t>
            </a:r>
            <a:endParaRPr lang="en-US" sz="1333" kern="1200" dirty="0">
              <a:solidFill>
                <a:prstClr val="black"/>
              </a:solidFill>
              <a:latin typeface="Calibri" panose="020F0502020204030204"/>
              <a:ea typeface="+mn-ea"/>
              <a:cs typeface="+mn-cs"/>
            </a:endParaRPr>
          </a:p>
        </p:txBody>
      </p:sp>
      <p:sp>
        <p:nvSpPr>
          <p:cNvPr id="13" name="Text 11"/>
          <p:cNvSpPr/>
          <p:nvPr/>
        </p:nvSpPr>
        <p:spPr>
          <a:xfrm>
            <a:off x="6923252" y="2097371"/>
            <a:ext cx="4851152"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The prototype of the class (or constructor for static methods). Rarely used directly.</a:t>
            </a:r>
            <a:endParaRPr lang="en-US" sz="1133" kern="1200" dirty="0">
              <a:solidFill>
                <a:prstClr val="black"/>
              </a:solidFill>
              <a:latin typeface="Calibri" panose="020F0502020204030204"/>
              <a:ea typeface="+mn-ea"/>
              <a:cs typeface="+mn-cs"/>
            </a:endParaRPr>
          </a:p>
        </p:txBody>
      </p:sp>
      <p:sp>
        <p:nvSpPr>
          <p:cNvPr id="14" name="Shape 12"/>
          <p:cNvSpPr/>
          <p:nvPr/>
        </p:nvSpPr>
        <p:spPr>
          <a:xfrm>
            <a:off x="6362566" y="2767756"/>
            <a:ext cx="463175" cy="463175"/>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Text 13"/>
          <p:cNvSpPr/>
          <p:nvPr/>
        </p:nvSpPr>
        <p:spPr>
          <a:xfrm>
            <a:off x="6362566" y="2767756"/>
            <a:ext cx="463175"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②</a:t>
            </a:r>
            <a:endParaRPr lang="en-US" sz="1466" kern="1200" dirty="0">
              <a:solidFill>
                <a:prstClr val="black"/>
              </a:solidFill>
              <a:latin typeface="Calibri" panose="020F0502020204030204"/>
              <a:ea typeface="+mn-ea"/>
              <a:cs typeface="+mn-cs"/>
            </a:endParaRPr>
          </a:p>
        </p:txBody>
      </p:sp>
      <p:sp>
        <p:nvSpPr>
          <p:cNvPr id="16" name="Text 14"/>
          <p:cNvSpPr/>
          <p:nvPr/>
        </p:nvSpPr>
        <p:spPr>
          <a:xfrm>
            <a:off x="6923252" y="2767756"/>
            <a:ext cx="1828324" cy="268154"/>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methodName</a:t>
            </a:r>
            <a:endParaRPr lang="en-US" sz="1333" kern="1200" dirty="0">
              <a:solidFill>
                <a:prstClr val="black"/>
              </a:solidFill>
              <a:latin typeface="Calibri" panose="020F0502020204030204"/>
              <a:ea typeface="+mn-ea"/>
              <a:cs typeface="+mn-cs"/>
            </a:endParaRPr>
          </a:p>
        </p:txBody>
      </p:sp>
      <p:sp>
        <p:nvSpPr>
          <p:cNvPr id="17" name="Text 15"/>
          <p:cNvSpPr/>
          <p:nvPr/>
        </p:nvSpPr>
        <p:spPr>
          <a:xfrm>
            <a:off x="6923252" y="3035911"/>
            <a:ext cx="4851152"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String name of the decorated method — use for logging, error messages.</a:t>
            </a:r>
            <a:endParaRPr lang="en-US" sz="1133" kern="1200" dirty="0">
              <a:solidFill>
                <a:prstClr val="black"/>
              </a:solidFill>
              <a:latin typeface="Calibri" panose="020F0502020204030204"/>
              <a:ea typeface="+mn-ea"/>
              <a:cs typeface="+mn-cs"/>
            </a:endParaRPr>
          </a:p>
        </p:txBody>
      </p:sp>
      <p:sp>
        <p:nvSpPr>
          <p:cNvPr id="18" name="Shape 16"/>
          <p:cNvSpPr/>
          <p:nvPr/>
        </p:nvSpPr>
        <p:spPr>
          <a:xfrm>
            <a:off x="6362566" y="3706296"/>
            <a:ext cx="463175" cy="463175"/>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6362566" y="3706296"/>
            <a:ext cx="463175"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③</a:t>
            </a:r>
            <a:endParaRPr lang="en-US" sz="1466" kern="1200" dirty="0">
              <a:solidFill>
                <a:prstClr val="black"/>
              </a:solidFill>
              <a:latin typeface="Calibri" panose="020F0502020204030204"/>
              <a:ea typeface="+mn-ea"/>
              <a:cs typeface="+mn-cs"/>
            </a:endParaRPr>
          </a:p>
        </p:txBody>
      </p:sp>
      <p:sp>
        <p:nvSpPr>
          <p:cNvPr id="20" name="Text 18"/>
          <p:cNvSpPr/>
          <p:nvPr/>
        </p:nvSpPr>
        <p:spPr>
          <a:xfrm>
            <a:off x="6923252" y="3706296"/>
            <a:ext cx="1828324" cy="268154"/>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descriptor</a:t>
            </a:r>
            <a:endParaRPr lang="en-US" sz="1333" kern="1200" dirty="0">
              <a:solidFill>
                <a:prstClr val="black"/>
              </a:solidFill>
              <a:latin typeface="Calibri" panose="020F0502020204030204"/>
              <a:ea typeface="+mn-ea"/>
              <a:cs typeface="+mn-cs"/>
            </a:endParaRPr>
          </a:p>
        </p:txBody>
      </p:sp>
      <p:sp>
        <p:nvSpPr>
          <p:cNvPr id="21" name="Text 19"/>
          <p:cNvSpPr/>
          <p:nvPr/>
        </p:nvSpPr>
        <p:spPr>
          <a:xfrm>
            <a:off x="6923252" y="3974450"/>
            <a:ext cx="4851152"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PropertyDescriptor containing the .value (the original function). Replace .value to wrap it.</a:t>
            </a:r>
            <a:endParaRPr lang="en-US" sz="1133" kern="1200" dirty="0">
              <a:solidFill>
                <a:prstClr val="black"/>
              </a:solidFill>
              <a:latin typeface="Calibri" panose="020F0502020204030204"/>
              <a:ea typeface="+mn-ea"/>
              <a:cs typeface="+mn-cs"/>
            </a:endParaRPr>
          </a:p>
        </p:txBody>
      </p:sp>
      <p:sp>
        <p:nvSpPr>
          <p:cNvPr id="22" name="Shape 20"/>
          <p:cNvSpPr/>
          <p:nvPr/>
        </p:nvSpPr>
        <p:spPr>
          <a:xfrm>
            <a:off x="6362566" y="4644835"/>
            <a:ext cx="463175" cy="463175"/>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6362566" y="4644835"/>
            <a:ext cx="463175"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④</a:t>
            </a:r>
            <a:endParaRPr lang="en-US" sz="1466" kern="1200" dirty="0">
              <a:solidFill>
                <a:prstClr val="black"/>
              </a:solidFill>
              <a:latin typeface="Calibri" panose="020F0502020204030204"/>
              <a:ea typeface="+mn-ea"/>
              <a:cs typeface="+mn-cs"/>
            </a:endParaRPr>
          </a:p>
        </p:txBody>
      </p:sp>
      <p:sp>
        <p:nvSpPr>
          <p:cNvPr id="24" name="Text 22"/>
          <p:cNvSpPr/>
          <p:nvPr/>
        </p:nvSpPr>
        <p:spPr>
          <a:xfrm>
            <a:off x="6923252" y="4644835"/>
            <a:ext cx="1828324" cy="268154"/>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original</a:t>
            </a:r>
            <a:endParaRPr lang="en-US" sz="1333" kern="1200" dirty="0">
              <a:solidFill>
                <a:prstClr val="black"/>
              </a:solidFill>
              <a:latin typeface="Calibri" panose="020F0502020204030204"/>
              <a:ea typeface="+mn-ea"/>
              <a:cs typeface="+mn-cs"/>
            </a:endParaRPr>
          </a:p>
        </p:txBody>
      </p:sp>
      <p:sp>
        <p:nvSpPr>
          <p:cNvPr id="25" name="Text 23"/>
          <p:cNvSpPr/>
          <p:nvPr/>
        </p:nvSpPr>
        <p:spPr>
          <a:xfrm>
            <a:off x="6923252" y="4912990"/>
            <a:ext cx="4851152"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Reference to the unmodified method — call it via .apply(this, args) to preserve the correct 'this'.</a:t>
            </a:r>
            <a:endParaRPr lang="en-US" sz="1133" kern="1200" dirty="0">
              <a:solidFill>
                <a:prstClr val="black"/>
              </a:solidFill>
              <a:latin typeface="Calibri" panose="020F0502020204030204"/>
              <a:ea typeface="+mn-ea"/>
              <a:cs typeface="+mn-cs"/>
            </a:endParaRPr>
          </a:p>
        </p:txBody>
      </p:sp>
      <p:sp>
        <p:nvSpPr>
          <p:cNvPr id="26" name="Shape 24"/>
          <p:cNvSpPr/>
          <p:nvPr/>
        </p:nvSpPr>
        <p:spPr>
          <a:xfrm>
            <a:off x="6362566" y="5583375"/>
            <a:ext cx="463175" cy="463175"/>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Text 25"/>
          <p:cNvSpPr/>
          <p:nvPr/>
        </p:nvSpPr>
        <p:spPr>
          <a:xfrm>
            <a:off x="6362566" y="5583375"/>
            <a:ext cx="463175"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⑤</a:t>
            </a:r>
            <a:endParaRPr lang="en-US" sz="1466" kern="1200" dirty="0">
              <a:solidFill>
                <a:prstClr val="black"/>
              </a:solidFill>
              <a:latin typeface="Calibri" panose="020F0502020204030204"/>
              <a:ea typeface="+mn-ea"/>
              <a:cs typeface="+mn-cs"/>
            </a:endParaRPr>
          </a:p>
        </p:txBody>
      </p:sp>
      <p:sp>
        <p:nvSpPr>
          <p:cNvPr id="28" name="Text 26"/>
          <p:cNvSpPr/>
          <p:nvPr/>
        </p:nvSpPr>
        <p:spPr>
          <a:xfrm>
            <a:off x="6923252" y="5583375"/>
            <a:ext cx="1828324" cy="268154"/>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descriptor.value = …</a:t>
            </a:r>
            <a:endParaRPr lang="en-US" sz="1333" kern="1200" dirty="0">
              <a:solidFill>
                <a:prstClr val="black"/>
              </a:solidFill>
              <a:latin typeface="Calibri" panose="020F0502020204030204"/>
              <a:ea typeface="+mn-ea"/>
              <a:cs typeface="+mn-cs"/>
            </a:endParaRPr>
          </a:p>
        </p:txBody>
      </p:sp>
      <p:sp>
        <p:nvSpPr>
          <p:cNvPr id="29" name="Text 27"/>
          <p:cNvSpPr/>
          <p:nvPr/>
        </p:nvSpPr>
        <p:spPr>
          <a:xfrm>
            <a:off x="6923252" y="5851529"/>
            <a:ext cx="4851152"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Assign the new wrapper function here. This is what callers will now invoke.</a:t>
            </a:r>
            <a:endParaRPr lang="en-US" sz="1133" kern="1200" dirty="0">
              <a:solidFill>
                <a:prstClr val="black"/>
              </a:solidFill>
              <a:latin typeface="Calibri" panose="020F0502020204030204"/>
              <a:ea typeface="+mn-ea"/>
              <a:cs typeface="+mn-cs"/>
            </a:endParaRPr>
          </a:p>
        </p:txBody>
      </p:sp>
      <p:sp>
        <p:nvSpPr>
          <p:cNvPr id="30" name="Shape 28"/>
          <p:cNvSpPr/>
          <p:nvPr/>
        </p:nvSpPr>
        <p:spPr>
          <a:xfrm>
            <a:off x="487553" y="6485348"/>
            <a:ext cx="11213719" cy="243777"/>
          </a:xfrm>
          <a:prstGeom prst="rect">
            <a:avLst/>
          </a:prstGeom>
          <a:solidFill>
            <a:srgbClr val="FEF9C3"/>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Text 29"/>
          <p:cNvSpPr/>
          <p:nvPr/>
        </p:nvSpPr>
        <p:spPr>
          <a:xfrm>
            <a:off x="609441" y="6497537"/>
            <a:ext cx="10969943" cy="219399"/>
          </a:xfrm>
          <a:prstGeom prst="rect">
            <a:avLst/>
          </a:prstGeom>
          <a:noFill/>
          <a:ln/>
        </p:spPr>
        <p:txBody>
          <a:bodyPr wrap="square" lIns="0" tIns="0" rIns="0" bIns="0" rtlCol="0" anchor="ctr"/>
          <a:lstStyle/>
          <a:p>
            <a:pPr defTabSz="1218895">
              <a:buClrTx/>
            </a:pPr>
            <a:r>
              <a:rPr lang="en-US" sz="1200" kern="1200" dirty="0">
                <a:solidFill>
                  <a:srgbClr val="92400E"/>
                </a:solidFill>
                <a:latin typeface="Calibri" pitchFamily="34" charset="0"/>
                <a:ea typeface="Calibri" pitchFamily="34" charset="-122"/>
                <a:cs typeface="Calibri" pitchFamily="34" charset="-120"/>
              </a:rPr>
              <a:t>⚠  tsconfig.json must have: "experimentalDecorators": true, "emitDecoratorMetadata": true</a:t>
            </a:r>
            <a:endParaRPr lang="en-US" sz="1200" kern="1200" dirty="0">
              <a:solidFill>
                <a:prstClr val="black"/>
              </a:solidFill>
              <a:latin typeface="Calibri" panose="020F0502020204030204"/>
              <a:ea typeface="+mn-ea"/>
              <a:cs typeface="+mn-cs"/>
            </a:endParaRPr>
          </a:p>
        </p:txBody>
      </p:sp>
      <p:pic>
        <p:nvPicPr>
          <p:cNvPr id="32" name="Google Shape;497;p1">
            <a:extLst>
              <a:ext uri="{FF2B5EF4-FFF2-40B4-BE49-F238E27FC236}">
                <a16:creationId xmlns:a16="http://schemas.microsoft.com/office/drawing/2014/main" id="{ADF25599-6142-2875-37FE-127FD129A4ED}"/>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B — @LogRequest on a CAP Handler</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Hands-on  ·  exercises/cap-handler.ts</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3" y="1402608"/>
            <a:ext cx="5484971" cy="365665"/>
          </a:xfrm>
          <a:prstGeom prst="rect">
            <a:avLst/>
          </a:prstGeom>
          <a:noFill/>
          <a:ln/>
        </p:spPr>
        <p:txBody>
          <a:bodyPr wrap="square" lIns="0" tIns="0" rIns="0" bIns="0" rtlCol="0" anchor="ctr"/>
          <a:lstStyle/>
          <a:p>
            <a:pPr defTabSz="1218895">
              <a:buClrTx/>
            </a:pPr>
            <a:r>
              <a:rPr lang="en-US" sz="1466" b="1" kern="1200" dirty="0">
                <a:solidFill>
                  <a:srgbClr val="B91C1C"/>
                </a:solidFill>
                <a:latin typeface="Calibri" pitchFamily="34" charset="0"/>
                <a:ea typeface="Calibri" pitchFamily="34" charset="-122"/>
                <a:cs typeface="Calibri" pitchFamily="34" charset="-120"/>
              </a:rPr>
              <a:t>cap-handler.ts  —  Before (no decorator)</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92650"/>
            <a:ext cx="5484971" cy="253527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914538"/>
            <a:ext cx="5216817" cy="2315877"/>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class OrderHandler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onCreate(req: Request)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business logic only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createOrder(req.data);</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onRead(req: Request)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readOrders(req.query);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9" name="Text 7"/>
          <p:cNvSpPr/>
          <p:nvPr/>
        </p:nvSpPr>
        <p:spPr>
          <a:xfrm>
            <a:off x="6277244" y="1402608"/>
            <a:ext cx="5606860" cy="365665"/>
          </a:xfrm>
          <a:prstGeom prst="rect">
            <a:avLst/>
          </a:prstGeom>
          <a:noFill/>
          <a:ln/>
        </p:spPr>
        <p:txBody>
          <a:bodyPr wrap="square" lIns="0" tIns="0" rIns="0" bIns="0" rtlCol="0" anchor="ctr"/>
          <a:lstStyle/>
          <a:p>
            <a:pPr defTabSz="1218895">
              <a:buClrTx/>
            </a:pPr>
            <a:r>
              <a:rPr lang="en-US" sz="1466" b="1" kern="1200" dirty="0">
                <a:solidFill>
                  <a:srgbClr val="0D9488"/>
                </a:solidFill>
                <a:latin typeface="Calibri" pitchFamily="34" charset="0"/>
                <a:ea typeface="Calibri" pitchFamily="34" charset="-122"/>
                <a:cs typeface="Calibri" pitchFamily="34" charset="-120"/>
              </a:rPr>
              <a:t>cap-handler.ts  —  After (@LogRequest applied)</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92650"/>
            <a:ext cx="5606860" cy="253527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914538"/>
            <a:ext cx="5338705" cy="2315877"/>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class OrderHandler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@LogRequest({ level: 'info'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onCreate(req: Request)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createOrder(req.data);</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@LogRequest({ level: 'debug'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onRead(req: Request)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readOrders(req.query);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12" name="Text 10"/>
          <p:cNvSpPr/>
          <p:nvPr/>
        </p:nvSpPr>
        <p:spPr>
          <a:xfrm>
            <a:off x="487553" y="4449814"/>
            <a:ext cx="11213719"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Full @LogRequest Implementation</a:t>
            </a:r>
            <a:endParaRPr lang="en-US" sz="1600" kern="1200" dirty="0">
              <a:solidFill>
                <a:prstClr val="black"/>
              </a:solidFill>
              <a:latin typeface="Calibri" panose="020F0502020204030204"/>
              <a:ea typeface="+mn-ea"/>
              <a:cs typeface="+mn-cs"/>
            </a:endParaRPr>
          </a:p>
        </p:txBody>
      </p:sp>
      <p:sp>
        <p:nvSpPr>
          <p:cNvPr id="13" name="Shape 11"/>
          <p:cNvSpPr/>
          <p:nvPr/>
        </p:nvSpPr>
        <p:spPr>
          <a:xfrm>
            <a:off x="487553" y="4839856"/>
            <a:ext cx="11213719" cy="1889268"/>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70385" y="4961745"/>
            <a:ext cx="10945565" cy="1669869"/>
          </a:xfrm>
          <a:prstGeom prst="rect">
            <a:avLst/>
          </a:prstGeom>
          <a:noFill/>
          <a:ln/>
        </p:spPr>
        <p:txBody>
          <a:bodyPr wrap="square" lIns="0" tIns="0" rIns="0" bIns="0" rtlCol="0" anchor="t"/>
          <a:lstStyle/>
          <a:p>
            <a:pPr defTabSz="1218895">
              <a:buClrTx/>
            </a:pPr>
            <a:r>
              <a:rPr lang="en-US" sz="1200" kern="1200" dirty="0">
                <a:solidFill>
                  <a:srgbClr val="F472B6"/>
                </a:solidFill>
                <a:latin typeface="Consolas" pitchFamily="34" charset="0"/>
                <a:ea typeface="Consolas" pitchFamily="34" charset="-122"/>
                <a:cs typeface="Consolas" pitchFamily="34" charset="-120"/>
              </a:rPr>
              <a:t>interface LogOpts { level?: 'info' | 'debug' | 'warn';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function LogRequest(opts: LogOpts = {})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(_target: object, methodName: string, descriptor: PropertyDescriptor)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original: (...args: unknown[]) =&gt; unknown = descriptor.value;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descriptor.value = async function (...args: unknown[])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t0 = Date.now();</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console[opts.level ?? 'info'](`[CAP] → ${methodName}`, { args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result = await original.apply(this, args);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console[opts.level ?? 'info'](`[CAP] ← ${methodName}  ${Date.now()-t0}ms`);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return result;  };  return descriptor;  }; }</a:t>
            </a:r>
            <a:endParaRPr lang="en-US" sz="1200" kern="1200" dirty="0">
              <a:solidFill>
                <a:prstClr val="black"/>
              </a:solidFill>
              <a:latin typeface="Calibri" panose="020F0502020204030204"/>
              <a:ea typeface="+mn-ea"/>
              <a:cs typeface="+mn-cs"/>
            </a:endParaRPr>
          </a:p>
        </p:txBody>
      </p:sp>
      <p:pic>
        <p:nvPicPr>
          <p:cNvPr id="15" name="Google Shape;497;p1">
            <a:extLst>
              <a:ext uri="{FF2B5EF4-FFF2-40B4-BE49-F238E27FC236}">
                <a16:creationId xmlns:a16="http://schemas.microsoft.com/office/drawing/2014/main" id="{1122E79D-1E8E-0B84-87BD-D9AB0060413B}"/>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B — Runtime Execution Flow</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Flowchart  ·  What happens when a decorated method is called</a:t>
            </a:r>
            <a:endParaRPr lang="en-US" sz="1466" kern="1200" dirty="0">
              <a:solidFill>
                <a:prstClr val="black"/>
              </a:solidFill>
              <a:latin typeface="Calibri" panose="020F0502020204030204"/>
              <a:ea typeface="+mn-ea"/>
              <a:cs typeface="+mn-cs"/>
            </a:endParaRPr>
          </a:p>
        </p:txBody>
      </p:sp>
      <p:sp>
        <p:nvSpPr>
          <p:cNvPr id="6" name="Shape 4"/>
          <p:cNvSpPr/>
          <p:nvPr/>
        </p:nvSpPr>
        <p:spPr>
          <a:xfrm>
            <a:off x="609441" y="1439174"/>
            <a:ext cx="6703854" cy="755707"/>
          </a:xfrm>
          <a:prstGeom prst="rect">
            <a:avLst/>
          </a:prstGeom>
          <a:solidFill>
            <a:srgbClr val="334155"/>
          </a:solidFill>
          <a:ln w="12700">
            <a:solidFill>
              <a:srgbClr val="334155"/>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609441" y="1536685"/>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09441" y="1536685"/>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1</a:t>
            </a:r>
            <a:endParaRPr lang="en-US" sz="1733" kern="1200" dirty="0">
              <a:solidFill>
                <a:prstClr val="black"/>
              </a:solidFill>
              <a:latin typeface="Calibri" panose="020F0502020204030204"/>
              <a:ea typeface="+mn-ea"/>
              <a:cs typeface="+mn-cs"/>
            </a:endParaRPr>
          </a:p>
        </p:txBody>
      </p:sp>
      <p:sp>
        <p:nvSpPr>
          <p:cNvPr id="9" name="Text 7"/>
          <p:cNvSpPr/>
          <p:nvPr/>
        </p:nvSpPr>
        <p:spPr>
          <a:xfrm>
            <a:off x="1292015" y="1439174"/>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CAP Framework calls  handler.onCreate(req)</a:t>
            </a:r>
            <a:endParaRPr lang="en-US" sz="1466" kern="1200" dirty="0">
              <a:solidFill>
                <a:prstClr val="black"/>
              </a:solidFill>
              <a:latin typeface="Calibri" panose="020F0502020204030204"/>
              <a:ea typeface="+mn-ea"/>
              <a:cs typeface="+mn-cs"/>
            </a:endParaRPr>
          </a:p>
        </p:txBody>
      </p:sp>
      <p:sp>
        <p:nvSpPr>
          <p:cNvPr id="10" name="Shape 8"/>
          <p:cNvSpPr/>
          <p:nvPr/>
        </p:nvSpPr>
        <p:spPr>
          <a:xfrm>
            <a:off x="3351926" y="2194882"/>
            <a:ext cx="0" cy="341287"/>
          </a:xfrm>
          <a:prstGeom prst="line">
            <a:avLst/>
          </a:prstGeom>
          <a:noFill/>
          <a:ln w="25400">
            <a:solidFill>
              <a:srgbClr val="334155"/>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3193472" y="2268014"/>
            <a:ext cx="316909" cy="268154"/>
          </a:xfrm>
          <a:prstGeom prst="rect">
            <a:avLst/>
          </a:prstGeom>
          <a:noFill/>
          <a:ln/>
        </p:spPr>
        <p:txBody>
          <a:bodyPr wrap="square" lIns="0" tIns="0" rIns="0" bIns="0" rtlCol="0" anchor="ctr"/>
          <a:lstStyle/>
          <a:p>
            <a:pPr defTabSz="1218895">
              <a:buClrTx/>
            </a:pPr>
            <a:r>
              <a:rPr lang="en-US" sz="1466" kern="1200" dirty="0">
                <a:solidFill>
                  <a:srgbClr val="334155"/>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2" name="Shape 10"/>
          <p:cNvSpPr/>
          <p:nvPr/>
        </p:nvSpPr>
        <p:spPr>
          <a:xfrm>
            <a:off x="609441" y="2353336"/>
            <a:ext cx="6703854" cy="755707"/>
          </a:xfrm>
          <a:prstGeom prst="rect">
            <a:avLst/>
          </a:prstGeom>
          <a:solidFill>
            <a:srgbClr val="0D9488"/>
          </a:solidFill>
          <a:ln w="12700">
            <a:solidFill>
              <a:srgbClr val="0D9488"/>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Shape 11"/>
          <p:cNvSpPr/>
          <p:nvPr/>
        </p:nvSpPr>
        <p:spPr>
          <a:xfrm>
            <a:off x="609441" y="2450847"/>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09441" y="2450847"/>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2</a:t>
            </a:r>
            <a:endParaRPr lang="en-US" sz="1733" kern="1200" dirty="0">
              <a:solidFill>
                <a:prstClr val="black"/>
              </a:solidFill>
              <a:latin typeface="Calibri" panose="020F0502020204030204"/>
              <a:ea typeface="+mn-ea"/>
              <a:cs typeface="+mn-cs"/>
            </a:endParaRPr>
          </a:p>
        </p:txBody>
      </p:sp>
      <p:sp>
        <p:nvSpPr>
          <p:cNvPr id="15" name="Text 13"/>
          <p:cNvSpPr/>
          <p:nvPr/>
        </p:nvSpPr>
        <p:spPr>
          <a:xfrm>
            <a:off x="1292015" y="2353336"/>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Decorator wrapper intercepts the call</a:t>
            </a:r>
            <a:endParaRPr lang="en-US" sz="1466" kern="1200" dirty="0">
              <a:solidFill>
                <a:prstClr val="black"/>
              </a:solidFill>
              <a:latin typeface="Calibri" panose="020F0502020204030204"/>
              <a:ea typeface="+mn-ea"/>
              <a:cs typeface="+mn-cs"/>
            </a:endParaRPr>
          </a:p>
        </p:txBody>
      </p:sp>
      <p:sp>
        <p:nvSpPr>
          <p:cNvPr id="16" name="Shape 14"/>
          <p:cNvSpPr/>
          <p:nvPr/>
        </p:nvSpPr>
        <p:spPr>
          <a:xfrm>
            <a:off x="3351926" y="3109043"/>
            <a:ext cx="0" cy="341287"/>
          </a:xfrm>
          <a:prstGeom prst="line">
            <a:avLst/>
          </a:prstGeom>
          <a:noFill/>
          <a:ln w="254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3193472" y="3182176"/>
            <a:ext cx="316909" cy="268154"/>
          </a:xfrm>
          <a:prstGeom prst="rect">
            <a:avLst/>
          </a:prstGeom>
          <a:noFill/>
          <a:ln/>
        </p:spPr>
        <p:txBody>
          <a:bodyPr wrap="square" lIns="0" tIns="0" rIns="0" bIns="0" rtlCol="0" anchor="ctr"/>
          <a:lstStyle/>
          <a:p>
            <a:pPr defTabSz="1218895">
              <a:buClrTx/>
            </a:pPr>
            <a:r>
              <a:rPr lang="en-US" sz="1466" kern="1200" dirty="0">
                <a:solidFill>
                  <a:srgbClr val="0D9488"/>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8" name="Shape 16"/>
          <p:cNvSpPr/>
          <p:nvPr/>
        </p:nvSpPr>
        <p:spPr>
          <a:xfrm>
            <a:off x="609441" y="3267498"/>
            <a:ext cx="6703854" cy="755707"/>
          </a:xfrm>
          <a:prstGeom prst="rect">
            <a:avLst/>
          </a:prstGeom>
          <a:solidFill>
            <a:srgbClr val="4338CA"/>
          </a:solidFill>
          <a:ln w="12700">
            <a:solidFill>
              <a:srgbClr val="4338CA"/>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609441" y="3365009"/>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609441" y="3365009"/>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3</a:t>
            </a:r>
            <a:endParaRPr lang="en-US" sz="1733" kern="1200" dirty="0">
              <a:solidFill>
                <a:prstClr val="black"/>
              </a:solidFill>
              <a:latin typeface="Calibri" panose="020F0502020204030204"/>
              <a:ea typeface="+mn-ea"/>
              <a:cs typeface="+mn-cs"/>
            </a:endParaRPr>
          </a:p>
        </p:txBody>
      </p:sp>
      <p:sp>
        <p:nvSpPr>
          <p:cNvPr id="21" name="Text 19"/>
          <p:cNvSpPr/>
          <p:nvPr/>
        </p:nvSpPr>
        <p:spPr>
          <a:xfrm>
            <a:off x="1292015" y="3267498"/>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Log: method name + arguments  →  console</a:t>
            </a:r>
            <a:endParaRPr lang="en-US" sz="1466" kern="1200" dirty="0">
              <a:solidFill>
                <a:prstClr val="black"/>
              </a:solidFill>
              <a:latin typeface="Calibri" panose="020F0502020204030204"/>
              <a:ea typeface="+mn-ea"/>
              <a:cs typeface="+mn-cs"/>
            </a:endParaRPr>
          </a:p>
        </p:txBody>
      </p:sp>
      <p:sp>
        <p:nvSpPr>
          <p:cNvPr id="22" name="Shape 20"/>
          <p:cNvSpPr/>
          <p:nvPr/>
        </p:nvSpPr>
        <p:spPr>
          <a:xfrm>
            <a:off x="3351926" y="4023205"/>
            <a:ext cx="0" cy="341287"/>
          </a:xfrm>
          <a:prstGeom prst="line">
            <a:avLst/>
          </a:prstGeom>
          <a:noFill/>
          <a:ln w="25400">
            <a:solidFill>
              <a:srgbClr val="4338C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3193472" y="4096338"/>
            <a:ext cx="316909" cy="268154"/>
          </a:xfrm>
          <a:prstGeom prst="rect">
            <a:avLst/>
          </a:prstGeom>
          <a:noFill/>
          <a:ln/>
        </p:spPr>
        <p:txBody>
          <a:bodyPr wrap="square" lIns="0" tIns="0" rIns="0" bIns="0" rtlCol="0" anchor="ctr"/>
          <a:lstStyle/>
          <a:p>
            <a:pPr defTabSz="1218895">
              <a:buClrTx/>
            </a:pPr>
            <a:r>
              <a:rPr lang="en-US" sz="1466" kern="1200" dirty="0">
                <a:solidFill>
                  <a:srgbClr val="4338CA"/>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24" name="Shape 22"/>
          <p:cNvSpPr/>
          <p:nvPr/>
        </p:nvSpPr>
        <p:spPr>
          <a:xfrm>
            <a:off x="609441" y="4181660"/>
            <a:ext cx="6703854" cy="755707"/>
          </a:xfrm>
          <a:prstGeom prst="rect">
            <a:avLst/>
          </a:prstGeom>
          <a:solidFill>
            <a:srgbClr val="4338CA"/>
          </a:solidFill>
          <a:ln w="12700">
            <a:solidFill>
              <a:srgbClr val="4338CA"/>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Shape 23"/>
          <p:cNvSpPr/>
          <p:nvPr/>
        </p:nvSpPr>
        <p:spPr>
          <a:xfrm>
            <a:off x="609441" y="4279171"/>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09441" y="4279171"/>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4</a:t>
            </a:r>
            <a:endParaRPr lang="en-US" sz="1733" kern="1200" dirty="0">
              <a:solidFill>
                <a:prstClr val="black"/>
              </a:solidFill>
              <a:latin typeface="Calibri" panose="020F0502020204030204"/>
              <a:ea typeface="+mn-ea"/>
              <a:cs typeface="+mn-cs"/>
            </a:endParaRPr>
          </a:p>
        </p:txBody>
      </p:sp>
      <p:sp>
        <p:nvSpPr>
          <p:cNvPr id="27" name="Text 25"/>
          <p:cNvSpPr/>
          <p:nvPr/>
        </p:nvSpPr>
        <p:spPr>
          <a:xfrm>
            <a:off x="1292015" y="4181660"/>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Record start time  t0 = Date.now()</a:t>
            </a:r>
            <a:endParaRPr lang="en-US" sz="1466" kern="1200" dirty="0">
              <a:solidFill>
                <a:prstClr val="black"/>
              </a:solidFill>
              <a:latin typeface="Calibri" panose="020F0502020204030204"/>
              <a:ea typeface="+mn-ea"/>
              <a:cs typeface="+mn-cs"/>
            </a:endParaRPr>
          </a:p>
        </p:txBody>
      </p:sp>
      <p:sp>
        <p:nvSpPr>
          <p:cNvPr id="28" name="Shape 26"/>
          <p:cNvSpPr/>
          <p:nvPr/>
        </p:nvSpPr>
        <p:spPr>
          <a:xfrm>
            <a:off x="3351926" y="4937367"/>
            <a:ext cx="0" cy="341287"/>
          </a:xfrm>
          <a:prstGeom prst="line">
            <a:avLst/>
          </a:prstGeom>
          <a:noFill/>
          <a:ln w="25400">
            <a:solidFill>
              <a:srgbClr val="4338C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9" name="Text 27"/>
          <p:cNvSpPr/>
          <p:nvPr/>
        </p:nvSpPr>
        <p:spPr>
          <a:xfrm>
            <a:off x="3193472" y="5010500"/>
            <a:ext cx="316909" cy="268154"/>
          </a:xfrm>
          <a:prstGeom prst="rect">
            <a:avLst/>
          </a:prstGeom>
          <a:noFill/>
          <a:ln/>
        </p:spPr>
        <p:txBody>
          <a:bodyPr wrap="square" lIns="0" tIns="0" rIns="0" bIns="0" rtlCol="0" anchor="ctr"/>
          <a:lstStyle/>
          <a:p>
            <a:pPr defTabSz="1218895">
              <a:buClrTx/>
            </a:pPr>
            <a:r>
              <a:rPr lang="en-US" sz="1466" kern="1200" dirty="0">
                <a:solidFill>
                  <a:srgbClr val="4338CA"/>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30" name="Shape 28"/>
          <p:cNvSpPr/>
          <p:nvPr/>
        </p:nvSpPr>
        <p:spPr>
          <a:xfrm>
            <a:off x="609441" y="5095822"/>
            <a:ext cx="6703854" cy="755707"/>
          </a:xfrm>
          <a:prstGeom prst="rect">
            <a:avLst/>
          </a:prstGeom>
          <a:solidFill>
            <a:srgbClr val="1E293B"/>
          </a:solidFill>
          <a:ln w="12700">
            <a:solidFill>
              <a:srgbClr val="1E293B"/>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9"/>
          <p:cNvSpPr/>
          <p:nvPr/>
        </p:nvSpPr>
        <p:spPr>
          <a:xfrm>
            <a:off x="609441" y="5193332"/>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609441" y="5193332"/>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5</a:t>
            </a:r>
            <a:endParaRPr lang="en-US" sz="1733" kern="1200" dirty="0">
              <a:solidFill>
                <a:prstClr val="black"/>
              </a:solidFill>
              <a:latin typeface="Calibri" panose="020F0502020204030204"/>
              <a:ea typeface="+mn-ea"/>
              <a:cs typeface="+mn-cs"/>
            </a:endParaRPr>
          </a:p>
        </p:txBody>
      </p:sp>
      <p:sp>
        <p:nvSpPr>
          <p:cNvPr id="33" name="Text 31"/>
          <p:cNvSpPr/>
          <p:nvPr/>
        </p:nvSpPr>
        <p:spPr>
          <a:xfrm>
            <a:off x="1292015" y="5095822"/>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Call original method:  original.apply(this, args)</a:t>
            </a:r>
            <a:endParaRPr lang="en-US" sz="1466" kern="1200" dirty="0">
              <a:solidFill>
                <a:prstClr val="black"/>
              </a:solidFill>
              <a:latin typeface="Calibri" panose="020F0502020204030204"/>
              <a:ea typeface="+mn-ea"/>
              <a:cs typeface="+mn-cs"/>
            </a:endParaRPr>
          </a:p>
        </p:txBody>
      </p:sp>
      <p:sp>
        <p:nvSpPr>
          <p:cNvPr id="34" name="Shape 32"/>
          <p:cNvSpPr/>
          <p:nvPr/>
        </p:nvSpPr>
        <p:spPr>
          <a:xfrm>
            <a:off x="3351926" y="5851529"/>
            <a:ext cx="0" cy="341287"/>
          </a:xfrm>
          <a:prstGeom prst="line">
            <a:avLst/>
          </a:prstGeom>
          <a:noFill/>
          <a:ln w="254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5" name="Text 33"/>
          <p:cNvSpPr/>
          <p:nvPr/>
        </p:nvSpPr>
        <p:spPr>
          <a:xfrm>
            <a:off x="3193472" y="5924662"/>
            <a:ext cx="316909" cy="268154"/>
          </a:xfrm>
          <a:prstGeom prst="rect">
            <a:avLst/>
          </a:prstGeom>
          <a:noFill/>
          <a:ln/>
        </p:spPr>
        <p:txBody>
          <a:bodyPr wrap="square" lIns="0" tIns="0" rIns="0" bIns="0" rtlCol="0" anchor="ctr"/>
          <a:lstStyle/>
          <a:p>
            <a:pPr defTabSz="1218895">
              <a:buClrTx/>
            </a:pPr>
            <a:r>
              <a:rPr lang="en-US" sz="1466" kern="1200" dirty="0">
                <a:solidFill>
                  <a:srgbClr val="1E293B"/>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36" name="Shape 34"/>
          <p:cNvSpPr/>
          <p:nvPr/>
        </p:nvSpPr>
        <p:spPr>
          <a:xfrm>
            <a:off x="609441" y="6009984"/>
            <a:ext cx="6703854" cy="755707"/>
          </a:xfrm>
          <a:prstGeom prst="rect">
            <a:avLst/>
          </a:prstGeom>
          <a:solidFill>
            <a:srgbClr val="0D9488"/>
          </a:solidFill>
          <a:ln w="12700">
            <a:solidFill>
              <a:srgbClr val="0D9488"/>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Shape 35"/>
          <p:cNvSpPr/>
          <p:nvPr/>
        </p:nvSpPr>
        <p:spPr>
          <a:xfrm>
            <a:off x="609441" y="6107494"/>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8" name="Text 36"/>
          <p:cNvSpPr/>
          <p:nvPr/>
        </p:nvSpPr>
        <p:spPr>
          <a:xfrm>
            <a:off x="609441" y="6107494"/>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6</a:t>
            </a:r>
            <a:endParaRPr lang="en-US" sz="1733" kern="1200" dirty="0">
              <a:solidFill>
                <a:prstClr val="black"/>
              </a:solidFill>
              <a:latin typeface="Calibri" panose="020F0502020204030204"/>
              <a:ea typeface="+mn-ea"/>
              <a:cs typeface="+mn-cs"/>
            </a:endParaRPr>
          </a:p>
        </p:txBody>
      </p:sp>
      <p:sp>
        <p:nvSpPr>
          <p:cNvPr id="39" name="Text 37"/>
          <p:cNvSpPr/>
          <p:nvPr/>
        </p:nvSpPr>
        <p:spPr>
          <a:xfrm>
            <a:off x="1292015" y="6009984"/>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Log: execution time  (Date.now() - t0) ms</a:t>
            </a:r>
            <a:endParaRPr lang="en-US" sz="1466" kern="1200" dirty="0">
              <a:solidFill>
                <a:prstClr val="black"/>
              </a:solidFill>
              <a:latin typeface="Calibri" panose="020F0502020204030204"/>
              <a:ea typeface="+mn-ea"/>
              <a:cs typeface="+mn-cs"/>
            </a:endParaRPr>
          </a:p>
        </p:txBody>
      </p:sp>
      <p:sp>
        <p:nvSpPr>
          <p:cNvPr id="40" name="Text 38"/>
          <p:cNvSpPr/>
          <p:nvPr/>
        </p:nvSpPr>
        <p:spPr>
          <a:xfrm>
            <a:off x="7557071" y="1439174"/>
            <a:ext cx="4387977"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Expected Console Output</a:t>
            </a:r>
            <a:endParaRPr lang="en-US" sz="1600" kern="1200" dirty="0">
              <a:solidFill>
                <a:prstClr val="black"/>
              </a:solidFill>
              <a:latin typeface="Calibri" panose="020F0502020204030204"/>
              <a:ea typeface="+mn-ea"/>
              <a:cs typeface="+mn-cs"/>
            </a:endParaRPr>
          </a:p>
        </p:txBody>
      </p:sp>
      <p:sp>
        <p:nvSpPr>
          <p:cNvPr id="41" name="Shape 39"/>
          <p:cNvSpPr/>
          <p:nvPr/>
        </p:nvSpPr>
        <p:spPr>
          <a:xfrm>
            <a:off x="7557071" y="1829217"/>
            <a:ext cx="4387977" cy="2864374"/>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2" name="Text 40"/>
          <p:cNvSpPr/>
          <p:nvPr/>
        </p:nvSpPr>
        <p:spPr>
          <a:xfrm>
            <a:off x="7739903" y="1951105"/>
            <a:ext cx="4119823" cy="2644975"/>
          </a:xfrm>
          <a:prstGeom prst="rect">
            <a:avLst/>
          </a:prstGeom>
          <a:noFill/>
          <a:ln/>
        </p:spPr>
        <p:txBody>
          <a:bodyPr wrap="square" lIns="0" tIns="0" rIns="0" bIns="0" rtlCol="0" anchor="t"/>
          <a:lstStyle/>
          <a:p>
            <a:pPr defTabSz="1218895">
              <a:buClrTx/>
            </a:pPr>
            <a:r>
              <a:rPr lang="en-US" sz="1200" kern="1200" dirty="0">
                <a:solidFill>
                  <a:srgbClr val="64748B"/>
                </a:solidFill>
                <a:latin typeface="Consolas" pitchFamily="34" charset="0"/>
                <a:ea typeface="Consolas" pitchFamily="34" charset="-122"/>
                <a:cs typeface="Consolas" pitchFamily="34" charset="-120"/>
              </a:rPr>
              <a:t>$ node server.js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[CAP] → onCreate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 args: [{ entity: 'Orders',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data: { amount: 500 } }]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[CAP] ← onCreate  42ms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[CAP] → onRead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 args: [{ query: SELECT }]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[CAP] ← onRead  8ms</a:t>
            </a:r>
            <a:endParaRPr lang="en-US" sz="1200" kern="1200" dirty="0">
              <a:solidFill>
                <a:prstClr val="black"/>
              </a:solidFill>
              <a:latin typeface="Calibri" panose="020F0502020204030204"/>
              <a:ea typeface="+mn-ea"/>
              <a:cs typeface="+mn-cs"/>
            </a:endParaRPr>
          </a:p>
        </p:txBody>
      </p:sp>
      <p:sp>
        <p:nvSpPr>
          <p:cNvPr id="43" name="Shape 41"/>
          <p:cNvSpPr/>
          <p:nvPr/>
        </p:nvSpPr>
        <p:spPr>
          <a:xfrm>
            <a:off x="7557071" y="4778912"/>
            <a:ext cx="4387977" cy="2011156"/>
          </a:xfrm>
          <a:prstGeom prst="rect">
            <a:avLst/>
          </a:prstGeom>
          <a:solidFill>
            <a:srgbClr val="CCFBF1"/>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4" name="Text 42"/>
          <p:cNvSpPr/>
          <p:nvPr/>
        </p:nvSpPr>
        <p:spPr>
          <a:xfrm>
            <a:off x="7678959" y="4839857"/>
            <a:ext cx="4144201" cy="34128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Why this matters for CAP</a:t>
            </a:r>
            <a:endParaRPr lang="en-US" kern="1200" dirty="0">
              <a:solidFill>
                <a:prstClr val="black"/>
              </a:solidFill>
              <a:latin typeface="Calibri" panose="020F0502020204030204"/>
              <a:ea typeface="+mn-ea"/>
              <a:cs typeface="+mn-cs"/>
            </a:endParaRPr>
          </a:p>
        </p:txBody>
      </p:sp>
      <p:sp>
        <p:nvSpPr>
          <p:cNvPr id="45" name="Text 43"/>
          <p:cNvSpPr/>
          <p:nvPr/>
        </p:nvSpPr>
        <p:spPr>
          <a:xfrm>
            <a:off x="7678959" y="5217710"/>
            <a:ext cx="4144201" cy="1462659"/>
          </a:xfrm>
          <a:prstGeom prst="rect">
            <a:avLst/>
          </a:prstGeom>
          <a:noFill/>
          <a:ln/>
        </p:spPr>
        <p:txBody>
          <a:bodyPr wrap="square" lIns="0" tIns="0" rIns="0" bIns="0" rtlCol="0" anchor="ctr"/>
          <a:lstStyle/>
          <a:p>
            <a:pPr defTabSz="1218895">
              <a:buClrTx/>
            </a:pPr>
            <a:r>
              <a:rPr lang="en-US" sz="1333" b="1" kern="1200" dirty="0">
                <a:solidFill>
                  <a:srgbClr val="0D9488"/>
                </a:solidFill>
                <a:latin typeface="Calibri" pitchFamily="34" charset="0"/>
                <a:ea typeface="Calibri" pitchFamily="34" charset="-122"/>
                <a:cs typeface="Calibri" pitchFamily="34" charset="-120"/>
              </a:rPr>
              <a:t>›  </a:t>
            </a:r>
            <a:r>
              <a:rPr lang="en-US" sz="1333" kern="1200" dirty="0">
                <a:solidFill>
                  <a:srgbClr val="334155"/>
                </a:solidFill>
                <a:latin typeface="Calibri" pitchFamily="34" charset="0"/>
                <a:ea typeface="Calibri" pitchFamily="34" charset="-122"/>
                <a:cs typeface="Calibri" pitchFamily="34" charset="-120"/>
              </a:rPr>
              <a:t>Performance monitoring for every handler
</a:t>
            </a:r>
            <a:r>
              <a:rPr lang="en-US" sz="1333" b="1" kern="1200" dirty="0">
                <a:solidFill>
                  <a:srgbClr val="0D9488"/>
                </a:solidFill>
                <a:latin typeface="Calibri" pitchFamily="34" charset="0"/>
                <a:ea typeface="Calibri" pitchFamily="34" charset="-122"/>
                <a:cs typeface="Calibri" pitchFamily="34" charset="-120"/>
              </a:rPr>
              <a:t>›  </a:t>
            </a:r>
            <a:r>
              <a:rPr lang="en-US" sz="1333" kern="1200" dirty="0">
                <a:solidFill>
                  <a:srgbClr val="334155"/>
                </a:solidFill>
                <a:latin typeface="Calibri" pitchFamily="34" charset="0"/>
                <a:ea typeface="Calibri" pitchFamily="34" charset="-122"/>
                <a:cs typeface="Calibri" pitchFamily="34" charset="-120"/>
              </a:rPr>
              <a:t>Auth checks before business logic
</a:t>
            </a:r>
            <a:r>
              <a:rPr lang="en-US" sz="1333" b="1" kern="1200" dirty="0">
                <a:solidFill>
                  <a:srgbClr val="0D9488"/>
                </a:solidFill>
                <a:latin typeface="Calibri" pitchFamily="34" charset="0"/>
                <a:ea typeface="Calibri" pitchFamily="34" charset="-122"/>
                <a:cs typeface="Calibri" pitchFamily="34" charset="-120"/>
              </a:rPr>
              <a:t>›  </a:t>
            </a:r>
            <a:r>
              <a:rPr lang="en-US" sz="1333" kern="1200" dirty="0">
                <a:solidFill>
                  <a:srgbClr val="334155"/>
                </a:solidFill>
                <a:latin typeface="Calibri" pitchFamily="34" charset="0"/>
                <a:ea typeface="Calibri" pitchFamily="34" charset="-122"/>
                <a:cs typeface="Calibri" pitchFamily="34" charset="-120"/>
              </a:rPr>
              <a:t>Retry logic, caching — all injected
</a:t>
            </a:r>
            <a:r>
              <a:rPr lang="en-US" sz="1333" b="1" kern="1200" dirty="0">
                <a:solidFill>
                  <a:srgbClr val="0D9488"/>
                </a:solidFill>
                <a:latin typeface="Calibri" pitchFamily="34" charset="0"/>
                <a:ea typeface="Calibri" pitchFamily="34" charset="-122"/>
                <a:cs typeface="Calibri" pitchFamily="34" charset="-120"/>
              </a:rPr>
              <a:t>›  </a:t>
            </a:r>
            <a:r>
              <a:rPr lang="en-US" sz="1333" kern="1200" dirty="0">
                <a:solidFill>
                  <a:srgbClr val="334155"/>
                </a:solidFill>
                <a:latin typeface="Calibri" pitchFamily="34" charset="0"/>
                <a:ea typeface="Calibri" pitchFamily="34" charset="-122"/>
                <a:cs typeface="Calibri" pitchFamily="34" charset="-120"/>
              </a:rPr>
              <a:t>Zero changes to handler code</a:t>
            </a:r>
            <a:endParaRPr lang="en-US" sz="1333" kern="1200" dirty="0">
              <a:solidFill>
                <a:prstClr val="black"/>
              </a:solidFill>
              <a:latin typeface="Calibri" panose="020F0502020204030204"/>
              <a:ea typeface="+mn-ea"/>
              <a:cs typeface="+mn-cs"/>
            </a:endParaRPr>
          </a:p>
        </p:txBody>
      </p:sp>
      <p:pic>
        <p:nvPicPr>
          <p:cNvPr id="46" name="Google Shape;497;p1">
            <a:extLst>
              <a:ext uri="{FF2B5EF4-FFF2-40B4-BE49-F238E27FC236}">
                <a16:creationId xmlns:a16="http://schemas.microsoft.com/office/drawing/2014/main" id="{1CCB4776-BA58-FE65-ABA1-BFA934C07686}"/>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C — Utility Types: The Big Idea</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Concept  ·  Deriving new types from existing ones without duplication</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3" y="1402608"/>
            <a:ext cx="11213719" cy="877595"/>
          </a:xfrm>
          <a:prstGeom prst="rect">
            <a:avLst/>
          </a:prstGeom>
          <a:solidFill>
            <a:srgbClr val="FEF3C7"/>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439175"/>
            <a:ext cx="10848054" cy="804462"/>
          </a:xfrm>
          <a:prstGeom prst="rect">
            <a:avLst/>
          </a:prstGeom>
          <a:noFill/>
          <a:ln/>
        </p:spPr>
        <p:txBody>
          <a:bodyPr wrap="square" lIns="0" tIns="0" rIns="0" bIns="0" rtlCol="0" anchor="ctr"/>
          <a:lstStyle/>
          <a:p>
            <a:pPr defTabSz="1218895">
              <a:buClrTx/>
            </a:pPr>
            <a:r>
              <a:rPr lang="en-US" sz="1533" b="1" kern="1200" dirty="0">
                <a:solidFill>
                  <a:srgbClr val="D97706"/>
                </a:solidFill>
                <a:latin typeface="Calibri" pitchFamily="34" charset="0"/>
                <a:ea typeface="Calibri" pitchFamily="34" charset="-122"/>
                <a:cs typeface="Calibri" pitchFamily="34" charset="-120"/>
              </a:rPr>
              <a:t>Problem: </a:t>
            </a:r>
            <a:r>
              <a:rPr lang="en-US" sz="1533" kern="1200" dirty="0">
                <a:solidFill>
                  <a:srgbClr val="334155"/>
                </a:solidFill>
                <a:latin typeface="Calibri" pitchFamily="34" charset="0"/>
                <a:ea typeface="Calibri" pitchFamily="34" charset="-122"/>
                <a:cs typeface="Calibri" pitchFamily="34" charset="-120"/>
              </a:rPr>
              <a:t>In BTP projects you often need multiple variants of the same entity — a full version for reads, a subset for creates, an all-optional version for updates. Writing each as a separate interface leads to </a:t>
            </a:r>
            <a:r>
              <a:rPr lang="en-US" sz="1533" b="1" kern="1200" dirty="0">
                <a:solidFill>
                  <a:srgbClr val="DC2626"/>
                </a:solidFill>
                <a:latin typeface="Calibri" pitchFamily="34" charset="0"/>
                <a:ea typeface="Calibri" pitchFamily="34" charset="-122"/>
                <a:cs typeface="Calibri" pitchFamily="34" charset="-120"/>
              </a:rPr>
              <a:t>duplication and drift.</a:t>
            </a:r>
            <a:r>
              <a:rPr lang="en-US" sz="1533" kern="1200" dirty="0">
                <a:solidFill>
                  <a:srgbClr val="334155"/>
                </a:solidFill>
                <a:latin typeface="Calibri" pitchFamily="34" charset="0"/>
                <a:ea typeface="Calibri" pitchFamily="34" charset="-122"/>
                <a:cs typeface="Calibri" pitchFamily="34" charset="-120"/>
              </a:rPr>
              <a:t> Utility types solve this by </a:t>
            </a:r>
            <a:r>
              <a:rPr lang="en-US" sz="1533" b="1" kern="1200" dirty="0">
                <a:solidFill>
                  <a:srgbClr val="D97706"/>
                </a:solidFill>
                <a:latin typeface="Calibri" pitchFamily="34" charset="0"/>
                <a:ea typeface="Calibri" pitchFamily="34" charset="-122"/>
                <a:cs typeface="Calibri" pitchFamily="34" charset="-120"/>
              </a:rPr>
              <a:t>deriving new shapes from one source of truth.</a:t>
            </a:r>
            <a:endParaRPr lang="en-US" sz="1533" kern="1200" dirty="0">
              <a:solidFill>
                <a:prstClr val="black"/>
              </a:solidFill>
              <a:latin typeface="Calibri" panose="020F0502020204030204"/>
              <a:ea typeface="+mn-ea"/>
              <a:cs typeface="+mn-cs"/>
            </a:endParaRPr>
          </a:p>
        </p:txBody>
      </p:sp>
      <p:sp>
        <p:nvSpPr>
          <p:cNvPr id="8" name="Shape 6"/>
          <p:cNvSpPr/>
          <p:nvPr/>
        </p:nvSpPr>
        <p:spPr>
          <a:xfrm>
            <a:off x="487552" y="2475225"/>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9" name="Shape 7"/>
          <p:cNvSpPr/>
          <p:nvPr/>
        </p:nvSpPr>
        <p:spPr>
          <a:xfrm>
            <a:off x="487552" y="2475225"/>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487552" y="2475225"/>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Readonly&lt;T&gt;</a:t>
            </a:r>
            <a:endParaRPr lang="en-US" sz="1600" kern="1200" dirty="0">
              <a:solidFill>
                <a:prstClr val="black"/>
              </a:solidFill>
              <a:latin typeface="Calibri" panose="020F0502020204030204"/>
              <a:ea typeface="+mn-ea"/>
              <a:cs typeface="+mn-cs"/>
            </a:endParaRPr>
          </a:p>
        </p:txBody>
      </p:sp>
      <p:sp>
        <p:nvSpPr>
          <p:cNvPr id="11" name="Text 9"/>
          <p:cNvSpPr/>
          <p:nvPr/>
        </p:nvSpPr>
        <p:spPr>
          <a:xfrm>
            <a:off x="609441" y="298715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Makes every property of T immutable (readonly).</a:t>
            </a:r>
            <a:endParaRPr lang="en-US" sz="1266" kern="1200" dirty="0">
              <a:solidFill>
                <a:prstClr val="black"/>
              </a:solidFill>
              <a:latin typeface="Calibri" panose="020F0502020204030204"/>
              <a:ea typeface="+mn-ea"/>
              <a:cs typeface="+mn-cs"/>
            </a:endParaRPr>
          </a:p>
        </p:txBody>
      </p:sp>
      <p:sp>
        <p:nvSpPr>
          <p:cNvPr id="12" name="Shape 10"/>
          <p:cNvSpPr/>
          <p:nvPr/>
        </p:nvSpPr>
        <p:spPr>
          <a:xfrm>
            <a:off x="609441" y="3572219"/>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58196" y="359659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Readonly&lt;Order&gt;  →  all fields readonly</a:t>
            </a:r>
            <a:endParaRPr lang="en-US" sz="1133" kern="1200" dirty="0">
              <a:solidFill>
                <a:prstClr val="black"/>
              </a:solidFill>
              <a:latin typeface="Calibri" panose="020F0502020204030204"/>
              <a:ea typeface="+mn-ea"/>
              <a:cs typeface="+mn-cs"/>
            </a:endParaRPr>
          </a:p>
        </p:txBody>
      </p:sp>
      <p:sp>
        <p:nvSpPr>
          <p:cNvPr id="14" name="Shape 12"/>
          <p:cNvSpPr/>
          <p:nvPr/>
        </p:nvSpPr>
        <p:spPr>
          <a:xfrm>
            <a:off x="4412354" y="2475225"/>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Shape 13"/>
          <p:cNvSpPr/>
          <p:nvPr/>
        </p:nvSpPr>
        <p:spPr>
          <a:xfrm>
            <a:off x="4412354" y="2475225"/>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4412354" y="2475225"/>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Partial&lt;T&gt;</a:t>
            </a:r>
            <a:endParaRPr lang="en-US" sz="1600" kern="1200" dirty="0">
              <a:solidFill>
                <a:prstClr val="black"/>
              </a:solidFill>
              <a:latin typeface="Calibri" panose="020F0502020204030204"/>
              <a:ea typeface="+mn-ea"/>
              <a:cs typeface="+mn-cs"/>
            </a:endParaRPr>
          </a:p>
        </p:txBody>
      </p:sp>
      <p:sp>
        <p:nvSpPr>
          <p:cNvPr id="17" name="Text 15"/>
          <p:cNvSpPr/>
          <p:nvPr/>
        </p:nvSpPr>
        <p:spPr>
          <a:xfrm>
            <a:off x="4534242" y="298715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Makes every property of T optional (?:).</a:t>
            </a:r>
            <a:endParaRPr lang="en-US" sz="1266" kern="1200" dirty="0">
              <a:solidFill>
                <a:prstClr val="black"/>
              </a:solidFill>
              <a:latin typeface="Calibri" panose="020F0502020204030204"/>
              <a:ea typeface="+mn-ea"/>
              <a:cs typeface="+mn-cs"/>
            </a:endParaRPr>
          </a:p>
        </p:txBody>
      </p:sp>
      <p:sp>
        <p:nvSpPr>
          <p:cNvPr id="18" name="Shape 16"/>
          <p:cNvSpPr/>
          <p:nvPr/>
        </p:nvSpPr>
        <p:spPr>
          <a:xfrm>
            <a:off x="4534242" y="3572219"/>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4582998" y="359659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Partial&lt;Order&gt;  →  all fields optional</a:t>
            </a:r>
            <a:endParaRPr lang="en-US" sz="1133" kern="1200" dirty="0">
              <a:solidFill>
                <a:prstClr val="black"/>
              </a:solidFill>
              <a:latin typeface="Calibri" panose="020F0502020204030204"/>
              <a:ea typeface="+mn-ea"/>
              <a:cs typeface="+mn-cs"/>
            </a:endParaRPr>
          </a:p>
        </p:txBody>
      </p:sp>
      <p:sp>
        <p:nvSpPr>
          <p:cNvPr id="20" name="Shape 18"/>
          <p:cNvSpPr/>
          <p:nvPr/>
        </p:nvSpPr>
        <p:spPr>
          <a:xfrm>
            <a:off x="8337156" y="2475225"/>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1" name="Shape 19"/>
          <p:cNvSpPr/>
          <p:nvPr/>
        </p:nvSpPr>
        <p:spPr>
          <a:xfrm>
            <a:off x="8337156" y="2475225"/>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Text 20"/>
          <p:cNvSpPr/>
          <p:nvPr/>
        </p:nvSpPr>
        <p:spPr>
          <a:xfrm>
            <a:off x="8337156" y="2475225"/>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Required&lt;T&gt;</a:t>
            </a:r>
            <a:endParaRPr lang="en-US" sz="1600" kern="1200" dirty="0">
              <a:solidFill>
                <a:prstClr val="black"/>
              </a:solidFill>
              <a:latin typeface="Calibri" panose="020F0502020204030204"/>
              <a:ea typeface="+mn-ea"/>
              <a:cs typeface="+mn-cs"/>
            </a:endParaRPr>
          </a:p>
        </p:txBody>
      </p:sp>
      <p:sp>
        <p:nvSpPr>
          <p:cNvPr id="23" name="Text 21"/>
          <p:cNvSpPr/>
          <p:nvPr/>
        </p:nvSpPr>
        <p:spPr>
          <a:xfrm>
            <a:off x="8459044" y="298715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Makes every property of T required (removes ?).</a:t>
            </a:r>
            <a:endParaRPr lang="en-US" sz="1266" kern="1200" dirty="0">
              <a:solidFill>
                <a:prstClr val="black"/>
              </a:solidFill>
              <a:latin typeface="Calibri" panose="020F0502020204030204"/>
              <a:ea typeface="+mn-ea"/>
              <a:cs typeface="+mn-cs"/>
            </a:endParaRPr>
          </a:p>
        </p:txBody>
      </p:sp>
      <p:sp>
        <p:nvSpPr>
          <p:cNvPr id="24" name="Shape 22"/>
          <p:cNvSpPr/>
          <p:nvPr/>
        </p:nvSpPr>
        <p:spPr>
          <a:xfrm>
            <a:off x="8459044" y="3572219"/>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Text 23"/>
          <p:cNvSpPr/>
          <p:nvPr/>
        </p:nvSpPr>
        <p:spPr>
          <a:xfrm>
            <a:off x="8507800" y="359659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Required&lt;Draft&gt;  →  no optional fields</a:t>
            </a:r>
            <a:endParaRPr lang="en-US" sz="1133" kern="1200" dirty="0">
              <a:solidFill>
                <a:prstClr val="black"/>
              </a:solidFill>
              <a:latin typeface="Calibri" panose="020F0502020204030204"/>
              <a:ea typeface="+mn-ea"/>
              <a:cs typeface="+mn-cs"/>
            </a:endParaRPr>
          </a:p>
        </p:txBody>
      </p:sp>
      <p:sp>
        <p:nvSpPr>
          <p:cNvPr id="26" name="Shape 24"/>
          <p:cNvSpPr/>
          <p:nvPr/>
        </p:nvSpPr>
        <p:spPr>
          <a:xfrm>
            <a:off x="487552" y="4449814"/>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Shape 25"/>
          <p:cNvSpPr/>
          <p:nvPr/>
        </p:nvSpPr>
        <p:spPr>
          <a:xfrm>
            <a:off x="487552" y="4449814"/>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8" name="Text 26"/>
          <p:cNvSpPr/>
          <p:nvPr/>
        </p:nvSpPr>
        <p:spPr>
          <a:xfrm>
            <a:off x="487552" y="4449814"/>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Omit&lt;T, K&gt;</a:t>
            </a:r>
            <a:endParaRPr lang="en-US" sz="1600" kern="1200" dirty="0">
              <a:solidFill>
                <a:prstClr val="black"/>
              </a:solidFill>
              <a:latin typeface="Calibri" panose="020F0502020204030204"/>
              <a:ea typeface="+mn-ea"/>
              <a:cs typeface="+mn-cs"/>
            </a:endParaRPr>
          </a:p>
        </p:txBody>
      </p:sp>
      <p:sp>
        <p:nvSpPr>
          <p:cNvPr id="29" name="Text 27"/>
          <p:cNvSpPr/>
          <p:nvPr/>
        </p:nvSpPr>
        <p:spPr>
          <a:xfrm>
            <a:off x="609441" y="496174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Creates a new type excluding named keys K from T.</a:t>
            </a:r>
            <a:endParaRPr lang="en-US" sz="1266" kern="1200" dirty="0">
              <a:solidFill>
                <a:prstClr val="black"/>
              </a:solidFill>
              <a:latin typeface="Calibri" panose="020F0502020204030204"/>
              <a:ea typeface="+mn-ea"/>
              <a:cs typeface="+mn-cs"/>
            </a:endParaRPr>
          </a:p>
        </p:txBody>
      </p:sp>
      <p:sp>
        <p:nvSpPr>
          <p:cNvPr id="30" name="Shape 28"/>
          <p:cNvSpPr/>
          <p:nvPr/>
        </p:nvSpPr>
        <p:spPr>
          <a:xfrm>
            <a:off x="609441" y="5546808"/>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Text 29"/>
          <p:cNvSpPr/>
          <p:nvPr/>
        </p:nvSpPr>
        <p:spPr>
          <a:xfrm>
            <a:off x="658196" y="557118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Omit&lt;Order,'id'|'createdAt'&gt;  →  CreatePayload</a:t>
            </a:r>
            <a:endParaRPr lang="en-US" sz="1133" kern="1200" dirty="0">
              <a:solidFill>
                <a:prstClr val="black"/>
              </a:solidFill>
              <a:latin typeface="Calibri" panose="020F0502020204030204"/>
              <a:ea typeface="+mn-ea"/>
              <a:cs typeface="+mn-cs"/>
            </a:endParaRPr>
          </a:p>
        </p:txBody>
      </p:sp>
      <p:sp>
        <p:nvSpPr>
          <p:cNvPr id="32" name="Shape 30"/>
          <p:cNvSpPr/>
          <p:nvPr/>
        </p:nvSpPr>
        <p:spPr>
          <a:xfrm>
            <a:off x="4412354" y="4449814"/>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3" name="Shape 31"/>
          <p:cNvSpPr/>
          <p:nvPr/>
        </p:nvSpPr>
        <p:spPr>
          <a:xfrm>
            <a:off x="4412354" y="4449814"/>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4" name="Text 32"/>
          <p:cNvSpPr/>
          <p:nvPr/>
        </p:nvSpPr>
        <p:spPr>
          <a:xfrm>
            <a:off x="4412354" y="4449814"/>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Pick&lt;T, K&gt;</a:t>
            </a:r>
            <a:endParaRPr lang="en-US" sz="1600" kern="1200" dirty="0">
              <a:solidFill>
                <a:prstClr val="black"/>
              </a:solidFill>
              <a:latin typeface="Calibri" panose="020F0502020204030204"/>
              <a:ea typeface="+mn-ea"/>
              <a:cs typeface="+mn-cs"/>
            </a:endParaRPr>
          </a:p>
        </p:txBody>
      </p:sp>
      <p:sp>
        <p:nvSpPr>
          <p:cNvPr id="35" name="Text 33"/>
          <p:cNvSpPr/>
          <p:nvPr/>
        </p:nvSpPr>
        <p:spPr>
          <a:xfrm>
            <a:off x="4534242" y="496174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Creates a type with only the named keys K from T.</a:t>
            </a:r>
            <a:endParaRPr lang="en-US" sz="1266" kern="1200" dirty="0">
              <a:solidFill>
                <a:prstClr val="black"/>
              </a:solidFill>
              <a:latin typeface="Calibri" panose="020F0502020204030204"/>
              <a:ea typeface="+mn-ea"/>
              <a:cs typeface="+mn-cs"/>
            </a:endParaRPr>
          </a:p>
        </p:txBody>
      </p:sp>
      <p:sp>
        <p:nvSpPr>
          <p:cNvPr id="36" name="Shape 34"/>
          <p:cNvSpPr/>
          <p:nvPr/>
        </p:nvSpPr>
        <p:spPr>
          <a:xfrm>
            <a:off x="4534242" y="5546808"/>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Text 35"/>
          <p:cNvSpPr/>
          <p:nvPr/>
        </p:nvSpPr>
        <p:spPr>
          <a:xfrm>
            <a:off x="4582998" y="557118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Pick&lt;Order,'id'|'status'&gt;  →  OrderRef</a:t>
            </a:r>
            <a:endParaRPr lang="en-US" sz="1133" kern="1200" dirty="0">
              <a:solidFill>
                <a:prstClr val="black"/>
              </a:solidFill>
              <a:latin typeface="Calibri" panose="020F0502020204030204"/>
              <a:ea typeface="+mn-ea"/>
              <a:cs typeface="+mn-cs"/>
            </a:endParaRPr>
          </a:p>
        </p:txBody>
      </p:sp>
      <p:sp>
        <p:nvSpPr>
          <p:cNvPr id="38" name="Shape 36"/>
          <p:cNvSpPr/>
          <p:nvPr/>
        </p:nvSpPr>
        <p:spPr>
          <a:xfrm>
            <a:off x="8337156" y="4449814"/>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9" name="Shape 37"/>
          <p:cNvSpPr/>
          <p:nvPr/>
        </p:nvSpPr>
        <p:spPr>
          <a:xfrm>
            <a:off x="8337156" y="4449814"/>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0" name="Text 38"/>
          <p:cNvSpPr/>
          <p:nvPr/>
        </p:nvSpPr>
        <p:spPr>
          <a:xfrm>
            <a:off x="8337156" y="4449814"/>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Record&lt;K, V&gt;</a:t>
            </a:r>
            <a:endParaRPr lang="en-US" sz="1600" kern="1200" dirty="0">
              <a:solidFill>
                <a:prstClr val="black"/>
              </a:solidFill>
              <a:latin typeface="Calibri" panose="020F0502020204030204"/>
              <a:ea typeface="+mn-ea"/>
              <a:cs typeface="+mn-cs"/>
            </a:endParaRPr>
          </a:p>
        </p:txBody>
      </p:sp>
      <p:sp>
        <p:nvSpPr>
          <p:cNvPr id="41" name="Text 39"/>
          <p:cNvSpPr/>
          <p:nvPr/>
        </p:nvSpPr>
        <p:spPr>
          <a:xfrm>
            <a:off x="8459044" y="496174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Creates a type with keys K and values of type V.</a:t>
            </a:r>
            <a:endParaRPr lang="en-US" sz="1266" kern="1200" dirty="0">
              <a:solidFill>
                <a:prstClr val="black"/>
              </a:solidFill>
              <a:latin typeface="Calibri" panose="020F0502020204030204"/>
              <a:ea typeface="+mn-ea"/>
              <a:cs typeface="+mn-cs"/>
            </a:endParaRPr>
          </a:p>
        </p:txBody>
      </p:sp>
      <p:sp>
        <p:nvSpPr>
          <p:cNvPr id="42" name="Shape 40"/>
          <p:cNvSpPr/>
          <p:nvPr/>
        </p:nvSpPr>
        <p:spPr>
          <a:xfrm>
            <a:off x="8459044" y="5546808"/>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3" name="Text 41"/>
          <p:cNvSpPr/>
          <p:nvPr/>
        </p:nvSpPr>
        <p:spPr>
          <a:xfrm>
            <a:off x="8507800" y="557118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Record&lt;string, DestConfig&gt;  →  config map</a:t>
            </a:r>
            <a:endParaRPr lang="en-US" sz="1133" kern="1200" dirty="0">
              <a:solidFill>
                <a:prstClr val="black"/>
              </a:solidFill>
              <a:latin typeface="Calibri" panose="020F0502020204030204"/>
              <a:ea typeface="+mn-ea"/>
              <a:cs typeface="+mn-cs"/>
            </a:endParaRPr>
          </a:p>
        </p:txBody>
      </p:sp>
      <p:pic>
        <p:nvPicPr>
          <p:cNvPr id="44" name="Google Shape;497;p1">
            <a:extLst>
              <a:ext uri="{FF2B5EF4-FFF2-40B4-BE49-F238E27FC236}">
                <a16:creationId xmlns:a16="http://schemas.microsoft.com/office/drawing/2014/main" id="{E50D6655-1AC0-D7B8-64FA-2EFE41B8D025}"/>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How Utility Types Work — Mapped Type Mechanics</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Diagram  ·  Under the hood: how Readonly&lt;T&gt; and Partial&lt;T&gt; are defined</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2" y="1402608"/>
            <a:ext cx="4266089"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Source Type (entity-types.ts)</a:t>
            </a:r>
            <a:endParaRPr lang="en-US" sz="1600" kern="1200" dirty="0">
              <a:solidFill>
                <a:prstClr val="black"/>
              </a:solidFill>
              <a:latin typeface="Calibri" panose="020F0502020204030204"/>
              <a:ea typeface="+mn-ea"/>
              <a:cs typeface="+mn-cs"/>
            </a:endParaRPr>
          </a:p>
        </p:txBody>
      </p:sp>
      <p:sp>
        <p:nvSpPr>
          <p:cNvPr id="7" name="Shape 5"/>
          <p:cNvSpPr/>
          <p:nvPr/>
        </p:nvSpPr>
        <p:spPr>
          <a:xfrm>
            <a:off x="487552" y="1792650"/>
            <a:ext cx="4266089" cy="402231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914539"/>
            <a:ext cx="3997935" cy="3802913"/>
          </a:xfrm>
          <a:prstGeom prst="rect">
            <a:avLst/>
          </a:prstGeom>
          <a:noFill/>
          <a:ln/>
        </p:spPr>
        <p:txBody>
          <a:bodyPr wrap="square" lIns="0" tIns="0" rIns="0" bIns="0" rtlCol="0" anchor="t"/>
          <a:lstStyle/>
          <a:p>
            <a:pPr defTabSz="1218895">
              <a:buClrTx/>
            </a:pPr>
            <a:r>
              <a:rPr lang="en-US" sz="1266" kern="1200" dirty="0">
                <a:solidFill>
                  <a:srgbClr val="F472B6"/>
                </a:solidFill>
                <a:latin typeface="Consolas" pitchFamily="34" charset="0"/>
                <a:ea typeface="Consolas" pitchFamily="34" charset="-122"/>
                <a:cs typeface="Consolas" pitchFamily="34" charset="-120"/>
              </a:rPr>
              <a:t>interface BtpOrder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id: string;         // ①</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customerId: string; // ②</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amount: number;     // ③</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status: OrderStatus;// ④</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createdAt: Date;    // ⑤</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updatedAt: Date;    // ⑥</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This is the source of truth.</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ALL other types derive from it.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No copy-paste ever needed.</a:t>
            </a:r>
            <a:endParaRPr lang="en-US" sz="1266" kern="1200" dirty="0">
              <a:solidFill>
                <a:prstClr val="black"/>
              </a:solidFill>
              <a:latin typeface="Calibri" panose="020F0502020204030204"/>
              <a:ea typeface="+mn-ea"/>
              <a:cs typeface="+mn-cs"/>
            </a:endParaRPr>
          </a:p>
        </p:txBody>
      </p:sp>
      <p:sp>
        <p:nvSpPr>
          <p:cNvPr id="9" name="Shape 7"/>
          <p:cNvSpPr/>
          <p:nvPr/>
        </p:nvSpPr>
        <p:spPr>
          <a:xfrm>
            <a:off x="4778019" y="2328959"/>
            <a:ext cx="950728" cy="0"/>
          </a:xfrm>
          <a:prstGeom prst="line">
            <a:avLst/>
          </a:prstGeom>
          <a:noFill/>
          <a:ln w="19050">
            <a:solidFill>
              <a:srgbClr val="4338C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5582481" y="2207070"/>
            <a:ext cx="243777" cy="292532"/>
          </a:xfrm>
          <a:prstGeom prst="rect">
            <a:avLst/>
          </a:prstGeom>
          <a:noFill/>
          <a:ln/>
        </p:spPr>
        <p:txBody>
          <a:bodyPr wrap="square" lIns="0" tIns="0" rIns="0" bIns="0" rtlCol="0" anchor="ctr"/>
          <a:lstStyle/>
          <a:p>
            <a:pPr defTabSz="1218895">
              <a:buClrTx/>
            </a:pPr>
            <a:r>
              <a:rPr lang="en-US" sz="1466" kern="1200" dirty="0">
                <a:solidFill>
                  <a:srgbClr val="4338CA"/>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1" name="Shape 9"/>
          <p:cNvSpPr/>
          <p:nvPr/>
        </p:nvSpPr>
        <p:spPr>
          <a:xfrm>
            <a:off x="4778019" y="1865783"/>
            <a:ext cx="950728" cy="390042"/>
          </a:xfrm>
          <a:prstGeom prst="rect">
            <a:avLst/>
          </a:prstGeom>
          <a:solidFill>
            <a:srgbClr val="4338CA">
              <a:alpha val="80000"/>
            </a:srgbClr>
          </a:solidFill>
          <a:ln w="12700">
            <a:solidFill>
              <a:srgbClr val="4338C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4802397" y="1890161"/>
            <a:ext cx="901973" cy="341287"/>
          </a:xfrm>
          <a:prstGeom prst="rect">
            <a:avLst/>
          </a:prstGeom>
          <a:noFill/>
          <a:ln/>
        </p:spPr>
        <p:txBody>
          <a:bodyPr wrap="square" lIns="0" tIns="0" rIns="0" bIns="0" rtlCol="0" anchor="ctr"/>
          <a:lstStyle/>
          <a:p>
            <a:pPr algn="ctr" defTabSz="1218895">
              <a:buClrTx/>
            </a:pPr>
            <a:r>
              <a:rPr lang="en-US" sz="733" kern="1200" dirty="0">
                <a:solidFill>
                  <a:srgbClr val="FFFFFF"/>
                </a:solidFill>
                <a:latin typeface="Consolas" pitchFamily="34" charset="0"/>
                <a:ea typeface="Consolas" pitchFamily="34" charset="-122"/>
                <a:cs typeface="Consolas" pitchFamily="34" charset="-120"/>
              </a:rPr>
              <a:t>Readonly&lt;BtpOrder&gt;</a:t>
            </a:r>
            <a:endParaRPr lang="en-US" sz="733" kern="1200" dirty="0">
              <a:solidFill>
                <a:prstClr val="black"/>
              </a:solidFill>
              <a:latin typeface="Calibri" panose="020F0502020204030204"/>
              <a:ea typeface="+mn-ea"/>
              <a:cs typeface="+mn-cs"/>
            </a:endParaRPr>
          </a:p>
        </p:txBody>
      </p:sp>
      <p:sp>
        <p:nvSpPr>
          <p:cNvPr id="13" name="Shape 11"/>
          <p:cNvSpPr/>
          <p:nvPr/>
        </p:nvSpPr>
        <p:spPr>
          <a:xfrm>
            <a:off x="4778019" y="3401575"/>
            <a:ext cx="950728" cy="0"/>
          </a:xfrm>
          <a:prstGeom prst="line">
            <a:avLst/>
          </a:prstGeom>
          <a:noFill/>
          <a:ln w="1905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5582481" y="3279687"/>
            <a:ext cx="243777" cy="292532"/>
          </a:xfrm>
          <a:prstGeom prst="rect">
            <a:avLst/>
          </a:prstGeom>
          <a:noFill/>
          <a:ln/>
        </p:spPr>
        <p:txBody>
          <a:bodyPr wrap="square" lIns="0" tIns="0" rIns="0" bIns="0" rtlCol="0" anchor="ctr"/>
          <a:lstStyle/>
          <a:p>
            <a:pPr defTabSz="1218895">
              <a:buClrTx/>
            </a:pPr>
            <a:r>
              <a:rPr lang="en-US" sz="1466" kern="1200" dirty="0">
                <a:solidFill>
                  <a:srgbClr val="0D9488"/>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5" name="Shape 13"/>
          <p:cNvSpPr/>
          <p:nvPr/>
        </p:nvSpPr>
        <p:spPr>
          <a:xfrm>
            <a:off x="4778019" y="2938400"/>
            <a:ext cx="950728" cy="390042"/>
          </a:xfrm>
          <a:prstGeom prst="rect">
            <a:avLst/>
          </a:prstGeom>
          <a:solidFill>
            <a:srgbClr val="0D9488">
              <a:alpha val="80000"/>
            </a:srgbClr>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4802397" y="2962777"/>
            <a:ext cx="901973" cy="341287"/>
          </a:xfrm>
          <a:prstGeom prst="rect">
            <a:avLst/>
          </a:prstGeom>
          <a:noFill/>
          <a:ln/>
        </p:spPr>
        <p:txBody>
          <a:bodyPr wrap="square" lIns="0" tIns="0" rIns="0" bIns="0" rtlCol="0" anchor="ctr"/>
          <a:lstStyle/>
          <a:p>
            <a:pPr algn="ctr" defTabSz="1218895">
              <a:buClrTx/>
            </a:pPr>
            <a:r>
              <a:rPr lang="en-US" sz="733" kern="1200" dirty="0">
                <a:solidFill>
                  <a:srgbClr val="FFFFFF"/>
                </a:solidFill>
                <a:latin typeface="Consolas" pitchFamily="34" charset="0"/>
                <a:ea typeface="Consolas" pitchFamily="34" charset="-122"/>
                <a:cs typeface="Consolas" pitchFamily="34" charset="-120"/>
              </a:rPr>
              <a:t>Partial&lt;BtpOrder&gt;</a:t>
            </a:r>
            <a:endParaRPr lang="en-US" sz="733" kern="1200" dirty="0">
              <a:solidFill>
                <a:prstClr val="black"/>
              </a:solidFill>
              <a:latin typeface="Calibri" panose="020F0502020204030204"/>
              <a:ea typeface="+mn-ea"/>
              <a:cs typeface="+mn-cs"/>
            </a:endParaRPr>
          </a:p>
        </p:txBody>
      </p:sp>
      <p:sp>
        <p:nvSpPr>
          <p:cNvPr id="17" name="Shape 15"/>
          <p:cNvSpPr/>
          <p:nvPr/>
        </p:nvSpPr>
        <p:spPr>
          <a:xfrm>
            <a:off x="4778019" y="4474192"/>
            <a:ext cx="950728" cy="0"/>
          </a:xfrm>
          <a:prstGeom prst="line">
            <a:avLst/>
          </a:prstGeom>
          <a:noFill/>
          <a:ln w="1905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Text 16"/>
          <p:cNvSpPr/>
          <p:nvPr/>
        </p:nvSpPr>
        <p:spPr>
          <a:xfrm>
            <a:off x="5582481" y="4352303"/>
            <a:ext cx="243777" cy="292532"/>
          </a:xfrm>
          <a:prstGeom prst="rect">
            <a:avLst/>
          </a:prstGeom>
          <a:noFill/>
          <a:ln/>
        </p:spPr>
        <p:txBody>
          <a:bodyPr wrap="square" lIns="0" tIns="0" rIns="0" bIns="0" rtlCol="0" anchor="ctr"/>
          <a:lstStyle/>
          <a:p>
            <a:pPr defTabSz="1218895">
              <a:buClrTx/>
            </a:pPr>
            <a:r>
              <a:rPr lang="en-US" sz="1466" kern="1200" dirty="0">
                <a:solidFill>
                  <a:srgbClr val="D97706"/>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9" name="Shape 17"/>
          <p:cNvSpPr/>
          <p:nvPr/>
        </p:nvSpPr>
        <p:spPr>
          <a:xfrm>
            <a:off x="4778019" y="4011017"/>
            <a:ext cx="950728" cy="390042"/>
          </a:xfrm>
          <a:prstGeom prst="rect">
            <a:avLst/>
          </a:prstGeom>
          <a:solidFill>
            <a:srgbClr val="D97706">
              <a:alpha val="80000"/>
            </a:srgbClr>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4802397" y="4035394"/>
            <a:ext cx="901973" cy="341287"/>
          </a:xfrm>
          <a:prstGeom prst="rect">
            <a:avLst/>
          </a:prstGeom>
          <a:noFill/>
          <a:ln/>
        </p:spPr>
        <p:txBody>
          <a:bodyPr wrap="square" lIns="0" tIns="0" rIns="0" bIns="0" rtlCol="0" anchor="ctr"/>
          <a:lstStyle/>
          <a:p>
            <a:pPr algn="ctr" defTabSz="1218895">
              <a:buClrTx/>
            </a:pPr>
            <a:r>
              <a:rPr lang="en-US" sz="733" kern="1200" dirty="0">
                <a:solidFill>
                  <a:srgbClr val="FFFFFF"/>
                </a:solidFill>
                <a:latin typeface="Consolas" pitchFamily="34" charset="0"/>
                <a:ea typeface="Consolas" pitchFamily="34" charset="-122"/>
                <a:cs typeface="Consolas" pitchFamily="34" charset="-120"/>
              </a:rPr>
              <a:t>Omit&lt;BtpOrder, 'id'|'createdAt'|'updatedAt'&gt;</a:t>
            </a:r>
            <a:endParaRPr lang="en-US" sz="733" kern="1200" dirty="0">
              <a:solidFill>
                <a:prstClr val="black"/>
              </a:solidFill>
              <a:latin typeface="Calibri" panose="020F0502020204030204"/>
              <a:ea typeface="+mn-ea"/>
              <a:cs typeface="+mn-cs"/>
            </a:endParaRPr>
          </a:p>
        </p:txBody>
      </p:sp>
      <p:sp>
        <p:nvSpPr>
          <p:cNvPr id="21" name="Shape 19"/>
          <p:cNvSpPr/>
          <p:nvPr/>
        </p:nvSpPr>
        <p:spPr>
          <a:xfrm>
            <a:off x="4778019" y="5534620"/>
            <a:ext cx="950728" cy="0"/>
          </a:xfrm>
          <a:prstGeom prst="line">
            <a:avLst/>
          </a:prstGeom>
          <a:noFill/>
          <a:ln w="1905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Text 20"/>
          <p:cNvSpPr/>
          <p:nvPr/>
        </p:nvSpPr>
        <p:spPr>
          <a:xfrm>
            <a:off x="5582481" y="5412731"/>
            <a:ext cx="243777" cy="292532"/>
          </a:xfrm>
          <a:prstGeom prst="rect">
            <a:avLst/>
          </a:prstGeom>
          <a:noFill/>
          <a:ln/>
        </p:spPr>
        <p:txBody>
          <a:bodyPr wrap="square" lIns="0" tIns="0" rIns="0" bIns="0" rtlCol="0" anchor="ctr"/>
          <a:lstStyle/>
          <a:p>
            <a:pPr defTabSz="1218895">
              <a:buClrTx/>
            </a:pPr>
            <a:r>
              <a:rPr lang="en-US" sz="1466" kern="1200" dirty="0">
                <a:solidFill>
                  <a:srgbClr val="7C3AED"/>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23" name="Shape 21"/>
          <p:cNvSpPr/>
          <p:nvPr/>
        </p:nvSpPr>
        <p:spPr>
          <a:xfrm>
            <a:off x="4778019" y="5071444"/>
            <a:ext cx="950728" cy="390042"/>
          </a:xfrm>
          <a:prstGeom prst="rect">
            <a:avLst/>
          </a:prstGeom>
          <a:solidFill>
            <a:srgbClr val="7C3AED">
              <a:alpha val="80000"/>
            </a:srgbClr>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Text 22"/>
          <p:cNvSpPr/>
          <p:nvPr/>
        </p:nvSpPr>
        <p:spPr>
          <a:xfrm>
            <a:off x="4802397" y="5095822"/>
            <a:ext cx="901973" cy="341287"/>
          </a:xfrm>
          <a:prstGeom prst="rect">
            <a:avLst/>
          </a:prstGeom>
          <a:noFill/>
          <a:ln/>
        </p:spPr>
        <p:txBody>
          <a:bodyPr wrap="square" lIns="0" tIns="0" rIns="0" bIns="0" rtlCol="0" anchor="ctr"/>
          <a:lstStyle/>
          <a:p>
            <a:pPr algn="ctr" defTabSz="1218895">
              <a:buClrTx/>
            </a:pPr>
            <a:r>
              <a:rPr lang="en-US" sz="733" kern="1200" dirty="0">
                <a:solidFill>
                  <a:srgbClr val="FFFFFF"/>
                </a:solidFill>
                <a:latin typeface="Consolas" pitchFamily="34" charset="0"/>
                <a:ea typeface="Consolas" pitchFamily="34" charset="-122"/>
                <a:cs typeface="Consolas" pitchFamily="34" charset="-120"/>
              </a:rPr>
              <a:t>Pick&lt;BtpOrder, 'id'|'status'&gt;</a:t>
            </a:r>
            <a:endParaRPr lang="en-US" sz="733" kern="1200" dirty="0">
              <a:solidFill>
                <a:prstClr val="black"/>
              </a:solidFill>
              <a:latin typeface="Calibri" panose="020F0502020204030204"/>
              <a:ea typeface="+mn-ea"/>
              <a:cs typeface="+mn-cs"/>
            </a:endParaRPr>
          </a:p>
        </p:txBody>
      </p:sp>
      <p:sp>
        <p:nvSpPr>
          <p:cNvPr id="25" name="Text 23"/>
          <p:cNvSpPr/>
          <p:nvPr/>
        </p:nvSpPr>
        <p:spPr>
          <a:xfrm>
            <a:off x="5911580" y="1402608"/>
            <a:ext cx="5972524"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Derived Types (no duplication!)</a:t>
            </a:r>
            <a:endParaRPr lang="en-US" sz="1600" kern="1200" dirty="0">
              <a:solidFill>
                <a:prstClr val="black"/>
              </a:solidFill>
              <a:latin typeface="Calibri" panose="020F0502020204030204"/>
              <a:ea typeface="+mn-ea"/>
              <a:cs typeface="+mn-cs"/>
            </a:endParaRPr>
          </a:p>
        </p:txBody>
      </p:sp>
      <p:sp>
        <p:nvSpPr>
          <p:cNvPr id="26" name="Shape 24"/>
          <p:cNvSpPr/>
          <p:nvPr/>
        </p:nvSpPr>
        <p:spPr>
          <a:xfrm>
            <a:off x="5911580" y="1792650"/>
            <a:ext cx="5972524" cy="402231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Text 25"/>
          <p:cNvSpPr/>
          <p:nvPr/>
        </p:nvSpPr>
        <p:spPr>
          <a:xfrm>
            <a:off x="6094412" y="1914539"/>
            <a:ext cx="5704370" cy="3802913"/>
          </a:xfrm>
          <a:prstGeom prst="rect">
            <a:avLst/>
          </a:prstGeom>
          <a:noFill/>
          <a:ln/>
        </p:spPr>
        <p:txBody>
          <a:bodyPr wrap="square" lIns="0" tIns="0" rIns="0" bIns="0" rtlCol="0" anchor="t"/>
          <a:lstStyle/>
          <a:p>
            <a:pPr defTabSz="1218895">
              <a:buClrTx/>
            </a:pPr>
            <a:r>
              <a:rPr lang="en-US" sz="1200" kern="1200" dirty="0">
                <a:solidFill>
                  <a:srgbClr val="64748B"/>
                </a:solidFill>
                <a:latin typeface="Consolas" pitchFamily="34" charset="0"/>
                <a:ea typeface="Consolas" pitchFamily="34" charset="-122"/>
                <a:cs typeface="Consolas" pitchFamily="34" charset="-120"/>
              </a:rPr>
              <a:t>// ① Read-only view (cannot mutate)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type ReadonlyOrder = Readonly&lt;BtpOrder&gt;;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createdAt is readonly — safe to share</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② PATCH payload (all fields optional)</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type UpdatePayload = Partial&lt;BtpOrder&gt;;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amount?: number; status?: ...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③ POST payload (no server-set fields)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type CreatePayload = Omit&lt;BtpOrder,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'id' | 'createdAt' | 'updatedAt'&gt;;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customerId, amount, status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④ Lightweight reference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type OrderRef = Pick&lt;BtpOrder,'id'|'status'&gt;;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id: string; status: OrderStatus }</a:t>
            </a:r>
            <a:endParaRPr lang="en-US" sz="1200" kern="1200" dirty="0">
              <a:solidFill>
                <a:prstClr val="black"/>
              </a:solidFill>
              <a:latin typeface="Calibri" panose="020F0502020204030204"/>
              <a:ea typeface="+mn-ea"/>
              <a:cs typeface="+mn-cs"/>
            </a:endParaRPr>
          </a:p>
        </p:txBody>
      </p:sp>
      <p:sp>
        <p:nvSpPr>
          <p:cNvPr id="28" name="Shape 26"/>
          <p:cNvSpPr/>
          <p:nvPr/>
        </p:nvSpPr>
        <p:spPr>
          <a:xfrm>
            <a:off x="487553" y="5936851"/>
            <a:ext cx="11213719" cy="755707"/>
          </a:xfrm>
          <a:prstGeom prst="rect">
            <a:avLst/>
          </a:prstGeom>
          <a:solidFill>
            <a:srgbClr val="FEF3C7"/>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9" name="Text 27"/>
          <p:cNvSpPr/>
          <p:nvPr/>
        </p:nvSpPr>
        <p:spPr>
          <a:xfrm>
            <a:off x="670385" y="5973417"/>
            <a:ext cx="10969943" cy="682574"/>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Mapped types are computed at compile time — zero runtime cost. If you rename a field in BtpOrder,</a:t>
            </a:r>
            <a:endParaRPr lang="en-US" kern="1200" dirty="0">
              <a:solidFill>
                <a:prstClr val="black"/>
              </a:solidFill>
              <a:latin typeface="Calibri" panose="020F0502020204030204"/>
              <a:ea typeface="+mn-ea"/>
              <a:cs typeface="+mn-cs"/>
            </a:endParaRPr>
          </a:p>
          <a:p>
            <a:pPr defTabSz="1218895">
              <a:buClrTx/>
            </a:pPr>
            <a:r>
              <a:rPr lang="en-US" b="1" kern="1200" dirty="0">
                <a:solidFill>
                  <a:srgbClr val="D97706"/>
                </a:solidFill>
                <a:latin typeface="Calibri" pitchFamily="34" charset="0"/>
                <a:ea typeface="Calibri" pitchFamily="34" charset="-122"/>
                <a:cs typeface="Calibri" pitchFamily="34" charset="-120"/>
              </a:rPr>
              <a:t>all derived types update automatically. No interface drift, no manual updates.</a:t>
            </a:r>
            <a:endParaRPr lang="en-US" kern="1200" dirty="0">
              <a:solidFill>
                <a:prstClr val="black"/>
              </a:solidFill>
              <a:latin typeface="Calibri" panose="020F0502020204030204"/>
              <a:ea typeface="+mn-ea"/>
              <a:cs typeface="+mn-cs"/>
            </a:endParaRPr>
          </a:p>
        </p:txBody>
      </p:sp>
      <p:pic>
        <p:nvPicPr>
          <p:cNvPr id="30" name="Google Shape;497;p1">
            <a:extLst>
              <a:ext uri="{FF2B5EF4-FFF2-40B4-BE49-F238E27FC236}">
                <a16:creationId xmlns:a16="http://schemas.microsoft.com/office/drawing/2014/main" id="{5C91E97B-8773-E07B-7D1C-F80C63093462}"/>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C — entity-types.ts Full Solution</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Hands-on  ·  exercises/entity-types.ts — derive all payload types</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3" y="1402608"/>
            <a:ext cx="5484971" cy="365665"/>
          </a:xfrm>
          <a:prstGeom prst="rect">
            <a:avLst/>
          </a:prstGeom>
          <a:noFill/>
          <a:ln/>
        </p:spPr>
        <p:txBody>
          <a:bodyPr wrap="square" lIns="0" tIns="0" rIns="0" bIns="0" rtlCol="0" anchor="ctr"/>
          <a:lstStyle/>
          <a:p>
            <a:pPr defTabSz="1218895">
              <a:buClrTx/>
            </a:pPr>
            <a:r>
              <a:rPr lang="en-US" sz="1466" b="1" kern="1200" dirty="0">
                <a:solidFill>
                  <a:srgbClr val="1E293B"/>
                </a:solidFill>
                <a:latin typeface="Calibri" pitchFamily="34" charset="0"/>
                <a:ea typeface="Calibri" pitchFamily="34" charset="-122"/>
                <a:cs typeface="Calibri" pitchFamily="34" charset="-120"/>
              </a:rPr>
              <a:t>Source Interface (write once)</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92650"/>
            <a:ext cx="5484971" cy="304720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914539"/>
            <a:ext cx="5216817" cy="2827807"/>
          </a:xfrm>
          <a:prstGeom prst="rect">
            <a:avLst/>
          </a:prstGeom>
          <a:noFill/>
          <a:ln/>
        </p:spPr>
        <p:txBody>
          <a:bodyPr wrap="square" lIns="0" tIns="0" rIns="0" bIns="0" rtlCol="0" anchor="t"/>
          <a:lstStyle/>
          <a:p>
            <a:pPr defTabSz="1218895">
              <a:buClrTx/>
            </a:pPr>
            <a:r>
              <a:rPr lang="en-US" sz="1200" kern="1200" dirty="0">
                <a:solidFill>
                  <a:srgbClr val="64748B"/>
                </a:solidFill>
                <a:latin typeface="Consolas" pitchFamily="34" charset="0"/>
                <a:ea typeface="Consolas" pitchFamily="34" charset="-122"/>
                <a:cs typeface="Consolas" pitchFamily="34" charset="-120"/>
              </a:rPr>
              <a:t>// The single source of truth</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export interface BtpServiceOrder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id: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customerId: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customerName: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items: OrderItem[];</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totalAmount: number;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currency: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6EFAC"/>
                </a:solidFill>
                <a:latin typeface="Consolas" pitchFamily="34" charset="0"/>
                <a:ea typeface="Consolas" pitchFamily="34" charset="-122"/>
                <a:cs typeface="Consolas" pitchFamily="34" charset="-120"/>
              </a:rPr>
              <a:t>  status: 'Open'|'Processing'|'Closed';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createdAt: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updatedAt: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createdBy: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9" name="Text 7"/>
          <p:cNvSpPr/>
          <p:nvPr/>
        </p:nvSpPr>
        <p:spPr>
          <a:xfrm>
            <a:off x="6277244" y="1402608"/>
            <a:ext cx="5606860" cy="365665"/>
          </a:xfrm>
          <a:prstGeom prst="rect">
            <a:avLst/>
          </a:prstGeom>
          <a:noFill/>
          <a:ln/>
        </p:spPr>
        <p:txBody>
          <a:bodyPr wrap="square" lIns="0" tIns="0" rIns="0" bIns="0" rtlCol="0" anchor="ctr"/>
          <a:lstStyle/>
          <a:p>
            <a:pPr defTabSz="1218895">
              <a:buClrTx/>
            </a:pPr>
            <a:r>
              <a:rPr lang="en-US" sz="1466" b="1" kern="1200" dirty="0">
                <a:solidFill>
                  <a:srgbClr val="D97706"/>
                </a:solidFill>
                <a:latin typeface="Calibri" pitchFamily="34" charset="0"/>
                <a:ea typeface="Calibri" pitchFamily="34" charset="-122"/>
                <a:cs typeface="Calibri" pitchFamily="34" charset="-120"/>
              </a:rPr>
              <a:t>Derived Types (zero repetition)</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92650"/>
            <a:ext cx="5606860" cy="304720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914539"/>
            <a:ext cx="5338705" cy="2827807"/>
          </a:xfrm>
          <a:prstGeom prst="rect">
            <a:avLst/>
          </a:prstGeom>
          <a:noFill/>
          <a:ln/>
        </p:spPr>
        <p:txBody>
          <a:bodyPr wrap="square" lIns="0" tIns="0" rIns="0" bIns="0" rtlCol="0" anchor="t"/>
          <a:lstStyle/>
          <a:p>
            <a:pPr defTabSz="1218895">
              <a:buClrTx/>
            </a:pPr>
            <a:r>
              <a:rPr lang="en-US" sz="1200" kern="1200" dirty="0">
                <a:solidFill>
                  <a:srgbClr val="64748B"/>
                </a:solidFill>
                <a:latin typeface="Consolas" pitchFamily="34" charset="0"/>
                <a:ea typeface="Consolas" pitchFamily="34" charset="-122"/>
                <a:cs typeface="Consolas" pitchFamily="34" charset="-120"/>
              </a:rPr>
              <a:t>// ReadOnly — safe for event emissions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export type ReadOnlyOrder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Readonly&lt;BtpServiceOrder&gt;;</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POST payload — no system-managed fields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export type CreateOrderPayload = Omit&lt;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BtpServiceOrder,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6EFAC"/>
                </a:solidFill>
                <a:latin typeface="Consolas" pitchFamily="34" charset="0"/>
                <a:ea typeface="Consolas" pitchFamily="34" charset="-122"/>
                <a:cs typeface="Consolas" pitchFamily="34" charset="-120"/>
              </a:rPr>
              <a:t>  'id'|'createdAt'|'updatedAt'|'createdBy'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PATCH payload — all optional</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export type UpdateOrderPayload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Partial&lt;Omit&lt;BtpServiceOrder,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6EFAC"/>
                </a:solidFill>
                <a:latin typeface="Consolas" pitchFamily="34" charset="0"/>
                <a:ea typeface="Consolas" pitchFamily="34" charset="-122"/>
                <a:cs typeface="Consolas" pitchFamily="34" charset="-120"/>
              </a:rPr>
              <a:t>    'id'|'createdAt'|'updatedAt'|'createdBy'&gt;&gt;;</a:t>
            </a:r>
            <a:endParaRPr lang="en-US" sz="1200" kern="1200" dirty="0">
              <a:solidFill>
                <a:prstClr val="black"/>
              </a:solidFill>
              <a:latin typeface="Calibri" panose="020F0502020204030204"/>
              <a:ea typeface="+mn-ea"/>
              <a:cs typeface="+mn-cs"/>
            </a:endParaRPr>
          </a:p>
        </p:txBody>
      </p:sp>
      <p:sp>
        <p:nvSpPr>
          <p:cNvPr id="12" name="Text 10"/>
          <p:cNvSpPr/>
          <p:nvPr/>
        </p:nvSpPr>
        <p:spPr>
          <a:xfrm>
            <a:off x="487553" y="4973934"/>
            <a:ext cx="11213719" cy="341287"/>
          </a:xfrm>
          <a:prstGeom prst="rect">
            <a:avLst/>
          </a:prstGeom>
          <a:noFill/>
          <a:ln/>
        </p:spPr>
        <p:txBody>
          <a:bodyPr wrap="square" lIns="0" tIns="0" rIns="0" bIns="0" rtlCol="0" anchor="ctr"/>
          <a:lstStyle/>
          <a:p>
            <a:pPr defTabSz="1218895">
              <a:buClrTx/>
            </a:pPr>
            <a:r>
              <a:rPr lang="en-US" sz="1466" b="1" kern="1200" dirty="0">
                <a:solidFill>
                  <a:srgbClr val="1E293B"/>
                </a:solidFill>
                <a:latin typeface="Calibri" pitchFamily="34" charset="0"/>
                <a:ea typeface="Calibri" pitchFamily="34" charset="-122"/>
                <a:cs typeface="Calibri" pitchFamily="34" charset="-120"/>
              </a:rPr>
              <a:t>How to use these types in CAP handlers</a:t>
            </a:r>
            <a:endParaRPr lang="en-US" sz="1466" kern="1200" dirty="0">
              <a:solidFill>
                <a:prstClr val="black"/>
              </a:solidFill>
              <a:latin typeface="Calibri" panose="020F0502020204030204"/>
              <a:ea typeface="+mn-ea"/>
              <a:cs typeface="+mn-cs"/>
            </a:endParaRPr>
          </a:p>
        </p:txBody>
      </p:sp>
      <p:sp>
        <p:nvSpPr>
          <p:cNvPr id="13" name="Shape 11"/>
          <p:cNvSpPr/>
          <p:nvPr/>
        </p:nvSpPr>
        <p:spPr>
          <a:xfrm>
            <a:off x="487553" y="5339599"/>
            <a:ext cx="11213719" cy="1365148"/>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70385" y="5461486"/>
            <a:ext cx="10945565" cy="1145750"/>
          </a:xfrm>
          <a:prstGeom prst="rect">
            <a:avLst/>
          </a:prstGeom>
          <a:noFill/>
          <a:ln/>
        </p:spPr>
        <p:txBody>
          <a:bodyPr wrap="square" lIns="0" tIns="0" rIns="0" bIns="0" rtlCol="0" anchor="t"/>
          <a:lstStyle/>
          <a:p>
            <a:pPr defTabSz="1218895">
              <a:buClrTx/>
            </a:pPr>
            <a:r>
              <a:rPr lang="en-US" sz="1266" kern="1200" dirty="0">
                <a:solidFill>
                  <a:srgbClr val="64748B"/>
                </a:solidFill>
                <a:latin typeface="Consolas" pitchFamily="34" charset="0"/>
                <a:ea typeface="Consolas" pitchFamily="34" charset="-122"/>
                <a:cs typeface="Consolas" pitchFamily="34" charset="-120"/>
              </a:rPr>
              <a:t>// POST handler — TypeScript enforces only allowed fields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async function onCreate(req: { data: CreateOrderPayload })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req.data.id;         // Error! 'id' does not exist on CreateOrderPayload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req.data.customerId; // OK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PATCH handler — all fields optional, no id allowed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async function onUpdate(req: { data: UpdateOrderPayload }) { ... }</a:t>
            </a:r>
            <a:endParaRPr lang="en-US" sz="1266" kern="1200" dirty="0">
              <a:solidFill>
                <a:prstClr val="black"/>
              </a:solidFill>
              <a:latin typeface="Calibri" panose="020F0502020204030204"/>
              <a:ea typeface="+mn-ea"/>
              <a:cs typeface="+mn-cs"/>
            </a:endParaRPr>
          </a:p>
        </p:txBody>
      </p:sp>
      <p:pic>
        <p:nvPicPr>
          <p:cNvPr id="15" name="Google Shape;497;p1">
            <a:extLst>
              <a:ext uri="{FF2B5EF4-FFF2-40B4-BE49-F238E27FC236}">
                <a16:creationId xmlns:a16="http://schemas.microsoft.com/office/drawing/2014/main" id="{66D18645-AB6C-02C1-264B-8EA090A2157F}"/>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Putting It All Together — Real BTP Service Pattern</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Integration  ·  Generics + Decorators + Utility Types in one CAP handler</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3" y="1402608"/>
            <a:ext cx="11213719" cy="5216817"/>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524496"/>
            <a:ext cx="10945565" cy="4997418"/>
          </a:xfrm>
          <a:prstGeom prst="rect">
            <a:avLst/>
          </a:prstGeom>
          <a:noFill/>
          <a:ln/>
        </p:spPr>
        <p:txBody>
          <a:bodyPr wrap="square" lIns="0" tIns="0" rIns="0" bIns="0" rtlCol="0" anchor="t"/>
          <a:lstStyle/>
          <a:p>
            <a:pPr defTabSz="1218895">
              <a:buClrTx/>
            </a:pPr>
            <a:r>
              <a:rPr lang="en-US" sz="1266" kern="1200" dirty="0">
                <a:solidFill>
                  <a:srgbClr val="64748B"/>
                </a:solidFill>
                <a:latin typeface="Consolas" pitchFamily="34" charset="0"/>
                <a:ea typeface="Consolas" pitchFamily="34" charset="-122"/>
                <a:cs typeface="Consolas" pitchFamily="34" charset="-120"/>
              </a:rPr>
              <a:t>import { ConfigLoader }   from './config-loader';   // Exercise A</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import { LogRequest }     from './decorators';      // Exercise B</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import { CreateOrderPayload, UpdateOrderPayload } from './entity-types'; // Exercise C</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 A: Load typed config once at startup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const destCfg = new ConfigLoader&lt;DestinationConfig&gt;('dest.json')</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.load(validateDestConfig);</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 B + C: Decorated handler with utility-typed parameters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class OrderService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@LogRequest({ level: 'info' })               // B: decorator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  async onCreate(data: CreateOrderPayload) {   // C: utility type (no id, no timestamps)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const resp = await fetch(destCfg.url, {   // A: typed config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method: 'POST',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body: JSON.stringify(data)</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resp.json();</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@LogRequest({ level: 'debug' })              // B: decorator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  async onUpdate(id: string, patch: UpdateOrderPayload) {  // C: all optional</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 patch.id is a compile-time error — Omit removes it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updateOrderInBtp(destCfg, id, patch);</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p:txBody>
      </p:sp>
      <p:sp>
        <p:nvSpPr>
          <p:cNvPr id="8" name="Shape 6"/>
          <p:cNvSpPr/>
          <p:nvPr/>
        </p:nvSpPr>
        <p:spPr>
          <a:xfrm>
            <a:off x="487552" y="6704747"/>
            <a:ext cx="3656648" cy="0"/>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9" name="Shape 7"/>
          <p:cNvSpPr/>
          <p:nvPr/>
        </p:nvSpPr>
        <p:spPr>
          <a:xfrm>
            <a:off x="4412354" y="6704747"/>
            <a:ext cx="3656648" cy="0"/>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Shape 8"/>
          <p:cNvSpPr/>
          <p:nvPr/>
        </p:nvSpPr>
        <p:spPr>
          <a:xfrm>
            <a:off x="8337156" y="6704747"/>
            <a:ext cx="3656648" cy="0"/>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Shape 9"/>
          <p:cNvSpPr/>
          <p:nvPr/>
        </p:nvSpPr>
        <p:spPr>
          <a:xfrm>
            <a:off x="487553" y="6704747"/>
            <a:ext cx="11213719" cy="73133"/>
          </a:xfrm>
          <a:prstGeom prst="rect">
            <a:avLst/>
          </a:prstGeom>
          <a:solidFill>
            <a:srgbClr val="E2E8F0"/>
          </a:solidFill>
          <a:ln w="1270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Shape 10"/>
          <p:cNvSpPr/>
          <p:nvPr/>
        </p:nvSpPr>
        <p:spPr>
          <a:xfrm>
            <a:off x="487552" y="6668180"/>
            <a:ext cx="219399" cy="219399"/>
          </a:xfrm>
          <a:prstGeom prst="ellipse">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755707" y="6668180"/>
            <a:ext cx="3047206" cy="219399"/>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A: Generics</a:t>
            </a:r>
            <a:endParaRPr lang="en-US" sz="1133" kern="1200" dirty="0">
              <a:solidFill>
                <a:prstClr val="black"/>
              </a:solidFill>
              <a:latin typeface="Calibri" panose="020F0502020204030204"/>
              <a:ea typeface="+mn-ea"/>
              <a:cs typeface="+mn-cs"/>
            </a:endParaRPr>
          </a:p>
        </p:txBody>
      </p:sp>
      <p:sp>
        <p:nvSpPr>
          <p:cNvPr id="14" name="Shape 12"/>
          <p:cNvSpPr/>
          <p:nvPr/>
        </p:nvSpPr>
        <p:spPr>
          <a:xfrm>
            <a:off x="4412354" y="6668180"/>
            <a:ext cx="219399" cy="219399"/>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Text 13"/>
          <p:cNvSpPr/>
          <p:nvPr/>
        </p:nvSpPr>
        <p:spPr>
          <a:xfrm>
            <a:off x="4680508" y="6668180"/>
            <a:ext cx="3047206" cy="219399"/>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B: Decorators</a:t>
            </a:r>
            <a:endParaRPr lang="en-US" sz="1133" kern="1200" dirty="0">
              <a:solidFill>
                <a:prstClr val="black"/>
              </a:solidFill>
              <a:latin typeface="Calibri" panose="020F0502020204030204"/>
              <a:ea typeface="+mn-ea"/>
              <a:cs typeface="+mn-cs"/>
            </a:endParaRPr>
          </a:p>
        </p:txBody>
      </p:sp>
      <p:sp>
        <p:nvSpPr>
          <p:cNvPr id="16" name="Shape 14"/>
          <p:cNvSpPr/>
          <p:nvPr/>
        </p:nvSpPr>
        <p:spPr>
          <a:xfrm>
            <a:off x="8337156" y="6668180"/>
            <a:ext cx="219399" cy="219399"/>
          </a:xfrm>
          <a:prstGeom prst="ellipse">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8605310" y="6668180"/>
            <a:ext cx="3047206" cy="219399"/>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C: Utility Types</a:t>
            </a:r>
            <a:endParaRPr lang="en-US" sz="1133" kern="1200" dirty="0">
              <a:solidFill>
                <a:prstClr val="black"/>
              </a:solidFill>
              <a:latin typeface="Calibri" panose="020F0502020204030204"/>
              <a:ea typeface="+mn-ea"/>
              <a:cs typeface="+mn-cs"/>
            </a:endParaRPr>
          </a:p>
        </p:txBody>
      </p:sp>
      <p:pic>
        <p:nvPicPr>
          <p:cNvPr id="18" name="Google Shape;497;p1">
            <a:extLst>
              <a:ext uri="{FF2B5EF4-FFF2-40B4-BE49-F238E27FC236}">
                <a16:creationId xmlns:a16="http://schemas.microsoft.com/office/drawing/2014/main" id="{DEA13D57-E33D-B5DD-CFA8-7120654C57F0}"/>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Common Mistakes &amp; How to Fix Them</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Reference  ·  Errors you will see and how to resolve them</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2" y="1402608"/>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487552" y="1402608"/>
            <a:ext cx="5667804" cy="36566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09441" y="1402608"/>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A – Generics</a:t>
            </a:r>
            <a:endParaRPr lang="en-US" sz="1266" kern="1200" dirty="0">
              <a:solidFill>
                <a:prstClr val="black"/>
              </a:solidFill>
              <a:latin typeface="Calibri" panose="020F0502020204030204"/>
              <a:ea typeface="+mn-ea"/>
              <a:cs typeface="+mn-cs"/>
            </a:endParaRPr>
          </a:p>
        </p:txBody>
      </p:sp>
      <p:sp>
        <p:nvSpPr>
          <p:cNvPr id="9" name="Text 7"/>
          <p:cNvSpPr/>
          <p:nvPr/>
        </p:nvSpPr>
        <p:spPr>
          <a:xfrm>
            <a:off x="633818" y="1804839"/>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TS2322: Type 'string' is not assignable to type 'T'</a:t>
            </a:r>
            <a:endParaRPr lang="en-US" sz="1133" kern="1200" dirty="0">
              <a:solidFill>
                <a:prstClr val="black"/>
              </a:solidFill>
              <a:latin typeface="Calibri" panose="020F0502020204030204"/>
              <a:ea typeface="+mn-ea"/>
              <a:cs typeface="+mn-cs"/>
            </a:endParaRPr>
          </a:p>
        </p:txBody>
      </p:sp>
      <p:sp>
        <p:nvSpPr>
          <p:cNvPr id="10" name="Text 8"/>
          <p:cNvSpPr/>
          <p:nvPr/>
        </p:nvSpPr>
        <p:spPr>
          <a:xfrm>
            <a:off x="633818" y="2133937"/>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Returning a hardcoded value instead of the validated T</a:t>
            </a:r>
            <a:endParaRPr lang="en-US" sz="1133" kern="1200" dirty="0">
              <a:solidFill>
                <a:prstClr val="black"/>
              </a:solidFill>
              <a:latin typeface="Calibri" panose="020F0502020204030204"/>
              <a:ea typeface="+mn-ea"/>
              <a:cs typeface="+mn-cs"/>
            </a:endParaRPr>
          </a:p>
        </p:txBody>
      </p:sp>
      <p:sp>
        <p:nvSpPr>
          <p:cNvPr id="11" name="Text 9"/>
          <p:cNvSpPr/>
          <p:nvPr/>
        </p:nvSpPr>
        <p:spPr>
          <a:xfrm>
            <a:off x="633818" y="2499602"/>
            <a:ext cx="5424027" cy="511931"/>
          </a:xfrm>
          <a:prstGeom prst="rect">
            <a:avLst/>
          </a:prstGeom>
          <a:noFill/>
          <a:ln/>
        </p:spPr>
        <p:txBody>
          <a:bodyPr wrap="square" lIns="0" tIns="0" rIns="0" bIns="0" rtlCol="0" anchor="ctr"/>
          <a:lstStyle/>
          <a:p>
            <a:pPr defTabSz="1218895">
              <a:buClrTx/>
            </a:pPr>
            <a:r>
              <a:rPr lang="en-US" sz="1133" b="1" kern="1200" dirty="0">
                <a:solidFill>
                  <a:srgbClr val="7C3AED"/>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Return the result of the validator function — it knows the shape of T</a:t>
            </a:r>
            <a:endParaRPr lang="en-US" sz="1133" kern="1200" dirty="0">
              <a:solidFill>
                <a:prstClr val="black"/>
              </a:solidFill>
              <a:latin typeface="Calibri" panose="020F0502020204030204"/>
              <a:ea typeface="+mn-ea"/>
              <a:cs typeface="+mn-cs"/>
            </a:endParaRPr>
          </a:p>
        </p:txBody>
      </p:sp>
      <p:sp>
        <p:nvSpPr>
          <p:cNvPr id="12" name="Shape 10"/>
          <p:cNvSpPr/>
          <p:nvPr/>
        </p:nvSpPr>
        <p:spPr>
          <a:xfrm>
            <a:off x="6399132" y="1402608"/>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Shape 11"/>
          <p:cNvSpPr/>
          <p:nvPr/>
        </p:nvSpPr>
        <p:spPr>
          <a:xfrm>
            <a:off x="6399132" y="1402608"/>
            <a:ext cx="5667804" cy="36566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521021" y="1402608"/>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A – Generics</a:t>
            </a:r>
            <a:endParaRPr lang="en-US" sz="1266" kern="1200" dirty="0">
              <a:solidFill>
                <a:prstClr val="black"/>
              </a:solidFill>
              <a:latin typeface="Calibri" panose="020F0502020204030204"/>
              <a:ea typeface="+mn-ea"/>
              <a:cs typeface="+mn-cs"/>
            </a:endParaRPr>
          </a:p>
        </p:txBody>
      </p:sp>
      <p:sp>
        <p:nvSpPr>
          <p:cNvPr id="15" name="Text 13"/>
          <p:cNvSpPr/>
          <p:nvPr/>
        </p:nvSpPr>
        <p:spPr>
          <a:xfrm>
            <a:off x="6545399" y="1804839"/>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TS2344: Type 'string' does not satisfy constraint 'object'</a:t>
            </a:r>
            <a:endParaRPr lang="en-US" sz="1133" kern="1200" dirty="0">
              <a:solidFill>
                <a:prstClr val="black"/>
              </a:solidFill>
              <a:latin typeface="Calibri" panose="020F0502020204030204"/>
              <a:ea typeface="+mn-ea"/>
              <a:cs typeface="+mn-cs"/>
            </a:endParaRPr>
          </a:p>
        </p:txBody>
      </p:sp>
      <p:sp>
        <p:nvSpPr>
          <p:cNvPr id="16" name="Text 14"/>
          <p:cNvSpPr/>
          <p:nvPr/>
        </p:nvSpPr>
        <p:spPr>
          <a:xfrm>
            <a:off x="6545399" y="2133937"/>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Calling ConfigLoader&lt;string&gt; — primitive types not allowed</a:t>
            </a:r>
            <a:endParaRPr lang="en-US" sz="1133" kern="1200" dirty="0">
              <a:solidFill>
                <a:prstClr val="black"/>
              </a:solidFill>
              <a:latin typeface="Calibri" panose="020F0502020204030204"/>
              <a:ea typeface="+mn-ea"/>
              <a:cs typeface="+mn-cs"/>
            </a:endParaRPr>
          </a:p>
        </p:txBody>
      </p:sp>
      <p:sp>
        <p:nvSpPr>
          <p:cNvPr id="17" name="Text 15"/>
          <p:cNvSpPr/>
          <p:nvPr/>
        </p:nvSpPr>
        <p:spPr>
          <a:xfrm>
            <a:off x="6545399" y="2499602"/>
            <a:ext cx="5424027" cy="511931"/>
          </a:xfrm>
          <a:prstGeom prst="rect">
            <a:avLst/>
          </a:prstGeom>
          <a:noFill/>
          <a:ln/>
        </p:spPr>
        <p:txBody>
          <a:bodyPr wrap="square" lIns="0" tIns="0" rIns="0" bIns="0" rtlCol="0" anchor="ctr"/>
          <a:lstStyle/>
          <a:p>
            <a:pPr defTabSz="1218895">
              <a:buClrTx/>
            </a:pPr>
            <a:r>
              <a:rPr lang="en-US" sz="1133" b="1" kern="1200" dirty="0">
                <a:solidFill>
                  <a:srgbClr val="7C3AED"/>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ConfigLoader&lt;T extends object&gt; only accepts object shapes, not primitives</a:t>
            </a:r>
            <a:endParaRPr lang="en-US" sz="1133" kern="1200" dirty="0">
              <a:solidFill>
                <a:prstClr val="black"/>
              </a:solidFill>
              <a:latin typeface="Calibri" panose="020F0502020204030204"/>
              <a:ea typeface="+mn-ea"/>
              <a:cs typeface="+mn-cs"/>
            </a:endParaRPr>
          </a:p>
        </p:txBody>
      </p:sp>
      <p:sp>
        <p:nvSpPr>
          <p:cNvPr id="18" name="Shape 16"/>
          <p:cNvSpPr/>
          <p:nvPr/>
        </p:nvSpPr>
        <p:spPr>
          <a:xfrm>
            <a:off x="487552" y="3157799"/>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487552" y="3157799"/>
            <a:ext cx="5667804" cy="365665"/>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609441" y="3157799"/>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B – Decorators</a:t>
            </a:r>
            <a:endParaRPr lang="en-US" sz="1266" kern="1200" dirty="0">
              <a:solidFill>
                <a:prstClr val="black"/>
              </a:solidFill>
              <a:latin typeface="Calibri" panose="020F0502020204030204"/>
              <a:ea typeface="+mn-ea"/>
              <a:cs typeface="+mn-cs"/>
            </a:endParaRPr>
          </a:p>
        </p:txBody>
      </p:sp>
      <p:sp>
        <p:nvSpPr>
          <p:cNvPr id="21" name="Text 19"/>
          <p:cNvSpPr/>
          <p:nvPr/>
        </p:nvSpPr>
        <p:spPr>
          <a:xfrm>
            <a:off x="633818" y="3560030"/>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Error: Decorators are not enabled</a:t>
            </a:r>
            <a:endParaRPr lang="en-US" sz="1133" kern="1200" dirty="0">
              <a:solidFill>
                <a:prstClr val="black"/>
              </a:solidFill>
              <a:latin typeface="Calibri" panose="020F0502020204030204"/>
              <a:ea typeface="+mn-ea"/>
              <a:cs typeface="+mn-cs"/>
            </a:endParaRPr>
          </a:p>
        </p:txBody>
      </p:sp>
      <p:sp>
        <p:nvSpPr>
          <p:cNvPr id="22" name="Text 20"/>
          <p:cNvSpPr/>
          <p:nvPr/>
        </p:nvSpPr>
        <p:spPr>
          <a:xfrm>
            <a:off x="633818" y="3889128"/>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Missing experimentalDecorators in tsconfig.json</a:t>
            </a:r>
            <a:endParaRPr lang="en-US" sz="1133" kern="1200" dirty="0">
              <a:solidFill>
                <a:prstClr val="black"/>
              </a:solidFill>
              <a:latin typeface="Calibri" panose="020F0502020204030204"/>
              <a:ea typeface="+mn-ea"/>
              <a:cs typeface="+mn-cs"/>
            </a:endParaRPr>
          </a:p>
        </p:txBody>
      </p:sp>
      <p:sp>
        <p:nvSpPr>
          <p:cNvPr id="23" name="Text 21"/>
          <p:cNvSpPr/>
          <p:nvPr/>
        </p:nvSpPr>
        <p:spPr>
          <a:xfrm>
            <a:off x="633818" y="4254793"/>
            <a:ext cx="5424027" cy="511931"/>
          </a:xfrm>
          <a:prstGeom prst="rect">
            <a:avLst/>
          </a:prstGeom>
          <a:noFill/>
          <a:ln/>
        </p:spPr>
        <p:txBody>
          <a:bodyPr wrap="square" lIns="0" tIns="0" rIns="0" bIns="0" rtlCol="0" anchor="ctr"/>
          <a:lstStyle/>
          <a:p>
            <a:pPr defTabSz="1218895">
              <a:buClrTx/>
            </a:pPr>
            <a:r>
              <a:rPr lang="en-US" sz="1133" b="1" kern="1200" dirty="0">
                <a:solidFill>
                  <a:srgbClr val="0D9488"/>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Add "experimentalDecorators": true to compilerOptions in tsconfig.json</a:t>
            </a:r>
            <a:endParaRPr lang="en-US" sz="1133" kern="1200" dirty="0">
              <a:solidFill>
                <a:prstClr val="black"/>
              </a:solidFill>
              <a:latin typeface="Calibri" panose="020F0502020204030204"/>
              <a:ea typeface="+mn-ea"/>
              <a:cs typeface="+mn-cs"/>
            </a:endParaRPr>
          </a:p>
        </p:txBody>
      </p:sp>
      <p:sp>
        <p:nvSpPr>
          <p:cNvPr id="24" name="Shape 22"/>
          <p:cNvSpPr/>
          <p:nvPr/>
        </p:nvSpPr>
        <p:spPr>
          <a:xfrm>
            <a:off x="6399132" y="3157799"/>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Shape 23"/>
          <p:cNvSpPr/>
          <p:nvPr/>
        </p:nvSpPr>
        <p:spPr>
          <a:xfrm>
            <a:off x="6399132" y="3157799"/>
            <a:ext cx="5667804" cy="365665"/>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521021" y="3157799"/>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B – Decorators</a:t>
            </a:r>
            <a:endParaRPr lang="en-US" sz="1266" kern="1200" dirty="0">
              <a:solidFill>
                <a:prstClr val="black"/>
              </a:solidFill>
              <a:latin typeface="Calibri" panose="020F0502020204030204"/>
              <a:ea typeface="+mn-ea"/>
              <a:cs typeface="+mn-cs"/>
            </a:endParaRPr>
          </a:p>
        </p:txBody>
      </p:sp>
      <p:sp>
        <p:nvSpPr>
          <p:cNvPr id="27" name="Text 25"/>
          <p:cNvSpPr/>
          <p:nvPr/>
        </p:nvSpPr>
        <p:spPr>
          <a:xfrm>
            <a:off x="6545399" y="3560030"/>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'this' is lost inside the wrapper function</a:t>
            </a:r>
            <a:endParaRPr lang="en-US" sz="1133" kern="1200" dirty="0">
              <a:solidFill>
                <a:prstClr val="black"/>
              </a:solidFill>
              <a:latin typeface="Calibri" panose="020F0502020204030204"/>
              <a:ea typeface="+mn-ea"/>
              <a:cs typeface="+mn-cs"/>
            </a:endParaRPr>
          </a:p>
        </p:txBody>
      </p:sp>
      <p:sp>
        <p:nvSpPr>
          <p:cNvPr id="28" name="Text 26"/>
          <p:cNvSpPr/>
          <p:nvPr/>
        </p:nvSpPr>
        <p:spPr>
          <a:xfrm>
            <a:off x="6545399" y="3889128"/>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Using function() {} loses 'this' binding from the class instance</a:t>
            </a:r>
            <a:endParaRPr lang="en-US" sz="1133" kern="1200" dirty="0">
              <a:solidFill>
                <a:prstClr val="black"/>
              </a:solidFill>
              <a:latin typeface="Calibri" panose="020F0502020204030204"/>
              <a:ea typeface="+mn-ea"/>
              <a:cs typeface="+mn-cs"/>
            </a:endParaRPr>
          </a:p>
        </p:txBody>
      </p:sp>
      <p:sp>
        <p:nvSpPr>
          <p:cNvPr id="29" name="Text 27"/>
          <p:cNvSpPr/>
          <p:nvPr/>
        </p:nvSpPr>
        <p:spPr>
          <a:xfrm>
            <a:off x="6545399" y="4254793"/>
            <a:ext cx="5424027" cy="511931"/>
          </a:xfrm>
          <a:prstGeom prst="rect">
            <a:avLst/>
          </a:prstGeom>
          <a:noFill/>
          <a:ln/>
        </p:spPr>
        <p:txBody>
          <a:bodyPr wrap="square" lIns="0" tIns="0" rIns="0" bIns="0" rtlCol="0" anchor="ctr"/>
          <a:lstStyle/>
          <a:p>
            <a:pPr defTabSz="1218895">
              <a:buClrTx/>
            </a:pPr>
            <a:r>
              <a:rPr lang="en-US" sz="1133" b="1" kern="1200" dirty="0">
                <a:solidFill>
                  <a:srgbClr val="0D9488"/>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Always use original.apply(this, args) — never original(...args) alone</a:t>
            </a:r>
            <a:endParaRPr lang="en-US" sz="1133" kern="1200" dirty="0">
              <a:solidFill>
                <a:prstClr val="black"/>
              </a:solidFill>
              <a:latin typeface="Calibri" panose="020F0502020204030204"/>
              <a:ea typeface="+mn-ea"/>
              <a:cs typeface="+mn-cs"/>
            </a:endParaRPr>
          </a:p>
        </p:txBody>
      </p:sp>
      <p:sp>
        <p:nvSpPr>
          <p:cNvPr id="30" name="Shape 28"/>
          <p:cNvSpPr/>
          <p:nvPr/>
        </p:nvSpPr>
        <p:spPr>
          <a:xfrm>
            <a:off x="487552" y="4912989"/>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9"/>
          <p:cNvSpPr/>
          <p:nvPr/>
        </p:nvSpPr>
        <p:spPr>
          <a:xfrm>
            <a:off x="487552" y="4912989"/>
            <a:ext cx="5667804" cy="36566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609441" y="4912989"/>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C – Utility Types</a:t>
            </a:r>
            <a:endParaRPr lang="en-US" sz="1266" kern="1200" dirty="0">
              <a:solidFill>
                <a:prstClr val="black"/>
              </a:solidFill>
              <a:latin typeface="Calibri" panose="020F0502020204030204"/>
              <a:ea typeface="+mn-ea"/>
              <a:cs typeface="+mn-cs"/>
            </a:endParaRPr>
          </a:p>
        </p:txBody>
      </p:sp>
      <p:sp>
        <p:nvSpPr>
          <p:cNvPr id="33" name="Text 31"/>
          <p:cNvSpPr/>
          <p:nvPr/>
        </p:nvSpPr>
        <p:spPr>
          <a:xfrm>
            <a:off x="633818" y="5315221"/>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TS2339: Property 'id' does not exist on CreateOrderPayload</a:t>
            </a:r>
            <a:endParaRPr lang="en-US" sz="1133" kern="1200" dirty="0">
              <a:solidFill>
                <a:prstClr val="black"/>
              </a:solidFill>
              <a:latin typeface="Calibri" panose="020F0502020204030204"/>
              <a:ea typeface="+mn-ea"/>
              <a:cs typeface="+mn-cs"/>
            </a:endParaRPr>
          </a:p>
        </p:txBody>
      </p:sp>
      <p:sp>
        <p:nvSpPr>
          <p:cNvPr id="34" name="Text 32"/>
          <p:cNvSpPr/>
          <p:nvPr/>
        </p:nvSpPr>
        <p:spPr>
          <a:xfrm>
            <a:off x="633818" y="5644319"/>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This is intentional! Omit removed 'id' from the type.</a:t>
            </a:r>
            <a:endParaRPr lang="en-US" sz="1133" kern="1200" dirty="0">
              <a:solidFill>
                <a:prstClr val="black"/>
              </a:solidFill>
              <a:latin typeface="Calibri" panose="020F0502020204030204"/>
              <a:ea typeface="+mn-ea"/>
              <a:cs typeface="+mn-cs"/>
            </a:endParaRPr>
          </a:p>
        </p:txBody>
      </p:sp>
      <p:sp>
        <p:nvSpPr>
          <p:cNvPr id="35" name="Text 33"/>
          <p:cNvSpPr/>
          <p:nvPr/>
        </p:nvSpPr>
        <p:spPr>
          <a:xfrm>
            <a:off x="633818" y="6009984"/>
            <a:ext cx="5424027" cy="511931"/>
          </a:xfrm>
          <a:prstGeom prst="rect">
            <a:avLst/>
          </a:prstGeom>
          <a:noFill/>
          <a:ln/>
        </p:spPr>
        <p:txBody>
          <a:bodyPr wrap="square" lIns="0" tIns="0" rIns="0" bIns="0" rtlCol="0" anchor="ctr"/>
          <a:lstStyle/>
          <a:p>
            <a:pPr defTabSz="1218895">
              <a:buClrTx/>
            </a:pPr>
            <a:r>
              <a:rPr lang="en-US" sz="1133" b="1" kern="1200" dirty="0">
                <a:solidFill>
                  <a:srgbClr val="D97706"/>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This IS the correct compiler behaviour — do not add id to the create payload</a:t>
            </a:r>
            <a:endParaRPr lang="en-US" sz="1133" kern="1200" dirty="0">
              <a:solidFill>
                <a:prstClr val="black"/>
              </a:solidFill>
              <a:latin typeface="Calibri" panose="020F0502020204030204"/>
              <a:ea typeface="+mn-ea"/>
              <a:cs typeface="+mn-cs"/>
            </a:endParaRPr>
          </a:p>
        </p:txBody>
      </p:sp>
      <p:sp>
        <p:nvSpPr>
          <p:cNvPr id="36" name="Shape 34"/>
          <p:cNvSpPr/>
          <p:nvPr/>
        </p:nvSpPr>
        <p:spPr>
          <a:xfrm>
            <a:off x="6399132" y="4912989"/>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Shape 35"/>
          <p:cNvSpPr/>
          <p:nvPr/>
        </p:nvSpPr>
        <p:spPr>
          <a:xfrm>
            <a:off x="6399132" y="4912989"/>
            <a:ext cx="5667804" cy="36566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8" name="Text 36"/>
          <p:cNvSpPr/>
          <p:nvPr/>
        </p:nvSpPr>
        <p:spPr>
          <a:xfrm>
            <a:off x="6521021" y="4912989"/>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C – Utility Types</a:t>
            </a:r>
            <a:endParaRPr lang="en-US" sz="1266" kern="1200" dirty="0">
              <a:solidFill>
                <a:prstClr val="black"/>
              </a:solidFill>
              <a:latin typeface="Calibri" panose="020F0502020204030204"/>
              <a:ea typeface="+mn-ea"/>
              <a:cs typeface="+mn-cs"/>
            </a:endParaRPr>
          </a:p>
        </p:txBody>
      </p:sp>
      <p:sp>
        <p:nvSpPr>
          <p:cNvPr id="39" name="Text 37"/>
          <p:cNvSpPr/>
          <p:nvPr/>
        </p:nvSpPr>
        <p:spPr>
          <a:xfrm>
            <a:off x="6545399" y="5315221"/>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Cannot assign to 'x' because it is a read-only property</a:t>
            </a:r>
            <a:endParaRPr lang="en-US" sz="1133" kern="1200" dirty="0">
              <a:solidFill>
                <a:prstClr val="black"/>
              </a:solidFill>
              <a:latin typeface="Calibri" panose="020F0502020204030204"/>
              <a:ea typeface="+mn-ea"/>
              <a:cs typeface="+mn-cs"/>
            </a:endParaRPr>
          </a:p>
        </p:txBody>
      </p:sp>
      <p:sp>
        <p:nvSpPr>
          <p:cNvPr id="40" name="Text 38"/>
          <p:cNvSpPr/>
          <p:nvPr/>
        </p:nvSpPr>
        <p:spPr>
          <a:xfrm>
            <a:off x="6545399" y="5644319"/>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Trying to mutate a field on a Readonly&lt;T&gt; derived type</a:t>
            </a:r>
            <a:endParaRPr lang="en-US" sz="1133" kern="1200" dirty="0">
              <a:solidFill>
                <a:prstClr val="black"/>
              </a:solidFill>
              <a:latin typeface="Calibri" panose="020F0502020204030204"/>
              <a:ea typeface="+mn-ea"/>
              <a:cs typeface="+mn-cs"/>
            </a:endParaRPr>
          </a:p>
        </p:txBody>
      </p:sp>
      <p:sp>
        <p:nvSpPr>
          <p:cNvPr id="41" name="Text 39"/>
          <p:cNvSpPr/>
          <p:nvPr/>
        </p:nvSpPr>
        <p:spPr>
          <a:xfrm>
            <a:off x="6545399" y="6009984"/>
            <a:ext cx="5424027" cy="511931"/>
          </a:xfrm>
          <a:prstGeom prst="rect">
            <a:avLst/>
          </a:prstGeom>
          <a:noFill/>
          <a:ln/>
        </p:spPr>
        <p:txBody>
          <a:bodyPr wrap="square" lIns="0" tIns="0" rIns="0" bIns="0" rtlCol="0" anchor="ctr"/>
          <a:lstStyle/>
          <a:p>
            <a:pPr defTabSz="1218895">
              <a:buClrTx/>
            </a:pPr>
            <a:r>
              <a:rPr lang="en-US" sz="1133" b="1" kern="1200" dirty="0">
                <a:solidFill>
                  <a:srgbClr val="D97706"/>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Readonly types are immutable — create a new object instead of mutating</a:t>
            </a:r>
            <a:endParaRPr lang="en-US" sz="1133" kern="1200" dirty="0">
              <a:solidFill>
                <a:prstClr val="black"/>
              </a:solidFill>
              <a:latin typeface="Calibri" panose="020F0502020204030204"/>
              <a:ea typeface="+mn-ea"/>
              <a:cs typeface="+mn-cs"/>
            </a:endParaRPr>
          </a:p>
        </p:txBody>
      </p:sp>
      <p:pic>
        <p:nvPicPr>
          <p:cNvPr id="42" name="Google Shape;497;p1">
            <a:extLst>
              <a:ext uri="{FF2B5EF4-FFF2-40B4-BE49-F238E27FC236}">
                <a16:creationId xmlns:a16="http://schemas.microsoft.com/office/drawing/2014/main" id="{E5E3A6E7-5651-48DA-9748-570AD262B60F}"/>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7557071" y="244669"/>
            <a:ext cx="4875530" cy="6338189"/>
          </a:xfrm>
          <a:prstGeom prst="rect">
            <a:avLst/>
          </a:prstGeom>
          <a:noFill/>
          <a:ln/>
        </p:spPr>
        <p:txBody>
          <a:bodyPr wrap="square" lIns="0" tIns="0" rIns="0" bIns="0" rtlCol="0" anchor="ctr"/>
          <a:lstStyle/>
          <a:p>
            <a:pPr defTabSz="1218895">
              <a:buClrTx/>
            </a:pPr>
            <a:r>
              <a:rPr lang="en-US" sz="26660" b="1" kern="1200" dirty="0">
                <a:solidFill>
                  <a:srgbClr val="818CF8">
                    <a:alpha val="12000"/>
                  </a:srgbClr>
                </a:solidFill>
                <a:latin typeface="Consolas" pitchFamily="34" charset="0"/>
                <a:ea typeface="Consolas" pitchFamily="34" charset="-122"/>
                <a:cs typeface="Consolas" pitchFamily="34" charset="-120"/>
              </a:rPr>
              <a:t>{}</a:t>
            </a:r>
            <a:endParaRPr lang="en-US" sz="26660" kern="1200" dirty="0">
              <a:solidFill>
                <a:prstClr val="black"/>
              </a:solidFill>
              <a:latin typeface="Calibri" panose="020F0502020204030204"/>
              <a:ea typeface="+mn-ea"/>
              <a:cs typeface="+mn-cs"/>
            </a:endParaRPr>
          </a:p>
        </p:txBody>
      </p:sp>
      <p:sp>
        <p:nvSpPr>
          <p:cNvPr id="3" name="Shape 1"/>
          <p:cNvSpPr/>
          <p:nvPr/>
        </p:nvSpPr>
        <p:spPr>
          <a:xfrm>
            <a:off x="-1" y="893"/>
            <a:ext cx="219399" cy="6856214"/>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609441" y="671279"/>
            <a:ext cx="9751060" cy="670385"/>
          </a:xfrm>
          <a:prstGeom prst="rect">
            <a:avLst/>
          </a:prstGeom>
          <a:noFill/>
          <a:ln/>
        </p:spPr>
        <p:txBody>
          <a:bodyPr wrap="square" lIns="0" tIns="0" rIns="0" bIns="0" rtlCol="0" anchor="ctr"/>
          <a:lstStyle/>
          <a:p>
            <a:pPr defTabSz="1218895">
              <a:buClrTx/>
            </a:pPr>
            <a:r>
              <a:rPr lang="en-US" sz="3999" b="1" kern="1200" dirty="0">
                <a:solidFill>
                  <a:srgbClr val="FFFFFF"/>
                </a:solidFill>
                <a:latin typeface="Calibri" pitchFamily="34" charset="0"/>
                <a:ea typeface="Calibri" pitchFamily="34" charset="-122"/>
                <a:cs typeface="Calibri" pitchFamily="34" charset="-120"/>
              </a:rPr>
              <a:t>Workshop Complete 🎉</a:t>
            </a:r>
            <a:endParaRPr lang="en-US" sz="3999" kern="1200" dirty="0">
              <a:solidFill>
                <a:prstClr val="black"/>
              </a:solidFill>
              <a:latin typeface="Calibri" panose="020F0502020204030204"/>
              <a:ea typeface="+mn-ea"/>
              <a:cs typeface="+mn-cs"/>
            </a:endParaRPr>
          </a:p>
        </p:txBody>
      </p:sp>
      <p:sp>
        <p:nvSpPr>
          <p:cNvPr id="5" name="Text 3"/>
          <p:cNvSpPr/>
          <p:nvPr/>
        </p:nvSpPr>
        <p:spPr>
          <a:xfrm>
            <a:off x="609441" y="1439174"/>
            <a:ext cx="9141619" cy="585064"/>
          </a:xfrm>
          <a:prstGeom prst="rect">
            <a:avLst/>
          </a:prstGeom>
          <a:noFill/>
          <a:ln/>
        </p:spPr>
        <p:txBody>
          <a:bodyPr wrap="square" lIns="0" tIns="0" rIns="0" bIns="0" rtlCol="0" anchor="ctr"/>
          <a:lstStyle/>
          <a:p>
            <a:pPr defTabSz="1218895">
              <a:buClrTx/>
            </a:pPr>
            <a:r>
              <a:rPr lang="en-US" sz="1733" kern="1200" dirty="0">
                <a:solidFill>
                  <a:srgbClr val="A5B4FC"/>
                </a:solidFill>
                <a:latin typeface="Calibri" pitchFamily="34" charset="0"/>
                <a:ea typeface="Calibri" pitchFamily="34" charset="-122"/>
                <a:cs typeface="Calibri" pitchFamily="34" charset="-120"/>
              </a:rPr>
              <a:t>You now have three patterns that have no JavaScript equivalent — ready for production BTP services.</a:t>
            </a:r>
            <a:endParaRPr lang="en-US" sz="1733" kern="1200" dirty="0">
              <a:solidFill>
                <a:prstClr val="black"/>
              </a:solidFill>
              <a:latin typeface="Calibri" panose="020F0502020204030204"/>
              <a:ea typeface="+mn-ea"/>
              <a:cs typeface="+mn-cs"/>
            </a:endParaRPr>
          </a:p>
        </p:txBody>
      </p:sp>
      <p:sp>
        <p:nvSpPr>
          <p:cNvPr id="6" name="Shape 4"/>
          <p:cNvSpPr/>
          <p:nvPr/>
        </p:nvSpPr>
        <p:spPr>
          <a:xfrm>
            <a:off x="609441" y="2097371"/>
            <a:ext cx="633819" cy="63381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09441" y="2097371"/>
            <a:ext cx="633819" cy="633819"/>
          </a:xfrm>
          <a:prstGeom prst="rect">
            <a:avLst/>
          </a:prstGeom>
          <a:noFill/>
          <a:ln/>
        </p:spPr>
        <p:txBody>
          <a:bodyPr wrap="square" lIns="0" tIns="0" rIns="0" bIns="0" rtlCol="0" anchor="ctr"/>
          <a:lstStyle/>
          <a:p>
            <a:pPr algn="ctr" defTabSz="1218895">
              <a:buClrTx/>
            </a:pPr>
            <a:r>
              <a:rPr lang="en-US" sz="2000" b="1" kern="1200" dirty="0">
                <a:solidFill>
                  <a:srgbClr val="FFFFFF"/>
                </a:solidFill>
                <a:latin typeface="Calibri" pitchFamily="34" charset="0"/>
                <a:ea typeface="Calibri" pitchFamily="34" charset="-122"/>
                <a:cs typeface="Calibri" pitchFamily="34" charset="-120"/>
              </a:rPr>
              <a:t>A</a:t>
            </a:r>
            <a:endParaRPr lang="en-US" sz="2000" kern="1200" dirty="0">
              <a:solidFill>
                <a:prstClr val="black"/>
              </a:solidFill>
              <a:latin typeface="Calibri" panose="020F0502020204030204"/>
              <a:ea typeface="+mn-ea"/>
              <a:cs typeface="+mn-cs"/>
            </a:endParaRPr>
          </a:p>
        </p:txBody>
      </p:sp>
      <p:sp>
        <p:nvSpPr>
          <p:cNvPr id="8" name="Text 6"/>
          <p:cNvSpPr/>
          <p:nvPr/>
        </p:nvSpPr>
        <p:spPr>
          <a:xfrm>
            <a:off x="1401714" y="2158315"/>
            <a:ext cx="2437765" cy="414420"/>
          </a:xfrm>
          <a:prstGeom prst="rect">
            <a:avLst/>
          </a:prstGeom>
          <a:noFill/>
          <a:ln/>
        </p:spPr>
        <p:txBody>
          <a:bodyPr wrap="square" lIns="0" tIns="0" rIns="0" bIns="0" rtlCol="0" anchor="ctr"/>
          <a:lstStyle/>
          <a:p>
            <a:pPr defTabSz="1218895">
              <a:buClrTx/>
            </a:pPr>
            <a:r>
              <a:rPr lang="en-US" sz="1733" b="1" kern="1200" dirty="0">
                <a:solidFill>
                  <a:srgbClr val="7C3AED"/>
                </a:solidFill>
                <a:latin typeface="Calibri" pitchFamily="34" charset="0"/>
                <a:ea typeface="Calibri" pitchFamily="34" charset="-122"/>
                <a:cs typeface="Calibri" pitchFamily="34" charset="-120"/>
              </a:rPr>
              <a:t>Generics</a:t>
            </a:r>
            <a:endParaRPr lang="en-US" sz="1733" kern="1200" dirty="0">
              <a:solidFill>
                <a:prstClr val="black"/>
              </a:solidFill>
              <a:latin typeface="Calibri" panose="020F0502020204030204"/>
              <a:ea typeface="+mn-ea"/>
              <a:cs typeface="+mn-cs"/>
            </a:endParaRPr>
          </a:p>
        </p:txBody>
      </p:sp>
      <p:sp>
        <p:nvSpPr>
          <p:cNvPr id="9" name="Text 7"/>
          <p:cNvSpPr/>
          <p:nvPr/>
        </p:nvSpPr>
        <p:spPr>
          <a:xfrm>
            <a:off x="1401714" y="2584924"/>
            <a:ext cx="9507284" cy="292532"/>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ConfigLoader&lt;T&gt; implemented for any config shape</a:t>
            </a:r>
            <a:endParaRPr lang="en-US" sz="1266" kern="1200" dirty="0">
              <a:solidFill>
                <a:prstClr val="black"/>
              </a:solidFill>
              <a:latin typeface="Calibri" panose="020F0502020204030204"/>
              <a:ea typeface="+mn-ea"/>
              <a:cs typeface="+mn-cs"/>
            </a:endParaRPr>
          </a:p>
        </p:txBody>
      </p:sp>
      <p:sp>
        <p:nvSpPr>
          <p:cNvPr id="10" name="Text 8"/>
          <p:cNvSpPr/>
          <p:nvPr/>
        </p:nvSpPr>
        <p:spPr>
          <a:xfrm>
            <a:off x="1401714" y="2877456"/>
            <a:ext cx="9507284" cy="292532"/>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Generic constraints with extends object</a:t>
            </a:r>
            <a:endParaRPr lang="en-US" sz="1266" kern="1200" dirty="0">
              <a:solidFill>
                <a:prstClr val="black"/>
              </a:solidFill>
              <a:latin typeface="Calibri" panose="020F0502020204030204"/>
              <a:ea typeface="+mn-ea"/>
              <a:cs typeface="+mn-cs"/>
            </a:endParaRPr>
          </a:p>
        </p:txBody>
      </p:sp>
      <p:sp>
        <p:nvSpPr>
          <p:cNvPr id="11" name="Text 9"/>
          <p:cNvSpPr/>
          <p:nvPr/>
        </p:nvSpPr>
        <p:spPr>
          <a:xfrm>
            <a:off x="1401714" y="3169987"/>
            <a:ext cx="9507284" cy="292532"/>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Type inference at the call site — no explicit annotation needed</a:t>
            </a:r>
            <a:endParaRPr lang="en-US" sz="1266" kern="1200" dirty="0">
              <a:solidFill>
                <a:prstClr val="black"/>
              </a:solidFill>
              <a:latin typeface="Calibri" panose="020F0502020204030204"/>
              <a:ea typeface="+mn-ea"/>
              <a:cs typeface="+mn-cs"/>
            </a:endParaRPr>
          </a:p>
        </p:txBody>
      </p:sp>
      <p:sp>
        <p:nvSpPr>
          <p:cNvPr id="12" name="Shape 10"/>
          <p:cNvSpPr/>
          <p:nvPr/>
        </p:nvSpPr>
        <p:spPr>
          <a:xfrm>
            <a:off x="609441" y="3462519"/>
            <a:ext cx="633819" cy="63381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09441" y="3462519"/>
            <a:ext cx="633819" cy="633819"/>
          </a:xfrm>
          <a:prstGeom prst="rect">
            <a:avLst/>
          </a:prstGeom>
          <a:noFill/>
          <a:ln/>
        </p:spPr>
        <p:txBody>
          <a:bodyPr wrap="square" lIns="0" tIns="0" rIns="0" bIns="0" rtlCol="0" anchor="ctr"/>
          <a:lstStyle/>
          <a:p>
            <a:pPr algn="ctr" defTabSz="1218895">
              <a:buClrTx/>
            </a:pPr>
            <a:r>
              <a:rPr lang="en-US" sz="2000" b="1" kern="1200" dirty="0">
                <a:solidFill>
                  <a:srgbClr val="FFFFFF"/>
                </a:solidFill>
                <a:latin typeface="Calibri" pitchFamily="34" charset="0"/>
                <a:ea typeface="Calibri" pitchFamily="34" charset="-122"/>
                <a:cs typeface="Calibri" pitchFamily="34" charset="-120"/>
              </a:rPr>
              <a:t>B</a:t>
            </a:r>
            <a:endParaRPr lang="en-US" sz="2000" kern="1200" dirty="0">
              <a:solidFill>
                <a:prstClr val="black"/>
              </a:solidFill>
              <a:latin typeface="Calibri" panose="020F0502020204030204"/>
              <a:ea typeface="+mn-ea"/>
              <a:cs typeface="+mn-cs"/>
            </a:endParaRPr>
          </a:p>
        </p:txBody>
      </p:sp>
      <p:sp>
        <p:nvSpPr>
          <p:cNvPr id="14" name="Text 12"/>
          <p:cNvSpPr/>
          <p:nvPr/>
        </p:nvSpPr>
        <p:spPr>
          <a:xfrm>
            <a:off x="1401714" y="3523463"/>
            <a:ext cx="2437765" cy="414420"/>
          </a:xfrm>
          <a:prstGeom prst="rect">
            <a:avLst/>
          </a:prstGeom>
          <a:noFill/>
          <a:ln/>
        </p:spPr>
        <p:txBody>
          <a:bodyPr wrap="square" lIns="0" tIns="0" rIns="0" bIns="0" rtlCol="0" anchor="ctr"/>
          <a:lstStyle/>
          <a:p>
            <a:pPr defTabSz="1218895">
              <a:buClrTx/>
            </a:pPr>
            <a:r>
              <a:rPr lang="en-US" sz="1733" b="1" kern="1200" dirty="0">
                <a:solidFill>
                  <a:srgbClr val="0D9488"/>
                </a:solidFill>
                <a:latin typeface="Calibri" pitchFamily="34" charset="0"/>
                <a:ea typeface="Calibri" pitchFamily="34" charset="-122"/>
                <a:cs typeface="Calibri" pitchFamily="34" charset="-120"/>
              </a:rPr>
              <a:t>Decorators</a:t>
            </a:r>
            <a:endParaRPr lang="en-US" sz="1733" kern="1200" dirty="0">
              <a:solidFill>
                <a:prstClr val="black"/>
              </a:solidFill>
              <a:latin typeface="Calibri" panose="020F0502020204030204"/>
              <a:ea typeface="+mn-ea"/>
              <a:cs typeface="+mn-cs"/>
            </a:endParaRPr>
          </a:p>
        </p:txBody>
      </p:sp>
      <p:sp>
        <p:nvSpPr>
          <p:cNvPr id="15" name="Text 13"/>
          <p:cNvSpPr/>
          <p:nvPr/>
        </p:nvSpPr>
        <p:spPr>
          <a:xfrm>
            <a:off x="1401714" y="3950072"/>
            <a:ext cx="9507284"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@LogRequest logs name, args, and execution time</a:t>
            </a:r>
            <a:endParaRPr lang="en-US" sz="1266" kern="1200" dirty="0">
              <a:solidFill>
                <a:prstClr val="black"/>
              </a:solidFill>
              <a:latin typeface="Calibri" panose="020F0502020204030204"/>
              <a:ea typeface="+mn-ea"/>
              <a:cs typeface="+mn-cs"/>
            </a:endParaRPr>
          </a:p>
        </p:txBody>
      </p:sp>
      <p:sp>
        <p:nvSpPr>
          <p:cNvPr id="16" name="Text 14"/>
          <p:cNvSpPr/>
          <p:nvPr/>
        </p:nvSpPr>
        <p:spPr>
          <a:xfrm>
            <a:off x="1401714" y="4242604"/>
            <a:ext cx="9507284"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Method decorator anatomy: target / methodName / descriptor</a:t>
            </a:r>
            <a:endParaRPr lang="en-US" sz="1266" kern="1200" dirty="0">
              <a:solidFill>
                <a:prstClr val="black"/>
              </a:solidFill>
              <a:latin typeface="Calibri" panose="020F0502020204030204"/>
              <a:ea typeface="+mn-ea"/>
              <a:cs typeface="+mn-cs"/>
            </a:endParaRPr>
          </a:p>
        </p:txBody>
      </p:sp>
      <p:sp>
        <p:nvSpPr>
          <p:cNvPr id="17" name="Text 15"/>
          <p:cNvSpPr/>
          <p:nvPr/>
        </p:nvSpPr>
        <p:spPr>
          <a:xfrm>
            <a:off x="1401714" y="4535136"/>
            <a:ext cx="9507284"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Applied to a real CAP handler class — zero handler code change</a:t>
            </a:r>
            <a:endParaRPr lang="en-US" sz="1266" kern="1200" dirty="0">
              <a:solidFill>
                <a:prstClr val="black"/>
              </a:solidFill>
              <a:latin typeface="Calibri" panose="020F0502020204030204"/>
              <a:ea typeface="+mn-ea"/>
              <a:cs typeface="+mn-cs"/>
            </a:endParaRPr>
          </a:p>
        </p:txBody>
      </p:sp>
      <p:sp>
        <p:nvSpPr>
          <p:cNvPr id="18" name="Shape 16"/>
          <p:cNvSpPr/>
          <p:nvPr/>
        </p:nvSpPr>
        <p:spPr>
          <a:xfrm>
            <a:off x="609441" y="4827668"/>
            <a:ext cx="633819" cy="63381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609441" y="4827668"/>
            <a:ext cx="633819" cy="633819"/>
          </a:xfrm>
          <a:prstGeom prst="rect">
            <a:avLst/>
          </a:prstGeom>
          <a:noFill/>
          <a:ln/>
        </p:spPr>
        <p:txBody>
          <a:bodyPr wrap="square" lIns="0" tIns="0" rIns="0" bIns="0" rtlCol="0" anchor="ctr"/>
          <a:lstStyle/>
          <a:p>
            <a:pPr algn="ctr" defTabSz="1218895">
              <a:buClrTx/>
            </a:pPr>
            <a:r>
              <a:rPr lang="en-US" sz="2000" b="1" kern="1200" dirty="0">
                <a:solidFill>
                  <a:srgbClr val="FFFFFF"/>
                </a:solidFill>
                <a:latin typeface="Calibri" pitchFamily="34" charset="0"/>
                <a:ea typeface="Calibri" pitchFamily="34" charset="-122"/>
                <a:cs typeface="Calibri" pitchFamily="34" charset="-120"/>
              </a:rPr>
              <a:t>C</a:t>
            </a:r>
            <a:endParaRPr lang="en-US" sz="2000" kern="1200" dirty="0">
              <a:solidFill>
                <a:prstClr val="black"/>
              </a:solidFill>
              <a:latin typeface="Calibri" panose="020F0502020204030204"/>
              <a:ea typeface="+mn-ea"/>
              <a:cs typeface="+mn-cs"/>
            </a:endParaRPr>
          </a:p>
        </p:txBody>
      </p:sp>
      <p:sp>
        <p:nvSpPr>
          <p:cNvPr id="20" name="Text 18"/>
          <p:cNvSpPr/>
          <p:nvPr/>
        </p:nvSpPr>
        <p:spPr>
          <a:xfrm>
            <a:off x="1401714" y="4888612"/>
            <a:ext cx="2437765" cy="414420"/>
          </a:xfrm>
          <a:prstGeom prst="rect">
            <a:avLst/>
          </a:prstGeom>
          <a:noFill/>
          <a:ln/>
        </p:spPr>
        <p:txBody>
          <a:bodyPr wrap="square" lIns="0" tIns="0" rIns="0" bIns="0" rtlCol="0" anchor="ctr"/>
          <a:lstStyle/>
          <a:p>
            <a:pPr defTabSz="1218895">
              <a:buClrTx/>
            </a:pPr>
            <a:r>
              <a:rPr lang="en-US" sz="1733" b="1" kern="1200" dirty="0">
                <a:solidFill>
                  <a:srgbClr val="D97706"/>
                </a:solidFill>
                <a:latin typeface="Calibri" pitchFamily="34" charset="0"/>
                <a:ea typeface="Calibri" pitchFamily="34" charset="-122"/>
                <a:cs typeface="Calibri" pitchFamily="34" charset="-120"/>
              </a:rPr>
              <a:t>Utility Types</a:t>
            </a:r>
            <a:endParaRPr lang="en-US" sz="1733" kern="1200" dirty="0">
              <a:solidFill>
                <a:prstClr val="black"/>
              </a:solidFill>
              <a:latin typeface="Calibri" panose="020F0502020204030204"/>
              <a:ea typeface="+mn-ea"/>
              <a:cs typeface="+mn-cs"/>
            </a:endParaRPr>
          </a:p>
        </p:txBody>
      </p:sp>
      <p:sp>
        <p:nvSpPr>
          <p:cNvPr id="21" name="Text 19"/>
          <p:cNvSpPr/>
          <p:nvPr/>
        </p:nvSpPr>
        <p:spPr>
          <a:xfrm>
            <a:off x="1401714" y="5315221"/>
            <a:ext cx="9507284" cy="292532"/>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ReadOnlyOrder, CreateOrderPayload, UpdateOrderPayload derived</a:t>
            </a:r>
            <a:endParaRPr lang="en-US" sz="1266" kern="1200" dirty="0">
              <a:solidFill>
                <a:prstClr val="black"/>
              </a:solidFill>
              <a:latin typeface="Calibri" panose="020F0502020204030204"/>
              <a:ea typeface="+mn-ea"/>
              <a:cs typeface="+mn-cs"/>
            </a:endParaRPr>
          </a:p>
        </p:txBody>
      </p:sp>
      <p:sp>
        <p:nvSpPr>
          <p:cNvPr id="22" name="Text 20"/>
          <p:cNvSpPr/>
          <p:nvPr/>
        </p:nvSpPr>
        <p:spPr>
          <a:xfrm>
            <a:off x="1401714" y="5607752"/>
            <a:ext cx="9507284" cy="292532"/>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Readonly&lt;T&gt;, Omit&lt;T,K&gt;, Partial&lt;T&gt; — no property duplication</a:t>
            </a:r>
            <a:endParaRPr lang="en-US" sz="1266" kern="1200" dirty="0">
              <a:solidFill>
                <a:prstClr val="black"/>
              </a:solidFill>
              <a:latin typeface="Calibri" panose="020F0502020204030204"/>
              <a:ea typeface="+mn-ea"/>
              <a:cs typeface="+mn-cs"/>
            </a:endParaRPr>
          </a:p>
        </p:txBody>
      </p:sp>
      <p:sp>
        <p:nvSpPr>
          <p:cNvPr id="23" name="Text 21"/>
          <p:cNvSpPr/>
          <p:nvPr/>
        </p:nvSpPr>
        <p:spPr>
          <a:xfrm>
            <a:off x="1401714" y="5900284"/>
            <a:ext cx="9507284" cy="292532"/>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One source interface drives all variants automatically</a:t>
            </a:r>
            <a:endParaRPr lang="en-US" sz="1266" kern="1200" dirty="0">
              <a:solidFill>
                <a:prstClr val="black"/>
              </a:solidFill>
              <a:latin typeface="Calibri" panose="020F0502020204030204"/>
              <a:ea typeface="+mn-ea"/>
              <a:cs typeface="+mn-cs"/>
            </a:endParaRPr>
          </a:p>
        </p:txBody>
      </p:sp>
      <p:sp>
        <p:nvSpPr>
          <p:cNvPr id="24" name="Shape 22"/>
          <p:cNvSpPr/>
          <p:nvPr/>
        </p:nvSpPr>
        <p:spPr>
          <a:xfrm>
            <a:off x="609441" y="6436593"/>
            <a:ext cx="10969943" cy="329098"/>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Text 23"/>
          <p:cNvSpPr/>
          <p:nvPr/>
        </p:nvSpPr>
        <p:spPr>
          <a:xfrm>
            <a:off x="609441" y="6436593"/>
            <a:ext cx="10969943" cy="329098"/>
          </a:xfrm>
          <a:prstGeom prst="rect">
            <a:avLst/>
          </a:prstGeom>
          <a:noFill/>
          <a:ln/>
        </p:spPr>
        <p:txBody>
          <a:bodyPr wrap="square" lIns="0" tIns="0" rIns="0" bIns="0" rtlCol="0" anchor="ctr"/>
          <a:lstStyle/>
          <a:p>
            <a:pPr algn="ctr" defTabSz="1218895">
              <a:buClrTx/>
            </a:pPr>
            <a:r>
              <a:rPr lang="en-US" sz="1333" kern="1200" dirty="0">
                <a:solidFill>
                  <a:srgbClr val="FFFFFF"/>
                </a:solidFill>
                <a:latin typeface="Calibri" pitchFamily="34" charset="0"/>
                <a:ea typeface="Calibri" pitchFamily="34" charset="-122"/>
                <a:cs typeface="Calibri" pitchFamily="34" charset="-120"/>
              </a:rPr>
              <a:t>Next: Conditional Types  |  infer keyword  |  Template Literal Types  |  Discriminated Unions</a:t>
            </a:r>
            <a:endParaRPr lang="en-US" sz="1333" kern="1200" dirty="0">
              <a:solidFill>
                <a:prstClr val="black"/>
              </a:solidFill>
              <a:latin typeface="Calibri" panose="020F0502020204030204"/>
              <a:ea typeface="+mn-ea"/>
              <a:cs typeface="+mn-cs"/>
            </a:endParaRPr>
          </a:p>
        </p:txBody>
      </p:sp>
      <p:pic>
        <p:nvPicPr>
          <p:cNvPr id="26" name="Google Shape;497;p1">
            <a:extLst>
              <a:ext uri="{FF2B5EF4-FFF2-40B4-BE49-F238E27FC236}">
                <a16:creationId xmlns:a16="http://schemas.microsoft.com/office/drawing/2014/main" id="{78220026-46D2-C772-9AD1-68EFFE6D5343}"/>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8EA02-2871-554B-3DAE-2BFB3E42B38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05E98330-DA1E-3C92-FB80-EB0B879A034E}"/>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9CB7DBB7-8CD3-414B-DA4F-4F4BE3619AED}"/>
              </a:ext>
            </a:extLst>
          </p:cNvPr>
          <p:cNvSpPr txBox="1"/>
          <p:nvPr/>
        </p:nvSpPr>
        <p:spPr>
          <a:xfrm>
            <a:off x="142630" y="655071"/>
            <a:ext cx="11483853" cy="1785050"/>
          </a:xfrm>
          <a:prstGeom prst="rect">
            <a:avLst/>
          </a:prstGeom>
          <a:noFill/>
        </p:spPr>
        <p:txBody>
          <a:bodyPr wrap="square" lIns="121867" tIns="60933" rIns="121867" bIns="60933" rtlCol="0">
            <a:spAutoFit/>
          </a:bodyPr>
          <a:lstStyle/>
          <a:p>
            <a:pPr lvl="0" defTabSz="914126">
              <a:buClrTx/>
              <a:defRPr/>
            </a:pPr>
            <a:r>
              <a:rPr lang="en-IN" sz="1800" dirty="0">
                <a:latin typeface="Amasis MT Pro" panose="02040504050005020304" pitchFamily="18" charset="0"/>
              </a:rPr>
              <a:t>cds-typer is a tool in the SAP CAP (Cloud Application Programming) ecosystem that </a:t>
            </a:r>
            <a:r>
              <a:rPr lang="en-IN" sz="1800" b="1" dirty="0">
                <a:latin typeface="Amasis MT Pro" panose="02040504050005020304" pitchFamily="18" charset="0"/>
              </a:rPr>
              <a:t>generates TypeScript type definitions from your CDS models</a:t>
            </a:r>
            <a:r>
              <a:rPr lang="en-IN" sz="1800" dirty="0">
                <a:latin typeface="Amasis MT Pro" panose="02040504050005020304" pitchFamily="18" charset="0"/>
              </a:rPr>
              <a:t>.</a:t>
            </a:r>
          </a:p>
          <a:p>
            <a:pPr lvl="0" defTabSz="914126">
              <a:buClrTx/>
              <a:defRPr/>
            </a:pPr>
            <a:endParaRPr kumimoji="0" lang="en-IN" sz="1800" b="0" i="0" u="none" strike="noStrike" kern="1200" cap="none" spc="0" normalizeH="0" baseline="0" noProof="0" dirty="0">
              <a:ln>
                <a:noFill/>
              </a:ln>
              <a:solidFill>
                <a:prstClr val="black"/>
              </a:solidFill>
              <a:effectLst/>
              <a:uLnTx/>
              <a:uFillTx/>
              <a:latin typeface="Amasis MT Pro" panose="02040504050005020304" pitchFamily="18" charset="0"/>
              <a:ea typeface="+mn-ea"/>
              <a:sym typeface="Arial"/>
            </a:endParaRPr>
          </a:p>
          <a:p>
            <a:pPr lvl="0" defTabSz="914126">
              <a:buClrTx/>
              <a:defRPr/>
            </a:pPr>
            <a:r>
              <a:rPr lang="en-IN" sz="1800" u="sng" kern="1200" dirty="0">
                <a:solidFill>
                  <a:prstClr val="black"/>
                </a:solidFill>
                <a:latin typeface="Amasis MT Pro" panose="02040504050005020304" pitchFamily="18" charset="0"/>
                <a:ea typeface="+mn-ea"/>
              </a:rPr>
              <a:t>In simple terms</a:t>
            </a:r>
          </a:p>
          <a:p>
            <a:pPr lvl="0" defTabSz="914126">
              <a:buClrTx/>
              <a:defRPr/>
            </a:pPr>
            <a:r>
              <a:rPr lang="en-IN" sz="1800" dirty="0">
                <a:latin typeface="Amasis MT Pro" panose="02040504050005020304" pitchFamily="18" charset="0"/>
              </a:rPr>
              <a:t>You write your data model in </a:t>
            </a:r>
            <a:r>
              <a:rPr lang="en-IN" dirty="0">
                <a:latin typeface="Amasis MT Pro" panose="02040504050005020304" pitchFamily="18" charset="0"/>
              </a:rPr>
              <a:t>.cds</a:t>
            </a:r>
            <a:r>
              <a:rPr lang="en-IN" sz="1800" dirty="0">
                <a:latin typeface="Amasis MT Pro" panose="02040504050005020304" pitchFamily="18" charset="0"/>
              </a:rPr>
              <a:t> files, and </a:t>
            </a:r>
            <a:r>
              <a:rPr lang="en-IN" dirty="0">
                <a:latin typeface="Amasis MT Pro" panose="02040504050005020304" pitchFamily="18" charset="0"/>
              </a:rPr>
              <a:t>cds-typer</a:t>
            </a:r>
            <a:r>
              <a:rPr lang="en-IN" sz="1800" dirty="0">
                <a:latin typeface="Amasis MT Pro" panose="02040504050005020304" pitchFamily="18" charset="0"/>
              </a:rPr>
              <a:t> automatically creates TypeScript interfaces/types so your code gets autocomplete, compile-time checking, and fewer runtime errors.</a:t>
            </a:r>
            <a:endParaRPr kumimoji="0" lang="en-IN" sz="1799" b="0" i="0" u="none" strike="noStrike" kern="1200" cap="none" spc="0" normalizeH="0" baseline="0" noProof="0" dirty="0">
              <a:ln>
                <a:noFill/>
              </a:ln>
              <a:solidFill>
                <a:prstClr val="black"/>
              </a:solidFill>
              <a:effectLst/>
              <a:uLnTx/>
              <a:uFillTx/>
              <a:latin typeface="Amasis MT Pro" panose="02040504050005020304" pitchFamily="18" charset="0"/>
              <a:ea typeface="+mn-ea"/>
              <a:sym typeface="Arial"/>
            </a:endParaRPr>
          </a:p>
        </p:txBody>
      </p:sp>
      <p:sp>
        <p:nvSpPr>
          <p:cNvPr id="4" name="TextBox 3">
            <a:extLst>
              <a:ext uri="{FF2B5EF4-FFF2-40B4-BE49-F238E27FC236}">
                <a16:creationId xmlns:a16="http://schemas.microsoft.com/office/drawing/2014/main" id="{DDAECCF9-0156-D1E4-D017-6ADC112294AD}"/>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95561B79-7273-D5FF-3FA5-7A1FB58B2083}"/>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A8F5D821-0343-757B-96BF-FFF5BD7705E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83B7D3D4-C359-D74B-6100-5CEA13C33092}"/>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DFE22029-9E29-DA3B-28FB-2BBDD66A0092}"/>
              </a:ext>
            </a:extLst>
          </p:cNvPr>
          <p:cNvPicPr>
            <a:picLocks noChangeAspect="1"/>
          </p:cNvPicPr>
          <p:nvPr/>
        </p:nvPicPr>
        <p:blipFill>
          <a:blip r:embed="rId3"/>
          <a:stretch>
            <a:fillRect/>
          </a:stretch>
        </p:blipFill>
        <p:spPr>
          <a:xfrm>
            <a:off x="230069" y="2440121"/>
            <a:ext cx="3702217" cy="2128310"/>
          </a:xfrm>
          <a:prstGeom prst="rect">
            <a:avLst/>
          </a:prstGeom>
        </p:spPr>
      </p:pic>
      <p:pic>
        <p:nvPicPr>
          <p:cNvPr id="11" name="Picture 10">
            <a:extLst>
              <a:ext uri="{FF2B5EF4-FFF2-40B4-BE49-F238E27FC236}">
                <a16:creationId xmlns:a16="http://schemas.microsoft.com/office/drawing/2014/main" id="{89448552-C266-B2FD-5CC1-8F822E025FED}"/>
              </a:ext>
            </a:extLst>
          </p:cNvPr>
          <p:cNvPicPr>
            <a:picLocks noChangeAspect="1"/>
          </p:cNvPicPr>
          <p:nvPr/>
        </p:nvPicPr>
        <p:blipFill>
          <a:blip r:embed="rId4"/>
          <a:stretch>
            <a:fillRect/>
          </a:stretch>
        </p:blipFill>
        <p:spPr>
          <a:xfrm>
            <a:off x="230069" y="4621096"/>
            <a:ext cx="3702217" cy="2112933"/>
          </a:xfrm>
          <a:prstGeom prst="rect">
            <a:avLst/>
          </a:prstGeom>
        </p:spPr>
      </p:pic>
      <p:pic>
        <p:nvPicPr>
          <p:cNvPr id="13" name="Picture 12">
            <a:extLst>
              <a:ext uri="{FF2B5EF4-FFF2-40B4-BE49-F238E27FC236}">
                <a16:creationId xmlns:a16="http://schemas.microsoft.com/office/drawing/2014/main" id="{DE451214-549D-2A6C-CED5-3719CBCF7074}"/>
              </a:ext>
            </a:extLst>
          </p:cNvPr>
          <p:cNvPicPr>
            <a:picLocks noChangeAspect="1"/>
          </p:cNvPicPr>
          <p:nvPr/>
        </p:nvPicPr>
        <p:blipFill>
          <a:blip r:embed="rId5"/>
          <a:stretch>
            <a:fillRect/>
          </a:stretch>
        </p:blipFill>
        <p:spPr>
          <a:xfrm>
            <a:off x="5502185" y="2446158"/>
            <a:ext cx="6167160" cy="4270468"/>
          </a:xfrm>
          <a:prstGeom prst="rect">
            <a:avLst/>
          </a:prstGeom>
        </p:spPr>
      </p:pic>
    </p:spTree>
    <p:extLst>
      <p:ext uri="{BB962C8B-B14F-4D97-AF65-F5344CB8AC3E}">
        <p14:creationId xmlns:p14="http://schemas.microsoft.com/office/powerpoint/2010/main" val="165419588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AF2A0-7329-AAA1-11F7-B0CE98AF66FC}"/>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9511F5A0-2FAC-6656-1B68-707AB23EC1C6}"/>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Does cds watch convert my </a:t>
            </a:r>
            <a:r>
              <a:rPr kumimoji="0" lang="en-US" sz="3199" b="0" i="0" u="none" strike="noStrike" kern="1200" cap="none" spc="0" normalizeH="0" baseline="0" noProof="0" dirty="0" err="1">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ts</a:t>
            </a: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 code to </a:t>
            </a:r>
            <a:r>
              <a:rPr kumimoji="0" lang="en-US" sz="3199" b="0" i="0" u="none" strike="noStrike" kern="1200" cap="none" spc="0" normalizeH="0" baseline="0" noProof="0" dirty="0" err="1">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js</a:t>
            </a: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50B5F674-E1E0-DE10-BC5B-5426E29EB86B}"/>
              </a:ext>
            </a:extLst>
          </p:cNvPr>
          <p:cNvSpPr txBox="1"/>
          <p:nvPr/>
        </p:nvSpPr>
        <p:spPr>
          <a:xfrm>
            <a:off x="142630" y="655071"/>
            <a:ext cx="11483853" cy="5478368"/>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b="1" kern="1200" dirty="0">
                <a:solidFill>
                  <a:prstClr val="black"/>
                </a:solidFill>
                <a:latin typeface="Aptos" panose="02110004020202020204"/>
                <a:ea typeface="+mn-ea"/>
              </a:rPr>
              <a:t>Short answer: cds watch runs your TypeScript directly — it does not write .</a:t>
            </a:r>
            <a:r>
              <a:rPr lang="en-US" sz="1200" b="1" kern="1200" dirty="0" err="1">
                <a:solidFill>
                  <a:prstClr val="black"/>
                </a:solidFill>
                <a:latin typeface="Aptos" panose="02110004020202020204"/>
                <a:ea typeface="+mn-ea"/>
              </a:rPr>
              <a:t>js</a:t>
            </a:r>
            <a:r>
              <a:rPr lang="en-US" sz="1200" b="1" kern="1200" dirty="0">
                <a:solidFill>
                  <a:prstClr val="black"/>
                </a:solidFill>
                <a:latin typeface="Aptos" panose="02110004020202020204"/>
                <a:ea typeface="+mn-ea"/>
              </a:rPr>
              <a:t> files</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There's no hidden compile-to-disk step. Your </a:t>
            </a:r>
            <a:r>
              <a:rPr lang="en-US" sz="1200" kern="1200" dirty="0" err="1">
                <a:solidFill>
                  <a:prstClr val="black"/>
                </a:solidFill>
                <a:latin typeface="Aptos" panose="02110004020202020204"/>
                <a:ea typeface="+mn-ea"/>
              </a:rPr>
              <a:t>srv</a:t>
            </a:r>
            <a:r>
              <a:rPr lang="en-US" sz="1200" kern="1200" dirty="0">
                <a:solidFill>
                  <a:prstClr val="black"/>
                </a:solidFill>
                <a:latin typeface="Aptos" panose="02110004020202020204"/>
                <a:ea typeface="+mn-ea"/>
              </a:rPr>
              <a:t>/ folder stays .</a:t>
            </a:r>
            <a:r>
              <a:rPr lang="en-US" sz="1200" kern="1200" dirty="0" err="1">
                <a:solidFill>
                  <a:prstClr val="black"/>
                </a:solidFill>
                <a:latin typeface="Aptos" panose="02110004020202020204"/>
                <a:ea typeface="+mn-ea"/>
              </a:rPr>
              <a:t>ts</a:t>
            </a:r>
            <a:r>
              <a:rPr lang="en-US" sz="1200" kern="1200" dirty="0">
                <a:solidFill>
                  <a:prstClr val="black"/>
                </a:solidFill>
                <a:latin typeface="Aptos" panose="02110004020202020204"/>
                <a:ea typeface="+mn-ea"/>
              </a:rPr>
              <a:t>-only (you saw that — no .</a:t>
            </a:r>
            <a:r>
              <a:rPr lang="en-US" sz="1200" kern="1200" dirty="0" err="1">
                <a:solidFill>
                  <a:prstClr val="black"/>
                </a:solidFill>
                <a:latin typeface="Aptos" panose="02110004020202020204"/>
                <a:ea typeface="+mn-ea"/>
              </a:rPr>
              <a:t>js</a:t>
            </a:r>
            <a:r>
              <a:rPr lang="en-US" sz="1200" kern="1200" dirty="0">
                <a:solidFill>
                  <a:prstClr val="black"/>
                </a:solidFill>
                <a:latin typeface="Aptos" panose="02110004020202020204"/>
                <a:ea typeface="+mn-ea"/>
              </a:rPr>
              <a:t> siblings appear), and nothing emits a CatalogService.js.</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lang="en-US" sz="1200" kern="1200" dirty="0">
              <a:solidFill>
                <a:prstClr val="black"/>
              </a:solidFill>
              <a:latin typeface="Aptos" panose="02110004020202020204"/>
              <a:ea typeface="+mn-ea"/>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b="1" kern="1200" dirty="0">
                <a:solidFill>
                  <a:prstClr val="black"/>
                </a:solidFill>
                <a:latin typeface="Aptos" panose="02110004020202020204"/>
                <a:ea typeface="+mn-ea"/>
              </a:rPr>
              <a:t>How it actually works</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The magic is </a:t>
            </a:r>
            <a:r>
              <a:rPr lang="en-US" sz="1200" kern="1200" dirty="0" err="1">
                <a:solidFill>
                  <a:prstClr val="black"/>
                </a:solidFill>
                <a:latin typeface="Aptos" panose="02110004020202020204"/>
                <a:ea typeface="+mn-ea"/>
              </a:rPr>
              <a:t>tsx</a:t>
            </a:r>
            <a:r>
              <a:rPr lang="en-US" sz="1200" kern="1200" dirty="0">
                <a:solidFill>
                  <a:prstClr val="black"/>
                </a:solidFill>
                <a:latin typeface="Aptos" panose="02110004020202020204"/>
                <a:ea typeface="+mn-ea"/>
              </a:rPr>
              <a:t> (it's in your </a:t>
            </a:r>
            <a:r>
              <a:rPr lang="en-US" sz="1200" kern="1200" dirty="0" err="1">
                <a:solidFill>
                  <a:prstClr val="black"/>
                </a:solidFill>
                <a:latin typeface="Aptos" panose="02110004020202020204"/>
                <a:ea typeface="+mn-ea"/>
              </a:rPr>
              <a:t>devDependencies</a:t>
            </a:r>
            <a:r>
              <a:rPr lang="en-US" sz="1200" kern="1200" dirty="0">
                <a:solidFill>
                  <a:prstClr val="black"/>
                </a:solidFill>
                <a:latin typeface="Aptos" panose="02110004020202020204"/>
                <a:ea typeface="+mn-ea"/>
              </a:rPr>
              <a:t>). Here's the chain:</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lang="en-US" sz="1200" kern="1200" dirty="0">
              <a:solidFill>
                <a:prstClr val="black"/>
              </a:solidFill>
              <a:latin typeface="Aptos" panose="02110004020202020204"/>
              <a:ea typeface="+mn-ea"/>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cds watch starts the CAP server. Because TypeScript is set up (</a:t>
            </a:r>
            <a:r>
              <a:rPr lang="en-US" sz="1200" kern="1200" dirty="0" err="1">
                <a:solidFill>
                  <a:prstClr val="black"/>
                </a:solidFill>
                <a:latin typeface="Aptos" panose="02110004020202020204"/>
                <a:ea typeface="+mn-ea"/>
              </a:rPr>
              <a:t>tsx</a:t>
            </a:r>
            <a:r>
              <a:rPr lang="en-US" sz="1200" kern="1200" dirty="0">
                <a:solidFill>
                  <a:prstClr val="black"/>
                </a:solidFill>
                <a:latin typeface="Aptos" panose="02110004020202020204"/>
                <a:ea typeface="+mn-ea"/>
              </a:rPr>
              <a:t> installed + CAP's CDS_TYPESCRIPT handling), CAP registers the </a:t>
            </a:r>
            <a:r>
              <a:rPr lang="en-US" sz="1200" kern="1200" dirty="0" err="1">
                <a:solidFill>
                  <a:prstClr val="black"/>
                </a:solidFill>
                <a:latin typeface="Aptos" panose="02110004020202020204"/>
                <a:ea typeface="+mn-ea"/>
              </a:rPr>
              <a:t>tsx</a:t>
            </a:r>
            <a:r>
              <a:rPr lang="en-US" sz="1200" kern="1200" dirty="0">
                <a:solidFill>
                  <a:prstClr val="black"/>
                </a:solidFill>
                <a:latin typeface="Aptos" panose="02110004020202020204"/>
                <a:ea typeface="+mn-ea"/>
              </a:rPr>
              <a:t> loader into Node.</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err="1">
                <a:solidFill>
                  <a:prstClr val="black"/>
                </a:solidFill>
                <a:latin typeface="Aptos" panose="02110004020202020204"/>
                <a:ea typeface="+mn-ea"/>
              </a:rPr>
              <a:t>tsx</a:t>
            </a:r>
            <a:r>
              <a:rPr lang="en-US" sz="1200" kern="1200" dirty="0">
                <a:solidFill>
                  <a:prstClr val="black"/>
                </a:solidFill>
                <a:latin typeface="Aptos" panose="02110004020202020204"/>
                <a:ea typeface="+mn-ea"/>
              </a:rPr>
              <a:t> hooks into Node's module loading. Every time a .</a:t>
            </a:r>
            <a:r>
              <a:rPr lang="en-US" sz="1200" kern="1200" dirty="0" err="1">
                <a:solidFill>
                  <a:prstClr val="black"/>
                </a:solidFill>
                <a:latin typeface="Aptos" panose="02110004020202020204"/>
                <a:ea typeface="+mn-ea"/>
              </a:rPr>
              <a:t>ts</a:t>
            </a:r>
            <a:r>
              <a:rPr lang="en-US" sz="1200" kern="1200" dirty="0">
                <a:solidFill>
                  <a:prstClr val="black"/>
                </a:solidFill>
                <a:latin typeface="Aptos" panose="02110004020202020204"/>
                <a:ea typeface="+mn-ea"/>
              </a:rPr>
              <a:t> file is required/imported (your </a:t>
            </a:r>
            <a:r>
              <a:rPr lang="en-US" sz="1200" kern="1200" dirty="0" err="1">
                <a:solidFill>
                  <a:prstClr val="black"/>
                </a:solidFill>
                <a:latin typeface="Aptos" panose="02110004020202020204"/>
                <a:ea typeface="+mn-ea"/>
              </a:rPr>
              <a:t>CatalogService.ts</a:t>
            </a:r>
            <a:r>
              <a:rPr lang="en-US" sz="1200" kern="1200" dirty="0">
                <a:solidFill>
                  <a:prstClr val="black"/>
                </a:solidFill>
                <a:latin typeface="Aptos" panose="02110004020202020204"/>
                <a:ea typeface="+mn-ea"/>
              </a:rPr>
              <a:t>, </a:t>
            </a:r>
            <a:r>
              <a:rPr lang="en-US" sz="1200" kern="1200" dirty="0" err="1">
                <a:solidFill>
                  <a:prstClr val="black"/>
                </a:solidFill>
                <a:latin typeface="Aptos" panose="02110004020202020204"/>
                <a:ea typeface="+mn-ea"/>
              </a:rPr>
              <a:t>CDSService.ts</a:t>
            </a:r>
            <a:r>
              <a:rPr lang="en-US" sz="1200" kern="1200" dirty="0">
                <a:solidFill>
                  <a:prstClr val="black"/>
                </a:solidFill>
                <a:latin typeface="Aptos" panose="02110004020202020204"/>
                <a:ea typeface="+mn-ea"/>
              </a:rPr>
              <a:t>, the utils), </a:t>
            </a:r>
            <a:r>
              <a:rPr lang="en-US" sz="1200" kern="1200" dirty="0" err="1">
                <a:solidFill>
                  <a:prstClr val="black"/>
                </a:solidFill>
                <a:latin typeface="Aptos" panose="02110004020202020204"/>
                <a:ea typeface="+mn-ea"/>
              </a:rPr>
              <a:t>tsx</a:t>
            </a:r>
            <a:r>
              <a:rPr lang="en-US" sz="1200" kern="1200" dirty="0">
                <a:solidFill>
                  <a:prstClr val="black"/>
                </a:solidFill>
                <a:latin typeface="Aptos" panose="02110004020202020204"/>
                <a:ea typeface="+mn-ea"/>
              </a:rPr>
              <a:t> </a:t>
            </a:r>
            <a:r>
              <a:rPr lang="en-US" sz="1200" kern="1200" dirty="0" err="1">
                <a:solidFill>
                  <a:prstClr val="black"/>
                </a:solidFill>
                <a:latin typeface="Aptos" panose="02110004020202020204"/>
                <a:ea typeface="+mn-ea"/>
              </a:rPr>
              <a:t>transpiles</a:t>
            </a:r>
            <a:r>
              <a:rPr lang="en-US" sz="1200" kern="1200" dirty="0">
                <a:solidFill>
                  <a:prstClr val="black"/>
                </a:solidFill>
                <a:latin typeface="Aptos" panose="02110004020202020204"/>
                <a:ea typeface="+mn-ea"/>
              </a:rPr>
              <a:t> it in memory using </a:t>
            </a:r>
            <a:r>
              <a:rPr lang="en-US" sz="1200" kern="1200" dirty="0" err="1">
                <a:solidFill>
                  <a:prstClr val="black"/>
                </a:solidFill>
                <a:latin typeface="Aptos" panose="02110004020202020204"/>
                <a:ea typeface="+mn-ea"/>
              </a:rPr>
              <a:t>esbuild</a:t>
            </a:r>
            <a:r>
              <a:rPr lang="en-US" sz="1200" kern="1200" dirty="0">
                <a:solidFill>
                  <a:prstClr val="black"/>
                </a:solidFill>
                <a:latin typeface="Aptos" panose="02110004020202020204"/>
                <a:ea typeface="+mn-ea"/>
              </a:rPr>
              <a:t> and hands the resulting JavaScript straight to Node.</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That </a:t>
            </a:r>
            <a:r>
              <a:rPr lang="en-US" sz="1200" kern="1200" dirty="0" err="1">
                <a:solidFill>
                  <a:prstClr val="black"/>
                </a:solidFill>
                <a:latin typeface="Aptos" panose="02110004020202020204"/>
                <a:ea typeface="+mn-ea"/>
              </a:rPr>
              <a:t>transpiled</a:t>
            </a:r>
            <a:r>
              <a:rPr lang="en-US" sz="1200" kern="1200" dirty="0">
                <a:solidFill>
                  <a:prstClr val="black"/>
                </a:solidFill>
                <a:latin typeface="Aptos" panose="02110004020202020204"/>
                <a:ea typeface="+mn-ea"/>
              </a:rPr>
              <a:t> JS lives only in memory for that run. The moment the process stops, it's gone. Nothing is written to disk.</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So it's "run TS directly" in the practical sense — but technically every .</a:t>
            </a:r>
            <a:r>
              <a:rPr lang="en-US" sz="1200" kern="1200" dirty="0" err="1">
                <a:solidFill>
                  <a:prstClr val="black"/>
                </a:solidFill>
                <a:latin typeface="Aptos" panose="02110004020202020204"/>
                <a:ea typeface="+mn-ea"/>
              </a:rPr>
              <a:t>ts</a:t>
            </a:r>
            <a:r>
              <a:rPr lang="en-US" sz="1200" kern="1200" dirty="0">
                <a:solidFill>
                  <a:prstClr val="black"/>
                </a:solidFill>
                <a:latin typeface="Aptos" panose="02110004020202020204"/>
                <a:ea typeface="+mn-ea"/>
              </a:rPr>
              <a:t> is still being turned into JS on the fly, just in RAM instead of as files. (Node itself can only execute JavaScript; </a:t>
            </a:r>
            <a:r>
              <a:rPr lang="en-US" sz="1200" kern="1200" dirty="0" err="1">
                <a:solidFill>
                  <a:prstClr val="black"/>
                </a:solidFill>
                <a:latin typeface="Aptos" panose="02110004020202020204"/>
                <a:ea typeface="+mn-ea"/>
              </a:rPr>
              <a:t>tsx</a:t>
            </a:r>
            <a:r>
              <a:rPr lang="en-US" sz="1200" kern="1200" dirty="0">
                <a:solidFill>
                  <a:prstClr val="black"/>
                </a:solidFill>
                <a:latin typeface="Aptos" panose="02110004020202020204"/>
                <a:ea typeface="+mn-ea"/>
              </a:rPr>
              <a:t> is the invisible translator.)</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lang="en-US" sz="1200" kern="1200" dirty="0">
              <a:solidFill>
                <a:prstClr val="black"/>
              </a:solidFill>
              <a:latin typeface="Aptos" panose="02110004020202020204"/>
              <a:ea typeface="+mn-ea"/>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The one thing this means for you</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err="1">
                <a:solidFill>
                  <a:prstClr val="black"/>
                </a:solidFill>
                <a:latin typeface="Aptos" panose="02110004020202020204"/>
                <a:ea typeface="+mn-ea"/>
              </a:rPr>
              <a:t>Transpiling</a:t>
            </a:r>
            <a:r>
              <a:rPr lang="en-US" sz="1200" kern="1200" dirty="0">
                <a:solidFill>
                  <a:prstClr val="black"/>
                </a:solidFill>
                <a:latin typeface="Aptos" panose="02110004020202020204"/>
                <a:ea typeface="+mn-ea"/>
              </a:rPr>
              <a:t> ≠ type-checking. </a:t>
            </a:r>
            <a:r>
              <a:rPr lang="en-US" sz="1200" kern="1200" dirty="0" err="1">
                <a:solidFill>
                  <a:prstClr val="black"/>
                </a:solidFill>
                <a:latin typeface="Aptos" panose="02110004020202020204"/>
                <a:ea typeface="+mn-ea"/>
              </a:rPr>
              <a:t>tsx</a:t>
            </a:r>
            <a:r>
              <a:rPr lang="en-US" sz="1200" kern="1200" dirty="0">
                <a:solidFill>
                  <a:prstClr val="black"/>
                </a:solidFill>
                <a:latin typeface="Aptos" panose="02110004020202020204"/>
                <a:ea typeface="+mn-ea"/>
              </a:rPr>
              <a:t>/</a:t>
            </a:r>
            <a:r>
              <a:rPr lang="en-US" sz="1200" kern="1200" dirty="0" err="1">
                <a:solidFill>
                  <a:prstClr val="black"/>
                </a:solidFill>
                <a:latin typeface="Aptos" panose="02110004020202020204"/>
                <a:ea typeface="+mn-ea"/>
              </a:rPr>
              <a:t>esbuild</a:t>
            </a:r>
            <a:r>
              <a:rPr lang="en-US" sz="1200" kern="1200" dirty="0">
                <a:solidFill>
                  <a:prstClr val="black"/>
                </a:solidFill>
                <a:latin typeface="Aptos" panose="02110004020202020204"/>
                <a:ea typeface="+mn-ea"/>
              </a:rPr>
              <a:t> is fast because it only strips the types — it does not verify them. So cds watch will happily run code that has type errors. That's by design.</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lang="en-US" sz="1200" kern="1200" dirty="0">
              <a:solidFill>
                <a:prstClr val="black"/>
              </a:solidFill>
              <a:latin typeface="Aptos" panose="02110004020202020204"/>
              <a:ea typeface="+mn-ea"/>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This is exactly why you keep two separate gates:</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lang="en-US" sz="1200" kern="1200" dirty="0">
              <a:solidFill>
                <a:prstClr val="black"/>
              </a:solidFill>
              <a:latin typeface="Aptos" panose="02110004020202020204"/>
              <a:ea typeface="+mn-ea"/>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b="1" kern="1200" dirty="0">
                <a:solidFill>
                  <a:prstClr val="black"/>
                </a:solidFill>
                <a:latin typeface="Aptos" panose="02110004020202020204"/>
                <a:ea typeface="+mn-ea"/>
              </a:rPr>
              <a:t>Command	Tool	What it does				Emits .</a:t>
            </a:r>
            <a:r>
              <a:rPr lang="en-US" sz="1200" b="1" kern="1200" dirty="0" err="1">
                <a:solidFill>
                  <a:prstClr val="black"/>
                </a:solidFill>
                <a:latin typeface="Aptos" panose="02110004020202020204"/>
                <a:ea typeface="+mn-ea"/>
              </a:rPr>
              <a:t>js</a:t>
            </a:r>
            <a:r>
              <a:rPr lang="en-US" sz="1200" b="1" kern="1200" dirty="0">
                <a:solidFill>
                  <a:prstClr val="black"/>
                </a:solidFill>
                <a:latin typeface="Aptos" panose="02110004020202020204"/>
                <a:ea typeface="+mn-ea"/>
              </a:rPr>
              <a:t>?</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cds watch	</a:t>
            </a:r>
            <a:r>
              <a:rPr lang="en-US" sz="1200" kern="1200" dirty="0" err="1">
                <a:solidFill>
                  <a:prstClr val="black"/>
                </a:solidFill>
                <a:latin typeface="Aptos" panose="02110004020202020204"/>
                <a:ea typeface="+mn-ea"/>
              </a:rPr>
              <a:t>tsx</a:t>
            </a:r>
            <a:r>
              <a:rPr lang="en-US" sz="1200" kern="1200" dirty="0">
                <a:solidFill>
                  <a:prstClr val="black"/>
                </a:solidFill>
                <a:latin typeface="Aptos" panose="02110004020202020204"/>
                <a:ea typeface="+mn-ea"/>
              </a:rPr>
              <a:t> / </a:t>
            </a:r>
            <a:r>
              <a:rPr lang="en-US" sz="1200" kern="1200" dirty="0" err="1">
                <a:solidFill>
                  <a:prstClr val="black"/>
                </a:solidFill>
                <a:latin typeface="Aptos" panose="02110004020202020204"/>
                <a:ea typeface="+mn-ea"/>
              </a:rPr>
              <a:t>esbuild</a:t>
            </a:r>
            <a:r>
              <a:rPr lang="en-US" sz="1200" kern="1200" dirty="0">
                <a:solidFill>
                  <a:prstClr val="black"/>
                </a:solidFill>
                <a:latin typeface="Aptos" panose="02110004020202020204"/>
                <a:ea typeface="+mn-ea"/>
              </a:rPr>
              <a:t>	runs the app (strips types, in-memory)		❌ No</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err="1">
                <a:solidFill>
                  <a:prstClr val="black"/>
                </a:solidFill>
                <a:latin typeface="Aptos" panose="02110004020202020204"/>
                <a:ea typeface="+mn-ea"/>
              </a:rPr>
              <a:t>npm</a:t>
            </a:r>
            <a:r>
              <a:rPr lang="en-US" sz="1200" kern="1200" dirty="0">
                <a:solidFill>
                  <a:prstClr val="black"/>
                </a:solidFill>
                <a:latin typeface="Aptos" panose="02110004020202020204"/>
                <a:ea typeface="+mn-ea"/>
              </a:rPr>
              <a:t> test	</a:t>
            </a:r>
            <a:r>
              <a:rPr lang="en-US" sz="1200" kern="1200" dirty="0" err="1">
                <a:solidFill>
                  <a:prstClr val="black"/>
                </a:solidFill>
                <a:latin typeface="Aptos" panose="02110004020202020204"/>
                <a:ea typeface="+mn-ea"/>
              </a:rPr>
              <a:t>ts</a:t>
            </a:r>
            <a:r>
              <a:rPr lang="en-US" sz="1200" kern="1200" dirty="0">
                <a:solidFill>
                  <a:prstClr val="black"/>
                </a:solidFill>
                <a:latin typeface="Aptos" panose="02110004020202020204"/>
                <a:ea typeface="+mn-ea"/>
              </a:rPr>
              <a:t>-jest	runs tests (strips types, in-memory)		❌ No</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err="1">
                <a:solidFill>
                  <a:prstClr val="black"/>
                </a:solidFill>
                <a:latin typeface="Aptos" panose="02110004020202020204"/>
                <a:ea typeface="+mn-ea"/>
              </a:rPr>
              <a:t>npx</a:t>
            </a:r>
            <a:r>
              <a:rPr lang="en-US" sz="1200" kern="1200" dirty="0">
                <a:solidFill>
                  <a:prstClr val="black"/>
                </a:solidFill>
                <a:latin typeface="Aptos" panose="02110004020202020204"/>
                <a:ea typeface="+mn-ea"/>
              </a:rPr>
              <a:t> </a:t>
            </a:r>
            <a:r>
              <a:rPr lang="en-US" sz="1200" kern="1200" dirty="0" err="1">
                <a:solidFill>
                  <a:prstClr val="black"/>
                </a:solidFill>
                <a:latin typeface="Aptos" panose="02110004020202020204"/>
                <a:ea typeface="+mn-ea"/>
              </a:rPr>
              <a:t>tsc</a:t>
            </a:r>
            <a:r>
              <a:rPr lang="en-US" sz="1200" kern="1200" dirty="0">
                <a:solidFill>
                  <a:prstClr val="black"/>
                </a:solidFill>
                <a:latin typeface="Aptos" panose="02110004020202020204"/>
                <a:ea typeface="+mn-ea"/>
              </a:rPr>
              <a:t> --</a:t>
            </a:r>
            <a:r>
              <a:rPr lang="en-US" sz="1200" kern="1200" dirty="0" err="1">
                <a:solidFill>
                  <a:prstClr val="black"/>
                </a:solidFill>
                <a:latin typeface="Aptos" panose="02110004020202020204"/>
                <a:ea typeface="+mn-ea"/>
              </a:rPr>
              <a:t>noEmit</a:t>
            </a:r>
            <a:r>
              <a:rPr lang="en-US" sz="1200" kern="1200" dirty="0">
                <a:solidFill>
                  <a:prstClr val="black"/>
                </a:solidFill>
                <a:latin typeface="Aptos" panose="02110004020202020204"/>
                <a:ea typeface="+mn-ea"/>
              </a:rPr>
              <a:t>	</a:t>
            </a:r>
            <a:r>
              <a:rPr lang="en-US" sz="1200" kern="1200" dirty="0" err="1">
                <a:solidFill>
                  <a:prstClr val="black"/>
                </a:solidFill>
                <a:latin typeface="Aptos" panose="02110004020202020204"/>
                <a:ea typeface="+mn-ea"/>
              </a:rPr>
              <a:t>tsc</a:t>
            </a:r>
            <a:r>
              <a:rPr lang="en-US" sz="1200" kern="1200" dirty="0">
                <a:solidFill>
                  <a:prstClr val="black"/>
                </a:solidFill>
                <a:latin typeface="Aptos" panose="02110004020202020204"/>
                <a:ea typeface="+mn-ea"/>
              </a:rPr>
              <a:t>	checks types only (your safety net)	❌ No (--</a:t>
            </a:r>
            <a:r>
              <a:rPr lang="en-US" sz="1200" kern="1200" dirty="0" err="1">
                <a:solidFill>
                  <a:prstClr val="black"/>
                </a:solidFill>
                <a:latin typeface="Aptos" panose="02110004020202020204"/>
                <a:ea typeface="+mn-ea"/>
              </a:rPr>
              <a:t>noEmit</a:t>
            </a:r>
            <a:r>
              <a:rPr lang="en-US" sz="1200" kern="1200" dirty="0">
                <a:solidFill>
                  <a:prstClr val="black"/>
                </a:solidFill>
                <a:latin typeface="Aptos" panose="02110004020202020204"/>
                <a:ea typeface="+mn-ea"/>
              </a:rPr>
              <a:t>)</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lang="en-US" sz="1200" kern="1200" dirty="0">
              <a:solidFill>
                <a:prstClr val="black"/>
              </a:solidFill>
              <a:latin typeface="Aptos" panose="02110004020202020204"/>
              <a:ea typeface="+mn-ea"/>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All three </a:t>
            </a:r>
            <a:r>
              <a:rPr lang="en-US" sz="1200" kern="1200" dirty="0" err="1">
                <a:solidFill>
                  <a:prstClr val="black"/>
                </a:solidFill>
                <a:latin typeface="Aptos" panose="02110004020202020204"/>
                <a:ea typeface="+mn-ea"/>
              </a:rPr>
              <a:t>transpile</a:t>
            </a:r>
            <a:r>
              <a:rPr lang="en-US" sz="1200" kern="1200" dirty="0">
                <a:solidFill>
                  <a:prstClr val="black"/>
                </a:solidFill>
                <a:latin typeface="Aptos" panose="02110004020202020204"/>
                <a:ea typeface="+mn-ea"/>
              </a:rPr>
              <a:t>/analyze TypeScript, none of them leave .</a:t>
            </a:r>
            <a:r>
              <a:rPr lang="en-US" sz="1200" kern="1200" dirty="0" err="1">
                <a:solidFill>
                  <a:prstClr val="black"/>
                </a:solidFill>
                <a:latin typeface="Aptos" panose="02110004020202020204"/>
                <a:ea typeface="+mn-ea"/>
              </a:rPr>
              <a:t>js</a:t>
            </a:r>
            <a:r>
              <a:rPr lang="en-US" sz="1200" kern="1200" dirty="0">
                <a:solidFill>
                  <a:prstClr val="black"/>
                </a:solidFill>
                <a:latin typeface="Aptos" panose="02110004020202020204"/>
                <a:ea typeface="+mn-ea"/>
              </a:rPr>
              <a:t> files behind. </a:t>
            </a:r>
            <a:r>
              <a:rPr lang="en-US" sz="1200" kern="1200" dirty="0" err="1">
                <a:solidFill>
                  <a:prstClr val="black"/>
                </a:solidFill>
                <a:latin typeface="Aptos" panose="02110004020202020204"/>
                <a:ea typeface="+mn-ea"/>
              </a:rPr>
              <a:t>tsc</a:t>
            </a:r>
            <a:r>
              <a:rPr lang="en-US" sz="1200" kern="1200" dirty="0">
                <a:solidFill>
                  <a:prstClr val="black"/>
                </a:solidFill>
                <a:latin typeface="Aptos" panose="02110004020202020204"/>
                <a:ea typeface="+mn-ea"/>
              </a:rPr>
              <a:t> --</a:t>
            </a:r>
            <a:r>
              <a:rPr lang="en-US" sz="1200" kern="1200" dirty="0" err="1">
                <a:solidFill>
                  <a:prstClr val="black"/>
                </a:solidFill>
                <a:latin typeface="Aptos" panose="02110004020202020204"/>
                <a:ea typeface="+mn-ea"/>
              </a:rPr>
              <a:t>noEmit</a:t>
            </a:r>
            <a:r>
              <a:rPr lang="en-US" sz="1200" kern="1200" dirty="0">
                <a:solidFill>
                  <a:prstClr val="black"/>
                </a:solidFill>
                <a:latin typeface="Aptos" panose="02110004020202020204"/>
                <a:ea typeface="+mn-ea"/>
              </a:rPr>
              <a:t> is the only one that actually validates your types — so keep running it before commits, since neither cds watch nor the tests will catch a type mistake on their own.</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lang="en-US" sz="1200" kern="1200" dirty="0">
              <a:solidFill>
                <a:prstClr val="black"/>
              </a:solidFill>
              <a:latin typeface="Aptos" panose="02110004020202020204"/>
              <a:ea typeface="+mn-ea"/>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Quick way to prove it to yourself</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Run cds watch, then look in </a:t>
            </a:r>
            <a:r>
              <a:rPr lang="en-US" sz="1200" kern="1200" dirty="0" err="1">
                <a:solidFill>
                  <a:prstClr val="black"/>
                </a:solidFill>
                <a:latin typeface="Aptos" panose="02110004020202020204"/>
                <a:ea typeface="+mn-ea"/>
              </a:rPr>
              <a:t>srv</a:t>
            </a:r>
            <a:r>
              <a:rPr lang="en-US" sz="1200" kern="1200" dirty="0">
                <a:solidFill>
                  <a:prstClr val="black"/>
                </a:solidFill>
                <a:latin typeface="Aptos" panose="02110004020202020204"/>
                <a:ea typeface="+mn-ea"/>
              </a:rPr>
              <a:t>/ — you'll see only .</a:t>
            </a:r>
            <a:r>
              <a:rPr lang="en-US" sz="1200" kern="1200" dirty="0" err="1">
                <a:solidFill>
                  <a:prstClr val="black"/>
                </a:solidFill>
                <a:latin typeface="Aptos" panose="02110004020202020204"/>
                <a:ea typeface="+mn-ea"/>
              </a:rPr>
              <a:t>ts</a:t>
            </a:r>
            <a:r>
              <a:rPr lang="en-US" sz="1200" kern="1200" dirty="0">
                <a:solidFill>
                  <a:prstClr val="black"/>
                </a:solidFill>
                <a:latin typeface="Aptos" panose="02110004020202020204"/>
                <a:ea typeface="+mn-ea"/>
              </a:rPr>
              <a:t> and .cds files, never a generated .</a:t>
            </a:r>
            <a:r>
              <a:rPr lang="en-US" sz="1200" kern="1200" dirty="0" err="1">
                <a:solidFill>
                  <a:prstClr val="black"/>
                </a:solidFill>
                <a:latin typeface="Aptos" panose="02110004020202020204"/>
                <a:ea typeface="+mn-ea"/>
              </a:rPr>
              <a:t>js</a:t>
            </a:r>
            <a:r>
              <a:rPr lang="en-US" sz="1200" kern="1200" dirty="0">
                <a:solidFill>
                  <a:prstClr val="black"/>
                </a:solidFill>
                <a:latin typeface="Aptos" panose="02110004020202020204"/>
                <a:ea typeface="+mn-ea"/>
              </a:rPr>
              <a:t>. If CAP were compiling to disk, you'd find a gen/ or </a:t>
            </a:r>
            <a:r>
              <a:rPr lang="en-US" sz="1200" kern="1200" dirty="0" err="1">
                <a:solidFill>
                  <a:prstClr val="black"/>
                </a:solidFill>
                <a:latin typeface="Aptos" panose="02110004020202020204"/>
                <a:ea typeface="+mn-ea"/>
              </a:rPr>
              <a:t>dist</a:t>
            </a:r>
            <a:r>
              <a:rPr lang="en-US" sz="1200" kern="1200" dirty="0">
                <a:solidFill>
                  <a:prstClr val="black"/>
                </a:solidFill>
                <a:latin typeface="Aptos" panose="02110004020202020204"/>
                <a:ea typeface="+mn-ea"/>
              </a:rPr>
              <a:t>/ folder full of .</a:t>
            </a:r>
            <a:r>
              <a:rPr lang="en-US" sz="1200" kern="1200" dirty="0" err="1">
                <a:solidFill>
                  <a:prstClr val="black"/>
                </a:solidFill>
                <a:latin typeface="Aptos" panose="02110004020202020204"/>
                <a:ea typeface="+mn-ea"/>
              </a:rPr>
              <a:t>js</a:t>
            </a:r>
            <a:r>
              <a:rPr lang="en-US" sz="1200" kern="1200" dirty="0">
                <a:solidFill>
                  <a:prstClr val="black"/>
                </a:solidFill>
                <a:latin typeface="Aptos" panose="02110004020202020204"/>
                <a:ea typeface="+mn-ea"/>
              </a:rPr>
              <a:t>; you </a:t>
            </a:r>
            <a:r>
              <a:rPr lang="en-US" sz="1200" kern="1200">
                <a:solidFill>
                  <a:prstClr val="black"/>
                </a:solidFill>
                <a:latin typeface="Aptos" panose="02110004020202020204"/>
                <a:ea typeface="+mn-ea"/>
              </a:rPr>
              <a:t>won't.</a:t>
            </a:r>
            <a:endParaRPr lang="en-US" sz="1200" kern="1200" dirty="0">
              <a:solidFill>
                <a:prstClr val="black"/>
              </a:solidFill>
              <a:latin typeface="Aptos" panose="02110004020202020204"/>
              <a:ea typeface="+mn-ea"/>
            </a:endParaRPr>
          </a:p>
        </p:txBody>
      </p:sp>
      <p:sp>
        <p:nvSpPr>
          <p:cNvPr id="4" name="TextBox 3">
            <a:extLst>
              <a:ext uri="{FF2B5EF4-FFF2-40B4-BE49-F238E27FC236}">
                <a16:creationId xmlns:a16="http://schemas.microsoft.com/office/drawing/2014/main" id="{F0085B97-C85E-7997-4A9E-C3087877F5B8}"/>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B5BB1520-B723-E1B6-5B79-65837E1BFF57}"/>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BF9A47DA-AC2E-3F89-3FAC-803A0D25A2BC}"/>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269F7359-6CD0-2E6E-1635-4ACF0C602487}"/>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245077736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27F7AC-C81E-EBAD-5BB9-0B2ECD38828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80DD1FF3-F1D5-6A6E-DC3A-9BC627E5FF7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04F0814F-7C40-E6D8-A2B2-406E4F940116}"/>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AF65218C-CFDB-89AE-9513-57FA1AF42F8F}"/>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CF92C177-ADB6-DF5A-081B-464E0C47EADB}"/>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71CB699-0610-BF57-F496-6D1903F1D70A}"/>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7067E6D7-0574-55EF-674D-06FD0FFEA8BE}"/>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43726198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3B1C96-55C8-749F-535F-5AA8B36387F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2A680FE3-127F-271F-C8B4-87EED5C83F86}"/>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B54F6B81-1ADA-F4CA-E30A-D739E51B37DD}"/>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EE6C8C80-D9C6-0068-F0E8-F6B25DF190B7}"/>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D34CADD8-49E6-FB7B-16EF-44E755F17D28}"/>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EBCE6DD4-0034-DE63-8BFA-BE8A78A3A1D9}"/>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6D61E4D0-3FB9-50C5-3D67-0EEEE07DCD81}"/>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302691958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168E00-B985-2BEF-66EF-3E41FBE14986}"/>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406B05B3-3F90-4F5A-0B57-A5A5E6FD9ED7}"/>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D547CBB3-60A1-1FAF-90CE-A887407D4330}"/>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29C944A1-5017-DB3D-8048-160CFE378CDA}"/>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297D5234-1DA8-981D-5CD0-8704EB849570}"/>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32BF5503-0C27-B57C-02B1-18D46726380A}"/>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96CE8069-3AD6-A3C5-E4B0-03E97BC9390F}"/>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418808312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C2886-770D-A7E7-1995-A6ACC04FE09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93299EFF-54F4-D91C-9930-B2FD228D436E}"/>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4D0F0AAC-0DA6-35BC-A56A-8AAAC1501022}"/>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867335A4-3631-04B7-530E-E5D04B271441}"/>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47536124-6FBE-7F36-6695-A2FA36C8B085}"/>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B199008E-E1D6-8EFC-EC22-618A5CF144F8}"/>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62FC8167-0F26-557F-FA51-76D2B36D96A6}"/>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395440323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49ACC-982E-AFBE-CECA-7632856172EC}"/>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8EC18ADB-0062-022B-ABD9-BD43FE0C95CA}"/>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84246D80-94CC-C19A-891E-6EFECD8E1270}"/>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A97234A0-5B1A-1D88-BF0A-A3AD4E069FA1}"/>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1A7F5F8B-2AA8-5926-2843-E02E45D5ABDB}"/>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86AEC6D6-B85F-C29B-52D5-7448E00E0698}"/>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2F6E9FCB-0D29-8726-635F-B9AAAB8DF163}"/>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120604668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Flowchart: Connector 4"/>
          <p:cNvSpPr/>
          <p:nvPr/>
        </p:nvSpPr>
        <p:spPr>
          <a:xfrm>
            <a:off x="5806380" y="28829"/>
            <a:ext cx="5557368" cy="5468483"/>
          </a:xfrm>
          <a:prstGeom prst="flowChartConnector">
            <a:avLst/>
          </a:prstGeom>
          <a:gradFill flip="none" rotWithShape="1">
            <a:gsLst>
              <a:gs pos="0">
                <a:srgbClr val="55E96E"/>
              </a:gs>
              <a:gs pos="46000">
                <a:srgbClr val="0AEC25"/>
              </a:gs>
              <a:gs pos="100000">
                <a:srgbClr val="00B050"/>
              </a:gs>
            </a:gsLst>
            <a:path path="circle">
              <a:fillToRect l="50000" t="130000" r="50000" b="-3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Placeholder 11">
            <a:extLst>
              <a:ext uri="{FF2B5EF4-FFF2-40B4-BE49-F238E27FC236}">
                <a16:creationId xmlns:a16="http://schemas.microsoft.com/office/drawing/2014/main" id="{420F5850-2D59-4C25-ADFF-E9013C5A6A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611" y="14067"/>
            <a:ext cx="6784876" cy="6254347"/>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p:spPr>
      </p:pic>
      <p:sp>
        <p:nvSpPr>
          <p:cNvPr id="7"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8" name="TextBox 7">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rgbClr val="75C042"/>
                </a:solidFill>
                <a:effectLst/>
              </a:rPr>
              <a:t>What We </a:t>
            </a:r>
            <a:r>
              <a:rPr lang="en-IN" sz="4000" b="1" i="0" dirty="0">
                <a:solidFill>
                  <a:srgbClr val="55E96E"/>
                </a:solidFill>
                <a:effectLst/>
                <a:latin typeface="Segoe UI Light" panose="020B0502040204020203" pitchFamily="34" charset="0"/>
                <a:cs typeface="Segoe UI Light" panose="020B0502040204020203" pitchFamily="34" charset="0"/>
              </a:rPr>
              <a:t>Did</a:t>
            </a:r>
            <a:endParaRPr lang="en-IN" sz="4000" b="1" dirty="0">
              <a:solidFill>
                <a:srgbClr val="55E96E"/>
              </a:solidFill>
              <a:latin typeface="Segoe UI Light" panose="020B0502040204020203" pitchFamily="34" charset="0"/>
              <a:cs typeface="Segoe UI Light" panose="020B0502040204020203" pitchFamily="34" charset="0"/>
            </a:endParaRPr>
          </a:p>
        </p:txBody>
      </p:sp>
      <p:sp>
        <p:nvSpPr>
          <p:cNvPr id="9" name="TextBox 8">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10" name="Group 9">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11"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rgbClr val="00B050"/>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rgbClr val="75C04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rgbClr val="0AEC25"/>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14" name="Google Shape;845;p16"/>
          <p:cNvSpPr/>
          <p:nvPr/>
        </p:nvSpPr>
        <p:spPr>
          <a:xfrm>
            <a:off x="-1" y="0"/>
            <a:ext cx="1993020" cy="982572"/>
          </a:xfrm>
          <a:custGeom>
            <a:avLst/>
            <a:gdLst/>
            <a:ahLst/>
            <a:cxnLst/>
            <a:rect l="l" t="t" r="r" b="b"/>
            <a:pathLst>
              <a:path w="1993020" h="1803466" extrusionOk="0">
                <a:moveTo>
                  <a:pt x="0" y="0"/>
                </a:moveTo>
                <a:lnTo>
                  <a:pt x="1993020" y="0"/>
                </a:lnTo>
                <a:lnTo>
                  <a:pt x="1229306" y="1803466"/>
                </a:lnTo>
                <a:lnTo>
                  <a:pt x="0" y="1803466"/>
                </a:lnTo>
                <a:lnTo>
                  <a:pt x="0" y="0"/>
                </a:lnTo>
                <a:close/>
              </a:path>
            </a:pathLst>
          </a:custGeom>
          <a:solidFill>
            <a:srgbClr val="75C042"/>
          </a:solidFill>
          <a:ln>
            <a:noFill/>
          </a:ln>
        </p:spPr>
        <p:txBody>
          <a:bodyPr spcFirstLastPara="1" wrap="square" lIns="91425" tIns="45700" rIns="91425" bIns="4570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75C042"/>
              </a:solidFill>
              <a:effectLst/>
              <a:uLnTx/>
              <a:uFillTx/>
              <a:latin typeface="Calibri"/>
              <a:ea typeface="Calibri"/>
              <a:cs typeface="Calibri"/>
              <a:sym typeface="Calibri"/>
            </a:endParaRPr>
          </a:p>
        </p:txBody>
      </p:sp>
      <p:sp>
        <p:nvSpPr>
          <p:cNvPr id="16"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r>
              <a:rPr lang="en-US" sz="16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600" dirty="0">
              <a:solidFill>
                <a:srgbClr val="75C042"/>
              </a:solidFill>
              <a:latin typeface="Cambria" panose="02040503050406030204" pitchFamily="18" charset="0"/>
              <a:ea typeface="Cambria" panose="02040503050406030204" pitchFamily="18" charset="0"/>
              <a:cs typeface="Corben"/>
              <a:sym typeface="Corben"/>
            </a:endParaRPr>
          </a:p>
        </p:txBody>
      </p:sp>
      <p:pic>
        <p:nvPicPr>
          <p:cNvPr id="1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9972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barn(inVertical)">
                                      <p:cBhvr>
                                        <p:cTn id="10" dur="500"/>
                                        <p:tgtEl>
                                          <p:spTgt spid="9"/>
                                        </p:tgtEl>
                                      </p:cBhvr>
                                    </p:animEffect>
                                  </p:childTnLst>
                                </p:cTn>
                              </p:par>
                              <p:par>
                                <p:cTn id="11" presetID="16" presetClass="entr" presetSubtype="21"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barn(inVertical)">
                                      <p:cBhvr>
                                        <p:cTn id="13" dur="500"/>
                                        <p:tgtEl>
                                          <p:spTgt spid="10"/>
                                        </p:tgtEl>
                                      </p:cBhvr>
                                    </p:animEffect>
                                  </p:childTnLst>
                                </p:cTn>
                              </p:par>
                              <p:par>
                                <p:cTn id="14" presetID="16" presetClass="entr" presetSubtype="21"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arn(inVertical)">
                                      <p:cBhvr>
                                        <p:cTn id="16" dur="500"/>
                                        <p:tgtEl>
                                          <p:spTgt spid="7"/>
                                        </p:tgtEl>
                                      </p:cBhvr>
                                    </p:animEffect>
                                  </p:childTnLst>
                                </p:cTn>
                              </p:par>
                              <p:par>
                                <p:cTn id="17" presetID="16" presetClass="entr" presetSubtype="21"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barn(inVertical)">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p:bldP spid="9" grpId="0"/>
    </p:bldLst>
  </p:timing>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rgbClr val="75C042"/>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a:t>
            </a:r>
            <a:r>
              <a:rPr lang="en-US" sz="5400" b="1" kern="0" dirty="0">
                <a:solidFill>
                  <a:srgbClr val="75C042"/>
                </a:solidFill>
                <a:latin typeface="Segoe UI" panose="020B0502040204020203" pitchFamily="34" charset="0"/>
                <a:ea typeface="Calibri Light" charset="0"/>
                <a:cs typeface="Segoe UI" panose="020B0502040204020203" pitchFamily="34" charset="0"/>
              </a:rPr>
              <a:t>Day 1</a:t>
            </a:r>
            <a:endParaRPr lang="en-US" sz="5400" b="1" dirty="0">
              <a:solidFill>
                <a:srgbClr val="75C042"/>
              </a:solidFill>
              <a:latin typeface="Segoe UI" panose="020B0502040204020203" pitchFamily="34" charset="0"/>
              <a:ea typeface="Calibri Light" charset="0"/>
              <a:cs typeface="Segoe UI" panose="020B0502040204020203" pitchFamily="34" charset="0"/>
            </a:endParaRPr>
          </a:p>
        </p:txBody>
      </p:sp>
      <p:grpSp>
        <p:nvGrpSpPr>
          <p:cNvPr id="4" name="Group 3">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5" name="Oval 4">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7" name="Oval 6">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9" name="Oval 8">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sp>
        <p:nvSpPr>
          <p:cNvPr id="11" name="Rectangle 10">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chemeClr val="tx1"/>
                </a:solidFill>
              </a:rPr>
              <a:t>www.anubhavtrainings.com</a:t>
            </a:r>
          </a:p>
        </p:txBody>
      </p:sp>
      <p:sp>
        <p:nvSpPr>
          <p:cNvPr id="12" name="Right Triangle 11"/>
          <p:cNvSpPr/>
          <p:nvPr/>
        </p:nvSpPr>
        <p:spPr>
          <a:xfrm rot="19603165">
            <a:off x="394348" y="-1369124"/>
            <a:ext cx="4191287" cy="2738247"/>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rgbClr val="00B050"/>
                </a:solidFill>
              </a:ln>
              <a:solidFill>
                <a:srgbClr val="00B050"/>
              </a:solidFill>
            </a:endParaRPr>
          </a:p>
        </p:txBody>
      </p:sp>
      <p:sp>
        <p:nvSpPr>
          <p:cNvPr id="13" name="Right Triangle 12"/>
          <p:cNvSpPr/>
          <p:nvPr/>
        </p:nvSpPr>
        <p:spPr>
          <a:xfrm rot="16200000">
            <a:off x="6874209" y="1545491"/>
            <a:ext cx="4718460" cy="5910772"/>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rgbClr val="00B050"/>
                </a:solidFill>
              </a:ln>
              <a:solidFill>
                <a:srgbClr val="00B050"/>
              </a:solidFill>
            </a:endParaRPr>
          </a:p>
        </p:txBody>
      </p:sp>
      <p:sp>
        <p:nvSpPr>
          <p:cNvPr id="14" name="Minus 13"/>
          <p:cNvSpPr/>
          <p:nvPr/>
        </p:nvSpPr>
        <p:spPr>
          <a:xfrm rot="19276189">
            <a:off x="4275114" y="4157244"/>
            <a:ext cx="9864485" cy="472198"/>
          </a:xfrm>
          <a:prstGeom prst="mathMinus">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r>
              <a:rPr lang="en-US" sz="1600" dirty="0">
                <a:solidFill>
                  <a:schemeClr val="tx1"/>
                </a:solidFill>
                <a:latin typeface="Cambria" panose="02040503050406030204" pitchFamily="18" charset="0"/>
                <a:ea typeface="Cambria" panose="02040503050406030204" pitchFamily="18" charset="0"/>
                <a:cs typeface="Corben"/>
                <a:sym typeface="Corben"/>
              </a:rPr>
              <a:t>www.anubhavtrainings.com</a:t>
            </a:r>
            <a:endParaRPr sz="1600" dirty="0">
              <a:solidFill>
                <a:schemeClr val="tx1"/>
              </a:solidFill>
              <a:latin typeface="Cambria" panose="02040503050406030204" pitchFamily="18" charset="0"/>
              <a:ea typeface="Cambria" panose="02040503050406030204" pitchFamily="18" charset="0"/>
              <a:cs typeface="Corben"/>
              <a:sym typeface="Corben"/>
            </a:endParaRPr>
          </a:p>
        </p:txBody>
      </p:sp>
      <p:pic>
        <p:nvPicPr>
          <p:cNvPr id="16"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39973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barn(inVertical)">
                                      <p:cBhvr>
                                        <p:cTn id="15" dur="500"/>
                                        <p:tgtEl>
                                          <p:spTgt spid="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barn(inVertical)">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1"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943"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pitchFamily="34" charset="0"/>
                <a:ea typeface="+mn-ea"/>
                <a:cs typeface="Arial" panose="020B0604020202020204" pitchFamily="34" charset="0"/>
              </a:rPr>
              <a:t>Contact us today!</a:t>
            </a:r>
          </a:p>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0" i="0" u="none" strike="noStrike" kern="1200" cap="none" spc="0" normalizeH="0" baseline="0" noProof="0" dirty="0">
                <a:ln>
                  <a:noFill/>
                </a:ln>
                <a:solidFill>
                  <a:srgbClr val="44546A"/>
                </a:solidFill>
                <a:effectLst/>
                <a:uLnTx/>
                <a:uFillTx/>
                <a:latin typeface="Arial" panose="020B0604020202020204"/>
                <a:ea typeface="+mn-ea"/>
                <a:cs typeface="+mn-cs"/>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rPr>
              <a:t>We build the workforce of the future.</a:t>
            </a:r>
            <a:endParaRPr kumimoji="0" lang="en-US"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30,000+</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25000+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We’re committed to empower you to be</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2799" b="1" i="0" u="none" strike="noStrike" kern="1200" cap="none" spc="0" normalizeH="0" baseline="0" noProof="0" dirty="0">
                <a:ln>
                  <a:noFill/>
                </a:ln>
                <a:solidFill>
                  <a:srgbClr val="2AC6D1">
                    <a:lumMod val="40000"/>
                    <a:lumOff val="60000"/>
                  </a:srgbClr>
                </a:solidFill>
                <a:effectLst/>
                <a:uLnTx/>
                <a:uFillTx/>
                <a:latin typeface="Arial" panose="020B0604020202020204" pitchFamily="34" charset="0"/>
                <a:ea typeface="+mn-ea"/>
                <a:cs typeface="Arial" panose="020B0604020202020204" pitchFamily="34" charset="0"/>
              </a:rPr>
              <a:t>#FutureReady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100" normalizeH="0" baseline="0" noProof="0" dirty="0">
                <a:ln>
                  <a:noFill/>
                </a:ln>
                <a:solidFill>
                  <a:srgbClr val="F97700"/>
                </a:solidFill>
                <a:effectLst/>
                <a:uLnTx/>
                <a:uFillTx/>
                <a:latin typeface="Arial" panose="020B0604020202020204"/>
                <a:ea typeface="+mn-ea"/>
                <a:cs typeface="+mn-cs"/>
              </a:rPr>
              <a:t>FREE WEBINARS </a:t>
            </a:r>
          </a:p>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F97700"/>
                </a:solidFill>
                <a:effectLst/>
                <a:uLnTx/>
                <a:uFillTx/>
                <a:latin typeface="Arial" panose="020B0604020202020204"/>
                <a:ea typeface="+mn-ea"/>
                <a:cs typeface="+mn-cs"/>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a:ea typeface="+mn-ea"/>
              <a:cs typeface="+mn-cs"/>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a:ea typeface="+mn-ea"/>
                <a:cs typeface="+mn-cs"/>
              </a:rPr>
              <a:t>Enroll Now!</a:t>
            </a:r>
            <a:endParaRPr kumimoji="0" lang="en-US" sz="1799" b="1" i="0" u="none" strike="noStrike" kern="1200" cap="none" spc="0" normalizeH="0" baseline="0" noProof="0" dirty="0">
              <a:ln>
                <a:noFill/>
              </a:ln>
              <a:solidFill>
                <a:srgbClr val="000000"/>
              </a:solidFill>
              <a:effectLst/>
              <a:uLnTx/>
              <a:uFillTx/>
              <a:latin typeface="Arial" panose="020B0604020202020204"/>
              <a:ea typeface="+mn-ea"/>
              <a:cs typeface="+mn-cs"/>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602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SlideModel - Sustainablity Strategy">
      <a:dk1>
        <a:srgbClr val="433835"/>
      </a:dk1>
      <a:lt1>
        <a:srgbClr val="FFFFFF"/>
      </a:lt1>
      <a:dk2>
        <a:srgbClr val="070707"/>
      </a:dk2>
      <a:lt2>
        <a:srgbClr val="FFFFFF"/>
      </a:lt2>
      <a:accent1>
        <a:srgbClr val="75C042"/>
      </a:accent1>
      <a:accent2>
        <a:srgbClr val="F0F6FB"/>
      </a:accent2>
      <a:accent3>
        <a:srgbClr val="243769"/>
      </a:accent3>
      <a:accent4>
        <a:srgbClr val="8FBBE1"/>
      </a:accent4>
      <a:accent5>
        <a:srgbClr val="E3F2D9"/>
      </a:accent5>
      <a:accent6>
        <a:srgbClr val="002060"/>
      </a:accent6>
      <a:hlink>
        <a:srgbClr val="FCD7DB"/>
      </a:hlink>
      <a:folHlink>
        <a:srgbClr val="F0E9E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_Office Theme">
  <a:themeElements>
    <a:clrScheme name="Custom 76">
      <a:dk1>
        <a:srgbClr val="000000"/>
      </a:dk1>
      <a:lt1>
        <a:srgbClr val="FFFFFF"/>
      </a:lt1>
      <a:dk2>
        <a:srgbClr val="1F497D"/>
      </a:dk2>
      <a:lt2>
        <a:srgbClr val="EEECE1"/>
      </a:lt2>
      <a:accent1>
        <a:srgbClr val="BDBDBD"/>
      </a:accent1>
      <a:accent2>
        <a:srgbClr val="98C536"/>
      </a:accent2>
      <a:accent3>
        <a:srgbClr val="6D6D6D"/>
      </a:accent3>
      <a:accent4>
        <a:srgbClr val="1767AC"/>
      </a:accent4>
      <a:accent5>
        <a:srgbClr val="E5E6E8"/>
      </a:accent5>
      <a:accent6>
        <a:srgbClr val="99C274"/>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3_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1_Office Theme">
  <a:themeElements>
    <a:clrScheme name="Custom 51">
      <a:dk1>
        <a:sysClr val="windowText" lastClr="000000"/>
      </a:dk1>
      <a:lt1>
        <a:sysClr val="window" lastClr="FFFFFF"/>
      </a:lt1>
      <a:dk2>
        <a:srgbClr val="0E2841"/>
      </a:dk2>
      <a:lt2>
        <a:srgbClr val="E8E8E8"/>
      </a:lt2>
      <a:accent1>
        <a:srgbClr val="3B31A9"/>
      </a:accent1>
      <a:accent2>
        <a:srgbClr val="5047C9"/>
      </a:accent2>
      <a:accent3>
        <a:srgbClr val="625ACE"/>
      </a:accent3>
      <a:accent4>
        <a:srgbClr val="817AD8"/>
      </a:accent4>
      <a:accent5>
        <a:srgbClr val="AAA5E5"/>
      </a:accent5>
      <a:accent6>
        <a:srgbClr val="CAC7EF"/>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4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1756</TotalTime>
  <Words>9497</Words>
  <Application>Microsoft Office PowerPoint</Application>
  <PresentationFormat>Custom</PresentationFormat>
  <Paragraphs>1351</Paragraphs>
  <Slides>58</Slides>
  <Notes>38</Notes>
  <HiddenSlides>0</HiddenSlides>
  <MMClips>0</MMClips>
  <ScaleCrop>false</ScaleCrop>
  <HeadingPairs>
    <vt:vector size="6" baseType="variant">
      <vt:variant>
        <vt:lpstr>Fonts Used</vt:lpstr>
      </vt:variant>
      <vt:variant>
        <vt:i4>15</vt:i4>
      </vt:variant>
      <vt:variant>
        <vt:lpstr>Theme</vt:lpstr>
      </vt:variant>
      <vt:variant>
        <vt:i4>5</vt:i4>
      </vt:variant>
      <vt:variant>
        <vt:lpstr>Slide Titles</vt:lpstr>
      </vt:variant>
      <vt:variant>
        <vt:i4>58</vt:i4>
      </vt:variant>
    </vt:vector>
  </HeadingPairs>
  <TitlesOfParts>
    <vt:vector size="78" baseType="lpstr">
      <vt:lpstr>Arial</vt:lpstr>
      <vt:lpstr>Gill Sans</vt:lpstr>
      <vt:lpstr>Consolas</vt:lpstr>
      <vt:lpstr>Aptos</vt:lpstr>
      <vt:lpstr>Aptos Display</vt:lpstr>
      <vt:lpstr>Arial Black</vt:lpstr>
      <vt:lpstr>Corben</vt:lpstr>
      <vt:lpstr>Cambria</vt:lpstr>
      <vt:lpstr>Segoe UI Light</vt:lpstr>
      <vt:lpstr>Segoe UI</vt:lpstr>
      <vt:lpstr>Open Sans</vt:lpstr>
      <vt:lpstr>Quattrocento Sans</vt:lpstr>
      <vt:lpstr>Cooper Black</vt:lpstr>
      <vt:lpstr>Amasis MT Pro</vt:lpstr>
      <vt:lpstr>Calibri</vt:lpstr>
      <vt:lpstr>Office Theme</vt:lpstr>
      <vt:lpstr>2_Office Theme</vt:lpstr>
      <vt:lpstr>3_Office Theme</vt:lpstr>
      <vt:lpstr>1_Office Theme</vt:lpstr>
      <vt:lpstr>4_Office Theme</vt:lpstr>
      <vt:lpstr>SAP BTP CAPM “TypeScript” for Developers</vt:lpstr>
      <vt:lpstr>PowerPoint Presentation</vt:lpstr>
      <vt:lpstr>Agenda </vt:lpstr>
      <vt:lpstr>Course Outlook – 10 Hours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ABAP ON CLOUD  RESTFUL APPLICATION  PROGRAMMING EMBEDDED STEAMPUNK TRAINING</dc:title>
  <dc:creator>anurag</dc:creator>
  <cp:lastModifiedBy>Anubhav Oberoy</cp:lastModifiedBy>
  <cp:revision>62</cp:revision>
  <dcterms:created xsi:type="dcterms:W3CDTF">2023-10-03T21:33:12Z</dcterms:created>
  <dcterms:modified xsi:type="dcterms:W3CDTF">2026-06-22T14:06:42Z</dcterms:modified>
</cp:coreProperties>
</file>