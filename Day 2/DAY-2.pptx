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4.xml" ContentType="application/vnd.openxmlformats-officedocument.theme+xml"/>
  <Override PartName="/ppt/slideLayouts/slideLayout61.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 id="2147483764" r:id="rId5"/>
  </p:sldMasterIdLst>
  <p:notesMasterIdLst>
    <p:notesMasterId r:id="rId49"/>
  </p:notesMasterIdLst>
  <p:sldIdLst>
    <p:sldId id="256" r:id="rId6"/>
    <p:sldId id="402" r:id="rId7"/>
    <p:sldId id="423" r:id="rId8"/>
    <p:sldId id="259" r:id="rId9"/>
    <p:sldId id="443" r:id="rId10"/>
    <p:sldId id="257" r:id="rId11"/>
    <p:sldId id="258" r:id="rId12"/>
    <p:sldId id="444" r:id="rId13"/>
    <p:sldId id="260" r:id="rId14"/>
    <p:sldId id="262" r:id="rId15"/>
    <p:sldId id="261" r:id="rId16"/>
    <p:sldId id="263" r:id="rId17"/>
    <p:sldId id="264" r:id="rId18"/>
    <p:sldId id="265" r:id="rId19"/>
    <p:sldId id="445" r:id="rId20"/>
    <p:sldId id="446" r:id="rId21"/>
    <p:sldId id="447" r:id="rId22"/>
    <p:sldId id="448" r:id="rId23"/>
    <p:sldId id="449" r:id="rId24"/>
    <p:sldId id="450" r:id="rId25"/>
    <p:sldId id="272" r:id="rId26"/>
    <p:sldId id="273" r:id="rId27"/>
    <p:sldId id="433" r:id="rId28"/>
    <p:sldId id="434" r:id="rId29"/>
    <p:sldId id="435" r:id="rId30"/>
    <p:sldId id="436" r:id="rId31"/>
    <p:sldId id="437" r:id="rId32"/>
    <p:sldId id="438" r:id="rId33"/>
    <p:sldId id="439" r:id="rId34"/>
    <p:sldId id="440" r:id="rId35"/>
    <p:sldId id="441" r:id="rId36"/>
    <p:sldId id="442" r:id="rId37"/>
    <p:sldId id="266" r:id="rId38"/>
    <p:sldId id="267" r:id="rId39"/>
    <p:sldId id="268" r:id="rId40"/>
    <p:sldId id="269" r:id="rId41"/>
    <p:sldId id="270" r:id="rId42"/>
    <p:sldId id="271" r:id="rId43"/>
    <p:sldId id="429" r:id="rId44"/>
    <p:sldId id="430" r:id="rId45"/>
    <p:sldId id="406" r:id="rId46"/>
    <p:sldId id="407" r:id="rId47"/>
    <p:sldId id="409" r:id="rId48"/>
  </p:sldIdLst>
  <p:sldSz cx="12188825" cy="6858000"/>
  <p:notesSz cx="6858000" cy="9144000"/>
  <p:embeddedFontLst>
    <p:embeddedFont>
      <p:font typeface="Arial Black" panose="020B0A04020102020204" pitchFamily="34" charset="0"/>
      <p:regular r:id="rId50"/>
      <p:bold r:id="rId51"/>
    </p:embeddedFont>
    <p:embeddedFont>
      <p:font typeface="Cambria" panose="02040503050406030204" pitchFamily="18" charset="0"/>
      <p:regular r:id="rId52"/>
      <p:bold r:id="rId53"/>
      <p:italic r:id="rId54"/>
      <p:boldItalic r:id="rId55"/>
    </p:embeddedFont>
    <p:embeddedFont>
      <p:font typeface="Consolas" panose="020B0609020204030204" pitchFamily="49" charset="0"/>
      <p:regular r:id="rId56"/>
      <p:bold r:id="rId57"/>
      <p:italic r:id="rId58"/>
      <p:boldItalic r:id="rId59"/>
    </p:embeddedFont>
    <p:embeddedFont>
      <p:font typeface="Cooper Black" panose="0208090404030B020404" pitchFamily="18" charset="0"/>
      <p:regular r:id="rId60"/>
    </p:embeddedFont>
    <p:embeddedFont>
      <p:font typeface="Corben" panose="020B0604020202020204" charset="0"/>
      <p:bold r:id="rId61"/>
    </p:embeddedFont>
    <p:embeddedFont>
      <p:font typeface="Gill Sans" panose="020B0604020202020204" charset="0"/>
      <p:regular r:id="rId62"/>
      <p:bold r:id="rId63"/>
    </p:embeddedFont>
    <p:embeddedFont>
      <p:font typeface="Open Sans" panose="020B0606030504020204" pitchFamily="34" charset="0"/>
      <p:regular r:id="rId64"/>
      <p:bold r:id="rId65"/>
      <p:italic r:id="rId66"/>
      <p:boldItalic r:id="rId67"/>
    </p:embeddedFont>
    <p:embeddedFont>
      <p:font typeface="Quattrocento Sans" panose="020B0502050000020003" pitchFamily="34" charset="0"/>
      <p:regular r:id="rId68"/>
      <p:bold r:id="rId69"/>
      <p:italic r:id="rId70"/>
      <p:boldItalic r:id="rId71"/>
    </p:embeddedFont>
    <p:embeddedFont>
      <p:font typeface="Segoe UI" panose="020B0502040204020203" pitchFamily="34" charset="0"/>
      <p:regular r:id="rId72"/>
      <p:bold r:id="rId73"/>
      <p:italic r:id="rId74"/>
      <p:boldItalic r:id="rId75"/>
    </p:embeddedFont>
    <p:embeddedFont>
      <p:font typeface="Segoe UI Light" panose="020B0502040204020203" pitchFamily="34" charset="0"/>
      <p:regular r:id="rId76"/>
      <p: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380" y="696"/>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font" Target="fonts/font14.fntdata"/><Relationship Id="rId68" Type="http://schemas.openxmlformats.org/officeDocument/2006/relationships/font" Target="fonts/font19.fntdata"/><Relationship Id="rId205" Type="http://schemas.openxmlformats.org/officeDocument/2006/relationships/viewProps" Target="view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font" Target="fonts/font4.fntdata"/><Relationship Id="rId58" Type="http://schemas.openxmlformats.org/officeDocument/2006/relationships/font" Target="fonts/font9.fntdata"/><Relationship Id="rId74" Type="http://schemas.openxmlformats.org/officeDocument/2006/relationships/font" Target="fonts/font25.fntdata"/><Relationship Id="rId5" Type="http://schemas.openxmlformats.org/officeDocument/2006/relationships/slideMaster" Target="slideMasters/slideMaster5.xml"/><Relationship Id="rId61" Type="http://schemas.openxmlformats.org/officeDocument/2006/relationships/font" Target="fonts/font12.fntdata"/><Relationship Id="rId203" Type="http://customschemas.google.com/relationships/presentationmetadata" Target="metadata"/><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77" Type="http://schemas.openxmlformats.org/officeDocument/2006/relationships/font" Target="fonts/font28.fntdata"/><Relationship Id="rId8" Type="http://schemas.openxmlformats.org/officeDocument/2006/relationships/slide" Target="slides/slide3.xml"/><Relationship Id="rId51" Type="http://schemas.openxmlformats.org/officeDocument/2006/relationships/font" Target="fonts/font2.fntdata"/><Relationship Id="rId72" Type="http://schemas.openxmlformats.org/officeDocument/2006/relationships/font" Target="fonts/font23.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font" Target="fonts/font21.fntdata"/><Relationship Id="rId75" Type="http://schemas.openxmlformats.org/officeDocument/2006/relationships/font" Target="fonts/font26.fntdata"/><Relationship Id="rId1" Type="http://schemas.openxmlformats.org/officeDocument/2006/relationships/slideMaster" Target="slideMasters/slideMaster1.xml"/><Relationship Id="rId6" Type="http://schemas.openxmlformats.org/officeDocument/2006/relationships/slide" Target="slides/slide1.xml"/><Relationship Id="rId204" Type="http://schemas.openxmlformats.org/officeDocument/2006/relationships/presProps" Target="presProps.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font" Target="fonts/font24.fntdata"/><Relationship Id="rId4" Type="http://schemas.openxmlformats.org/officeDocument/2006/relationships/slideMaster" Target="slideMasters/slideMaster4.xml"/><Relationship Id="rId9" Type="http://schemas.openxmlformats.org/officeDocument/2006/relationships/slide" Target="slides/slide4.xml"/><Relationship Id="rId207" Type="http://schemas.openxmlformats.org/officeDocument/2006/relationships/tableStyles" Target="tableStyle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font" Target="fonts/font1.fntdata"/><Relationship Id="rId55" Type="http://schemas.openxmlformats.org/officeDocument/2006/relationships/font" Target="fonts/font6.fntdata"/><Relationship Id="rId76" Type="http://schemas.openxmlformats.org/officeDocument/2006/relationships/font" Target="fonts/font27.fntdata"/><Relationship Id="rId7" Type="http://schemas.openxmlformats.org/officeDocument/2006/relationships/slide" Target="slides/slide2.xml"/><Relationship Id="rId71" Type="http://schemas.openxmlformats.org/officeDocument/2006/relationships/font" Target="fonts/font22.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font" Target="fonts/font1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9314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slideLayout" Target="../slideLayouts/slideLayout2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0" Type="http://schemas.openxmlformats.org/officeDocument/2006/relationships/theme" Target="../theme/theme2.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slideLayout" Target="../slideLayouts/slideLayout23.xml"/><Relationship Id="rId10" Type="http://schemas.openxmlformats.org/officeDocument/2006/relationships/slideLayout" Target="../slideLayouts/slideLayout18.xml"/><Relationship Id="rId19" Type="http://schemas.openxmlformats.org/officeDocument/2006/relationships/slideLayout" Target="../slideLayouts/slideLayout27.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image" Target="../media/image1.png"/><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theme" Target="../theme/theme3.xml"/><Relationship Id="rId2" Type="http://schemas.openxmlformats.org/officeDocument/2006/relationships/slideLayout" Target="../slideLayouts/slideLayout29.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21" Type="http://schemas.openxmlformats.org/officeDocument/2006/relationships/slideLayout" Target="../slideLayouts/slideLayout59.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slideLayout" Target="../slideLayouts/slideLayout58.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23" Type="http://schemas.openxmlformats.org/officeDocument/2006/relationships/theme" Target="../theme/theme4.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 Id="rId22" Type="http://schemas.openxmlformats.org/officeDocument/2006/relationships/slideLayout" Target="../slideLayouts/slideLayout60.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8" r:id="rId5"/>
    <p:sldLayoutId id="2147483659" r:id="rId6"/>
    <p:sldLayoutId id="2147483660" r:id="rId7"/>
    <p:sldLayoutId id="214748370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6/8/2026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06/08/2026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507112"/>
      </p:ext>
    </p:extLst>
  </p:cSld>
  <p:clrMap bg1="lt1" tx1="dk1" bg2="lt2" tx2="dk2" accent1="accent1" accent2="accent2" accent3="accent3" accent4="accent4" accent5="accent5" accent6="accent6" hlink="hlink" folHlink="folHlink"/>
  <p:sldLayoutIdLst>
    <p:sldLayoutId id="214748376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1.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1.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1.xml"/></Relationships>
</file>

<file path=ppt/slides/_rels/slide2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6.png"/><Relationship Id="rId7"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1.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61.xml"/><Relationship Id="rId6" Type="http://schemas.openxmlformats.org/officeDocument/2006/relationships/image" Target="../media/image2.png"/><Relationship Id="rId5" Type="http://schemas.openxmlformats.org/officeDocument/2006/relationships/image" Target="../media/image15.png"/><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6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6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6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61.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6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61.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61.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61.xml"/></Relationships>
</file>

<file path=ppt/slides/_rels/slide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jpg"/><Relationship Id="rId1" Type="http://schemas.openxmlformats.org/officeDocument/2006/relationships/slideLayout" Target="../slideLayouts/slideLayout21.xml"/></Relationships>
</file>

<file path=ppt/slides/_rels/slide4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8.jpeg"/><Relationship Id="rId7" Type="http://schemas.openxmlformats.org/officeDocument/2006/relationships/image" Target="../media/image22.tiff"/><Relationship Id="rId2" Type="http://schemas.openxmlformats.org/officeDocument/2006/relationships/notesSlide" Target="../notesSlides/notesSlide38.xml"/><Relationship Id="rId1" Type="http://schemas.openxmlformats.org/officeDocument/2006/relationships/slideLayout" Target="../slideLayouts/slideLayout38.xml"/><Relationship Id="rId6" Type="http://schemas.openxmlformats.org/officeDocument/2006/relationships/image" Target="../media/image21.tiff"/><Relationship Id="rId5" Type="http://schemas.openxmlformats.org/officeDocument/2006/relationships/image" Target="../media/image20.tiff"/><Relationship Id="rId4" Type="http://schemas.openxmlformats.org/officeDocument/2006/relationships/image" Target="../media/image19.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7505351" cy="859686"/>
            <a:chOff x="3657616" y="440668"/>
            <a:chExt cx="7505351"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6561380"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Understanding sample project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7195198" cy="859686"/>
            <a:chOff x="3657616" y="440668"/>
            <a:chExt cx="7195198"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625122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Incremental migration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7195198" cy="859686"/>
            <a:chOff x="3657616" y="440668"/>
            <a:chExt cx="7195198"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7" y="636144"/>
              <a:ext cx="6251227"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Generic decorators and utility</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5840759"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Migrate cap logic and units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CE12C55-61D0-FC48-6DB5-FB88F350564C}"/>
              </a:ext>
            </a:extLst>
          </p:cNvPr>
          <p:cNvSpPr/>
          <p:nvPr/>
        </p:nvSpPr>
        <p:spPr>
          <a:xfrm>
            <a:off x="3139103" y="994180"/>
            <a:ext cx="2908109" cy="5449087"/>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6703853" y="610334"/>
            <a:ext cx="5484971" cy="5484971"/>
          </a:xfrm>
          <a:prstGeom prst="rect">
            <a:avLst/>
          </a:prstGeom>
          <a:noFill/>
          <a:ln/>
        </p:spPr>
        <p:txBody>
          <a:bodyPr wrap="square" lIns="0" tIns="0" rIns="0" bIns="0" rtlCol="0" anchor="ctr"/>
          <a:lstStyle/>
          <a:p>
            <a:pPr defTabSz="1218895">
              <a:buClrTx/>
            </a:pPr>
            <a:r>
              <a:rPr lang="en-US" sz="30659" b="1" kern="1200" dirty="0">
                <a:solidFill>
                  <a:srgbClr val="1B6CA8">
                    <a:alpha val="18000"/>
                  </a:srgbClr>
                </a:solidFill>
                <a:latin typeface="Arial Black" pitchFamily="34" charset="0"/>
                <a:ea typeface="Arial Black" pitchFamily="34" charset="-122"/>
                <a:cs typeface="Arial Black" pitchFamily="34" charset="-120"/>
              </a:rPr>
              <a:t>TS</a:t>
            </a:r>
            <a:endParaRPr lang="en-US" sz="30659" kern="1200" dirty="0">
              <a:solidFill>
                <a:prstClr val="black"/>
              </a:solidFill>
              <a:latin typeface="Calibri" panose="020F0502020204030204"/>
              <a:ea typeface="+mn-ea"/>
              <a:cs typeface="+mn-cs"/>
            </a:endParaRPr>
          </a:p>
        </p:txBody>
      </p:sp>
      <p:sp>
        <p:nvSpPr>
          <p:cNvPr id="4" name="Text 2"/>
          <p:cNvSpPr/>
          <p:nvPr/>
        </p:nvSpPr>
        <p:spPr>
          <a:xfrm>
            <a:off x="609441" y="1036943"/>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Migration  ·  Complete Course</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646384"/>
            <a:ext cx="10360501" cy="3169095"/>
          </a:xfrm>
          <a:prstGeom prst="rect">
            <a:avLst/>
          </a:prstGeom>
          <a:noFill/>
          <a:ln/>
        </p:spPr>
        <p:txBody>
          <a:bodyPr wrap="square" lIns="0" tIns="0" rIns="0" bIns="0" rtlCol="0" anchor="t"/>
          <a:lstStyle/>
          <a:p>
            <a:pPr defTabSz="1218895">
              <a:buClrTx/>
            </a:pPr>
            <a:r>
              <a:rPr lang="en-US" sz="5332" b="1" kern="1200" dirty="0">
                <a:solidFill>
                  <a:srgbClr val="FFFFFF"/>
                </a:solidFill>
                <a:latin typeface="Calibri" pitchFamily="34" charset="0"/>
                <a:ea typeface="Calibri" pitchFamily="34" charset="-122"/>
                <a:cs typeface="Calibri" pitchFamily="34" charset="-120"/>
              </a:rPr>
              <a:t>JavaScript  →  TypeScript
Incremental Migration
</a:t>
            </a:r>
            <a:r>
              <a:rPr lang="en-US" sz="3732" kern="1200" dirty="0">
                <a:solidFill>
                  <a:srgbClr val="2D9CDB"/>
                </a:solidFill>
                <a:latin typeface="Calibri" pitchFamily="34" charset="0"/>
                <a:ea typeface="Calibri" pitchFamily="34" charset="-122"/>
                <a:cs typeface="Calibri" pitchFamily="34" charset="-120"/>
              </a:rPr>
              <a:t>of SAP BTP CAP Projects</a:t>
            </a:r>
            <a:endParaRPr lang="en-US" sz="5332" kern="1200" dirty="0">
              <a:solidFill>
                <a:prstClr val="black"/>
              </a:solidFill>
              <a:latin typeface="Calibri" panose="020F0502020204030204"/>
              <a:ea typeface="+mn-ea"/>
              <a:cs typeface="+mn-cs"/>
            </a:endParaRPr>
          </a:p>
        </p:txBody>
      </p:sp>
      <p:sp>
        <p:nvSpPr>
          <p:cNvPr id="6" name="Shape 4"/>
          <p:cNvSpPr/>
          <p:nvPr/>
        </p:nvSpPr>
        <p:spPr>
          <a:xfrm>
            <a:off x="609441" y="4998311"/>
            <a:ext cx="4266089"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tsconfig.json</a:t>
            </a:r>
            <a:endParaRPr lang="en-US" sz="1133" kern="1200" dirty="0">
              <a:solidFill>
                <a:prstClr val="black"/>
              </a:solidFill>
              <a:latin typeface="Calibri" panose="020F0502020204030204"/>
              <a:ea typeface="+mn-ea"/>
              <a:cs typeface="+mn-cs"/>
            </a:endParaRPr>
          </a:p>
        </p:txBody>
      </p:sp>
      <p:sp>
        <p:nvSpPr>
          <p:cNvPr id="9" name="Shape 7"/>
          <p:cNvSpPr/>
          <p:nvPr/>
        </p:nvSpPr>
        <p:spPr>
          <a:xfrm>
            <a:off x="341287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41287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strict mode</a:t>
            </a:r>
            <a:endParaRPr lang="en-US" sz="1133" kern="1200" dirty="0">
              <a:solidFill>
                <a:prstClr val="black"/>
              </a:solidFill>
              <a:latin typeface="Calibri" panose="020F0502020204030204"/>
              <a:ea typeface="+mn-ea"/>
              <a:cs typeface="+mn-cs"/>
            </a:endParaRPr>
          </a:p>
        </p:txBody>
      </p:sp>
      <p:sp>
        <p:nvSpPr>
          <p:cNvPr id="11" name="Shape 9"/>
          <p:cNvSpPr/>
          <p:nvPr/>
        </p:nvSpPr>
        <p:spPr>
          <a:xfrm>
            <a:off x="621630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1630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CDS Types</a:t>
            </a:r>
            <a:endParaRPr lang="en-US" sz="1133" kern="1200" dirty="0">
              <a:solidFill>
                <a:prstClr val="black"/>
              </a:solidFill>
              <a:latin typeface="Calibri" panose="020F0502020204030204"/>
              <a:ea typeface="+mn-ea"/>
              <a:cs typeface="+mn-cs"/>
            </a:endParaRPr>
          </a:p>
        </p:txBody>
      </p:sp>
      <p:sp>
        <p:nvSpPr>
          <p:cNvPr id="13" name="Shape 11"/>
          <p:cNvSpPr/>
          <p:nvPr/>
        </p:nvSpPr>
        <p:spPr>
          <a:xfrm>
            <a:off x="901973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901973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CatalogService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0944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Branded Keys</a:t>
            </a:r>
            <a:endParaRPr lang="en-US" sz="1133" kern="1200" dirty="0">
              <a:solidFill>
                <a:prstClr val="black"/>
              </a:solidFill>
              <a:latin typeface="Calibri" panose="020F0502020204030204"/>
              <a:ea typeface="+mn-ea"/>
              <a:cs typeface="+mn-cs"/>
            </a:endParaRPr>
          </a:p>
        </p:txBody>
      </p:sp>
      <p:sp>
        <p:nvSpPr>
          <p:cNvPr id="17" name="Shape 15"/>
          <p:cNvSpPr/>
          <p:nvPr/>
        </p:nvSpPr>
        <p:spPr>
          <a:xfrm>
            <a:off x="341287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341287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Null-safe calls</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16300"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216300"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Jest Tests</a:t>
            </a:r>
            <a:endParaRPr lang="en-US" sz="1133" kern="1200" dirty="0">
              <a:solidFill>
                <a:prstClr val="black"/>
              </a:solidFill>
              <a:latin typeface="Calibri" panose="020F0502020204030204"/>
              <a:ea typeface="+mn-ea"/>
              <a:cs typeface="+mn-cs"/>
            </a:endParaRPr>
          </a:p>
        </p:txBody>
      </p:sp>
      <p:sp>
        <p:nvSpPr>
          <p:cNvPr id="21" name="Shape 19"/>
          <p:cNvSpPr/>
          <p:nvPr/>
        </p:nvSpPr>
        <p:spPr>
          <a:xfrm>
            <a:off x="9507283" y="6034361"/>
            <a:ext cx="2437765" cy="731330"/>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507283" y="6034361"/>
            <a:ext cx="2437765" cy="731330"/>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Complete Guide</a:t>
            </a:r>
            <a:endParaRPr lang="en-US" sz="1600"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EC806731-862E-4D11-A00A-EB73EF762499}"/>
              </a:ext>
            </a:extLst>
          </p:cNvPr>
          <p:cNvPicPr preferRelativeResize="0"/>
          <p:nvPr/>
        </p:nvPicPr>
        <p:blipFill rotWithShape="1">
          <a:blip r:embed="rId3">
            <a:alphaModFix/>
          </a:blip>
          <a:srcRect/>
          <a:stretch/>
        </p:blipFill>
        <p:spPr>
          <a:xfrm>
            <a:off x="7851539" y="1372856"/>
            <a:ext cx="3508446" cy="33517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1218883"/>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Learning Objectives — Complete Migration Path</a:t>
            </a:r>
            <a:endParaRPr lang="en-US" sz="3333" kern="1200" dirty="0">
              <a:solidFill>
                <a:prstClr val="black"/>
              </a:solidFill>
              <a:latin typeface="Calibri" panose="020F0502020204030204"/>
              <a:ea typeface="+mn-ea"/>
              <a:cs typeface="+mn-cs"/>
            </a:endParaRPr>
          </a:p>
        </p:txBody>
      </p:sp>
      <p:sp>
        <p:nvSpPr>
          <p:cNvPr id="5" name="Shape 3"/>
          <p:cNvSpPr/>
          <p:nvPr/>
        </p:nvSpPr>
        <p:spPr>
          <a:xfrm>
            <a:off x="426608"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6" name="Shape 4"/>
          <p:cNvSpPr/>
          <p:nvPr/>
        </p:nvSpPr>
        <p:spPr>
          <a:xfrm>
            <a:off x="426608" y="1487929"/>
            <a:ext cx="85322" cy="1218883"/>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597252" y="1780461"/>
            <a:ext cx="633819" cy="633819"/>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33818" y="1817028"/>
            <a:ext cx="560686" cy="560686"/>
          </a:xfrm>
          <a:prstGeom prst="rect">
            <a:avLst/>
          </a:prstGeom>
        </p:spPr>
      </p:pic>
      <p:sp>
        <p:nvSpPr>
          <p:cNvPr id="9" name="Text 6"/>
          <p:cNvSpPr/>
          <p:nvPr/>
        </p:nvSpPr>
        <p:spPr>
          <a:xfrm>
            <a:off x="1377337"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Install &amp; Configure TS in CAP</a:t>
            </a:r>
            <a:endParaRPr lang="en-US" sz="1600" kern="1200" dirty="0">
              <a:solidFill>
                <a:prstClr val="black"/>
              </a:solidFill>
              <a:latin typeface="Calibri" panose="020F0502020204030204"/>
              <a:ea typeface="+mn-ea"/>
              <a:cs typeface="+mn-cs"/>
            </a:endParaRPr>
          </a:p>
        </p:txBody>
      </p:sp>
      <p:sp>
        <p:nvSpPr>
          <p:cNvPr id="10" name="Text 7"/>
          <p:cNvSpPr/>
          <p:nvPr/>
        </p:nvSpPr>
        <p:spPr>
          <a:xfrm>
            <a:off x="1377337"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npm packages, @cap-js/cds-types, tsconfig.json tuned for CAP Node.js projects</a:t>
            </a:r>
            <a:endParaRPr lang="en-US" sz="1266" kern="1200" dirty="0">
              <a:solidFill>
                <a:prstClr val="black"/>
              </a:solidFill>
              <a:latin typeface="Calibri" panose="020F0502020204030204"/>
              <a:ea typeface="+mn-ea"/>
              <a:cs typeface="+mn-cs"/>
            </a:endParaRPr>
          </a:p>
        </p:txBody>
      </p:sp>
      <p:sp>
        <p:nvSpPr>
          <p:cNvPr id="11" name="Shape 8"/>
          <p:cNvSpPr/>
          <p:nvPr/>
        </p:nvSpPr>
        <p:spPr>
          <a:xfrm>
            <a:off x="6423510"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9"/>
          <p:cNvSpPr/>
          <p:nvPr/>
        </p:nvSpPr>
        <p:spPr>
          <a:xfrm>
            <a:off x="6423510" y="1487929"/>
            <a:ext cx="85322" cy="1218883"/>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0"/>
          <p:cNvSpPr/>
          <p:nvPr/>
        </p:nvSpPr>
        <p:spPr>
          <a:xfrm>
            <a:off x="6594154" y="1780461"/>
            <a:ext cx="633819" cy="63381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4" name="Image 1" descr="preencoded.png"/>
          <p:cNvPicPr>
            <a:picLocks noChangeAspect="1"/>
          </p:cNvPicPr>
          <p:nvPr/>
        </p:nvPicPr>
        <p:blipFill>
          <a:blip r:embed="rId4"/>
          <a:stretch>
            <a:fillRect/>
          </a:stretch>
        </p:blipFill>
        <p:spPr>
          <a:xfrm>
            <a:off x="6630720" y="1817028"/>
            <a:ext cx="560686" cy="560686"/>
          </a:xfrm>
          <a:prstGeom prst="rect">
            <a:avLst/>
          </a:prstGeom>
        </p:spPr>
      </p:pic>
      <p:sp>
        <p:nvSpPr>
          <p:cNvPr id="15" name="Text 11"/>
          <p:cNvSpPr/>
          <p:nvPr/>
        </p:nvSpPr>
        <p:spPr>
          <a:xfrm>
            <a:off x="7374239"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Utility Files</a:t>
            </a:r>
            <a:endParaRPr lang="en-US" sz="1600" kern="1200" dirty="0">
              <a:solidFill>
                <a:prstClr val="black"/>
              </a:solidFill>
              <a:latin typeface="Calibri" panose="020F0502020204030204"/>
              <a:ea typeface="+mn-ea"/>
              <a:cs typeface="+mn-cs"/>
            </a:endParaRPr>
          </a:p>
        </p:txBody>
      </p:sp>
      <p:sp>
        <p:nvSpPr>
          <p:cNvPr id="16" name="Text 12"/>
          <p:cNvSpPr/>
          <p:nvPr/>
        </p:nvSpPr>
        <p:spPr>
          <a:xfrm>
            <a:off x="7374239"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payload-transformer.ts and error-mapper.ts with full interfaces and strict types</a:t>
            </a:r>
            <a:endParaRPr lang="en-US" sz="1266" kern="1200" dirty="0">
              <a:solidFill>
                <a:prstClr val="black"/>
              </a:solidFill>
              <a:latin typeface="Calibri" panose="020F0502020204030204"/>
              <a:ea typeface="+mn-ea"/>
              <a:cs typeface="+mn-cs"/>
            </a:endParaRPr>
          </a:p>
        </p:txBody>
      </p:sp>
      <p:sp>
        <p:nvSpPr>
          <p:cNvPr id="17" name="Shape 13"/>
          <p:cNvSpPr/>
          <p:nvPr/>
        </p:nvSpPr>
        <p:spPr>
          <a:xfrm>
            <a:off x="426608"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4"/>
          <p:cNvSpPr/>
          <p:nvPr/>
        </p:nvSpPr>
        <p:spPr>
          <a:xfrm>
            <a:off x="426608" y="2828700"/>
            <a:ext cx="85322" cy="121888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5"/>
          <p:cNvSpPr/>
          <p:nvPr/>
        </p:nvSpPr>
        <p:spPr>
          <a:xfrm>
            <a:off x="597252" y="3121232"/>
            <a:ext cx="633819" cy="63381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2" descr="preencoded.png"/>
          <p:cNvPicPr>
            <a:picLocks noChangeAspect="1"/>
          </p:cNvPicPr>
          <p:nvPr/>
        </p:nvPicPr>
        <p:blipFill>
          <a:blip r:embed="rId5"/>
          <a:stretch>
            <a:fillRect/>
          </a:stretch>
        </p:blipFill>
        <p:spPr>
          <a:xfrm>
            <a:off x="633818" y="3157799"/>
            <a:ext cx="560686" cy="560686"/>
          </a:xfrm>
          <a:prstGeom prst="rect">
            <a:avLst/>
          </a:prstGeom>
        </p:spPr>
      </p:pic>
      <p:sp>
        <p:nvSpPr>
          <p:cNvPr id="21" name="Text 16"/>
          <p:cNvSpPr/>
          <p:nvPr/>
        </p:nvSpPr>
        <p:spPr>
          <a:xfrm>
            <a:off x="1377337"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CAP Service Handlers</a:t>
            </a:r>
            <a:endParaRPr lang="en-US" sz="1600" kern="1200" dirty="0">
              <a:solidFill>
                <a:prstClr val="black"/>
              </a:solidFill>
              <a:latin typeface="Calibri" panose="020F0502020204030204"/>
              <a:ea typeface="+mn-ea"/>
              <a:cs typeface="+mn-cs"/>
            </a:endParaRPr>
          </a:p>
        </p:txBody>
      </p:sp>
      <p:sp>
        <p:nvSpPr>
          <p:cNvPr id="22" name="Text 17"/>
          <p:cNvSpPr/>
          <p:nvPr/>
        </p:nvSpPr>
        <p:spPr>
          <a:xfrm>
            <a:off x="1377337"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CatalogService.js and CDSService.js generic handlers — typed CDS events &amp; requests</a:t>
            </a:r>
            <a:endParaRPr lang="en-US" sz="1266" kern="1200" dirty="0">
              <a:solidFill>
                <a:prstClr val="black"/>
              </a:solidFill>
              <a:latin typeface="Calibri" panose="020F0502020204030204"/>
              <a:ea typeface="+mn-ea"/>
              <a:cs typeface="+mn-cs"/>
            </a:endParaRPr>
          </a:p>
        </p:txBody>
      </p:sp>
      <p:sp>
        <p:nvSpPr>
          <p:cNvPr id="23" name="Shape 18"/>
          <p:cNvSpPr/>
          <p:nvPr/>
        </p:nvSpPr>
        <p:spPr>
          <a:xfrm>
            <a:off x="6423510"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19"/>
          <p:cNvSpPr/>
          <p:nvPr/>
        </p:nvSpPr>
        <p:spPr>
          <a:xfrm>
            <a:off x="6423510" y="2828700"/>
            <a:ext cx="85322" cy="1218883"/>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0"/>
          <p:cNvSpPr/>
          <p:nvPr/>
        </p:nvSpPr>
        <p:spPr>
          <a:xfrm>
            <a:off x="6594154" y="3121232"/>
            <a:ext cx="633819" cy="63381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6" name="Image 3" descr="preencoded.png"/>
          <p:cNvPicPr>
            <a:picLocks noChangeAspect="1"/>
          </p:cNvPicPr>
          <p:nvPr/>
        </p:nvPicPr>
        <p:blipFill>
          <a:blip r:embed="rId6"/>
          <a:stretch>
            <a:fillRect/>
          </a:stretch>
        </p:blipFill>
        <p:spPr>
          <a:xfrm>
            <a:off x="6630720" y="3157799"/>
            <a:ext cx="560686" cy="560686"/>
          </a:xfrm>
          <a:prstGeom prst="rect">
            <a:avLst/>
          </a:prstGeom>
        </p:spPr>
      </p:pic>
      <p:sp>
        <p:nvSpPr>
          <p:cNvPr id="27" name="Text 21"/>
          <p:cNvSpPr/>
          <p:nvPr/>
        </p:nvSpPr>
        <p:spPr>
          <a:xfrm>
            <a:off x="7374239"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Define OData Interfaces</a:t>
            </a:r>
            <a:endParaRPr lang="en-US" sz="1600" kern="1200" dirty="0">
              <a:solidFill>
                <a:prstClr val="black"/>
              </a:solidFill>
              <a:latin typeface="Calibri" panose="020F0502020204030204"/>
              <a:ea typeface="+mn-ea"/>
              <a:cs typeface="+mn-cs"/>
            </a:endParaRPr>
          </a:p>
        </p:txBody>
      </p:sp>
      <p:sp>
        <p:nvSpPr>
          <p:cNvPr id="28" name="Text 22"/>
          <p:cNvSpPr/>
          <p:nvPr/>
        </p:nvSpPr>
        <p:spPr>
          <a:xfrm>
            <a:off x="7374239"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OData payload shapes, error objects, and CDS entity interfaces</a:t>
            </a:r>
            <a:endParaRPr lang="en-US" sz="1266" kern="1200" dirty="0">
              <a:solidFill>
                <a:prstClr val="black"/>
              </a:solidFill>
              <a:latin typeface="Calibri" panose="020F0502020204030204"/>
              <a:ea typeface="+mn-ea"/>
              <a:cs typeface="+mn-cs"/>
            </a:endParaRPr>
          </a:p>
        </p:txBody>
      </p:sp>
      <p:sp>
        <p:nvSpPr>
          <p:cNvPr id="29" name="Shape 23"/>
          <p:cNvSpPr/>
          <p:nvPr/>
        </p:nvSpPr>
        <p:spPr>
          <a:xfrm>
            <a:off x="426608"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4"/>
          <p:cNvSpPr/>
          <p:nvPr/>
        </p:nvSpPr>
        <p:spPr>
          <a:xfrm>
            <a:off x="426608" y="4169471"/>
            <a:ext cx="85322" cy="1218883"/>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5"/>
          <p:cNvSpPr/>
          <p:nvPr/>
        </p:nvSpPr>
        <p:spPr>
          <a:xfrm>
            <a:off x="597252" y="4462003"/>
            <a:ext cx="633819" cy="633819"/>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2" name="Image 4" descr="preencoded.png"/>
          <p:cNvPicPr>
            <a:picLocks noChangeAspect="1"/>
          </p:cNvPicPr>
          <p:nvPr/>
        </p:nvPicPr>
        <p:blipFill>
          <a:blip r:embed="rId7"/>
          <a:stretch>
            <a:fillRect/>
          </a:stretch>
        </p:blipFill>
        <p:spPr>
          <a:xfrm>
            <a:off x="633818" y="4498569"/>
            <a:ext cx="560686" cy="560686"/>
          </a:xfrm>
          <a:prstGeom prst="rect">
            <a:avLst/>
          </a:prstGeom>
        </p:spPr>
      </p:pic>
      <p:sp>
        <p:nvSpPr>
          <p:cNvPr id="33" name="Text 26"/>
          <p:cNvSpPr/>
          <p:nvPr/>
        </p:nvSpPr>
        <p:spPr>
          <a:xfrm>
            <a:off x="1377337"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Branded Types for Entity Keys</a:t>
            </a:r>
            <a:endParaRPr lang="en-US" sz="1600" kern="1200" dirty="0">
              <a:solidFill>
                <a:prstClr val="black"/>
              </a:solidFill>
              <a:latin typeface="Calibri" panose="020F0502020204030204"/>
              <a:ea typeface="+mn-ea"/>
              <a:cs typeface="+mn-cs"/>
            </a:endParaRPr>
          </a:p>
        </p:txBody>
      </p:sp>
      <p:sp>
        <p:nvSpPr>
          <p:cNvPr id="34" name="Text 27"/>
          <p:cNvSpPr/>
          <p:nvPr/>
        </p:nvSpPr>
        <p:spPr>
          <a:xfrm>
            <a:off x="1377337"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Prevent ID mix-ups at compile time using opaque/branded string types</a:t>
            </a:r>
            <a:endParaRPr lang="en-US" sz="1266" kern="1200" dirty="0">
              <a:solidFill>
                <a:prstClr val="black"/>
              </a:solidFill>
              <a:latin typeface="Calibri" panose="020F0502020204030204"/>
              <a:ea typeface="+mn-ea"/>
              <a:cs typeface="+mn-cs"/>
            </a:endParaRPr>
          </a:p>
        </p:txBody>
      </p:sp>
      <p:sp>
        <p:nvSpPr>
          <p:cNvPr id="35" name="Shape 28"/>
          <p:cNvSpPr/>
          <p:nvPr/>
        </p:nvSpPr>
        <p:spPr>
          <a:xfrm>
            <a:off x="6423510"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29"/>
          <p:cNvSpPr/>
          <p:nvPr/>
        </p:nvSpPr>
        <p:spPr>
          <a:xfrm>
            <a:off x="6423510" y="4169471"/>
            <a:ext cx="85322" cy="1218883"/>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0"/>
          <p:cNvSpPr/>
          <p:nvPr/>
        </p:nvSpPr>
        <p:spPr>
          <a:xfrm>
            <a:off x="6594154" y="4462003"/>
            <a:ext cx="633819" cy="633819"/>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8" name="Image 5" descr="preencoded.png"/>
          <p:cNvPicPr>
            <a:picLocks noChangeAspect="1"/>
          </p:cNvPicPr>
          <p:nvPr/>
        </p:nvPicPr>
        <p:blipFill>
          <a:blip r:embed="rId8"/>
          <a:stretch>
            <a:fillRect/>
          </a:stretch>
        </p:blipFill>
        <p:spPr>
          <a:xfrm>
            <a:off x="6630720" y="4498569"/>
            <a:ext cx="560686" cy="560686"/>
          </a:xfrm>
          <a:prstGeom prst="rect">
            <a:avLst/>
          </a:prstGeom>
        </p:spPr>
      </p:pic>
      <p:sp>
        <p:nvSpPr>
          <p:cNvPr id="39" name="Text 31"/>
          <p:cNvSpPr/>
          <p:nvPr/>
        </p:nvSpPr>
        <p:spPr>
          <a:xfrm>
            <a:off x="7374239"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Strict Null-Safe Service Calls</a:t>
            </a:r>
            <a:endParaRPr lang="en-US" sz="1600" kern="1200" dirty="0">
              <a:solidFill>
                <a:prstClr val="black"/>
              </a:solidFill>
              <a:latin typeface="Calibri" panose="020F0502020204030204"/>
              <a:ea typeface="+mn-ea"/>
              <a:cs typeface="+mn-cs"/>
            </a:endParaRPr>
          </a:p>
        </p:txBody>
      </p:sp>
      <p:sp>
        <p:nvSpPr>
          <p:cNvPr id="40" name="Text 32"/>
          <p:cNvSpPr/>
          <p:nvPr/>
        </p:nvSpPr>
        <p:spPr>
          <a:xfrm>
            <a:off x="7374239"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Guard every cds.connect, service.run and request.data against null/undefined</a:t>
            </a:r>
            <a:endParaRPr lang="en-US" sz="1266" kern="1200" dirty="0">
              <a:solidFill>
                <a:prstClr val="black"/>
              </a:solidFill>
              <a:latin typeface="Calibri" panose="020F0502020204030204"/>
              <a:ea typeface="+mn-ea"/>
              <a:cs typeface="+mn-cs"/>
            </a:endParaRPr>
          </a:p>
        </p:txBody>
      </p:sp>
      <p:sp>
        <p:nvSpPr>
          <p:cNvPr id="41" name="Shape 33"/>
          <p:cNvSpPr/>
          <p:nvPr/>
        </p:nvSpPr>
        <p:spPr>
          <a:xfrm>
            <a:off x="3108150" y="5510242"/>
            <a:ext cx="5972524"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Shape 34"/>
          <p:cNvSpPr/>
          <p:nvPr/>
        </p:nvSpPr>
        <p:spPr>
          <a:xfrm>
            <a:off x="3108150" y="5510242"/>
            <a:ext cx="85322" cy="1218883"/>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Shape 35"/>
          <p:cNvSpPr/>
          <p:nvPr/>
        </p:nvSpPr>
        <p:spPr>
          <a:xfrm>
            <a:off x="3278793" y="5802774"/>
            <a:ext cx="633819" cy="633819"/>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44" name="Image 6" descr="preencoded.png"/>
          <p:cNvPicPr>
            <a:picLocks noChangeAspect="1"/>
          </p:cNvPicPr>
          <p:nvPr/>
        </p:nvPicPr>
        <p:blipFill>
          <a:blip r:embed="rId9"/>
          <a:stretch>
            <a:fillRect/>
          </a:stretch>
        </p:blipFill>
        <p:spPr>
          <a:xfrm>
            <a:off x="3315360" y="5839340"/>
            <a:ext cx="560686" cy="560686"/>
          </a:xfrm>
          <a:prstGeom prst="rect">
            <a:avLst/>
          </a:prstGeom>
        </p:spPr>
      </p:pic>
      <p:sp>
        <p:nvSpPr>
          <p:cNvPr id="45" name="Text 36"/>
          <p:cNvSpPr/>
          <p:nvPr/>
        </p:nvSpPr>
        <p:spPr>
          <a:xfrm>
            <a:off x="4058878" y="5632130"/>
            <a:ext cx="4875530"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Verify Without Rewriting</a:t>
            </a:r>
            <a:endParaRPr lang="en-US" sz="1600" kern="1200" dirty="0">
              <a:solidFill>
                <a:prstClr val="black"/>
              </a:solidFill>
              <a:latin typeface="Calibri" panose="020F0502020204030204"/>
              <a:ea typeface="+mn-ea"/>
              <a:cs typeface="+mn-cs"/>
            </a:endParaRPr>
          </a:p>
        </p:txBody>
      </p:sp>
      <p:sp>
        <p:nvSpPr>
          <p:cNvPr id="46" name="Text 37"/>
          <p:cNvSpPr/>
          <p:nvPr/>
        </p:nvSpPr>
        <p:spPr>
          <a:xfrm>
            <a:off x="4058878" y="6046550"/>
            <a:ext cx="4875530"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tsc --noEmit + unchanged Jest suite confirms all business logic is preserved</a:t>
            </a:r>
            <a:endParaRPr lang="en-US" sz="1266" kern="1200" dirty="0">
              <a:solidFill>
                <a:prstClr val="black"/>
              </a:solidFill>
              <a:latin typeface="Calibri" panose="020F0502020204030204"/>
              <a:ea typeface="+mn-ea"/>
              <a:cs typeface="+mn-cs"/>
            </a:endParaRPr>
          </a:p>
        </p:txBody>
      </p:sp>
      <p:pic>
        <p:nvPicPr>
          <p:cNvPr id="47" name="Google Shape;497;p1">
            <a:extLst>
              <a:ext uri="{FF2B5EF4-FFF2-40B4-BE49-F238E27FC236}">
                <a16:creationId xmlns:a16="http://schemas.microsoft.com/office/drawing/2014/main" id="{075ECE42-CE8E-012D-97F1-129F0653B303}"/>
              </a:ext>
            </a:extLst>
          </p:cNvPr>
          <p:cNvPicPr preferRelativeResize="0"/>
          <p:nvPr/>
        </p:nvPicPr>
        <p:blipFill rotWithShape="1">
          <a:blip r:embed="rId10">
            <a:alphaModFix/>
          </a:blip>
          <a:srcRect/>
          <a:stretch/>
        </p:blipFill>
        <p:spPr>
          <a:xfrm>
            <a:off x="10503584" y="-58217"/>
            <a:ext cx="1733995" cy="165618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Starter Project Structure — Files to Migrate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All JS files involved · three layers: utilities, service handlers, and tests</a:t>
            </a:r>
            <a:endParaRPr lang="en-US" kern="1200" dirty="0">
              <a:solidFill>
                <a:prstClr val="black"/>
              </a:solidFill>
              <a:latin typeface="Calibri" panose="020F0502020204030204"/>
              <a:ea typeface="+mn-ea"/>
              <a:cs typeface="+mn-cs"/>
            </a:endParaRPr>
          </a:p>
        </p:txBody>
      </p:sp>
      <p:sp>
        <p:nvSpPr>
          <p:cNvPr id="6" name="Shape 4"/>
          <p:cNvSpPr/>
          <p:nvPr/>
        </p:nvSpPr>
        <p:spPr>
          <a:xfrm>
            <a:off x="426609" y="1402608"/>
            <a:ext cx="4997418" cy="524119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1487930"/>
            <a:ext cx="4692698" cy="426609"/>
          </a:xfrm>
          <a:prstGeom prst="rect">
            <a:avLst/>
          </a:prstGeom>
          <a:noFill/>
          <a:ln/>
        </p:spPr>
        <p:txBody>
          <a:bodyPr wrap="square" lIns="0" tIns="0" rIns="0" bIns="0" rtlCol="0" anchor="ctr"/>
          <a:lstStyle/>
          <a:p>
            <a:pPr defTabSz="1218895">
              <a:buClrTx/>
            </a:pPr>
            <a:r>
              <a:rPr lang="en-US" sz="1600" b="1" kern="1200" dirty="0">
                <a:solidFill>
                  <a:srgbClr val="F59E0B"/>
                </a:solidFill>
                <a:latin typeface="Consolas" pitchFamily="34" charset="0"/>
                <a:ea typeface="Consolas" pitchFamily="34" charset="-122"/>
                <a:cs typeface="Consolas" pitchFamily="34" charset="-120"/>
              </a:rPr>
              <a:t>📁 CAP Project Structure</a:t>
            </a:r>
            <a:endParaRPr lang="en-US" sz="1600" kern="1200" dirty="0">
              <a:solidFill>
                <a:prstClr val="black"/>
              </a:solidFill>
              <a:latin typeface="Calibri" panose="020F0502020204030204"/>
              <a:ea typeface="+mn-ea"/>
              <a:cs typeface="+mn-cs"/>
            </a:endParaRPr>
          </a:p>
        </p:txBody>
      </p:sp>
      <p:sp>
        <p:nvSpPr>
          <p:cNvPr id="8" name="Text 6"/>
          <p:cNvSpPr/>
          <p:nvPr/>
        </p:nvSpPr>
        <p:spPr>
          <a:xfrm>
            <a:off x="609441" y="1975483"/>
            <a:ext cx="4631754" cy="292532"/>
          </a:xfrm>
          <a:prstGeom prst="rect">
            <a:avLst/>
          </a:prstGeom>
          <a:noFill/>
          <a:ln/>
        </p:spPr>
        <p:txBody>
          <a:bodyPr wrap="square" lIns="0" tIns="0" rIns="0" bIns="0" rtlCol="0" anchor="ctr"/>
          <a:lstStyle/>
          <a:p>
            <a:pPr defTabSz="1218895">
              <a:buClrTx/>
            </a:pPr>
            <a:r>
              <a:rPr lang="en-US" sz="1200" b="1" kern="1200" dirty="0">
                <a:solidFill>
                  <a:srgbClr val="FFFFFF"/>
                </a:solidFill>
                <a:latin typeface="Consolas" pitchFamily="34" charset="0"/>
                <a:ea typeface="Consolas" pitchFamily="34" charset="-122"/>
                <a:cs typeface="Consolas" pitchFamily="34" charset="-120"/>
              </a:rPr>
              <a:t>my-cap-project/</a:t>
            </a:r>
            <a:endParaRPr lang="en-US" sz="1200" kern="1200" dirty="0">
              <a:solidFill>
                <a:prstClr val="black"/>
              </a:solidFill>
              <a:latin typeface="Calibri" panose="020F0502020204030204"/>
              <a:ea typeface="+mn-ea"/>
              <a:cs typeface="+mn-cs"/>
            </a:endParaRPr>
          </a:p>
        </p:txBody>
      </p:sp>
      <p:sp>
        <p:nvSpPr>
          <p:cNvPr id="9" name="Text 7"/>
          <p:cNvSpPr/>
          <p:nvPr/>
        </p:nvSpPr>
        <p:spPr>
          <a:xfrm>
            <a:off x="755706" y="2292392"/>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package.json</a:t>
            </a:r>
            <a:endParaRPr lang="en-US" sz="1200" kern="1200" dirty="0">
              <a:solidFill>
                <a:prstClr val="black"/>
              </a:solidFill>
              <a:latin typeface="Calibri" panose="020F0502020204030204"/>
              <a:ea typeface="+mn-ea"/>
              <a:cs typeface="+mn-cs"/>
            </a:endParaRPr>
          </a:p>
        </p:txBody>
      </p:sp>
      <p:sp>
        <p:nvSpPr>
          <p:cNvPr id="10" name="Text 8"/>
          <p:cNvSpPr/>
          <p:nvPr/>
        </p:nvSpPr>
        <p:spPr>
          <a:xfrm>
            <a:off x="755706" y="2609301"/>
            <a:ext cx="4631754" cy="292532"/>
          </a:xfrm>
          <a:prstGeom prst="rect">
            <a:avLst/>
          </a:prstGeom>
          <a:noFill/>
          <a:ln/>
        </p:spPr>
        <p:txBody>
          <a:bodyPr wrap="square" lIns="0" tIns="0" rIns="0" bIns="0" rtlCol="0" anchor="ctr"/>
          <a:lstStyle/>
          <a:p>
            <a:pPr defTabSz="1218895">
              <a:buClrTx/>
            </a:pPr>
            <a:r>
              <a:rPr lang="en-US" sz="1200" b="1" kern="1200" dirty="0">
                <a:solidFill>
                  <a:srgbClr val="4ADE80"/>
                </a:solidFill>
                <a:latin typeface="Consolas" pitchFamily="34" charset="0"/>
                <a:ea typeface="Consolas" pitchFamily="34" charset="-122"/>
                <a:cs typeface="Consolas" pitchFamily="34" charset="-120"/>
              </a:rPr>
              <a:t>├─ tsconfig.json         ← ADD</a:t>
            </a:r>
            <a:endParaRPr lang="en-US" sz="1200" kern="1200" dirty="0">
              <a:solidFill>
                <a:prstClr val="black"/>
              </a:solidFill>
              <a:latin typeface="Calibri" panose="020F0502020204030204"/>
              <a:ea typeface="+mn-ea"/>
              <a:cs typeface="+mn-cs"/>
            </a:endParaRPr>
          </a:p>
        </p:txBody>
      </p:sp>
      <p:sp>
        <p:nvSpPr>
          <p:cNvPr id="11" name="Text 9"/>
          <p:cNvSpPr/>
          <p:nvPr/>
        </p:nvSpPr>
        <p:spPr>
          <a:xfrm>
            <a:off x="755706" y="2926211"/>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.cdsrc.json</a:t>
            </a:r>
            <a:endParaRPr lang="en-US" sz="1200" kern="1200" dirty="0">
              <a:solidFill>
                <a:prstClr val="black"/>
              </a:solidFill>
              <a:latin typeface="Calibri" panose="020F0502020204030204"/>
              <a:ea typeface="+mn-ea"/>
              <a:cs typeface="+mn-cs"/>
            </a:endParaRPr>
          </a:p>
        </p:txBody>
      </p:sp>
      <p:sp>
        <p:nvSpPr>
          <p:cNvPr id="12" name="Text 10"/>
          <p:cNvSpPr/>
          <p:nvPr/>
        </p:nvSpPr>
        <p:spPr>
          <a:xfrm>
            <a:off x="755706" y="3243120"/>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db/</a:t>
            </a:r>
            <a:endParaRPr lang="en-US" sz="1200" kern="1200" dirty="0">
              <a:solidFill>
                <a:prstClr val="black"/>
              </a:solidFill>
              <a:latin typeface="Calibri" panose="020F0502020204030204"/>
              <a:ea typeface="+mn-ea"/>
              <a:cs typeface="+mn-cs"/>
            </a:endParaRPr>
          </a:p>
        </p:txBody>
      </p:sp>
      <p:sp>
        <p:nvSpPr>
          <p:cNvPr id="13" name="Text 11"/>
          <p:cNvSpPr/>
          <p:nvPr/>
        </p:nvSpPr>
        <p:spPr>
          <a:xfrm>
            <a:off x="901972" y="3560030"/>
            <a:ext cx="4631754" cy="292532"/>
          </a:xfrm>
          <a:prstGeom prst="rect">
            <a:avLst/>
          </a:prstGeom>
          <a:noFill/>
          <a:ln/>
        </p:spPr>
        <p:txBody>
          <a:bodyPr wrap="square" lIns="0" tIns="0" rIns="0" bIns="0" rtlCol="0" anchor="ctr"/>
          <a:lstStyle/>
          <a:p>
            <a:pPr defTabSz="1218895">
              <a:buClrTx/>
            </a:pPr>
            <a:r>
              <a:rPr lang="en-US" sz="1200" kern="1200" dirty="0">
                <a:solidFill>
                  <a:srgbClr val="94A3B8"/>
                </a:solidFill>
                <a:latin typeface="Consolas" pitchFamily="34" charset="0"/>
                <a:ea typeface="Consolas" pitchFamily="34" charset="-122"/>
                <a:cs typeface="Consolas" pitchFamily="34" charset="-120"/>
              </a:rPr>
              <a:t>│  └─ schema.cds         ← no change</a:t>
            </a:r>
            <a:endParaRPr lang="en-US" sz="1200" kern="1200" dirty="0">
              <a:solidFill>
                <a:prstClr val="black"/>
              </a:solidFill>
              <a:latin typeface="Calibri" panose="020F0502020204030204"/>
              <a:ea typeface="+mn-ea"/>
              <a:cs typeface="+mn-cs"/>
            </a:endParaRPr>
          </a:p>
        </p:txBody>
      </p:sp>
      <p:sp>
        <p:nvSpPr>
          <p:cNvPr id="14" name="Text 12"/>
          <p:cNvSpPr/>
          <p:nvPr/>
        </p:nvSpPr>
        <p:spPr>
          <a:xfrm>
            <a:off x="755706" y="3876939"/>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srv/</a:t>
            </a:r>
            <a:endParaRPr lang="en-US" sz="1200" kern="1200" dirty="0">
              <a:solidFill>
                <a:prstClr val="black"/>
              </a:solidFill>
              <a:latin typeface="Calibri" panose="020F0502020204030204"/>
              <a:ea typeface="+mn-ea"/>
              <a:cs typeface="+mn-cs"/>
            </a:endParaRPr>
          </a:p>
        </p:txBody>
      </p:sp>
      <p:sp>
        <p:nvSpPr>
          <p:cNvPr id="15" name="Text 13"/>
          <p:cNvSpPr/>
          <p:nvPr/>
        </p:nvSpPr>
        <p:spPr>
          <a:xfrm>
            <a:off x="901972" y="4193849"/>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CatalogService.js  ⬅ migrate</a:t>
            </a:r>
            <a:endParaRPr lang="en-US" sz="1200" kern="1200" dirty="0">
              <a:solidFill>
                <a:prstClr val="black"/>
              </a:solidFill>
              <a:latin typeface="Calibri" panose="020F0502020204030204"/>
              <a:ea typeface="+mn-ea"/>
              <a:cs typeface="+mn-cs"/>
            </a:endParaRPr>
          </a:p>
        </p:txBody>
      </p:sp>
      <p:sp>
        <p:nvSpPr>
          <p:cNvPr id="16" name="Text 14"/>
          <p:cNvSpPr/>
          <p:nvPr/>
        </p:nvSpPr>
        <p:spPr>
          <a:xfrm>
            <a:off x="901972" y="4510758"/>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CDSService.js      ⬅ migrate</a:t>
            </a:r>
            <a:endParaRPr lang="en-US" sz="1200" kern="1200" dirty="0">
              <a:solidFill>
                <a:prstClr val="black"/>
              </a:solidFill>
              <a:latin typeface="Calibri" panose="020F0502020204030204"/>
              <a:ea typeface="+mn-ea"/>
              <a:cs typeface="+mn-cs"/>
            </a:endParaRPr>
          </a:p>
        </p:txBody>
      </p:sp>
      <p:sp>
        <p:nvSpPr>
          <p:cNvPr id="17" name="Text 15"/>
          <p:cNvSpPr/>
          <p:nvPr/>
        </p:nvSpPr>
        <p:spPr>
          <a:xfrm>
            <a:off x="755706" y="4827668"/>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utils/</a:t>
            </a:r>
            <a:endParaRPr lang="en-US" sz="1200" kern="1200" dirty="0">
              <a:solidFill>
                <a:prstClr val="black"/>
              </a:solidFill>
              <a:latin typeface="Calibri" panose="020F0502020204030204"/>
              <a:ea typeface="+mn-ea"/>
              <a:cs typeface="+mn-cs"/>
            </a:endParaRPr>
          </a:p>
        </p:txBody>
      </p:sp>
      <p:sp>
        <p:nvSpPr>
          <p:cNvPr id="18" name="Text 16"/>
          <p:cNvSpPr/>
          <p:nvPr/>
        </p:nvSpPr>
        <p:spPr>
          <a:xfrm>
            <a:off x="901972" y="5144577"/>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payload-transformer.js  ⬅ migrate</a:t>
            </a:r>
            <a:endParaRPr lang="en-US" sz="1200" kern="1200" dirty="0">
              <a:solidFill>
                <a:prstClr val="black"/>
              </a:solidFill>
              <a:latin typeface="Calibri" panose="020F0502020204030204"/>
              <a:ea typeface="+mn-ea"/>
              <a:cs typeface="+mn-cs"/>
            </a:endParaRPr>
          </a:p>
        </p:txBody>
      </p:sp>
      <p:sp>
        <p:nvSpPr>
          <p:cNvPr id="19" name="Text 17"/>
          <p:cNvSpPr/>
          <p:nvPr/>
        </p:nvSpPr>
        <p:spPr>
          <a:xfrm>
            <a:off x="901972" y="5461486"/>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error-mapper.js         ⬅ migrate</a:t>
            </a:r>
            <a:endParaRPr lang="en-US" sz="1200" kern="1200" dirty="0">
              <a:solidFill>
                <a:prstClr val="black"/>
              </a:solidFill>
              <a:latin typeface="Calibri" panose="020F0502020204030204"/>
              <a:ea typeface="+mn-ea"/>
              <a:cs typeface="+mn-cs"/>
            </a:endParaRPr>
          </a:p>
        </p:txBody>
      </p:sp>
      <p:sp>
        <p:nvSpPr>
          <p:cNvPr id="20" name="Text 18"/>
          <p:cNvSpPr/>
          <p:nvPr/>
        </p:nvSpPr>
        <p:spPr>
          <a:xfrm>
            <a:off x="755706" y="5778396"/>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test/</a:t>
            </a:r>
            <a:endParaRPr lang="en-US" sz="1200" kern="1200" dirty="0">
              <a:solidFill>
                <a:prstClr val="black"/>
              </a:solidFill>
              <a:latin typeface="Calibri" panose="020F0502020204030204"/>
              <a:ea typeface="+mn-ea"/>
              <a:cs typeface="+mn-cs"/>
            </a:endParaRPr>
          </a:p>
        </p:txBody>
      </p:sp>
      <p:sp>
        <p:nvSpPr>
          <p:cNvPr id="21" name="Text 19"/>
          <p:cNvSpPr/>
          <p:nvPr/>
        </p:nvSpPr>
        <p:spPr>
          <a:xfrm>
            <a:off x="901972" y="6095305"/>
            <a:ext cx="4631754" cy="292532"/>
          </a:xfrm>
          <a:prstGeom prst="rect">
            <a:avLst/>
          </a:prstGeom>
          <a:noFill/>
          <a:ln/>
        </p:spPr>
        <p:txBody>
          <a:bodyPr wrap="square" lIns="0" tIns="0" rIns="0" bIns="0" rtlCol="0" anchor="ctr"/>
          <a:lstStyle/>
          <a:p>
            <a:pPr defTabSz="1218895">
              <a:buClrTx/>
            </a:pPr>
            <a:r>
              <a:rPr lang="en-US" sz="1200" kern="1200" dirty="0">
                <a:solidFill>
                  <a:srgbClr val="4ADE80"/>
                </a:solidFill>
                <a:latin typeface="Consolas" pitchFamily="34" charset="0"/>
                <a:ea typeface="Consolas" pitchFamily="34" charset="-122"/>
                <a:cs typeface="Consolas" pitchFamily="34" charset="-120"/>
              </a:rPr>
              <a:t>   └─ utils.test.js  ← must pass</a:t>
            </a:r>
            <a:endParaRPr lang="en-US" sz="1200" kern="1200" dirty="0">
              <a:solidFill>
                <a:prstClr val="black"/>
              </a:solidFill>
              <a:latin typeface="Calibri" panose="020F0502020204030204"/>
              <a:ea typeface="+mn-ea"/>
              <a:cs typeface="+mn-cs"/>
            </a:endParaRPr>
          </a:p>
        </p:txBody>
      </p:sp>
      <p:sp>
        <p:nvSpPr>
          <p:cNvPr id="22" name="Shape 20"/>
          <p:cNvSpPr/>
          <p:nvPr/>
        </p:nvSpPr>
        <p:spPr>
          <a:xfrm>
            <a:off x="5606859" y="140260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5606859" y="1402608"/>
            <a:ext cx="6338189" cy="36566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5753125" y="142698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tsconfig.json  (NEW)</a:t>
            </a:r>
            <a:endParaRPr lang="en-US" sz="1333" kern="1200" dirty="0">
              <a:solidFill>
                <a:prstClr val="black"/>
              </a:solidFill>
              <a:latin typeface="Calibri" panose="020F0502020204030204"/>
              <a:ea typeface="+mn-ea"/>
              <a:cs typeface="+mn-cs"/>
            </a:endParaRPr>
          </a:p>
        </p:txBody>
      </p:sp>
      <p:sp>
        <p:nvSpPr>
          <p:cNvPr id="25" name="Shape 23"/>
          <p:cNvSpPr/>
          <p:nvPr/>
        </p:nvSpPr>
        <p:spPr>
          <a:xfrm>
            <a:off x="11213718" y="1426985"/>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11213718" y="1426985"/>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Configuration</a:t>
            </a:r>
            <a:endParaRPr lang="en-US" sz="866" kern="1200" dirty="0">
              <a:solidFill>
                <a:prstClr val="black"/>
              </a:solidFill>
              <a:latin typeface="Calibri" panose="020F0502020204030204"/>
              <a:ea typeface="+mn-ea"/>
              <a:cs typeface="+mn-cs"/>
            </a:endParaRPr>
          </a:p>
        </p:txBody>
      </p:sp>
      <p:sp>
        <p:nvSpPr>
          <p:cNvPr id="27" name="Text 25"/>
          <p:cNvSpPr/>
          <p:nvPr/>
        </p:nvSpPr>
        <p:spPr>
          <a:xfrm>
            <a:off x="5753125" y="1829217"/>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CAP-optimised compiler options</a:t>
            </a:r>
            <a:endParaRPr lang="en-US" sz="1266" kern="1200" dirty="0">
              <a:solidFill>
                <a:prstClr val="black"/>
              </a:solidFill>
              <a:latin typeface="Calibri" panose="020F0502020204030204"/>
              <a:ea typeface="+mn-ea"/>
              <a:cs typeface="+mn-cs"/>
            </a:endParaRPr>
          </a:p>
        </p:txBody>
      </p:sp>
      <p:sp>
        <p:nvSpPr>
          <p:cNvPr id="28" name="Text 26"/>
          <p:cNvSpPr/>
          <p:nvPr/>
        </p:nvSpPr>
        <p:spPr>
          <a:xfrm>
            <a:off x="5753125" y="2085182"/>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 allowJs:false</a:t>
            </a:r>
            <a:endParaRPr lang="en-US" sz="1266" kern="1200" dirty="0">
              <a:solidFill>
                <a:prstClr val="black"/>
              </a:solidFill>
              <a:latin typeface="Calibri" panose="020F0502020204030204"/>
              <a:ea typeface="+mn-ea"/>
              <a:cs typeface="+mn-cs"/>
            </a:endParaRPr>
          </a:p>
        </p:txBody>
      </p:sp>
      <p:sp>
        <p:nvSpPr>
          <p:cNvPr id="29" name="Text 27"/>
          <p:cNvSpPr/>
          <p:nvPr/>
        </p:nvSpPr>
        <p:spPr>
          <a:xfrm>
            <a:off x="5753125" y="2341148"/>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@cap-js/cds-types path mapping</a:t>
            </a:r>
            <a:endParaRPr lang="en-US" sz="1266" kern="1200" dirty="0">
              <a:solidFill>
                <a:prstClr val="black"/>
              </a:solidFill>
              <a:latin typeface="Calibri" panose="020F0502020204030204"/>
              <a:ea typeface="+mn-ea"/>
              <a:cs typeface="+mn-cs"/>
            </a:endParaRPr>
          </a:p>
        </p:txBody>
      </p:sp>
      <p:sp>
        <p:nvSpPr>
          <p:cNvPr id="30" name="Shape 28"/>
          <p:cNvSpPr/>
          <p:nvPr/>
        </p:nvSpPr>
        <p:spPr>
          <a:xfrm>
            <a:off x="5606859" y="274337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5606859" y="2743378"/>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5753125" y="276775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srv/CatalogService.js → .ts</a:t>
            </a:r>
            <a:endParaRPr lang="en-US" sz="1333" kern="1200" dirty="0">
              <a:solidFill>
                <a:prstClr val="black"/>
              </a:solidFill>
              <a:latin typeface="Calibri" panose="020F0502020204030204"/>
              <a:ea typeface="+mn-ea"/>
              <a:cs typeface="+mn-cs"/>
            </a:endParaRPr>
          </a:p>
        </p:txBody>
      </p:sp>
      <p:sp>
        <p:nvSpPr>
          <p:cNvPr id="33" name="Shape 31"/>
          <p:cNvSpPr/>
          <p:nvPr/>
        </p:nvSpPr>
        <p:spPr>
          <a:xfrm>
            <a:off x="11213718" y="2767756"/>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11213718" y="2767756"/>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Service Handler</a:t>
            </a:r>
            <a:endParaRPr lang="en-US" sz="866" kern="1200" dirty="0">
              <a:solidFill>
                <a:prstClr val="black"/>
              </a:solidFill>
              <a:latin typeface="Calibri" panose="020F0502020204030204"/>
              <a:ea typeface="+mn-ea"/>
              <a:cs typeface="+mn-cs"/>
            </a:endParaRPr>
          </a:p>
        </p:txBody>
      </p:sp>
      <p:sp>
        <p:nvSpPr>
          <p:cNvPr id="35" name="Text 33"/>
          <p:cNvSpPr/>
          <p:nvPr/>
        </p:nvSpPr>
        <p:spPr>
          <a:xfrm>
            <a:off x="5753125" y="316998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CDS.Service class extension</a:t>
            </a:r>
            <a:endParaRPr lang="en-US" sz="1266" kern="1200" dirty="0">
              <a:solidFill>
                <a:prstClr val="black"/>
              </a:solidFill>
              <a:latin typeface="Calibri" panose="020F0502020204030204"/>
              <a:ea typeface="+mn-ea"/>
              <a:cs typeface="+mn-cs"/>
            </a:endParaRPr>
          </a:p>
        </p:txBody>
      </p:sp>
      <p:sp>
        <p:nvSpPr>
          <p:cNvPr id="36" name="Text 34"/>
          <p:cNvSpPr/>
          <p:nvPr/>
        </p:nvSpPr>
        <p:spPr>
          <a:xfrm>
            <a:off x="5753125" y="3425953"/>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cds.Request&lt;T&gt; parameter 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5753125" y="368191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 CRUD operation types</a:t>
            </a:r>
            <a:endParaRPr lang="en-US" sz="1266" kern="1200" dirty="0">
              <a:solidFill>
                <a:prstClr val="black"/>
              </a:solidFill>
              <a:latin typeface="Calibri" panose="020F0502020204030204"/>
              <a:ea typeface="+mn-ea"/>
              <a:cs typeface="+mn-cs"/>
            </a:endParaRPr>
          </a:p>
        </p:txBody>
      </p:sp>
      <p:sp>
        <p:nvSpPr>
          <p:cNvPr id="38" name="Shape 36"/>
          <p:cNvSpPr/>
          <p:nvPr/>
        </p:nvSpPr>
        <p:spPr>
          <a:xfrm>
            <a:off x="5606859" y="4084149"/>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5606859" y="4084149"/>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5753125" y="4108527"/>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srv/CDSService.js → .ts</a:t>
            </a:r>
            <a:endParaRPr lang="en-US" sz="1333" kern="1200" dirty="0">
              <a:solidFill>
                <a:prstClr val="black"/>
              </a:solidFill>
              <a:latin typeface="Calibri" panose="020F0502020204030204"/>
              <a:ea typeface="+mn-ea"/>
              <a:cs typeface="+mn-cs"/>
            </a:endParaRPr>
          </a:p>
        </p:txBody>
      </p:sp>
      <p:sp>
        <p:nvSpPr>
          <p:cNvPr id="41" name="Shape 39"/>
          <p:cNvSpPr/>
          <p:nvPr/>
        </p:nvSpPr>
        <p:spPr>
          <a:xfrm>
            <a:off x="11213718" y="4108527"/>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11213718" y="4108527"/>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Generic Handler</a:t>
            </a:r>
            <a:endParaRPr lang="en-US" sz="866" kern="1200" dirty="0">
              <a:solidFill>
                <a:prstClr val="black"/>
              </a:solidFill>
              <a:latin typeface="Calibri" panose="020F0502020204030204"/>
              <a:ea typeface="+mn-ea"/>
              <a:cs typeface="+mn-cs"/>
            </a:endParaRPr>
          </a:p>
        </p:txBody>
      </p:sp>
      <p:sp>
        <p:nvSpPr>
          <p:cNvPr id="43" name="Text 41"/>
          <p:cNvSpPr/>
          <p:nvPr/>
        </p:nvSpPr>
        <p:spPr>
          <a:xfrm>
            <a:off x="5753125" y="451075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Generic handler registration pattern</a:t>
            </a:r>
            <a:endParaRPr lang="en-US" sz="1266" kern="1200" dirty="0">
              <a:solidFill>
                <a:prstClr val="black"/>
              </a:solidFill>
              <a:latin typeface="Calibri" panose="020F0502020204030204"/>
              <a:ea typeface="+mn-ea"/>
              <a:cs typeface="+mn-cs"/>
            </a:endParaRPr>
          </a:p>
        </p:txBody>
      </p:sp>
      <p:sp>
        <p:nvSpPr>
          <p:cNvPr id="44" name="Text 42"/>
          <p:cNvSpPr/>
          <p:nvPr/>
        </p:nvSpPr>
        <p:spPr>
          <a:xfrm>
            <a:off x="5753125" y="4766724"/>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event callbacks</a:t>
            </a:r>
            <a:endParaRPr lang="en-US" sz="1266" kern="1200" dirty="0">
              <a:solidFill>
                <a:prstClr val="black"/>
              </a:solidFill>
              <a:latin typeface="Calibri" panose="020F0502020204030204"/>
              <a:ea typeface="+mn-ea"/>
              <a:cs typeface="+mn-cs"/>
            </a:endParaRPr>
          </a:p>
        </p:txBody>
      </p:sp>
      <p:sp>
        <p:nvSpPr>
          <p:cNvPr id="45" name="Text 43"/>
          <p:cNvSpPr/>
          <p:nvPr/>
        </p:nvSpPr>
        <p:spPr>
          <a:xfrm>
            <a:off x="5753125" y="5022689"/>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Type-safe this.on() / this.before()</a:t>
            </a:r>
            <a:endParaRPr lang="en-US" sz="1266" kern="1200" dirty="0">
              <a:solidFill>
                <a:prstClr val="black"/>
              </a:solidFill>
              <a:latin typeface="Calibri" panose="020F0502020204030204"/>
              <a:ea typeface="+mn-ea"/>
              <a:cs typeface="+mn-cs"/>
            </a:endParaRPr>
          </a:p>
        </p:txBody>
      </p:sp>
      <p:sp>
        <p:nvSpPr>
          <p:cNvPr id="46" name="Shape 44"/>
          <p:cNvSpPr/>
          <p:nvPr/>
        </p:nvSpPr>
        <p:spPr>
          <a:xfrm>
            <a:off x="5606859" y="5424920"/>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7" name="Shape 45"/>
          <p:cNvSpPr/>
          <p:nvPr/>
        </p:nvSpPr>
        <p:spPr>
          <a:xfrm>
            <a:off x="5606859" y="5424920"/>
            <a:ext cx="6338189"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8" name="Text 46"/>
          <p:cNvSpPr/>
          <p:nvPr/>
        </p:nvSpPr>
        <p:spPr>
          <a:xfrm>
            <a:off x="5753125" y="5449298"/>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utils/payload-transformer.js → .ts</a:t>
            </a:r>
            <a:endParaRPr lang="en-US" sz="1333" kern="1200" dirty="0">
              <a:solidFill>
                <a:prstClr val="black"/>
              </a:solidFill>
              <a:latin typeface="Calibri" panose="020F0502020204030204"/>
              <a:ea typeface="+mn-ea"/>
              <a:cs typeface="+mn-cs"/>
            </a:endParaRPr>
          </a:p>
        </p:txBody>
      </p:sp>
      <p:sp>
        <p:nvSpPr>
          <p:cNvPr id="49" name="Shape 47"/>
          <p:cNvSpPr/>
          <p:nvPr/>
        </p:nvSpPr>
        <p:spPr>
          <a:xfrm>
            <a:off x="11213718" y="5449298"/>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50" name="Text 48"/>
          <p:cNvSpPr/>
          <p:nvPr/>
        </p:nvSpPr>
        <p:spPr>
          <a:xfrm>
            <a:off x="11213718" y="5449298"/>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Utility</a:t>
            </a:r>
            <a:endParaRPr lang="en-US" sz="866" kern="1200" dirty="0">
              <a:solidFill>
                <a:prstClr val="black"/>
              </a:solidFill>
              <a:latin typeface="Calibri" panose="020F0502020204030204"/>
              <a:ea typeface="+mn-ea"/>
              <a:cs typeface="+mn-cs"/>
            </a:endParaRPr>
          </a:p>
        </p:txBody>
      </p:sp>
      <p:sp>
        <p:nvSpPr>
          <p:cNvPr id="51" name="Text 49"/>
          <p:cNvSpPr/>
          <p:nvPr/>
        </p:nvSpPr>
        <p:spPr>
          <a:xfrm>
            <a:off x="5753125" y="5851529"/>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ODataResponse&lt;T&gt; generic interface</a:t>
            </a:r>
            <a:endParaRPr lang="en-US" sz="1266" kern="1200" dirty="0">
              <a:solidFill>
                <a:prstClr val="black"/>
              </a:solidFill>
              <a:latin typeface="Calibri" panose="020F0502020204030204"/>
              <a:ea typeface="+mn-ea"/>
              <a:cs typeface="+mn-cs"/>
            </a:endParaRPr>
          </a:p>
        </p:txBody>
      </p:sp>
      <p:sp>
        <p:nvSpPr>
          <p:cNvPr id="52" name="Text 50"/>
          <p:cNvSpPr/>
          <p:nvPr/>
        </p:nvSpPr>
        <p:spPr>
          <a:xfrm>
            <a:off x="5753125" y="6107494"/>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EntityRecord type alias</a:t>
            </a:r>
            <a:endParaRPr lang="en-US" sz="1266" kern="1200" dirty="0">
              <a:solidFill>
                <a:prstClr val="black"/>
              </a:solidFill>
              <a:latin typeface="Calibri" panose="020F0502020204030204"/>
              <a:ea typeface="+mn-ea"/>
              <a:cs typeface="+mn-cs"/>
            </a:endParaRPr>
          </a:p>
        </p:txBody>
      </p:sp>
      <p:sp>
        <p:nvSpPr>
          <p:cNvPr id="53" name="Text 51"/>
          <p:cNvSpPr/>
          <p:nvPr/>
        </p:nvSpPr>
        <p:spPr>
          <a:xfrm>
            <a:off x="5753125" y="6363460"/>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null checks on value</a:t>
            </a:r>
            <a:endParaRPr lang="en-US" sz="1266" kern="1200" dirty="0">
              <a:solidFill>
                <a:prstClr val="black"/>
              </a:solidFill>
              <a:latin typeface="Calibri" panose="020F0502020204030204"/>
              <a:ea typeface="+mn-ea"/>
              <a:cs typeface="+mn-cs"/>
            </a:endParaRPr>
          </a:p>
        </p:txBody>
      </p:sp>
      <p:pic>
        <p:nvPicPr>
          <p:cNvPr id="54" name="Google Shape;497;p1">
            <a:extLst>
              <a:ext uri="{FF2B5EF4-FFF2-40B4-BE49-F238E27FC236}">
                <a16:creationId xmlns:a16="http://schemas.microsoft.com/office/drawing/2014/main" id="{5C9781AF-3925-66E8-08FE-DFCD4ECA22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1a  </a:t>
            </a:r>
            <a:r>
              <a:rPr lang="en-US" sz="3333" b="1" kern="1200" dirty="0">
                <a:solidFill>
                  <a:srgbClr val="FFFFFF"/>
                </a:solidFill>
                <a:latin typeface="Calibri" pitchFamily="34" charset="0"/>
                <a:ea typeface="Calibri" pitchFamily="34" charset="-122"/>
                <a:cs typeface="Calibri" pitchFamily="34" charset="-120"/>
              </a:rPr>
              <a:t>Install TypeScript Dependencies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God of all commands: </a:t>
            </a:r>
            <a:r>
              <a:rPr lang="en-US" b="1" i="1" kern="1200" dirty="0">
                <a:solidFill>
                  <a:srgbClr val="FF0000"/>
                </a:solidFill>
                <a:highlight>
                  <a:srgbClr val="FFFF00"/>
                </a:highlight>
                <a:latin typeface="Calibri" pitchFamily="34" charset="0"/>
                <a:ea typeface="Calibri" pitchFamily="34" charset="-122"/>
                <a:cs typeface="Calibri" pitchFamily="34" charset="-120"/>
              </a:rPr>
              <a:t>cds add typescript</a:t>
            </a:r>
            <a:endParaRPr lang="en-US" b="1" kern="1200" dirty="0">
              <a:solidFill>
                <a:srgbClr val="FF0000"/>
              </a:solidFill>
              <a:highlight>
                <a:srgbClr val="FFFF00"/>
              </a:highlight>
              <a:latin typeface="Calibri" panose="020F0502020204030204"/>
              <a:ea typeface="+mn-ea"/>
              <a:cs typeface="+mn-cs"/>
            </a:endParaRPr>
          </a:p>
        </p:txBody>
      </p:sp>
      <p:sp>
        <p:nvSpPr>
          <p:cNvPr id="6" name="Shape 4"/>
          <p:cNvSpPr/>
          <p:nvPr/>
        </p:nvSpPr>
        <p:spPr>
          <a:xfrm>
            <a:off x="487553"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8" name="Shape 6"/>
          <p:cNvSpPr/>
          <p:nvPr/>
        </p:nvSpPr>
        <p:spPr>
          <a:xfrm>
            <a:off x="1048238"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7"/>
          <p:cNvSpPr/>
          <p:nvPr/>
        </p:nvSpPr>
        <p:spPr>
          <a:xfrm>
            <a:off x="365664"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Core TS</a:t>
            </a:r>
            <a:endParaRPr lang="en-US" sz="1133" kern="1200" dirty="0">
              <a:solidFill>
                <a:prstClr val="black"/>
              </a:solidFill>
              <a:latin typeface="Calibri" panose="020F0502020204030204"/>
              <a:ea typeface="+mn-ea"/>
              <a:cs typeface="+mn-cs"/>
            </a:endParaRPr>
          </a:p>
        </p:txBody>
      </p:sp>
      <p:sp>
        <p:nvSpPr>
          <p:cNvPr id="10" name="Shape 8"/>
          <p:cNvSpPr/>
          <p:nvPr/>
        </p:nvSpPr>
        <p:spPr>
          <a:xfrm>
            <a:off x="2783928"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2783928"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2" name="Shape 10"/>
          <p:cNvSpPr/>
          <p:nvPr/>
        </p:nvSpPr>
        <p:spPr>
          <a:xfrm>
            <a:off x="3344614"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2662039"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CAP Types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5080302"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5080302"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16" name="Shape 14"/>
          <p:cNvSpPr/>
          <p:nvPr/>
        </p:nvSpPr>
        <p:spPr>
          <a:xfrm>
            <a:off x="5640987"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958413"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Test Types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7376677"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376677"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0" name="Shape 18"/>
          <p:cNvSpPr/>
          <p:nvPr/>
        </p:nvSpPr>
        <p:spPr>
          <a:xfrm>
            <a:off x="7937363"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7254788"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ts-jest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9673051"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9673051"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24" name="Text 22"/>
          <p:cNvSpPr/>
          <p:nvPr/>
        </p:nvSpPr>
        <p:spPr>
          <a:xfrm>
            <a:off x="9551162"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Verify</a:t>
            </a:r>
            <a:endParaRPr lang="en-US" sz="1133" kern="1200" dirty="0">
              <a:solidFill>
                <a:prstClr val="black"/>
              </a:solidFill>
              <a:latin typeface="Calibri" panose="020F0502020204030204"/>
              <a:ea typeface="+mn-ea"/>
              <a:cs typeface="+mn-cs"/>
            </a:endParaRPr>
          </a:p>
        </p:txBody>
      </p:sp>
      <p:sp>
        <p:nvSpPr>
          <p:cNvPr id="25" name="Text 23"/>
          <p:cNvSpPr/>
          <p:nvPr/>
        </p:nvSpPr>
        <p:spPr>
          <a:xfrm>
            <a:off x="487552"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Core TypeScript Packages</a:t>
            </a:r>
            <a:endParaRPr lang="en-US" sz="1466" kern="1200" dirty="0">
              <a:solidFill>
                <a:prstClr val="black"/>
              </a:solidFill>
              <a:latin typeface="Calibri" panose="020F0502020204030204"/>
              <a:ea typeface="+mn-ea"/>
              <a:cs typeface="+mn-cs"/>
            </a:endParaRPr>
          </a:p>
        </p:txBody>
      </p:sp>
      <p:sp>
        <p:nvSpPr>
          <p:cNvPr id="26" name="Shape 24"/>
          <p:cNvSpPr/>
          <p:nvPr/>
        </p:nvSpPr>
        <p:spPr>
          <a:xfrm>
            <a:off x="487552"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70385"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typescript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@types/node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ts-node</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typescript  — the compiler (tsc)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@types/node — Node.js built-in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ts-node     — run .ts files directly</a:t>
            </a:r>
            <a:endParaRPr lang="en-US" sz="1266" kern="1200" dirty="0">
              <a:solidFill>
                <a:prstClr val="black"/>
              </a:solidFill>
              <a:latin typeface="Calibri" panose="020F0502020204030204"/>
              <a:ea typeface="+mn-ea"/>
              <a:cs typeface="+mn-cs"/>
            </a:endParaRPr>
          </a:p>
        </p:txBody>
      </p:sp>
      <p:sp>
        <p:nvSpPr>
          <p:cNvPr id="28" name="Text 26"/>
          <p:cNvSpPr/>
          <p:nvPr/>
        </p:nvSpPr>
        <p:spPr>
          <a:xfrm>
            <a:off x="487552"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CAP-Specific Type Packages</a:t>
            </a:r>
            <a:endParaRPr lang="en-US" sz="1466" kern="1200" dirty="0">
              <a:solidFill>
                <a:prstClr val="black"/>
              </a:solidFill>
              <a:latin typeface="Calibri" panose="020F0502020204030204"/>
              <a:ea typeface="+mn-ea"/>
              <a:cs typeface="+mn-cs"/>
            </a:endParaRPr>
          </a:p>
        </p:txBody>
      </p:sp>
      <p:sp>
        <p:nvSpPr>
          <p:cNvPr id="29" name="Shape 27"/>
          <p:cNvSpPr/>
          <p:nvPr/>
        </p:nvSpPr>
        <p:spPr>
          <a:xfrm>
            <a:off x="487552"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Text 28"/>
          <p:cNvSpPr/>
          <p:nvPr/>
        </p:nvSpPr>
        <p:spPr>
          <a:xfrm>
            <a:off x="670385" y="4778912"/>
            <a:ext cx="5338705" cy="1633303"/>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@cap-js/cds-types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@sap/cds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@cap-js/cds-types — official TS defs for: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cds.Service, cds.Request,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cds.ApplicationService, cds.connect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@sap/cds — CAP runtime (if not installed)</a:t>
            </a:r>
            <a:endParaRPr lang="en-US" sz="1266" kern="1200" dirty="0">
              <a:solidFill>
                <a:prstClr val="black"/>
              </a:solidFill>
              <a:latin typeface="Calibri" panose="020F0502020204030204"/>
              <a:ea typeface="+mn-ea"/>
              <a:cs typeface="+mn-cs"/>
            </a:endParaRPr>
          </a:p>
        </p:txBody>
      </p:sp>
      <p:sp>
        <p:nvSpPr>
          <p:cNvPr id="31" name="Text 29"/>
          <p:cNvSpPr/>
          <p:nvPr/>
        </p:nvSpPr>
        <p:spPr>
          <a:xfrm>
            <a:off x="6338188"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3 — Jest &amp; Testing Types</a:t>
            </a:r>
            <a:endParaRPr lang="en-US" sz="1466" kern="1200" dirty="0">
              <a:solidFill>
                <a:prstClr val="black"/>
              </a:solidFill>
              <a:latin typeface="Calibri" panose="020F0502020204030204"/>
              <a:ea typeface="+mn-ea"/>
              <a:cs typeface="+mn-cs"/>
            </a:endParaRPr>
          </a:p>
        </p:txBody>
      </p:sp>
      <p:sp>
        <p:nvSpPr>
          <p:cNvPr id="32" name="Shape 30"/>
          <p:cNvSpPr/>
          <p:nvPr/>
        </p:nvSpPr>
        <p:spPr>
          <a:xfrm>
            <a:off x="6338188"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521021"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@types/jest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ts-jest  — transpiles .ts test files for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@types/jest — describe/it/expect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code changes to test files needed!</a:t>
            </a:r>
            <a:endParaRPr lang="en-US" sz="1266" kern="1200" dirty="0">
              <a:solidFill>
                <a:prstClr val="black"/>
              </a:solidFill>
              <a:latin typeface="Calibri" panose="020F0502020204030204"/>
              <a:ea typeface="+mn-ea"/>
              <a:cs typeface="+mn-cs"/>
            </a:endParaRPr>
          </a:p>
        </p:txBody>
      </p:sp>
      <p:sp>
        <p:nvSpPr>
          <p:cNvPr id="34" name="Text 32"/>
          <p:cNvSpPr/>
          <p:nvPr/>
        </p:nvSpPr>
        <p:spPr>
          <a:xfrm>
            <a:off x="6338188"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4 — package.json scripts</a:t>
            </a:r>
            <a:endParaRPr lang="en-US" sz="1466" kern="1200" dirty="0">
              <a:solidFill>
                <a:prstClr val="black"/>
              </a:solidFill>
              <a:latin typeface="Calibri" panose="020F0502020204030204"/>
              <a:ea typeface="+mn-ea"/>
              <a:cs typeface="+mn-cs"/>
            </a:endParaRPr>
          </a:p>
        </p:txBody>
      </p:sp>
      <p:sp>
        <p:nvSpPr>
          <p:cNvPr id="35" name="Shape 33"/>
          <p:cNvSpPr/>
          <p:nvPr/>
        </p:nvSpPr>
        <p:spPr>
          <a:xfrm>
            <a:off x="6338188"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21021" y="4778912"/>
            <a:ext cx="5338705" cy="1633303"/>
          </a:xfrm>
          <a:prstGeom prst="rect">
            <a:avLst/>
          </a:prstGeom>
          <a:noFill/>
          <a:ln/>
        </p:spPr>
        <p:txBody>
          <a:bodyPr wrap="square" lIns="0" tIns="0" rIns="0" bIns="0" rtlCol="0" anchor="t"/>
          <a:lstStyle/>
          <a:p>
            <a:pPr defTabSz="1218895">
              <a:buClrTx/>
            </a:pPr>
            <a:r>
              <a:rPr lang="en-US" sz="1266" kern="1200" dirty="0">
                <a:solidFill>
                  <a:srgbClr val="FFFFFF"/>
                </a:solidFill>
                <a:latin typeface="Consolas" pitchFamily="34" charset="0"/>
                <a:ea typeface="Consolas" pitchFamily="34" charset="-122"/>
                <a:cs typeface="Consolas" pitchFamily="34" charset="-120"/>
              </a:rPr>
              <a:t>"scripts":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"build":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"typecheck":"tsc --noEmit --strict",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"start:ts": "ts-node srv/server.ts",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Step 5: verify install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--version  # should print 5.x+</a:t>
            </a:r>
            <a:endParaRPr lang="en-US" sz="1266" kern="1200" dirty="0">
              <a:solidFill>
                <a:prstClr val="black"/>
              </a:solidFill>
              <a:latin typeface="Calibri" panose="020F0502020204030204"/>
              <a:ea typeface="+mn-ea"/>
              <a:cs typeface="+mn-cs"/>
            </a:endParaRPr>
          </a:p>
        </p:txBody>
      </p:sp>
      <p:sp>
        <p:nvSpPr>
          <p:cNvPr id="37" name="Shape 35"/>
          <p:cNvSpPr/>
          <p:nvPr/>
        </p:nvSpPr>
        <p:spPr>
          <a:xfrm>
            <a:off x="487553" y="6582858"/>
            <a:ext cx="11213719" cy="304721"/>
          </a:xfrm>
          <a:prstGeom prst="rect">
            <a:avLst/>
          </a:prstGeom>
          <a:solidFill>
            <a:srgbClr val="FFF3CD"/>
          </a:solidFill>
          <a:ln w="12700">
            <a:solidFill>
              <a:srgbClr val="F59E0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607236"/>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Install @cap-js/cds-types NOT @types/cds (deprecated). The official package ships cds.Request&lt;T&gt;, cds.Service, etc.</a:t>
            </a:r>
            <a:endParaRPr lang="en-US" sz="1200"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68042F1E-E751-B86C-5ED4-D6942310BA0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1b  </a:t>
            </a:r>
            <a:r>
              <a:rPr lang="en-US" sz="3333" b="1" kern="1200" dirty="0">
                <a:solidFill>
                  <a:srgbClr val="FFFFFF"/>
                </a:solidFill>
                <a:latin typeface="Calibri" pitchFamily="34" charset="0"/>
                <a:ea typeface="Calibri" pitchFamily="34" charset="-122"/>
                <a:cs typeface="Calibri" pitchFamily="34" charset="-120"/>
              </a:rPr>
              <a:t>tsconfig.json — Every Option Explained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Configuration · why each compiler option matters in a CAP Node.js context</a:t>
            </a:r>
            <a:endParaRPr lang="en-US" kern="1200" dirty="0">
              <a:solidFill>
                <a:prstClr val="black"/>
              </a:solidFill>
              <a:latin typeface="Calibri" panose="020F0502020204030204"/>
              <a:ea typeface="+mn-ea"/>
              <a:cs typeface="+mn-cs"/>
            </a:endParaRPr>
          </a:p>
        </p:txBody>
      </p:sp>
      <p:sp>
        <p:nvSpPr>
          <p:cNvPr id="6" name="Text 4"/>
          <p:cNvSpPr/>
          <p:nvPr/>
        </p:nvSpPr>
        <p:spPr>
          <a:xfrm>
            <a:off x="487552"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tsconfig.json for CAP</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2"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338705" cy="4656131"/>
          </a:xfrm>
          <a:prstGeom prst="rect">
            <a:avLst/>
          </a:prstGeom>
          <a:noFill/>
          <a:ln/>
        </p:spPr>
        <p:txBody>
          <a:bodyPr wrap="square" lIns="0" tIns="0" rIns="0" bIns="0" rtlCol="0" anchor="t"/>
          <a:lstStyle/>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"compilerOptions":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"target":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        "commonjs",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"lib":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"strict":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"allowJs":       false,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"esModuleInterop":true,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"skipLibCheck":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"moduleResolution":"node",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"outDir":        "./dist",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"rootDir":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"baseUrl":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"paths":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"@cds-models/*":["./srv/gen/*"]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"types": ["node","jest","@cap-js/cds-types"]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"include": ["srv/**/*","utils/**/*","test/**/*"],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"exclude": ["node_modules","dist","**/*.js"]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338188"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Why each option matters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338188" y="1768273"/>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6338188" y="1768273"/>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533210" y="1792650"/>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target: "ES2022"</a:t>
            </a:r>
            <a:endParaRPr lang="en-US" sz="1266" kern="1200" dirty="0">
              <a:solidFill>
                <a:prstClr val="black"/>
              </a:solidFill>
              <a:latin typeface="Calibri" panose="020F0502020204030204"/>
              <a:ea typeface="+mn-ea"/>
              <a:cs typeface="+mn-cs"/>
            </a:endParaRPr>
          </a:p>
        </p:txBody>
      </p:sp>
      <p:sp>
        <p:nvSpPr>
          <p:cNvPr id="13" name="Text 11"/>
          <p:cNvSpPr/>
          <p:nvPr/>
        </p:nvSpPr>
        <p:spPr>
          <a:xfrm>
            <a:off x="6533210" y="206080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runs on Node 18+. ES2022 enables optional chaining, nullish coalescing, and top-level await natively.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38188" y="2463036"/>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6338188" y="2463036"/>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533210" y="2487413"/>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module: "commonjs"</a:t>
            </a:r>
            <a:endParaRPr lang="en-US" sz="1266" kern="1200" dirty="0">
              <a:solidFill>
                <a:prstClr val="black"/>
              </a:solidFill>
              <a:latin typeface="Calibri" panose="020F0502020204030204"/>
              <a:ea typeface="+mn-ea"/>
              <a:cs typeface="+mn-cs"/>
            </a:endParaRPr>
          </a:p>
        </p:txBody>
      </p:sp>
      <p:sp>
        <p:nvSpPr>
          <p:cNvPr id="17" name="Text 15"/>
          <p:cNvSpPr/>
          <p:nvPr/>
        </p:nvSpPr>
        <p:spPr>
          <a:xfrm>
            <a:off x="6533210" y="275556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uses require() at runtime. Must be commonjs — do NOT use ESM here or cds.connect() will break.</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38188" y="3157799"/>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338188" y="3157799"/>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533210" y="3182176"/>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strict: true</a:t>
            </a:r>
            <a:endParaRPr lang="en-US" sz="1266" kern="1200" dirty="0">
              <a:solidFill>
                <a:prstClr val="black"/>
              </a:solidFill>
              <a:latin typeface="Calibri" panose="020F0502020204030204"/>
              <a:ea typeface="+mn-ea"/>
              <a:cs typeface="+mn-cs"/>
            </a:endParaRPr>
          </a:p>
        </p:txBody>
      </p:sp>
      <p:sp>
        <p:nvSpPr>
          <p:cNvPr id="21" name="Text 19"/>
          <p:cNvSpPr/>
          <p:nvPr/>
        </p:nvSpPr>
        <p:spPr>
          <a:xfrm>
            <a:off x="6533210" y="345033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Enables noImplicitAny, strictNullChecks, strictFunctionTypes — catches the most bugs at compile time.</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38188" y="3852562"/>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6338188" y="3852562"/>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6533210" y="3876939"/>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allowJs: false</a:t>
            </a:r>
            <a:endParaRPr lang="en-US" sz="1266" kern="1200" dirty="0">
              <a:solidFill>
                <a:prstClr val="black"/>
              </a:solidFill>
              <a:latin typeface="Calibri" panose="020F0502020204030204"/>
              <a:ea typeface="+mn-ea"/>
              <a:cs typeface="+mn-cs"/>
            </a:endParaRPr>
          </a:p>
        </p:txBody>
      </p:sp>
      <p:sp>
        <p:nvSpPr>
          <p:cNvPr id="25" name="Text 23"/>
          <p:cNvSpPr/>
          <p:nvPr/>
        </p:nvSpPr>
        <p:spPr>
          <a:xfrm>
            <a:off x="6533210" y="414509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Forces all files to be .ts once migration is done. Set to true during incremental migration if needed.</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38188" y="4547325"/>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6338188" y="4547325"/>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6533210" y="4571702"/>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skipLibCheck: true</a:t>
            </a:r>
            <a:endParaRPr lang="en-US" sz="1266" kern="1200" dirty="0">
              <a:solidFill>
                <a:prstClr val="black"/>
              </a:solidFill>
              <a:latin typeface="Calibri" panose="020F0502020204030204"/>
              <a:ea typeface="+mn-ea"/>
              <a:cs typeface="+mn-cs"/>
            </a:endParaRPr>
          </a:p>
        </p:txBody>
      </p:sp>
      <p:sp>
        <p:nvSpPr>
          <p:cNvPr id="29" name="Text 27"/>
          <p:cNvSpPr/>
          <p:nvPr/>
        </p:nvSpPr>
        <p:spPr>
          <a:xfrm>
            <a:off x="6533210" y="483985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Skips type checks inside node_modules — required because some CDS generated files have loose types.</a:t>
            </a:r>
            <a:endParaRPr lang="en-US" sz="1133" kern="1200" dirty="0">
              <a:solidFill>
                <a:prstClr val="black"/>
              </a:solidFill>
              <a:latin typeface="Calibri" panose="020F0502020204030204"/>
              <a:ea typeface="+mn-ea"/>
              <a:cs typeface="+mn-cs"/>
            </a:endParaRPr>
          </a:p>
        </p:txBody>
      </p:sp>
      <p:sp>
        <p:nvSpPr>
          <p:cNvPr id="30" name="Shape 28"/>
          <p:cNvSpPr/>
          <p:nvPr/>
        </p:nvSpPr>
        <p:spPr>
          <a:xfrm>
            <a:off x="6338188" y="5242088"/>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338188" y="5242088"/>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533210" y="5266465"/>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"@cds-models/*"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533210" y="553462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Maps generated CDS model types (cds compile --to ts) to their import paths in service files.</a:t>
            </a:r>
            <a:endParaRPr lang="en-US" sz="1133" kern="1200" dirty="0">
              <a:solidFill>
                <a:prstClr val="black"/>
              </a:solidFill>
              <a:latin typeface="Calibri" panose="020F0502020204030204"/>
              <a:ea typeface="+mn-ea"/>
              <a:cs typeface="+mn-cs"/>
            </a:endParaRPr>
          </a:p>
        </p:txBody>
      </p:sp>
      <p:sp>
        <p:nvSpPr>
          <p:cNvPr id="34" name="Shape 32"/>
          <p:cNvSpPr/>
          <p:nvPr/>
        </p:nvSpPr>
        <p:spPr>
          <a:xfrm>
            <a:off x="6338188" y="5936851"/>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Shape 33"/>
          <p:cNvSpPr/>
          <p:nvPr/>
        </p:nvSpPr>
        <p:spPr>
          <a:xfrm>
            <a:off x="6338188" y="5936851"/>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33210" y="5961228"/>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types: [...cds-types]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6533210" y="6229383"/>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Pulls in cds.Service, cds.Request, cds.ApplicationService global type declarations.</a:t>
            </a:r>
            <a:endParaRPr lang="en-US" sz="1133" kern="1200" dirty="0">
              <a:solidFill>
                <a:prstClr val="black"/>
              </a:solidFill>
              <a:latin typeface="Calibri" panose="020F0502020204030204"/>
              <a:ea typeface="+mn-ea"/>
              <a:cs typeface="+mn-cs"/>
            </a:endParaRPr>
          </a:p>
        </p:txBody>
      </p:sp>
      <p:pic>
        <p:nvPicPr>
          <p:cNvPr id="38" name="Google Shape;497;p1">
            <a:extLst>
              <a:ext uri="{FF2B5EF4-FFF2-40B4-BE49-F238E27FC236}">
                <a16:creationId xmlns:a16="http://schemas.microsoft.com/office/drawing/2014/main" id="{6469B17A-E92D-E703-7802-E1B5B3D0F1A9}"/>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2  </a:t>
            </a:r>
            <a:r>
              <a:rPr lang="en-US" sz="3333" b="1" kern="1200" dirty="0">
                <a:solidFill>
                  <a:srgbClr val="FFFFFF"/>
                </a:solidFill>
                <a:latin typeface="Calibri" pitchFamily="34" charset="0"/>
                <a:ea typeface="Calibri" pitchFamily="34" charset="-122"/>
                <a:cs typeface="Calibri" pitchFamily="34" charset="-120"/>
              </a:rPr>
              <a:t>utils/error-mapper.js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Error Interface Hierarchy · ODataError, NormalisedError, union ErrorCategory</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Interface Definitions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Shape of a raw CAP/OData 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innererror?: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errordetails?: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ErrorDetail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target?: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severity?:'error'|'warning'|'info';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export interface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category: ErrorCategory;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'NOT_FOUND'  |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'AUTHORIZATION' | 'SERVER_ERROR';</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Typed Implementation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mapError(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raw: ODataError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category = resolveCategory(status);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details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raw.innererror?.errordetails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status, 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message: raw.message,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details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resolveCategory(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(status===404) return 'NOT_FOUND';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(status===400) return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(status===403) return 'AUTHORIZATION';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'SERVER_ERROR';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3" y="6607236"/>
            <a:ext cx="11213719" cy="304721"/>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6631614"/>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Union types for ErrorCategory prevent invalid strings. Optional chaining (?.) and nullish coalescing (??) handle the nested innererror safely under strict mode.</a:t>
            </a:r>
            <a:endParaRPr lang="en-US" sz="1200" kern="1200" dirty="0">
              <a:solidFill>
                <a:prstClr val="black"/>
              </a:solidFill>
              <a:latin typeface="Calibri" panose="020F0502020204030204"/>
              <a:ea typeface="+mn-ea"/>
              <a:cs typeface="+mn-cs"/>
            </a:endParaRPr>
          </a:p>
        </p:txBody>
      </p:sp>
      <p:pic>
        <p:nvPicPr>
          <p:cNvPr id="14" name="Google Shape;497;p1">
            <a:extLst>
              <a:ext uri="{FF2B5EF4-FFF2-40B4-BE49-F238E27FC236}">
                <a16:creationId xmlns:a16="http://schemas.microsoft.com/office/drawing/2014/main" id="{91BD1543-9E94-AF6A-33B0-B46C31A1E088}"/>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3  </a:t>
            </a:r>
            <a:r>
              <a:rPr lang="en-US" sz="3333" b="1" kern="1200" dirty="0">
                <a:solidFill>
                  <a:srgbClr val="FFFFFF"/>
                </a:solidFill>
                <a:latin typeface="Calibri" pitchFamily="34" charset="0"/>
                <a:ea typeface="Calibri" pitchFamily="34" charset="-122"/>
                <a:cs typeface="Calibri" pitchFamily="34" charset="-120"/>
              </a:rPr>
              <a:t>utils/payload-transformer.js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Utility Migration · ODataResponse&lt;T&gt;, EntityRecord, strict null guards</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(JavaScript)</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flattenODataResponse(response)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 || !response.value)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response.value.map(entity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mapEntity(entity);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for (const key of Object.keys(entity))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(!key.startsWith('@'))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result[key] = entity[key];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result;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module.exports = { flattenODataResponse };</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(TypeScript)</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utils/payload-transformer.ts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ODataResponse&lt;T&gt;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value?: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'@odata.context'?: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EntityRecord = Record&lt;string, unknown&gt;;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flattenODataResponse&lt;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T extends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&gt;(response: ODataResponse&lt;T&gt;):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(!response?.value)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response.value.map(mapEntity);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Object.fromEntries(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Object.entries(entity)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.filter(([k]) =&gt; !k.startsWith('@'))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2"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511930"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ODataResponse&lt;T&gt;</a:t>
            </a:r>
            <a:endParaRPr lang="en-US" sz="866" kern="1200" dirty="0">
              <a:solidFill>
                <a:prstClr val="black"/>
              </a:solidFill>
              <a:latin typeface="Calibri" panose="020F0502020204030204"/>
              <a:ea typeface="+mn-ea"/>
              <a:cs typeface="+mn-cs"/>
            </a:endParaRPr>
          </a:p>
        </p:txBody>
      </p:sp>
      <p:sp>
        <p:nvSpPr>
          <p:cNvPr id="14" name="Text 12"/>
          <p:cNvSpPr/>
          <p:nvPr/>
        </p:nvSpPr>
        <p:spPr>
          <a:xfrm>
            <a:off x="511930"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Generic — value array typed by T</a:t>
            </a:r>
            <a:endParaRPr lang="en-US" sz="2399" kern="1200" dirty="0">
              <a:solidFill>
                <a:prstClr val="black"/>
              </a:solidFill>
              <a:latin typeface="Calibri" panose="020F0502020204030204"/>
              <a:ea typeface="+mn-ea"/>
              <a:cs typeface="+mn-cs"/>
            </a:endParaRPr>
          </a:p>
        </p:txBody>
      </p:sp>
      <p:sp>
        <p:nvSpPr>
          <p:cNvPr id="15" name="Shape 13"/>
          <p:cNvSpPr/>
          <p:nvPr/>
        </p:nvSpPr>
        <p:spPr>
          <a:xfrm>
            <a:off x="3437248"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3461626"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EntityRecord</a:t>
            </a:r>
            <a:endParaRPr lang="en-US" sz="866" kern="1200" dirty="0">
              <a:solidFill>
                <a:prstClr val="black"/>
              </a:solidFill>
              <a:latin typeface="Calibri" panose="020F0502020204030204"/>
              <a:ea typeface="+mn-ea"/>
              <a:cs typeface="+mn-cs"/>
            </a:endParaRPr>
          </a:p>
        </p:txBody>
      </p:sp>
      <p:sp>
        <p:nvSpPr>
          <p:cNvPr id="17" name="Text 15"/>
          <p:cNvSpPr/>
          <p:nvPr/>
        </p:nvSpPr>
        <p:spPr>
          <a:xfrm>
            <a:off x="3461626"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Record&lt;string, unknown&gt; alias</a:t>
            </a:r>
            <a:endParaRPr lang="en-US" sz="2399" kern="1200" dirty="0">
              <a:solidFill>
                <a:prstClr val="black"/>
              </a:solidFill>
              <a:latin typeface="Calibri" panose="020F0502020204030204"/>
              <a:ea typeface="+mn-ea"/>
              <a:cs typeface="+mn-cs"/>
            </a:endParaRPr>
          </a:p>
        </p:txBody>
      </p:sp>
      <p:sp>
        <p:nvSpPr>
          <p:cNvPr id="18" name="Shape 16"/>
          <p:cNvSpPr/>
          <p:nvPr/>
        </p:nvSpPr>
        <p:spPr>
          <a:xfrm>
            <a:off x="6386944"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411322"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flattenODataResponse&lt;T extends EntityRecord&gt;</a:t>
            </a:r>
            <a:endParaRPr lang="en-US" sz="866" kern="1200" dirty="0">
              <a:solidFill>
                <a:prstClr val="black"/>
              </a:solidFill>
              <a:latin typeface="Calibri" panose="020F0502020204030204"/>
              <a:ea typeface="+mn-ea"/>
              <a:cs typeface="+mn-cs"/>
            </a:endParaRPr>
          </a:p>
        </p:txBody>
      </p:sp>
      <p:sp>
        <p:nvSpPr>
          <p:cNvPr id="20" name="Text 18"/>
          <p:cNvSpPr/>
          <p:nvPr/>
        </p:nvSpPr>
        <p:spPr>
          <a:xfrm>
            <a:off x="6411322"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Constrained generic, explicit return</a:t>
            </a:r>
            <a:endParaRPr lang="en-US" sz="2399" kern="1200" dirty="0">
              <a:solidFill>
                <a:prstClr val="black"/>
              </a:solidFill>
              <a:latin typeface="Calibri" panose="020F0502020204030204"/>
              <a:ea typeface="+mn-ea"/>
              <a:cs typeface="+mn-cs"/>
            </a:endParaRPr>
          </a:p>
        </p:txBody>
      </p:sp>
      <p:sp>
        <p:nvSpPr>
          <p:cNvPr id="21" name="Shape 19"/>
          <p:cNvSpPr/>
          <p:nvPr/>
        </p:nvSpPr>
        <p:spPr>
          <a:xfrm>
            <a:off x="9336639"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361017"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response?.value</a:t>
            </a:r>
            <a:endParaRPr lang="en-US" sz="866" kern="1200" dirty="0">
              <a:solidFill>
                <a:prstClr val="black"/>
              </a:solidFill>
              <a:latin typeface="Calibri" panose="020F0502020204030204"/>
              <a:ea typeface="+mn-ea"/>
              <a:cs typeface="+mn-cs"/>
            </a:endParaRPr>
          </a:p>
        </p:txBody>
      </p:sp>
      <p:sp>
        <p:nvSpPr>
          <p:cNvPr id="23" name="Text 21"/>
          <p:cNvSpPr/>
          <p:nvPr/>
        </p:nvSpPr>
        <p:spPr>
          <a:xfrm>
            <a:off x="9361017"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Optional chaining — strictNullChecks guard</a:t>
            </a:r>
            <a:endParaRPr lang="en-US" sz="2399" kern="1200" dirty="0">
              <a:solidFill>
                <a:prstClr val="black"/>
              </a:solidFill>
              <a:latin typeface="Calibri" panose="020F0502020204030204"/>
              <a:ea typeface="+mn-ea"/>
              <a:cs typeface="+mn-cs"/>
            </a:endParaRPr>
          </a:p>
        </p:txBody>
      </p:sp>
      <p:pic>
        <p:nvPicPr>
          <p:cNvPr id="24" name="Google Shape;497;p1">
            <a:extLst>
              <a:ext uri="{FF2B5EF4-FFF2-40B4-BE49-F238E27FC236}">
                <a16:creationId xmlns:a16="http://schemas.microsoft.com/office/drawing/2014/main" id="{7AAE0F54-F670-B66B-D884-A0682185E9CD}"/>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4a  </a:t>
            </a:r>
            <a:r>
              <a:rPr lang="en-US" sz="3333" b="1" kern="1200" dirty="0">
                <a:solidFill>
                  <a:srgbClr val="FFFFFF"/>
                </a:solidFill>
                <a:latin typeface="Calibri" pitchFamily="34" charset="0"/>
                <a:ea typeface="Calibri" pitchFamily="34" charset="-122"/>
                <a:cs typeface="Calibri" pitchFamily="34" charset="-120"/>
              </a:rPr>
              <a:t>srv/CatalogService.js → .ts — Concept &amp; CDS Types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Handler Migration · understanding the CDS type system before writing code</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CDS Type Hierarchy (from @cap-js/cds-types)</a:t>
            </a:r>
            <a:endParaRPr lang="en-US" sz="1600" kern="1200" dirty="0">
              <a:solidFill>
                <a:prstClr val="black"/>
              </a:solidFill>
              <a:latin typeface="Calibri" panose="020F0502020204030204"/>
              <a:ea typeface="+mn-ea"/>
              <a:cs typeface="+mn-cs"/>
            </a:endParaRPr>
          </a:p>
        </p:txBody>
      </p:sp>
      <p:sp>
        <p:nvSpPr>
          <p:cNvPr id="7" name="Shape 5"/>
          <p:cNvSpPr/>
          <p:nvPr/>
        </p:nvSpPr>
        <p:spPr>
          <a:xfrm>
            <a:off x="4387977" y="1829217"/>
            <a:ext cx="3412871" cy="633819"/>
          </a:xfrm>
          <a:prstGeom prst="rect">
            <a:avLst/>
          </a:prstGeom>
          <a:solidFill>
            <a:srgbClr val="0D1B2A"/>
          </a:solidFill>
          <a:ln w="12700">
            <a:solidFill>
              <a:srgbClr val="0D1B2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387977" y="1829217"/>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cds.Service</a:t>
            </a:r>
            <a:endParaRPr lang="en-US" sz="1200" kern="1200" dirty="0">
              <a:solidFill>
                <a:prstClr val="black"/>
              </a:solidFill>
              <a:latin typeface="Calibri" panose="020F0502020204030204"/>
              <a:ea typeface="+mn-ea"/>
              <a:cs typeface="+mn-cs"/>
            </a:endParaRPr>
          </a:p>
        </p:txBody>
      </p:sp>
      <p:sp>
        <p:nvSpPr>
          <p:cNvPr id="9" name="Shape 7"/>
          <p:cNvSpPr/>
          <p:nvPr/>
        </p:nvSpPr>
        <p:spPr>
          <a:xfrm>
            <a:off x="2437765" y="3048099"/>
            <a:ext cx="3412871" cy="633819"/>
          </a:xfrm>
          <a:prstGeom prst="rect">
            <a:avLst/>
          </a:prstGeom>
          <a:solidFill>
            <a:srgbClr val="D97706"/>
          </a:solidFill>
          <a:ln w="12700">
            <a:solidFill>
              <a:srgbClr val="D9770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437765"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cds.ApplicationService</a:t>
            </a:r>
            <a:endParaRPr lang="en-US" sz="1200" kern="1200" dirty="0">
              <a:solidFill>
                <a:prstClr val="black"/>
              </a:solidFill>
              <a:latin typeface="Calibri" panose="020F0502020204030204"/>
              <a:ea typeface="+mn-ea"/>
              <a:cs typeface="+mn-cs"/>
            </a:endParaRPr>
          </a:p>
        </p:txBody>
      </p:sp>
      <p:sp>
        <p:nvSpPr>
          <p:cNvPr id="11" name="Shape 9"/>
          <p:cNvSpPr/>
          <p:nvPr/>
        </p:nvSpPr>
        <p:spPr>
          <a:xfrm>
            <a:off x="6460077" y="3048099"/>
            <a:ext cx="3412871" cy="633819"/>
          </a:xfrm>
          <a:prstGeom prst="rect">
            <a:avLst/>
          </a:prstGeom>
          <a:solidFill>
            <a:srgbClr val="1D4ED8"/>
          </a:solidFill>
          <a:ln w="12700">
            <a:solidFill>
              <a:srgbClr val="1D4ED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460077"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cds.RemoteService</a:t>
            </a:r>
            <a:endParaRPr lang="en-US" sz="1200" kern="1200" dirty="0">
              <a:solidFill>
                <a:prstClr val="black"/>
              </a:solidFill>
              <a:latin typeface="Calibri" panose="020F0502020204030204"/>
              <a:ea typeface="+mn-ea"/>
              <a:cs typeface="+mn-cs"/>
            </a:endParaRPr>
          </a:p>
        </p:txBody>
      </p:sp>
      <p:sp>
        <p:nvSpPr>
          <p:cNvPr id="13" name="Shape 11"/>
          <p:cNvSpPr/>
          <p:nvPr/>
        </p:nvSpPr>
        <p:spPr>
          <a:xfrm>
            <a:off x="609441" y="4266982"/>
            <a:ext cx="3412871" cy="633819"/>
          </a:xfrm>
          <a:prstGeom prst="rect">
            <a:avLst/>
          </a:prstGeom>
          <a:solidFill>
            <a:srgbClr val="065F46"/>
          </a:solidFill>
          <a:ln w="12700">
            <a:solidFill>
              <a:srgbClr val="065F4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Your CatalogService extends</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387977" y="4266982"/>
            <a:ext cx="3412871" cy="633819"/>
          </a:xfrm>
          <a:prstGeom prst="rect">
            <a:avLst/>
          </a:prstGeom>
          <a:solidFill>
            <a:srgbClr val="0070F2"/>
          </a:solidFill>
          <a:ln w="12700">
            <a:solidFill>
              <a:srgbClr val="0070F2"/>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387977"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cds.Request&lt;Data&gt;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166512" y="4266982"/>
            <a:ext cx="3412871" cy="633819"/>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166512"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cds.connect.to()</a:t>
            </a:r>
            <a:endParaRPr lang="en-US" sz="1200" kern="1200" dirty="0">
              <a:solidFill>
                <a:prstClr val="black"/>
              </a:solidFill>
              <a:latin typeface="Calibri" panose="020F0502020204030204"/>
              <a:ea typeface="+mn-ea"/>
              <a:cs typeface="+mn-cs"/>
            </a:endParaRPr>
          </a:p>
        </p:txBody>
      </p:sp>
      <p:sp>
        <p:nvSpPr>
          <p:cNvPr id="19" name="Shape 17"/>
          <p:cNvSpPr/>
          <p:nvPr/>
        </p:nvSpPr>
        <p:spPr>
          <a:xfrm>
            <a:off x="6094412" y="2463035"/>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Shape 18"/>
          <p:cNvSpPr/>
          <p:nvPr/>
        </p:nvSpPr>
        <p:spPr>
          <a:xfrm>
            <a:off x="6094412" y="2463035"/>
            <a:ext cx="207210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4144200"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6094412"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487552"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22"/>
          <p:cNvSpPr/>
          <p:nvPr/>
        </p:nvSpPr>
        <p:spPr>
          <a:xfrm>
            <a:off x="487552" y="5059255"/>
            <a:ext cx="85322" cy="1584547"/>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94763" y="5095822"/>
            <a:ext cx="3473815" cy="341287"/>
          </a:xfrm>
          <a:prstGeom prst="rect">
            <a:avLst/>
          </a:prstGeom>
          <a:noFill/>
          <a:ln/>
        </p:spPr>
        <p:txBody>
          <a:bodyPr wrap="square" lIns="0" tIns="0" rIns="0" bIns="0" rtlCol="0" anchor="ctr"/>
          <a:lstStyle/>
          <a:p>
            <a:pPr defTabSz="1218895">
              <a:buClrTx/>
            </a:pPr>
            <a:r>
              <a:rPr lang="en-US" sz="1333" b="1" kern="1200" dirty="0">
                <a:solidFill>
                  <a:srgbClr val="D97706"/>
                </a:solidFill>
                <a:latin typeface="Consolas" pitchFamily="34" charset="0"/>
                <a:ea typeface="Consolas" pitchFamily="34" charset="-122"/>
                <a:cs typeface="Consolas" pitchFamily="34" charset="-120"/>
              </a:rPr>
              <a:t>cds.ApplicationService</a:t>
            </a:r>
            <a:endParaRPr lang="en-US" sz="1333" kern="1200" dirty="0">
              <a:solidFill>
                <a:prstClr val="black"/>
              </a:solidFill>
              <a:latin typeface="Calibri" panose="020F0502020204030204"/>
              <a:ea typeface="+mn-ea"/>
              <a:cs typeface="+mn-cs"/>
            </a:endParaRPr>
          </a:p>
        </p:txBody>
      </p:sp>
      <p:sp>
        <p:nvSpPr>
          <p:cNvPr id="26" name="Text 24"/>
          <p:cNvSpPr/>
          <p:nvPr/>
        </p:nvSpPr>
        <p:spPr>
          <a:xfrm>
            <a:off x="694763"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base class for all CAP service implementations. Your CatalogService MUST extend this. Provides this.on(), this.before(), this.after(), this.send().</a:t>
            </a:r>
            <a:endParaRPr lang="en-US" sz="1133" kern="1200" dirty="0">
              <a:solidFill>
                <a:prstClr val="black"/>
              </a:solidFill>
              <a:latin typeface="Calibri" panose="020F0502020204030204"/>
              <a:ea typeface="+mn-ea"/>
              <a:cs typeface="+mn-cs"/>
            </a:endParaRPr>
          </a:p>
        </p:txBody>
      </p:sp>
      <p:sp>
        <p:nvSpPr>
          <p:cNvPr id="27" name="Shape 25"/>
          <p:cNvSpPr/>
          <p:nvPr/>
        </p:nvSpPr>
        <p:spPr>
          <a:xfrm>
            <a:off x="4448921"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4448921" y="5059255"/>
            <a:ext cx="85322" cy="1584547"/>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4656131" y="5095822"/>
            <a:ext cx="3473815" cy="341287"/>
          </a:xfrm>
          <a:prstGeom prst="rect">
            <a:avLst/>
          </a:prstGeom>
          <a:noFill/>
          <a:ln/>
        </p:spPr>
        <p:txBody>
          <a:bodyPr wrap="square" lIns="0" tIns="0" rIns="0" bIns="0" rtlCol="0" anchor="ctr"/>
          <a:lstStyle/>
          <a:p>
            <a:pPr defTabSz="1218895">
              <a:buClrTx/>
            </a:pPr>
            <a:r>
              <a:rPr lang="en-US" sz="1333" b="1" kern="1200" dirty="0">
                <a:solidFill>
                  <a:srgbClr val="0070F2"/>
                </a:solidFill>
                <a:latin typeface="Consolas" pitchFamily="34" charset="0"/>
                <a:ea typeface="Consolas" pitchFamily="34" charset="-122"/>
                <a:cs typeface="Consolas" pitchFamily="34" charset="-120"/>
              </a:rPr>
              <a:t>cds.Request&lt;Data&gt;</a:t>
            </a:r>
            <a:endParaRPr lang="en-US" sz="1333" kern="1200" dirty="0">
              <a:solidFill>
                <a:prstClr val="black"/>
              </a:solidFill>
              <a:latin typeface="Calibri" panose="020F0502020204030204"/>
              <a:ea typeface="+mn-ea"/>
              <a:cs typeface="+mn-cs"/>
            </a:endParaRPr>
          </a:p>
        </p:txBody>
      </p:sp>
      <p:sp>
        <p:nvSpPr>
          <p:cNvPr id="30" name="Text 28"/>
          <p:cNvSpPr/>
          <p:nvPr/>
        </p:nvSpPr>
        <p:spPr>
          <a:xfrm>
            <a:off x="4656131"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Generic type for every incoming request. Data is the shape of req.data. Also carries req.user, req.locale, req.params — all typed.</a:t>
            </a:r>
            <a:endParaRPr lang="en-US" sz="1133" kern="1200" dirty="0">
              <a:solidFill>
                <a:prstClr val="black"/>
              </a:solidFill>
              <a:latin typeface="Calibri" panose="020F0502020204030204"/>
              <a:ea typeface="+mn-ea"/>
              <a:cs typeface="+mn-cs"/>
            </a:endParaRPr>
          </a:p>
        </p:txBody>
      </p:sp>
      <p:sp>
        <p:nvSpPr>
          <p:cNvPr id="31" name="Shape 29"/>
          <p:cNvSpPr/>
          <p:nvPr/>
        </p:nvSpPr>
        <p:spPr>
          <a:xfrm>
            <a:off x="8410289"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8410289" y="5059255"/>
            <a:ext cx="85322" cy="158454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8617499" y="5095822"/>
            <a:ext cx="3473815" cy="341287"/>
          </a:xfrm>
          <a:prstGeom prst="rect">
            <a:avLst/>
          </a:prstGeom>
          <a:noFill/>
          <a:ln/>
        </p:spPr>
        <p:txBody>
          <a:bodyPr wrap="square" lIns="0" tIns="0" rIns="0" bIns="0" rtlCol="0" anchor="ctr"/>
          <a:lstStyle/>
          <a:p>
            <a:pPr defTabSz="1218895">
              <a:buClrTx/>
            </a:pPr>
            <a:r>
              <a:rPr lang="en-US" sz="1333" b="1" kern="1200" dirty="0">
                <a:solidFill>
                  <a:srgbClr val="7C3AED"/>
                </a:solidFill>
                <a:latin typeface="Consolas" pitchFamily="34" charset="0"/>
                <a:ea typeface="Consolas" pitchFamily="34" charset="-122"/>
                <a:cs typeface="Consolas" pitchFamily="34" charset="-120"/>
              </a:rPr>
              <a:t>cds.connect.to()</a:t>
            </a:r>
            <a:endParaRPr lang="en-US" sz="1333" kern="1200" dirty="0">
              <a:solidFill>
                <a:prstClr val="black"/>
              </a:solidFill>
              <a:latin typeface="Calibri" panose="020F0502020204030204"/>
              <a:ea typeface="+mn-ea"/>
              <a:cs typeface="+mn-cs"/>
            </a:endParaRPr>
          </a:p>
        </p:txBody>
      </p:sp>
      <p:sp>
        <p:nvSpPr>
          <p:cNvPr id="34" name="Text 32"/>
          <p:cNvSpPr/>
          <p:nvPr/>
        </p:nvSpPr>
        <p:spPr>
          <a:xfrm>
            <a:off x="8617499"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Returns Promise&lt;cds.Service&gt;. Use with await and assign to a typed variable. Strict null checks require null-guards before calling methods on it.</a:t>
            </a:r>
            <a:endParaRPr lang="en-US" sz="1133" kern="1200" dirty="0">
              <a:solidFill>
                <a:prstClr val="black"/>
              </a:solidFill>
              <a:latin typeface="Calibri" panose="020F0502020204030204"/>
              <a:ea typeface="+mn-ea"/>
              <a:cs typeface="+mn-cs"/>
            </a:endParaRPr>
          </a:p>
        </p:txBody>
      </p:sp>
      <p:pic>
        <p:nvPicPr>
          <p:cNvPr id="35" name="Google Shape;497;p1">
            <a:extLst>
              <a:ext uri="{FF2B5EF4-FFF2-40B4-BE49-F238E27FC236}">
                <a16:creationId xmlns:a16="http://schemas.microsoft.com/office/drawing/2014/main" id="{312872BE-52F1-20B0-4497-E4FA88735F8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4b  </a:t>
            </a:r>
            <a:r>
              <a:rPr lang="en-US" sz="3333" b="1" kern="1200" dirty="0">
                <a:solidFill>
                  <a:srgbClr val="FFFFFF"/>
                </a:solidFill>
                <a:latin typeface="Calibri" pitchFamily="34" charset="0"/>
                <a:ea typeface="Calibri" pitchFamily="34" charset="-122"/>
                <a:cs typeface="Calibri" pitchFamily="34" charset="-120"/>
              </a:rPr>
              <a:t>CatalogService.js → .ts — Full Before/After</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Migration · adding CDS types to a typical CRUD service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(CatalogService.js)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no types — all implicit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 'Books',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 ID }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order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(CatalogService.ts)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CDS-generated entity interfaces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Book  { ID: string; title: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Order { ID: string; book_ID: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amount: number;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cds.Request): Promise&lt;Book[]&gt;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 ID } = req.data as { ID: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 Promise&lt;Order&gt;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order = req.data as 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48C27DE6-9E27-F4A0-9426-6FD3CDF62E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4c  </a:t>
            </a:r>
            <a:r>
              <a:rPr lang="en-US" sz="3333" b="1" kern="1200" dirty="0">
                <a:solidFill>
                  <a:srgbClr val="FFFFFF"/>
                </a:solidFill>
                <a:latin typeface="Calibri" pitchFamily="34" charset="0"/>
                <a:ea typeface="Calibri" pitchFamily="34" charset="-122"/>
                <a:cs typeface="Calibri" pitchFamily="34" charset="-120"/>
              </a:rPr>
              <a:t>srv/CDSService.js → .ts — Generic Handler Pattern</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Generic Migration · typed this.on/before/after with reusable handler registration</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670385"/>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58196" y="1439174"/>
            <a:ext cx="10969943" cy="609441"/>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Pattern: </a:t>
            </a:r>
            <a:r>
              <a:rPr lang="en-US" kern="1200" dirty="0">
                <a:solidFill>
                  <a:srgbClr val="334155"/>
                </a:solidFill>
                <a:latin typeface="Calibri" pitchFamily="34" charset="0"/>
                <a:ea typeface="Calibri" pitchFamily="34" charset="-122"/>
                <a:cs typeface="Calibri" pitchFamily="34" charset="-120"/>
              </a:rPr>
              <a:t>CDSService.js is a generic bootstrap file that registers handlers for multiple entities. The migration challenge is typing the handler callbacks — specifically the </a:t>
            </a:r>
            <a:r>
              <a:rPr lang="en-US" b="1" kern="1200" dirty="0">
                <a:solidFill>
                  <a:srgbClr val="0070F2"/>
                </a:solidFill>
                <a:latin typeface="Calibri" pitchFamily="34" charset="0"/>
                <a:ea typeface="Calibri" pitchFamily="34" charset="-122"/>
                <a:cs typeface="Calibri" pitchFamily="34" charset="-120"/>
              </a:rPr>
              <a:t>req: cds.Request</a:t>
            </a:r>
            <a:r>
              <a:rPr lang="en-US" kern="1200" dirty="0">
                <a:solidFill>
                  <a:srgbClr val="334155"/>
                </a:solidFill>
                <a:latin typeface="Calibri" pitchFamily="34" charset="0"/>
                <a:ea typeface="Calibri" pitchFamily="34" charset="-122"/>
                <a:cs typeface="Calibri" pitchFamily="34" charset="-120"/>
              </a:rPr>
              <a:t> parameter and return types for each entity operation.</a:t>
            </a:r>
            <a:endParaRPr lang="en-US" kern="1200" dirty="0">
              <a:solidFill>
                <a:prstClr val="black"/>
              </a:solidFill>
              <a:latin typeface="Calibri" panose="020F0502020204030204"/>
              <a:ea typeface="+mn-ea"/>
              <a:cs typeface="+mn-cs"/>
            </a:endParaRPr>
          </a:p>
        </p:txBody>
      </p:sp>
      <p:sp>
        <p:nvSpPr>
          <p:cNvPr id="8" name="Text 6"/>
          <p:cNvSpPr/>
          <p:nvPr/>
        </p:nvSpPr>
        <p:spPr>
          <a:xfrm>
            <a:off x="487553" y="2194882"/>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(CDSService.js — generic handler)</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560546"/>
            <a:ext cx="5484971"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682434"/>
            <a:ext cx="5216817"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Generic handler — no type 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this.before — no req 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 '*',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 '*', (data,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data is any — no safety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console.log(data.length);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1" name="Text 9"/>
          <p:cNvSpPr/>
          <p:nvPr/>
        </p:nvSpPr>
        <p:spPr>
          <a:xfrm>
            <a:off x="6277244" y="2194882"/>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(CDSService.ts — fully typed)</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560546"/>
            <a:ext cx="5606860"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682434"/>
            <a:ext cx="5338705"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Handler&lt;D=unknown&gt;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cds.Request&lt;D&gt;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=&gt; Promise&lt;void&gt; | void;</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before: req is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void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after: data is typed array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(data: unknown[], req: cds.Request)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console.log(data.length); // safe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4" name="Shape 12"/>
          <p:cNvSpPr/>
          <p:nvPr/>
        </p:nvSpPr>
        <p:spPr>
          <a:xfrm>
            <a:off x="48755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8755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Handler&lt;D&gt;  </a:t>
            </a:r>
            <a:r>
              <a:rPr lang="en-US" sz="2399" kern="1200" dirty="0">
                <a:solidFill>
                  <a:srgbClr val="334155"/>
                </a:solidFill>
                <a:latin typeface="Calibri" pitchFamily="34" charset="0"/>
                <a:ea typeface="Calibri" pitchFamily="34" charset="-122"/>
                <a:cs typeface="Calibri" pitchFamily="34" charset="-120"/>
              </a:rPr>
              <a:t>Reusable typed callback alias — avoids repeating cds.Request&lt;D&gt; everywhere</a:t>
            </a:r>
            <a:endParaRPr lang="en-US" sz="2399" kern="1200" dirty="0">
              <a:solidFill>
                <a:prstClr val="black"/>
              </a:solidFill>
              <a:latin typeface="Calibri" panose="020F0502020204030204"/>
              <a:ea typeface="+mn-ea"/>
              <a:cs typeface="+mn-cs"/>
            </a:endParaRPr>
          </a:p>
        </p:txBody>
      </p:sp>
      <p:sp>
        <p:nvSpPr>
          <p:cNvPr id="16" name="Shape 14"/>
          <p:cNvSpPr/>
          <p:nvPr/>
        </p:nvSpPr>
        <p:spPr>
          <a:xfrm>
            <a:off x="4485487"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485487"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this.before()  </a:t>
            </a:r>
            <a:r>
              <a:rPr lang="en-US" sz="2399" kern="1200" dirty="0">
                <a:solidFill>
                  <a:srgbClr val="334155"/>
                </a:solidFill>
                <a:latin typeface="Calibri" pitchFamily="34" charset="0"/>
                <a:ea typeface="Calibri" pitchFamily="34" charset="-122"/>
                <a:cs typeface="Calibri" pitchFamily="34" charset="-120"/>
              </a:rPr>
              <a:t>Typed as (event, entity, callback) — callback always gets cds.Request</a:t>
            </a:r>
            <a:endParaRPr lang="en-US" sz="2399" kern="1200" dirty="0">
              <a:solidFill>
                <a:prstClr val="black"/>
              </a:solidFill>
              <a:latin typeface="Calibri" panose="020F0502020204030204"/>
              <a:ea typeface="+mn-ea"/>
              <a:cs typeface="+mn-cs"/>
            </a:endParaRPr>
          </a:p>
        </p:txBody>
      </p:sp>
      <p:sp>
        <p:nvSpPr>
          <p:cNvPr id="18" name="Shape 16"/>
          <p:cNvSpPr/>
          <p:nvPr/>
        </p:nvSpPr>
        <p:spPr>
          <a:xfrm>
            <a:off x="848342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848342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req.user?.is()  </a:t>
            </a:r>
            <a:r>
              <a:rPr lang="en-US" sz="2399" kern="1200" dirty="0">
                <a:solidFill>
                  <a:srgbClr val="334155"/>
                </a:solidFill>
                <a:latin typeface="Calibri" pitchFamily="34" charset="0"/>
                <a:ea typeface="Calibri" pitchFamily="34" charset="-122"/>
                <a:cs typeface="Calibri" pitchFamily="34" charset="-120"/>
              </a:rPr>
              <a:t>Optional chain required in strict mode — req.user can be null for anonymous requests</a:t>
            </a:r>
            <a:endParaRPr lang="en-US" sz="2399" kern="1200" dirty="0">
              <a:solidFill>
                <a:prstClr val="black"/>
              </a:solidFill>
              <a:latin typeface="Calibri" panose="020F0502020204030204"/>
              <a:ea typeface="+mn-ea"/>
              <a:cs typeface="+mn-cs"/>
            </a:endParaRPr>
          </a:p>
        </p:txBody>
      </p:sp>
      <p:sp>
        <p:nvSpPr>
          <p:cNvPr id="20" name="Shape 18"/>
          <p:cNvSpPr/>
          <p:nvPr/>
        </p:nvSpPr>
        <p:spPr>
          <a:xfrm>
            <a:off x="487553" y="6631614"/>
            <a:ext cx="11213719" cy="304721"/>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609441" y="6655991"/>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Key difference: this.before receives cds.Request; this.after receives (data, req) where data is the returned array. Both must be explicitly typed.</a:t>
            </a:r>
            <a:endParaRPr lang="en-US" sz="1200" kern="1200" dirty="0">
              <a:solidFill>
                <a:prstClr val="black"/>
              </a:solidFill>
              <a:latin typeface="Calibri" panose="020F0502020204030204"/>
              <a:ea typeface="+mn-ea"/>
              <a:cs typeface="+mn-cs"/>
            </a:endParaRPr>
          </a:p>
        </p:txBody>
      </p:sp>
      <p:pic>
        <p:nvPicPr>
          <p:cNvPr id="22" name="Google Shape;497;p1">
            <a:extLst>
              <a:ext uri="{FF2B5EF4-FFF2-40B4-BE49-F238E27FC236}">
                <a16:creationId xmlns:a16="http://schemas.microsoft.com/office/drawing/2014/main" id="{E4D60F2C-8315-586A-0CA4-4C554C81BCEA}"/>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5  </a:t>
            </a:r>
            <a:r>
              <a:rPr lang="en-US" sz="3333" b="1" kern="1200" dirty="0">
                <a:solidFill>
                  <a:srgbClr val="FFFFFF"/>
                </a:solidFill>
                <a:latin typeface="Calibri" pitchFamily="34" charset="0"/>
                <a:ea typeface="Calibri" pitchFamily="34" charset="-122"/>
                <a:cs typeface="Calibri" pitchFamily="34" charset="-120"/>
              </a:rPr>
              <a:t>Diagnose &amp; Fix Common CAP Migration Type Errors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Diagnostics · real error codes you will see when migrating CAP handlers</a:t>
            </a:r>
            <a:endParaRPr lang="en-US" kern="1200" dirty="0">
              <a:solidFill>
                <a:prstClr val="black"/>
              </a:solidFill>
              <a:latin typeface="Calibri" panose="020F0502020204030204"/>
              <a:ea typeface="+mn-ea"/>
              <a:cs typeface="+mn-cs"/>
            </a:endParaRPr>
          </a:p>
        </p:txBody>
      </p:sp>
      <p:sp>
        <p:nvSpPr>
          <p:cNvPr id="6" name="Shape 4"/>
          <p:cNvSpPr/>
          <p:nvPr/>
        </p:nvSpPr>
        <p:spPr>
          <a:xfrm>
            <a:off x="426608"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26608"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26608"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TS7006</a:t>
            </a:r>
            <a:endParaRPr lang="en-US" kern="1200" dirty="0">
              <a:solidFill>
                <a:prstClr val="black"/>
              </a:solidFill>
              <a:latin typeface="Calibri" panose="020F0502020204030204"/>
              <a:ea typeface="+mn-ea"/>
              <a:cs typeface="+mn-cs"/>
            </a:endParaRPr>
          </a:p>
        </p:txBody>
      </p:sp>
      <p:sp>
        <p:nvSpPr>
          <p:cNvPr id="9" name="Text 7"/>
          <p:cNvSpPr/>
          <p:nvPr/>
        </p:nvSpPr>
        <p:spPr>
          <a:xfrm>
            <a:off x="1791757"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Parameter implicitly has an 'any' type</a:t>
            </a:r>
            <a:endParaRPr lang="en-US" sz="1333" kern="1200" dirty="0">
              <a:solidFill>
                <a:prstClr val="black"/>
              </a:solidFill>
              <a:latin typeface="Calibri" panose="020F0502020204030204"/>
              <a:ea typeface="+mn-ea"/>
              <a:cs typeface="+mn-cs"/>
            </a:endParaRPr>
          </a:p>
        </p:txBody>
      </p:sp>
      <p:sp>
        <p:nvSpPr>
          <p:cNvPr id="10" name="Text 8"/>
          <p:cNvSpPr/>
          <p:nvPr/>
        </p:nvSpPr>
        <p:spPr>
          <a:xfrm>
            <a:off x="572874"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async books(req) { ... }</a:t>
            </a:r>
            <a:endParaRPr lang="en-US" sz="1133" kern="1200" dirty="0">
              <a:solidFill>
                <a:prstClr val="black"/>
              </a:solidFill>
              <a:latin typeface="Calibri" panose="020F0502020204030204"/>
              <a:ea typeface="+mn-ea"/>
              <a:cs typeface="+mn-cs"/>
            </a:endParaRPr>
          </a:p>
        </p:txBody>
      </p:sp>
      <p:sp>
        <p:nvSpPr>
          <p:cNvPr id="11" name="Text 9"/>
          <p:cNvSpPr/>
          <p:nvPr/>
        </p:nvSpPr>
        <p:spPr>
          <a:xfrm>
            <a:off x="572874"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async books(req: cds.Request): Promise&lt;Book[]&gt; { ... }</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423510"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423510"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23510"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TS2339</a:t>
            </a:r>
            <a:endParaRPr lang="en-US" kern="1200" dirty="0">
              <a:solidFill>
                <a:prstClr val="black"/>
              </a:solidFill>
              <a:latin typeface="Calibri" panose="020F0502020204030204"/>
              <a:ea typeface="+mn-ea"/>
              <a:cs typeface="+mn-cs"/>
            </a:endParaRPr>
          </a:p>
        </p:txBody>
      </p:sp>
      <p:sp>
        <p:nvSpPr>
          <p:cNvPr id="15" name="Text 13"/>
          <p:cNvSpPr/>
          <p:nvPr/>
        </p:nvSpPr>
        <p:spPr>
          <a:xfrm>
            <a:off x="7788659"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Property 'data' does not exist on type 'never'</a:t>
            </a:r>
            <a:endParaRPr lang="en-US" sz="1333" kern="1200" dirty="0">
              <a:solidFill>
                <a:prstClr val="black"/>
              </a:solidFill>
              <a:latin typeface="Calibri" panose="020F0502020204030204"/>
              <a:ea typeface="+mn-ea"/>
              <a:cs typeface="+mn-cs"/>
            </a:endParaRPr>
          </a:p>
        </p:txBody>
      </p:sp>
      <p:sp>
        <p:nvSpPr>
          <p:cNvPr id="16" name="Text 14"/>
          <p:cNvSpPr/>
          <p:nvPr/>
        </p:nvSpPr>
        <p:spPr>
          <a:xfrm>
            <a:off x="6569776"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this.on('READ','Books', req =&gt; { req.data })</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69776"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this.on('READ','Books', (req: cds.Request) =&gt; { req.data })</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26608"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26608"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26608"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TS2532</a:t>
            </a:r>
            <a:endParaRPr lang="en-US" kern="1200" dirty="0">
              <a:solidFill>
                <a:prstClr val="black"/>
              </a:solidFill>
              <a:latin typeface="Calibri" panose="020F0502020204030204"/>
              <a:ea typeface="+mn-ea"/>
              <a:cs typeface="+mn-cs"/>
            </a:endParaRPr>
          </a:p>
        </p:txBody>
      </p:sp>
      <p:sp>
        <p:nvSpPr>
          <p:cNvPr id="21" name="Text 19"/>
          <p:cNvSpPr/>
          <p:nvPr/>
        </p:nvSpPr>
        <p:spPr>
          <a:xfrm>
            <a:off x="1791757"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Object is possibly 'undefined'</a:t>
            </a:r>
            <a:endParaRPr lang="en-US" sz="1333" kern="1200" dirty="0">
              <a:solidFill>
                <a:prstClr val="black"/>
              </a:solidFill>
              <a:latin typeface="Calibri" panose="020F0502020204030204"/>
              <a:ea typeface="+mn-ea"/>
              <a:cs typeface="+mn-cs"/>
            </a:endParaRPr>
          </a:p>
        </p:txBody>
      </p:sp>
      <p:sp>
        <p:nvSpPr>
          <p:cNvPr id="22" name="Text 20"/>
          <p:cNvSpPr/>
          <p:nvPr/>
        </p:nvSpPr>
        <p:spPr>
          <a:xfrm>
            <a:off x="572874"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ID } = req.data;  // data may be undefined</a:t>
            </a:r>
            <a:endParaRPr lang="en-US" sz="1133" kern="1200" dirty="0">
              <a:solidFill>
                <a:prstClr val="black"/>
              </a:solidFill>
              <a:latin typeface="Calibri" panose="020F0502020204030204"/>
              <a:ea typeface="+mn-ea"/>
              <a:cs typeface="+mn-cs"/>
            </a:endParaRPr>
          </a:p>
        </p:txBody>
      </p:sp>
      <p:sp>
        <p:nvSpPr>
          <p:cNvPr id="23" name="Text 21"/>
          <p:cNvSpPr/>
          <p:nvPr/>
        </p:nvSpPr>
        <p:spPr>
          <a:xfrm>
            <a:off x="572874"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 ID } = (req.data ?? {}) as { ID: string };</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423510"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423510"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23510"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TS2345</a:t>
            </a:r>
            <a:endParaRPr lang="en-US" kern="1200" dirty="0">
              <a:solidFill>
                <a:prstClr val="black"/>
              </a:solidFill>
              <a:latin typeface="Calibri" panose="020F0502020204030204"/>
              <a:ea typeface="+mn-ea"/>
              <a:cs typeface="+mn-cs"/>
            </a:endParaRPr>
          </a:p>
        </p:txBody>
      </p:sp>
      <p:sp>
        <p:nvSpPr>
          <p:cNvPr id="27" name="Text 25"/>
          <p:cNvSpPr/>
          <p:nvPr/>
        </p:nvSpPr>
        <p:spPr>
          <a:xfrm>
            <a:off x="7788659"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Argument of type 'any' not assignable to 'Book'</a:t>
            </a:r>
            <a:endParaRPr lang="en-US" sz="1333" kern="1200" dirty="0">
              <a:solidFill>
                <a:prstClr val="black"/>
              </a:solidFill>
              <a:latin typeface="Calibri" panose="020F0502020204030204"/>
              <a:ea typeface="+mn-ea"/>
              <a:cs typeface="+mn-cs"/>
            </a:endParaRPr>
          </a:p>
        </p:txBody>
      </p:sp>
      <p:sp>
        <p:nvSpPr>
          <p:cNvPr id="28" name="Text 26"/>
          <p:cNvSpPr/>
          <p:nvPr/>
        </p:nvSpPr>
        <p:spPr>
          <a:xfrm>
            <a:off x="6569776"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return INSERT.into('Books').entries(req.data);</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69776"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return INSERT.into('Books').entries(req.data as Book);</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26608"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26608"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426608"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TS2304</a:t>
            </a:r>
            <a:endParaRPr lang="en-US" kern="1200" dirty="0">
              <a:solidFill>
                <a:prstClr val="black"/>
              </a:solidFill>
              <a:latin typeface="Calibri" panose="020F0502020204030204"/>
              <a:ea typeface="+mn-ea"/>
              <a:cs typeface="+mn-cs"/>
            </a:endParaRPr>
          </a:p>
        </p:txBody>
      </p:sp>
      <p:sp>
        <p:nvSpPr>
          <p:cNvPr id="33" name="Text 31"/>
          <p:cNvSpPr/>
          <p:nvPr/>
        </p:nvSpPr>
        <p:spPr>
          <a:xfrm>
            <a:off x="1791757"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Cannot find name 'SELECT' / 'INSERT'</a:t>
            </a:r>
            <a:endParaRPr lang="en-US" sz="1333" kern="1200" dirty="0">
              <a:solidFill>
                <a:prstClr val="black"/>
              </a:solidFill>
              <a:latin typeface="Calibri" panose="020F0502020204030204"/>
              <a:ea typeface="+mn-ea"/>
              <a:cs typeface="+mn-cs"/>
            </a:endParaRPr>
          </a:p>
        </p:txBody>
      </p:sp>
      <p:sp>
        <p:nvSpPr>
          <p:cNvPr id="34" name="Text 32"/>
          <p:cNvSpPr/>
          <p:nvPr/>
        </p:nvSpPr>
        <p:spPr>
          <a:xfrm>
            <a:off x="572874"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 No global CQL types — CAP's SELECT is global</a:t>
            </a:r>
            <a:endParaRPr lang="en-US" sz="1133" kern="1200" dirty="0">
              <a:solidFill>
                <a:prstClr val="black"/>
              </a:solidFill>
              <a:latin typeface="Calibri" panose="020F0502020204030204"/>
              <a:ea typeface="+mn-ea"/>
              <a:cs typeface="+mn-cs"/>
            </a:endParaRPr>
          </a:p>
        </p:txBody>
      </p:sp>
      <p:sp>
        <p:nvSpPr>
          <p:cNvPr id="35" name="Text 33"/>
          <p:cNvSpPr/>
          <p:nvPr/>
        </p:nvSpPr>
        <p:spPr>
          <a:xfrm>
            <a:off x="572874"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Add "@cap-js/cds-types" to tsconfig types array</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423510"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423510"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423510"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TS2554</a:t>
            </a:r>
            <a:endParaRPr lang="en-US" kern="1200" dirty="0">
              <a:solidFill>
                <a:prstClr val="black"/>
              </a:solidFill>
              <a:latin typeface="Calibri" panose="020F0502020204030204"/>
              <a:ea typeface="+mn-ea"/>
              <a:cs typeface="+mn-cs"/>
            </a:endParaRPr>
          </a:p>
        </p:txBody>
      </p:sp>
      <p:sp>
        <p:nvSpPr>
          <p:cNvPr id="39" name="Text 37"/>
          <p:cNvSpPr/>
          <p:nvPr/>
        </p:nvSpPr>
        <p:spPr>
          <a:xfrm>
            <a:off x="7788659"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Expected 2 arguments but got 1</a:t>
            </a:r>
            <a:endParaRPr lang="en-US" sz="1333" kern="1200" dirty="0">
              <a:solidFill>
                <a:prstClr val="black"/>
              </a:solidFill>
              <a:latin typeface="Calibri" panose="020F0502020204030204"/>
              <a:ea typeface="+mn-ea"/>
              <a:cs typeface="+mn-cs"/>
            </a:endParaRPr>
          </a:p>
        </p:txBody>
      </p:sp>
      <p:sp>
        <p:nvSpPr>
          <p:cNvPr id="40" name="Text 38"/>
          <p:cNvSpPr/>
          <p:nvPr/>
        </p:nvSpPr>
        <p:spPr>
          <a:xfrm>
            <a:off x="6569776"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await cds.connect.to('destination');</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69776"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cds.Service = await cds.connect.to('destination');</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F05902A-12B2-BE9A-6D5A-113677690D1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6a  </a:t>
            </a:r>
            <a:r>
              <a:rPr lang="en-US" sz="3333" b="1" kern="1200" dirty="0">
                <a:solidFill>
                  <a:srgbClr val="FFFFFF"/>
                </a:solidFill>
                <a:latin typeface="Calibri" pitchFamily="34" charset="0"/>
                <a:ea typeface="Calibri" pitchFamily="34" charset="-122"/>
                <a:cs typeface="Calibri" pitchFamily="34" charset="-120"/>
              </a:rPr>
              <a:t>Branded Types for Entity Keys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why plain 'string' IDs are dangerous in BTP services</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828840"/>
          </a:xfrm>
          <a:prstGeom prst="rect">
            <a:avLst/>
          </a:prstGeom>
          <a:solidFill>
            <a:srgbClr val="FEF2F2"/>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55707"/>
          </a:xfrm>
          <a:prstGeom prst="rect">
            <a:avLst/>
          </a:prstGeom>
          <a:noFill/>
          <a:ln/>
        </p:spPr>
        <p:txBody>
          <a:bodyPr wrap="square" lIns="0" tIns="0" rIns="0" bIns="0" rtlCol="0" anchor="ctr"/>
          <a:lstStyle/>
          <a:p>
            <a:pPr defTabSz="1218895">
              <a:buClrTx/>
            </a:pPr>
            <a:r>
              <a:rPr lang="en-US" sz="1533" b="1" kern="1200" dirty="0">
                <a:solidFill>
                  <a:srgbClr val="DC262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a BTP service with multiple entity types (Books, Orders, Customers), every primary key is typed as </a:t>
            </a:r>
            <a:r>
              <a:rPr lang="en-US" sz="1533" b="1" kern="1200" dirty="0">
                <a:solidFill>
                  <a:srgbClr val="DC2626"/>
                </a:solidFill>
                <a:latin typeface="Consolas" pitchFamily="34" charset="0"/>
                <a:ea typeface="Consolas" pitchFamily="34" charset="-122"/>
                <a:cs typeface="Consolas" pitchFamily="34" charset="-120"/>
              </a:rPr>
              <a:t>string</a:t>
            </a:r>
            <a:r>
              <a:rPr lang="en-US" sz="1533" kern="1200" dirty="0">
                <a:solidFill>
                  <a:srgbClr val="334155"/>
                </a:solidFill>
                <a:latin typeface="Calibri" pitchFamily="34" charset="0"/>
                <a:ea typeface="Calibri" pitchFamily="34" charset="-122"/>
                <a:cs typeface="Calibri" pitchFamily="34" charset="-120"/>
              </a:rPr>
              <a:t>. TypeScript will not stop you from passing a BookId where an OrderId is expected — both are just strings. This silently corrupts data.</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53336"/>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The Bug — TypeScript doesn't catch this:</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719001"/>
            <a:ext cx="5484971"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840889"/>
            <a:ext cx="5216817"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All IDs are just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getOrder(orderId: string)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const bookId = '4a7b-...'; // Book's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 No error! Wrong ID — silent bug</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353336"/>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With Branded Types — caught at compile time:</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719001"/>
            <a:ext cx="5606860"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840889"/>
            <a:ext cx="5338705"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OrderId and BookId are distinct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bookId = '4a7b-...' as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ERROR: BookId not assignable to OrderId!</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9476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What is a branded type?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476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A branded (opaque) type is a string (or number) with a phantom type tag that makes it structurally distinct from other strings — even though at runtime they are identical.</a:t>
            </a:r>
            <a:endParaRPr lang="en-US" sz="1200" kern="1200" dirty="0">
              <a:solidFill>
                <a:prstClr val="black"/>
              </a:solidFill>
              <a:latin typeface="Calibri" panose="020F0502020204030204"/>
              <a:ea typeface="+mn-ea"/>
              <a:cs typeface="+mn-cs"/>
            </a:endParaRPr>
          </a:p>
        </p:txBody>
      </p:sp>
      <p:sp>
        <p:nvSpPr>
          <p:cNvPr id="18" name="Shape 16"/>
          <p:cNvSpPr/>
          <p:nvPr/>
        </p:nvSpPr>
        <p:spPr>
          <a:xfrm>
            <a:off x="4485487"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485487"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692697"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Zero runtime cost</a:t>
            </a:r>
            <a:endParaRPr lang="en-US" sz="1333" kern="1200" dirty="0">
              <a:solidFill>
                <a:prstClr val="black"/>
              </a:solidFill>
              <a:latin typeface="Calibri" panose="020F0502020204030204"/>
              <a:ea typeface="+mn-ea"/>
              <a:cs typeface="+mn-cs"/>
            </a:endParaRPr>
          </a:p>
        </p:txBody>
      </p:sp>
      <p:sp>
        <p:nvSpPr>
          <p:cNvPr id="21" name="Text 19"/>
          <p:cNvSpPr/>
          <p:nvPr/>
        </p:nvSpPr>
        <p:spPr>
          <a:xfrm>
            <a:off x="4692697"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Branded types are purely a compile-time construct. After tsc runs, the generated JS has no trace of them — no wrappers, no classes, no overhead.</a:t>
            </a:r>
            <a:endParaRPr lang="en-US" sz="1200" kern="1200" dirty="0">
              <a:solidFill>
                <a:prstClr val="black"/>
              </a:solidFill>
              <a:latin typeface="Calibri" panose="020F0502020204030204"/>
              <a:ea typeface="+mn-ea"/>
              <a:cs typeface="+mn-cs"/>
            </a:endParaRPr>
          </a:p>
        </p:txBody>
      </p:sp>
      <p:sp>
        <p:nvSpPr>
          <p:cNvPr id="22" name="Shape 20"/>
          <p:cNvSpPr/>
          <p:nvPr/>
        </p:nvSpPr>
        <p:spPr>
          <a:xfrm>
            <a:off x="848342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48342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69063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BTP use cases</a:t>
            </a:r>
            <a:endParaRPr lang="en-US" sz="1333" kern="1200" dirty="0">
              <a:solidFill>
                <a:prstClr val="black"/>
              </a:solidFill>
              <a:latin typeface="Calibri" panose="020F0502020204030204"/>
              <a:ea typeface="+mn-ea"/>
              <a:cs typeface="+mn-cs"/>
            </a:endParaRPr>
          </a:p>
        </p:txBody>
      </p:sp>
      <p:sp>
        <p:nvSpPr>
          <p:cNvPr id="25" name="Text 23"/>
          <p:cNvSpPr/>
          <p:nvPr/>
        </p:nvSpPr>
        <p:spPr>
          <a:xfrm>
            <a:off x="869063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Entity IDs (BookId, OrderId, CustomerId), GUID keys, UUID fields, correlation IDs, tenant IDs — any string that should not be freely interchangeable.</a:t>
            </a:r>
            <a:endParaRPr lang="en-US" sz="1200"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928B38E6-68A2-1B04-1FAC-E3A6D373151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6b  </a:t>
            </a:r>
            <a:r>
              <a:rPr lang="en-US" sz="3333" b="1" kern="1200" dirty="0">
                <a:solidFill>
                  <a:srgbClr val="FFFFFF"/>
                </a:solidFill>
                <a:latin typeface="Calibri" pitchFamily="34" charset="0"/>
                <a:ea typeface="Calibri" pitchFamily="34" charset="-122"/>
                <a:cs typeface="Calibri" pitchFamily="34" charset="-120"/>
              </a:rPr>
              <a:t>Branded Types — Implementation &amp; Usage in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 three patterns from simple brand to type-safe factory function</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1 — Declare in entity-keys.ts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2681542"/>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entity-keys.ts — single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The __brand trick: phantom field never set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declare const __brand: unique symbol;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type Brand&lt;B, T&gt; = T &amp; { [__brand]: B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One line per entity key type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BookId     = Brand&lt;'BookId',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OrderId    = Brand&lt;'OrderId',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CustomerId = Brand&lt;'CustomerId', string&gt;;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Type-safe cast factory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export const asBookId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  (s: string): BookId =&gt; s as BookId;</a:t>
            </a:r>
            <a:endParaRPr lang="en-US" sz="1266"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2 — Use in Entity Interfaces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2681542"/>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import { BookId, OrderId } from './entity-keys';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Book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BookId;      // branded, not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title: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stock: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OrderId;   // distinct from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book_ID: BookId;    // references Book</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487553" y="4778912"/>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3 — Type-Safe Handler Usage</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144577"/>
            <a:ext cx="5484971"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266465"/>
            <a:ext cx="5216817" cy="1267638"/>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async findBook(id: BookId): Promise&lt;Book|null&gt;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SELECT.one.from('Books').where({ID:id});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Reading from req.data — cast once at boundary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id = asBookId(req.data.ID as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book = await findBook(id); // ✅ typed</a:t>
            </a:r>
            <a:endParaRPr lang="en-US" sz="1266" kern="1200" dirty="0">
              <a:solidFill>
                <a:prstClr val="black"/>
              </a:solidFill>
              <a:latin typeface="Calibri" panose="020F0502020204030204"/>
              <a:ea typeface="+mn-ea"/>
              <a:cs typeface="+mn-cs"/>
            </a:endParaRPr>
          </a:p>
        </p:txBody>
      </p:sp>
      <p:sp>
        <p:nvSpPr>
          <p:cNvPr id="15" name="Text 13"/>
          <p:cNvSpPr/>
          <p:nvPr/>
        </p:nvSpPr>
        <p:spPr>
          <a:xfrm>
            <a:off x="6277244" y="4778912"/>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Compiler catches wrong ID:</a:t>
            </a:r>
            <a:endParaRPr lang="en-US" sz="1466" kern="1200" dirty="0">
              <a:solidFill>
                <a:prstClr val="black"/>
              </a:solidFill>
              <a:latin typeface="Calibri" panose="020F0502020204030204"/>
              <a:ea typeface="+mn-ea"/>
              <a:cs typeface="+mn-cs"/>
            </a:endParaRPr>
          </a:p>
        </p:txBody>
      </p:sp>
      <p:sp>
        <p:nvSpPr>
          <p:cNvPr id="16" name="Shape 14"/>
          <p:cNvSpPr/>
          <p:nvPr/>
        </p:nvSpPr>
        <p:spPr>
          <a:xfrm>
            <a:off x="6277244" y="5144577"/>
            <a:ext cx="5606860"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460077" y="5266465"/>
            <a:ext cx="5338705" cy="1267638"/>
          </a:xfrm>
          <a:prstGeom prst="rect">
            <a:avLst/>
          </a:prstGeom>
          <a:noFill/>
          <a:ln/>
        </p:spPr>
        <p:txBody>
          <a:bodyPr wrap="square" lIns="0" tIns="0" rIns="0" bIns="0" rtlCol="0" anchor="t"/>
          <a:lstStyle/>
          <a:p>
            <a:pPr defTabSz="1218895">
              <a:buClrTx/>
            </a:pPr>
            <a:r>
              <a:rPr lang="en-US" sz="1266" kern="1200" dirty="0">
                <a:solidFill>
                  <a:srgbClr val="F9A8D4"/>
                </a:solidFill>
                <a:latin typeface="Consolas" pitchFamily="34" charset="0"/>
                <a:ea typeface="Consolas" pitchFamily="34" charset="-122"/>
                <a:cs typeface="Consolas" pitchFamily="34" charset="-120"/>
              </a:rPr>
              <a:t>const orderId = '...' as 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findBook(orderId);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TS2345: Argument of type 'OrderId' is not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assignable to parameter of type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Bug caught at compile time, not runtime!</a:t>
            </a:r>
            <a:endParaRPr lang="en-US" sz="1266"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235F35F1-964F-6C20-1EA4-33D1DBD8B1FE}"/>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7a  </a:t>
            </a:r>
            <a:r>
              <a:rPr lang="en-US" sz="3333" b="1" kern="1200" dirty="0">
                <a:solidFill>
                  <a:srgbClr val="FFFFFF"/>
                </a:solidFill>
                <a:latin typeface="Calibri" pitchFamily="34" charset="0"/>
                <a:ea typeface="Calibri" pitchFamily="34" charset="-122"/>
                <a:cs typeface="Calibri" pitchFamily="34" charset="-120"/>
              </a:rPr>
              <a:t>Strict Null-Safe Service Calls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where null/undefined sneaks into CAP service code and how to guard it</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792274"/>
          </a:xfrm>
          <a:prstGeom prst="rect">
            <a:avLst/>
          </a:prstGeom>
          <a:solidFill>
            <a:srgbClr val="EFF6FF"/>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31330"/>
          </a:xfrm>
          <a:prstGeom prst="rect">
            <a:avLst/>
          </a:prstGeom>
          <a:noFill/>
          <a:ln/>
        </p:spPr>
        <p:txBody>
          <a:bodyPr wrap="square" lIns="0" tIns="0" rIns="0" bIns="0" rtlCol="0" anchor="ctr"/>
          <a:lstStyle/>
          <a:p>
            <a:pPr defTabSz="1218895">
              <a:buClrTx/>
            </a:pPr>
            <a:r>
              <a:rPr lang="en-US" sz="1533" b="1" kern="1200" dirty="0">
                <a:solidFill>
                  <a:srgbClr val="1D4ED8"/>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strictNullChecks forces you to acknowledge that cds.connect.to() can fail, req.data can be null, and query results can be null or undefined. In plain JS all of these are silently ignored. With strict: true, every one must be guarded before use.</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16770"/>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Four Null Risk Zones in a CAP Service</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487552" y="2706812"/>
            <a:ext cx="5606860" cy="390042"/>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09441"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1 — cds.connect()</a:t>
            </a:r>
            <a:endParaRPr lang="en-US" kern="1200" dirty="0">
              <a:solidFill>
                <a:prstClr val="black"/>
              </a:solidFill>
              <a:latin typeface="Calibri" panose="020F0502020204030204"/>
              <a:ea typeface="+mn-ea"/>
              <a:cs typeface="+mn-cs"/>
            </a:endParaRPr>
          </a:p>
        </p:txBody>
      </p:sp>
      <p:sp>
        <p:nvSpPr>
          <p:cNvPr id="12" name="Text 10"/>
          <p:cNvSpPr/>
          <p:nvPr/>
        </p:nvSpPr>
        <p:spPr>
          <a:xfrm>
            <a:off x="609441"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svc.run(query); // svc could be null!</a:t>
            </a:r>
            <a:endParaRPr lang="en-US" sz="1133" kern="1200" dirty="0">
              <a:solidFill>
                <a:prstClr val="black"/>
              </a:solidFill>
              <a:latin typeface="Calibri" panose="020F0502020204030204"/>
              <a:ea typeface="+mn-ea"/>
              <a:cs typeface="+mn-cs"/>
            </a:endParaRPr>
          </a:p>
        </p:txBody>
      </p:sp>
      <p:sp>
        <p:nvSpPr>
          <p:cNvPr id="13" name="Shape 11"/>
          <p:cNvSpPr/>
          <p:nvPr/>
        </p:nvSpPr>
        <p:spPr>
          <a:xfrm>
            <a:off x="487552"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(!svc) throw new Error('No service');</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svc.run(query); // ✅ safe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240678"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Shape 14"/>
          <p:cNvSpPr/>
          <p:nvPr/>
        </p:nvSpPr>
        <p:spPr>
          <a:xfrm>
            <a:off x="6240678" y="2706812"/>
            <a:ext cx="5606860" cy="390042"/>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362566"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2 — req.data</a:t>
            </a:r>
            <a:endParaRPr lang="en-US" kern="1200" dirty="0">
              <a:solidFill>
                <a:prstClr val="black"/>
              </a:solidFill>
              <a:latin typeface="Calibri" panose="020F0502020204030204"/>
              <a:ea typeface="+mn-ea"/>
              <a:cs typeface="+mn-cs"/>
            </a:endParaRPr>
          </a:p>
        </p:txBody>
      </p:sp>
      <p:sp>
        <p:nvSpPr>
          <p:cNvPr id="18" name="Text 16"/>
          <p:cNvSpPr/>
          <p:nvPr/>
        </p:nvSpPr>
        <p:spPr>
          <a:xfrm>
            <a:off x="6362566"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bookId } = req.data;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req.data possibly undefined</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40678"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362566"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if (!req.data) return req.reject(400,'No 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const { bookId } = req.data as CreateOrder;</a:t>
            </a:r>
            <a:endParaRPr lang="en-US" sz="1133" kern="1200" dirty="0">
              <a:solidFill>
                <a:prstClr val="black"/>
              </a:solidFill>
              <a:latin typeface="Calibri" panose="020F0502020204030204"/>
              <a:ea typeface="+mn-ea"/>
              <a:cs typeface="+mn-cs"/>
            </a:endParaRPr>
          </a:p>
        </p:txBody>
      </p:sp>
      <p:sp>
        <p:nvSpPr>
          <p:cNvPr id="21" name="Shape 19"/>
          <p:cNvSpPr/>
          <p:nvPr/>
        </p:nvSpPr>
        <p:spPr>
          <a:xfrm>
            <a:off x="487552"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487552" y="4657024"/>
            <a:ext cx="5606860" cy="390042"/>
          </a:xfrm>
          <a:prstGeom prst="rect">
            <a:avLst/>
          </a:prstGeom>
          <a:solidFill>
            <a:srgbClr val="065F46"/>
          </a:solidFill>
          <a:ln w="12700">
            <a:solidFill>
              <a:srgbClr val="065F4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09441"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3 — SELECT results</a:t>
            </a:r>
            <a:endParaRPr lang="en-US" kern="1200" dirty="0">
              <a:solidFill>
                <a:prstClr val="black"/>
              </a:solidFill>
              <a:latin typeface="Calibri" panose="020F0502020204030204"/>
              <a:ea typeface="+mn-ea"/>
              <a:cs typeface="+mn-cs"/>
            </a:endParaRPr>
          </a:p>
        </p:txBody>
      </p:sp>
      <p:sp>
        <p:nvSpPr>
          <p:cNvPr id="24" name="Text 22"/>
          <p:cNvSpPr/>
          <p:nvPr/>
        </p:nvSpPr>
        <p:spPr>
          <a:xfrm>
            <a:off x="609441"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book.title; // TS2532: book possibly null</a:t>
            </a:r>
            <a:endParaRPr lang="en-US" sz="1133" kern="1200" dirty="0">
              <a:solidFill>
                <a:prstClr val="black"/>
              </a:solidFill>
              <a:latin typeface="Calibri" panose="020F0502020204030204"/>
              <a:ea typeface="+mn-ea"/>
              <a:cs typeface="+mn-cs"/>
            </a:endParaRPr>
          </a:p>
        </p:txBody>
      </p:sp>
      <p:sp>
        <p:nvSpPr>
          <p:cNvPr id="25" name="Shape 23"/>
          <p:cNvSpPr/>
          <p:nvPr/>
        </p:nvSpPr>
        <p:spPr>
          <a:xfrm>
            <a:off x="487552"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(!book) return req.reject(404,'Not found');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book.title; // ✅ safe</a:t>
            </a:r>
            <a:endParaRPr lang="en-US" sz="1133" kern="1200" dirty="0">
              <a:solidFill>
                <a:prstClr val="black"/>
              </a:solidFill>
              <a:latin typeface="Calibri" panose="020F0502020204030204"/>
              <a:ea typeface="+mn-ea"/>
              <a:cs typeface="+mn-cs"/>
            </a:endParaRPr>
          </a:p>
        </p:txBody>
      </p:sp>
      <p:sp>
        <p:nvSpPr>
          <p:cNvPr id="27" name="Shape 25"/>
          <p:cNvSpPr/>
          <p:nvPr/>
        </p:nvSpPr>
        <p:spPr>
          <a:xfrm>
            <a:off x="6240678"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40678" y="4657024"/>
            <a:ext cx="5606860" cy="390042"/>
          </a:xfrm>
          <a:prstGeom prst="rect">
            <a:avLst/>
          </a:prstGeom>
          <a:solidFill>
            <a:srgbClr val="92400E"/>
          </a:solidFill>
          <a:ln w="12700">
            <a:solidFill>
              <a:srgbClr val="92400E"/>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362566"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4 — req.user / req.locale</a:t>
            </a:r>
            <a:endParaRPr lang="en-US" kern="1200" dirty="0">
              <a:solidFill>
                <a:prstClr val="black"/>
              </a:solidFill>
              <a:latin typeface="Calibri" panose="020F0502020204030204"/>
              <a:ea typeface="+mn-ea"/>
              <a:cs typeface="+mn-cs"/>
            </a:endParaRPr>
          </a:p>
        </p:txBody>
      </p:sp>
      <p:sp>
        <p:nvSpPr>
          <p:cNvPr id="30" name="Text 28"/>
          <p:cNvSpPr/>
          <p:nvPr/>
        </p:nvSpPr>
        <p:spPr>
          <a:xfrm>
            <a:off x="6362566"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tenant = req.user.tenant;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req.user possibly null</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40678"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362566"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tenant = req.user?.tenant ?? 'default';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 ✅ optional chain + nullish coalescing</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74A35674-DB29-8B15-691D-46F87BD19AB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7b  </a:t>
            </a:r>
            <a:r>
              <a:rPr lang="en-US" sz="3333" b="1" kern="1200" dirty="0">
                <a:solidFill>
                  <a:srgbClr val="FFFFFF"/>
                </a:solidFill>
                <a:latin typeface="Calibri" pitchFamily="34" charset="0"/>
                <a:ea typeface="Calibri" pitchFamily="34" charset="-122"/>
                <a:cs typeface="Calibri" pitchFamily="34" charset="-120"/>
              </a:rPr>
              <a:t>Null-Safe Service Calls — Patterns &amp; Full Example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Implementation · reusable guard helpers and a complete null-safe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Reusable Guard Helpers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173" kern="1200" dirty="0">
                <a:solidFill>
                  <a:srgbClr val="94A3B8"/>
                </a:solidFill>
                <a:latin typeface="Consolas" pitchFamily="34" charset="0"/>
                <a:ea typeface="Consolas" pitchFamily="34" charset="-122"/>
                <a:cs typeface="Consolas" pitchFamily="34" charset="-120"/>
              </a:rPr>
              <a:t>// utils/guards.ts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service connected, throw if not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assertService(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svc: cds.Service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name: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svc is cds.Service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(!svc) throw new Error(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`Service '${name}' not connected`);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req.data is defined &amp; cast it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requireData&lt;T&gt;(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req: cds.Request,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entity: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(!req.data) req.reject(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400, `${entity} data required`);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return req.data as 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SELECT result is not null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requireFound&lt;T&gt;(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item: T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id: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item is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(!item) throw Object.assign(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new Error(`Not found: ${id}`),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 status: 404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Null-Safe Handler</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{assertService,requireData,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requireFound} from './guards';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type { Order, BookId } from './types';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default class OrderService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extends cds.ApplicationService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private bookSvc!: cds.Service;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init(): Promise&lt;void&gt;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1: guard connect()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svc = await cds.connect.to('Books');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assertService(svc, 'Books');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this.bookSvc = svc;</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this.on('CREATE','Orders',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req =&gt; this.onCreate(req));</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super.init();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onCreate(req: cds.Request): Promise&lt;Order&gt;{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2: guard req.data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const data = requireData&lt;Order&gt;(req,'Order');</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3: guard SELECT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book = await SELECT.one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.from('Books').where({ID: data.book_ID});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requireFound(book, data.book_ID);</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INSERT.into('Orders').entries(data);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F3D0944A-7CC4-DF0A-01F6-116381DE826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8  </a:t>
            </a:r>
            <a:r>
              <a:rPr lang="en-US" sz="3333" b="1" kern="1200" dirty="0">
                <a:solidFill>
                  <a:srgbClr val="FFFFFF"/>
                </a:solidFill>
                <a:latin typeface="Calibri" pitchFamily="34" charset="0"/>
                <a:ea typeface="Calibri" pitchFamily="34" charset="-122"/>
                <a:cs typeface="Calibri" pitchFamily="34" charset="-120"/>
              </a:rPr>
              <a:t>Verify: tsc --noEmit  +  Jest Test Suite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Final verification · compilation clean + all existing tests pass unchanged</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Type Check All Files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1791757"/>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Type-check every .ts file in the project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SUCCESS: no output, exit code 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FAILURE: errors listed with file:line:col</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Strict check on a single file: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 --strict srv/CatalogService.ts</a:t>
            </a:r>
            <a:endParaRPr lang="en-US" sz="1266" kern="1200" dirty="0">
              <a:solidFill>
                <a:prstClr val="black"/>
              </a:solidFill>
              <a:latin typeface="Calibri" panose="020F0502020204030204"/>
              <a:ea typeface="+mn-ea"/>
              <a:cs typeface="+mn-cs"/>
            </a:endParaRPr>
          </a:p>
        </p:txBody>
      </p:sp>
      <p:sp>
        <p:nvSpPr>
          <p:cNvPr id="9" name="Text 7"/>
          <p:cNvSpPr/>
          <p:nvPr/>
        </p:nvSpPr>
        <p:spPr>
          <a:xfrm>
            <a:off x="487553" y="3876939"/>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jest.config.js for ts-jest</a:t>
            </a:r>
            <a:endParaRPr lang="en-US" sz="1466" kern="1200" dirty="0">
              <a:solidFill>
                <a:prstClr val="black"/>
              </a:solidFill>
              <a:latin typeface="Calibri" panose="020F0502020204030204"/>
              <a:ea typeface="+mn-ea"/>
              <a:cs typeface="+mn-cs"/>
            </a:endParaRPr>
          </a:p>
        </p:txBody>
      </p:sp>
      <p:sp>
        <p:nvSpPr>
          <p:cNvPr id="10" name="Shape 8"/>
          <p:cNvSpPr/>
          <p:nvPr/>
        </p:nvSpPr>
        <p:spPr>
          <a:xfrm>
            <a:off x="487553" y="4242604"/>
            <a:ext cx="5484971" cy="246214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70385" y="4364492"/>
            <a:ext cx="5216817" cy="224274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jest.config.js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module.exports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preset: 'ts-jest',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testEnvironment: 'node',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globals: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tsconfig: './tsconfig.json',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testMatch: ['**/test/**/*.test.{ts,js}'],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Expected Output — All Green ✅</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1768273"/>
            <a:ext cx="5606860" cy="353475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1890161"/>
            <a:ext cx="5338705" cy="3315360"/>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npm run build  #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(no output — success!)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npm test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PASS  test/utils.test.js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payload-transformer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flattens response.value array (3ms)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strips @odata metadata keys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returns [] for empty response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error-mapper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404 to NOT_FOUND (2ms)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400 to VALIDATION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extracts innererror details (1ms)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Tests: 6 passed, 6 total</a:t>
            </a:r>
            <a:endParaRPr lang="en-US" sz="1266" kern="1200" dirty="0">
              <a:solidFill>
                <a:prstClr val="black"/>
              </a:solidFill>
              <a:latin typeface="Calibri" panose="020F0502020204030204"/>
              <a:ea typeface="+mn-ea"/>
              <a:cs typeface="+mn-cs"/>
            </a:endParaRPr>
          </a:p>
        </p:txBody>
      </p:sp>
      <p:sp>
        <p:nvSpPr>
          <p:cNvPr id="15" name="Shape 13"/>
          <p:cNvSpPr/>
          <p:nvPr/>
        </p:nvSpPr>
        <p:spPr>
          <a:xfrm>
            <a:off x="6277244" y="5388354"/>
            <a:ext cx="5606860" cy="1316393"/>
          </a:xfrm>
          <a:prstGeom prst="rect">
            <a:avLst/>
          </a:prstGeom>
          <a:solidFill>
            <a:srgbClr val="ECFDF5"/>
          </a:solidFill>
          <a:ln w="12700">
            <a:solidFill>
              <a:srgbClr val="6EE7B7"/>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435699" y="5437109"/>
            <a:ext cx="5241195" cy="316909"/>
          </a:xfrm>
          <a:prstGeom prst="rect">
            <a:avLst/>
          </a:prstGeom>
          <a:noFill/>
          <a:ln/>
        </p:spPr>
        <p:txBody>
          <a:bodyPr wrap="square" lIns="0" tIns="0" rIns="0" bIns="0" rtlCol="0" anchor="ctr"/>
          <a:lstStyle/>
          <a:p>
            <a:pPr defTabSz="1218895">
              <a:buClrTx/>
            </a:pPr>
            <a:r>
              <a:rPr lang="en-US" b="1" kern="1200" dirty="0">
                <a:solidFill>
                  <a:srgbClr val="065F46"/>
                </a:solidFill>
                <a:latin typeface="Calibri" pitchFamily="34" charset="0"/>
                <a:ea typeface="Calibri" pitchFamily="34" charset="-122"/>
                <a:cs typeface="Calibri" pitchFamily="34" charset="-120"/>
              </a:rPr>
              <a:t>Done-Done Checklist</a:t>
            </a:r>
            <a:endParaRPr lang="en-US" kern="1200" dirty="0">
              <a:solidFill>
                <a:prstClr val="black"/>
              </a:solidFill>
              <a:latin typeface="Calibri" panose="020F0502020204030204"/>
              <a:ea typeface="+mn-ea"/>
              <a:cs typeface="+mn-cs"/>
            </a:endParaRPr>
          </a:p>
        </p:txBody>
      </p:sp>
      <p:sp>
        <p:nvSpPr>
          <p:cNvPr id="17" name="Text 15"/>
          <p:cNvSpPr/>
          <p:nvPr/>
        </p:nvSpPr>
        <p:spPr>
          <a:xfrm>
            <a:off x="643569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tsc --noEmit exits with code 0</a:t>
            </a:r>
            <a:endParaRPr lang="en-US" sz="1133" kern="1200" dirty="0">
              <a:solidFill>
                <a:prstClr val="black"/>
              </a:solidFill>
              <a:latin typeface="Calibri" panose="020F0502020204030204"/>
              <a:ea typeface="+mn-ea"/>
              <a:cs typeface="+mn-cs"/>
            </a:endParaRPr>
          </a:p>
        </p:txBody>
      </p:sp>
      <p:sp>
        <p:nvSpPr>
          <p:cNvPr id="18" name="Text 16"/>
          <p:cNvSpPr/>
          <p:nvPr/>
        </p:nvSpPr>
        <p:spPr>
          <a:xfrm>
            <a:off x="923912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@ts-ignore anywhere</a:t>
            </a:r>
            <a:endParaRPr lang="en-US" sz="1133" kern="1200" dirty="0">
              <a:solidFill>
                <a:prstClr val="black"/>
              </a:solidFill>
              <a:latin typeface="Calibri" panose="020F0502020204030204"/>
              <a:ea typeface="+mn-ea"/>
              <a:cs typeface="+mn-cs"/>
            </a:endParaRPr>
          </a:p>
        </p:txBody>
      </p:sp>
      <p:sp>
        <p:nvSpPr>
          <p:cNvPr id="19" name="Text 17"/>
          <p:cNvSpPr/>
          <p:nvPr/>
        </p:nvSpPr>
        <p:spPr>
          <a:xfrm>
            <a:off x="643569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All 6 Jest tests pass unchanged</a:t>
            </a:r>
            <a:endParaRPr lang="en-US" sz="1133" kern="1200" dirty="0">
              <a:solidFill>
                <a:prstClr val="black"/>
              </a:solidFill>
              <a:latin typeface="Calibri" panose="020F0502020204030204"/>
              <a:ea typeface="+mn-ea"/>
              <a:cs typeface="+mn-cs"/>
            </a:endParaRPr>
          </a:p>
        </p:txBody>
      </p:sp>
      <p:sp>
        <p:nvSpPr>
          <p:cNvPr id="20" name="Text 18"/>
          <p:cNvSpPr/>
          <p:nvPr/>
        </p:nvSpPr>
        <p:spPr>
          <a:xfrm>
            <a:off x="923912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business logic modified</a:t>
            </a:r>
            <a:endParaRPr lang="en-US" sz="1133" kern="1200" dirty="0">
              <a:solidFill>
                <a:prstClr val="black"/>
              </a:solidFill>
              <a:latin typeface="Calibri" panose="020F0502020204030204"/>
              <a:ea typeface="+mn-ea"/>
              <a:cs typeface="+mn-cs"/>
            </a:endParaRPr>
          </a:p>
        </p:txBody>
      </p:sp>
      <p:sp>
        <p:nvSpPr>
          <p:cNvPr id="21" name="Text 19"/>
          <p:cNvSpPr/>
          <p:nvPr/>
        </p:nvSpPr>
        <p:spPr>
          <a:xfrm>
            <a:off x="643569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as any workarounds</a:t>
            </a:r>
            <a:endParaRPr lang="en-US" sz="1133" kern="1200" dirty="0">
              <a:solidFill>
                <a:prstClr val="black"/>
              </a:solidFill>
              <a:latin typeface="Calibri" panose="020F0502020204030204"/>
              <a:ea typeface="+mn-ea"/>
              <a:cs typeface="+mn-cs"/>
            </a:endParaRPr>
          </a:p>
        </p:txBody>
      </p:sp>
      <p:sp>
        <p:nvSpPr>
          <p:cNvPr id="22" name="Text 20"/>
          <p:cNvSpPr/>
          <p:nvPr/>
        </p:nvSpPr>
        <p:spPr>
          <a:xfrm>
            <a:off x="923912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Branded types applied to all IDs</a:t>
            </a:r>
            <a:endParaRPr lang="en-US" sz="1133"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9D1DBDE7-DC13-EBDD-21C1-F3516415E39C}"/>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Quick Reference — Complete Migration Cheat Sheet</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Reference · all patterns, commands, and gotchas in one slide</a:t>
            </a:r>
            <a:endParaRPr lang="en-US" kern="1200" dirty="0">
              <a:solidFill>
                <a:prstClr val="black"/>
              </a:solidFill>
              <a:latin typeface="Calibri" panose="020F0502020204030204"/>
              <a:ea typeface="+mn-ea"/>
              <a:cs typeface="+mn-cs"/>
            </a:endParaRPr>
          </a:p>
        </p:txBody>
      </p:sp>
      <p:graphicFrame>
        <p:nvGraphicFramePr>
          <p:cNvPr id="18" name="Table 0"/>
          <p:cNvGraphicFramePr>
            <a:graphicFrameLocks noGrp="1"/>
          </p:cNvGraphicFramePr>
          <p:nvPr/>
        </p:nvGraphicFramePr>
        <p:xfrm>
          <a:off x="426609" y="1402608"/>
          <a:ext cx="11335608" cy="5241192"/>
        </p:xfrm>
        <a:graphic>
          <a:graphicData uri="http://schemas.openxmlformats.org/drawingml/2006/table">
            <a:tbl>
              <a:tblPr/>
              <a:tblGrid>
                <a:gridCol w="3778536">
                  <a:extLst>
                    <a:ext uri="{9D8B030D-6E8A-4147-A177-3AD203B41FA5}">
                      <a16:colId xmlns:a16="http://schemas.microsoft.com/office/drawing/2014/main" val="20000"/>
                    </a:ext>
                  </a:extLst>
                </a:gridCol>
                <a:gridCol w="4144201">
                  <a:extLst>
                    <a:ext uri="{9D8B030D-6E8A-4147-A177-3AD203B41FA5}">
                      <a16:colId xmlns:a16="http://schemas.microsoft.com/office/drawing/2014/main" val="20001"/>
                    </a:ext>
                  </a:extLst>
                </a:gridCol>
                <a:gridCol w="3412871">
                  <a:extLst>
                    <a:ext uri="{9D8B030D-6E8A-4147-A177-3AD203B41FA5}">
                      <a16:colId xmlns:a16="http://schemas.microsoft.com/office/drawing/2014/main" val="20002"/>
                    </a:ext>
                  </a:extLst>
                </a:gridCol>
              </a:tblGrid>
              <a:tr h="436766">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JS Pattern / Issue</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TypeScript Fix</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function f(x)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function f(x: T): R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noImplicitAny requires 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this.on('READ','Bks', req =&gt;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this.on('READ','Bks',(req:cds.Request)=&gt;{})</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 must be typed for req.data access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2"/>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req.data.bookId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(req.data as CreateOrder).bookId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req.data is unknown in strict mode</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strictNullChecks: value may be 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4"/>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 only falls back for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const id: string</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const id: 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Branded types prevent ID mix-ups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6"/>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assertService(await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connect can return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SELECT.one.from(...) → use directly</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if(!result) req.reject(404,...)</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SELECT.one can return null</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8"/>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module.exports =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export default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ES module exports for typed imports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require('@sap/cds')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import cds from '@sap/cds'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Typed import uses @cap-js/cds-types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1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@ts-ignore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Fix the actual type!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@ts-ignore hides real bugs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426609" y="6729125"/>
            <a:ext cx="11335607"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Shape 5"/>
          <p:cNvSpPr/>
          <p:nvPr/>
        </p:nvSpPr>
        <p:spPr>
          <a:xfrm>
            <a:off x="487553" y="6777879"/>
            <a:ext cx="11213719" cy="304721"/>
          </a:xfrm>
          <a:prstGeom prst="rect">
            <a:avLst/>
          </a:prstGeom>
          <a:solidFill>
            <a:srgbClr val="EFF6FF"/>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609441" y="6802257"/>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Never use // @ts-ignore or as any to silence errors — fix the root cause to get the full benefit of TypeScript.</a:t>
            </a:r>
            <a:endParaRPr lang="en-US" sz="1200" kern="1200" dirty="0">
              <a:solidFill>
                <a:prstClr val="black"/>
              </a:solidFill>
              <a:latin typeface="Calibri" panose="020F0502020204030204"/>
              <a:ea typeface="+mn-ea"/>
              <a:cs typeface="+mn-cs"/>
            </a:endParaRPr>
          </a:p>
        </p:txBody>
      </p:sp>
      <p:pic>
        <p:nvPicPr>
          <p:cNvPr id="6" name="Google Shape;497;p1">
            <a:extLst>
              <a:ext uri="{FF2B5EF4-FFF2-40B4-BE49-F238E27FC236}">
                <a16:creationId xmlns:a16="http://schemas.microsoft.com/office/drawing/2014/main" id="{D1F276A5-9E90-FFD0-F7AC-4C7CE86A457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1B6CA8">
                    <a:alpha val="12000"/>
                  </a:srgbClr>
                </a:solidFill>
                <a:latin typeface="Consolas" pitchFamily="34" charset="0"/>
                <a:ea typeface="Consolas" pitchFamily="34" charset="-122"/>
                <a:cs typeface="Consolas" pitchFamily="34" charset="-120"/>
              </a:rPr>
              <a:t>{ }</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34712"/>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Migration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390419"/>
            <a:ext cx="9141619" cy="585064"/>
          </a:xfrm>
          <a:prstGeom prst="rect">
            <a:avLst/>
          </a:prstGeom>
          <a:noFill/>
          <a:ln/>
        </p:spPr>
        <p:txBody>
          <a:bodyPr wrap="square" lIns="0" tIns="0" rIns="0" bIns="0" rtlCol="0" anchor="ctr"/>
          <a:lstStyle/>
          <a:p>
            <a:pPr defTabSz="1218895">
              <a:buClrTx/>
            </a:pPr>
            <a:r>
              <a:rPr lang="en-US" sz="1733" kern="1200" dirty="0">
                <a:solidFill>
                  <a:srgbClr val="2D9CDB"/>
                </a:solidFill>
                <a:latin typeface="Calibri" pitchFamily="34" charset="0"/>
                <a:ea typeface="Calibri" pitchFamily="34" charset="-122"/>
                <a:cs typeface="Calibri" pitchFamily="34" charset="-120"/>
              </a:rPr>
              <a:t>You now have a fully typed SAP BTP CAP project — from utilities to service handlers to entity keys.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133937"/>
            <a:ext cx="10726166" cy="682574"/>
          </a:xfrm>
          <a:prstGeom prst="rect">
            <a:avLst/>
          </a:prstGeom>
          <a:solidFill>
            <a:srgbClr val="0070F2">
              <a:alpha val="18000"/>
            </a:srgbClr>
          </a:solidFill>
          <a:ln w="12700">
            <a:solidFill>
              <a:srgbClr val="0070F2">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70385" y="219488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94763" y="2219259"/>
            <a:ext cx="487553" cy="487553"/>
          </a:xfrm>
          <a:prstGeom prst="rect">
            <a:avLst/>
          </a:prstGeom>
        </p:spPr>
      </p:pic>
      <p:sp>
        <p:nvSpPr>
          <p:cNvPr id="9" name="Text 6"/>
          <p:cNvSpPr/>
          <p:nvPr/>
        </p:nvSpPr>
        <p:spPr>
          <a:xfrm>
            <a:off x="1365148" y="2194882"/>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Dependencies installed: typescript, @cap-js/cds-types, ts-jest — tsconfig.json tuned for CAP</a:t>
            </a:r>
            <a:endParaRPr lang="en-US" sz="1533" kern="1200" dirty="0">
              <a:solidFill>
                <a:prstClr val="black"/>
              </a:solidFill>
              <a:latin typeface="Calibri" panose="020F0502020204030204"/>
              <a:ea typeface="+mn-ea"/>
              <a:cs typeface="+mn-cs"/>
            </a:endParaRPr>
          </a:p>
        </p:txBody>
      </p:sp>
      <p:sp>
        <p:nvSpPr>
          <p:cNvPr id="10" name="Shape 7"/>
          <p:cNvSpPr/>
          <p:nvPr/>
        </p:nvSpPr>
        <p:spPr>
          <a:xfrm>
            <a:off x="609441" y="2889645"/>
            <a:ext cx="10726166" cy="682574"/>
          </a:xfrm>
          <a:prstGeom prst="rect">
            <a:avLst/>
          </a:prstGeom>
          <a:solidFill>
            <a:srgbClr val="0D9488">
              <a:alpha val="18000"/>
            </a:srgbClr>
          </a:solidFill>
          <a:ln w="12700">
            <a:solidFill>
              <a:srgbClr val="0D948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8"/>
          <p:cNvSpPr/>
          <p:nvPr/>
        </p:nvSpPr>
        <p:spPr>
          <a:xfrm>
            <a:off x="670385" y="2950589"/>
            <a:ext cx="536308" cy="536308"/>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694763" y="2974966"/>
            <a:ext cx="487553" cy="487553"/>
          </a:xfrm>
          <a:prstGeom prst="rect">
            <a:avLst/>
          </a:prstGeom>
        </p:spPr>
      </p:pic>
      <p:sp>
        <p:nvSpPr>
          <p:cNvPr id="13" name="Text 9"/>
          <p:cNvSpPr/>
          <p:nvPr/>
        </p:nvSpPr>
        <p:spPr>
          <a:xfrm>
            <a:off x="1365148" y="2950589"/>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payload-transformer.ts &amp; error-mapper.ts: ODataResponse&lt;T&gt;, NormalisedError, union types</a:t>
            </a:r>
            <a:endParaRPr lang="en-US" sz="1533" kern="1200" dirty="0">
              <a:solidFill>
                <a:prstClr val="black"/>
              </a:solidFill>
              <a:latin typeface="Calibri" panose="020F0502020204030204"/>
              <a:ea typeface="+mn-ea"/>
              <a:cs typeface="+mn-cs"/>
            </a:endParaRPr>
          </a:p>
        </p:txBody>
      </p:sp>
      <p:sp>
        <p:nvSpPr>
          <p:cNvPr id="14" name="Shape 10"/>
          <p:cNvSpPr/>
          <p:nvPr/>
        </p:nvSpPr>
        <p:spPr>
          <a:xfrm>
            <a:off x="609441" y="3645352"/>
            <a:ext cx="10726166" cy="682574"/>
          </a:xfrm>
          <a:prstGeom prst="rect">
            <a:avLst/>
          </a:prstGeom>
          <a:solidFill>
            <a:srgbClr val="D97706">
              <a:alpha val="18000"/>
            </a:srgbClr>
          </a:solidFill>
          <a:ln w="12700">
            <a:solidFill>
              <a:srgbClr val="D9770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1"/>
          <p:cNvSpPr/>
          <p:nvPr/>
        </p:nvSpPr>
        <p:spPr>
          <a:xfrm>
            <a:off x="670385" y="3706296"/>
            <a:ext cx="536308" cy="536308"/>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6" name="Image 2" descr="preencoded.png"/>
          <p:cNvPicPr>
            <a:picLocks noChangeAspect="1"/>
          </p:cNvPicPr>
          <p:nvPr/>
        </p:nvPicPr>
        <p:blipFill>
          <a:blip r:embed="rId5"/>
          <a:stretch>
            <a:fillRect/>
          </a:stretch>
        </p:blipFill>
        <p:spPr>
          <a:xfrm>
            <a:off x="694763" y="3730673"/>
            <a:ext cx="487553" cy="487553"/>
          </a:xfrm>
          <a:prstGeom prst="rect">
            <a:avLst/>
          </a:prstGeom>
        </p:spPr>
      </p:pic>
      <p:sp>
        <p:nvSpPr>
          <p:cNvPr id="17" name="Text 12"/>
          <p:cNvSpPr/>
          <p:nvPr/>
        </p:nvSpPr>
        <p:spPr>
          <a:xfrm>
            <a:off x="1365148" y="3706296"/>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CatalogService.ts &amp; CDSService.ts: cds.Request types, typed this.on/before/after handlers</a:t>
            </a:r>
            <a:endParaRPr lang="en-US" sz="1533" kern="1200" dirty="0">
              <a:solidFill>
                <a:prstClr val="black"/>
              </a:solidFill>
              <a:latin typeface="Calibri" panose="020F0502020204030204"/>
              <a:ea typeface="+mn-ea"/>
              <a:cs typeface="+mn-cs"/>
            </a:endParaRPr>
          </a:p>
        </p:txBody>
      </p:sp>
      <p:sp>
        <p:nvSpPr>
          <p:cNvPr id="18" name="Shape 13"/>
          <p:cNvSpPr/>
          <p:nvPr/>
        </p:nvSpPr>
        <p:spPr>
          <a:xfrm>
            <a:off x="609441" y="4401059"/>
            <a:ext cx="10726166" cy="682574"/>
          </a:xfrm>
          <a:prstGeom prst="rect">
            <a:avLst/>
          </a:prstGeom>
          <a:solidFill>
            <a:srgbClr val="DC2626">
              <a:alpha val="18000"/>
            </a:srgbClr>
          </a:solidFill>
          <a:ln w="12700">
            <a:solidFill>
              <a:srgbClr val="DC262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4"/>
          <p:cNvSpPr/>
          <p:nvPr/>
        </p:nvSpPr>
        <p:spPr>
          <a:xfrm>
            <a:off x="670385" y="4462003"/>
            <a:ext cx="536308" cy="536308"/>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3" descr="preencoded.png"/>
          <p:cNvPicPr>
            <a:picLocks noChangeAspect="1"/>
          </p:cNvPicPr>
          <p:nvPr/>
        </p:nvPicPr>
        <p:blipFill>
          <a:blip r:embed="rId6"/>
          <a:stretch>
            <a:fillRect/>
          </a:stretch>
        </p:blipFill>
        <p:spPr>
          <a:xfrm>
            <a:off x="694763" y="4486381"/>
            <a:ext cx="487553" cy="487553"/>
          </a:xfrm>
          <a:prstGeom prst="rect">
            <a:avLst/>
          </a:prstGeom>
        </p:spPr>
      </p:pic>
      <p:sp>
        <p:nvSpPr>
          <p:cNvPr id="21" name="Text 15"/>
          <p:cNvSpPr/>
          <p:nvPr/>
        </p:nvSpPr>
        <p:spPr>
          <a:xfrm>
            <a:off x="1365148" y="4462003"/>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Branded types: BookId, OrderId, CustomerId — ID mix-ups are compile-time errors</a:t>
            </a:r>
            <a:endParaRPr lang="en-US" sz="1533" kern="1200" dirty="0">
              <a:solidFill>
                <a:prstClr val="black"/>
              </a:solidFill>
              <a:latin typeface="Calibri" panose="020F0502020204030204"/>
              <a:ea typeface="+mn-ea"/>
              <a:cs typeface="+mn-cs"/>
            </a:endParaRPr>
          </a:p>
        </p:txBody>
      </p:sp>
      <p:sp>
        <p:nvSpPr>
          <p:cNvPr id="22" name="Shape 16"/>
          <p:cNvSpPr/>
          <p:nvPr/>
        </p:nvSpPr>
        <p:spPr>
          <a:xfrm>
            <a:off x="609441" y="5156766"/>
            <a:ext cx="10726166" cy="682574"/>
          </a:xfrm>
          <a:prstGeom prst="rect">
            <a:avLst/>
          </a:prstGeom>
          <a:solidFill>
            <a:srgbClr val="1D4ED8">
              <a:alpha val="18000"/>
            </a:srgbClr>
          </a:solidFill>
          <a:ln w="12700">
            <a:solidFill>
              <a:srgbClr val="1D4ED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17"/>
          <p:cNvSpPr/>
          <p:nvPr/>
        </p:nvSpPr>
        <p:spPr>
          <a:xfrm>
            <a:off x="670385" y="5217710"/>
            <a:ext cx="536308" cy="536308"/>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4" descr="preencoded.png"/>
          <p:cNvPicPr>
            <a:picLocks noChangeAspect="1"/>
          </p:cNvPicPr>
          <p:nvPr/>
        </p:nvPicPr>
        <p:blipFill>
          <a:blip r:embed="rId7"/>
          <a:stretch>
            <a:fillRect/>
          </a:stretch>
        </p:blipFill>
        <p:spPr>
          <a:xfrm>
            <a:off x="694763" y="5242088"/>
            <a:ext cx="487553" cy="487553"/>
          </a:xfrm>
          <a:prstGeom prst="rect">
            <a:avLst/>
          </a:prstGeom>
        </p:spPr>
      </p:pic>
      <p:sp>
        <p:nvSpPr>
          <p:cNvPr id="25" name="Text 18"/>
          <p:cNvSpPr/>
          <p:nvPr/>
        </p:nvSpPr>
        <p:spPr>
          <a:xfrm>
            <a:off x="1365148" y="5217710"/>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Null-safe guards: assertService(), requireData(), requireFound() — all four risk zones covered</a:t>
            </a:r>
            <a:endParaRPr lang="en-US" sz="1533" kern="1200" dirty="0">
              <a:solidFill>
                <a:prstClr val="black"/>
              </a:solidFill>
              <a:latin typeface="Calibri" panose="020F0502020204030204"/>
              <a:ea typeface="+mn-ea"/>
              <a:cs typeface="+mn-cs"/>
            </a:endParaRPr>
          </a:p>
        </p:txBody>
      </p:sp>
      <p:sp>
        <p:nvSpPr>
          <p:cNvPr id="26" name="Shape 19"/>
          <p:cNvSpPr/>
          <p:nvPr/>
        </p:nvSpPr>
        <p:spPr>
          <a:xfrm>
            <a:off x="609441" y="5912473"/>
            <a:ext cx="10726166" cy="682574"/>
          </a:xfrm>
          <a:prstGeom prst="rect">
            <a:avLst/>
          </a:prstGeom>
          <a:solidFill>
            <a:srgbClr val="059669">
              <a:alpha val="18000"/>
            </a:srgbClr>
          </a:solidFill>
          <a:ln w="12700">
            <a:solidFill>
              <a:srgbClr val="059669">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0"/>
          <p:cNvSpPr/>
          <p:nvPr/>
        </p:nvSpPr>
        <p:spPr>
          <a:xfrm>
            <a:off x="670385" y="5973417"/>
            <a:ext cx="536308" cy="536308"/>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8" name="Image 5" descr="preencoded.png"/>
          <p:cNvPicPr>
            <a:picLocks noChangeAspect="1"/>
          </p:cNvPicPr>
          <p:nvPr/>
        </p:nvPicPr>
        <p:blipFill>
          <a:blip r:embed="rId8"/>
          <a:stretch>
            <a:fillRect/>
          </a:stretch>
        </p:blipFill>
        <p:spPr>
          <a:xfrm>
            <a:off x="694763" y="5997795"/>
            <a:ext cx="487553" cy="487553"/>
          </a:xfrm>
          <a:prstGeom prst="rect">
            <a:avLst/>
          </a:prstGeom>
        </p:spPr>
      </p:pic>
      <p:sp>
        <p:nvSpPr>
          <p:cNvPr id="29" name="Text 21"/>
          <p:cNvSpPr/>
          <p:nvPr/>
        </p:nvSpPr>
        <p:spPr>
          <a:xfrm>
            <a:off x="1365148" y="5973417"/>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tsc --noEmit exits 0  ·  All 6 Jest tests pass unchanged  ·  No @ts-ignore</a:t>
            </a:r>
            <a:endParaRPr lang="en-US" sz="1533" kern="1200" dirty="0">
              <a:solidFill>
                <a:prstClr val="black"/>
              </a:solidFill>
              <a:latin typeface="Calibri" panose="020F0502020204030204"/>
              <a:ea typeface="+mn-ea"/>
              <a:cs typeface="+mn-cs"/>
            </a:endParaRPr>
          </a:p>
        </p:txBody>
      </p:sp>
      <p:sp>
        <p:nvSpPr>
          <p:cNvPr id="30" name="Shape 22"/>
          <p:cNvSpPr/>
          <p:nvPr/>
        </p:nvSpPr>
        <p:spPr>
          <a:xfrm>
            <a:off x="609441" y="6521914"/>
            <a:ext cx="10969943" cy="26815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3"/>
          <p:cNvSpPr/>
          <p:nvPr/>
        </p:nvSpPr>
        <p:spPr>
          <a:xfrm>
            <a:off x="609441" y="6521914"/>
            <a:ext cx="10969943" cy="268154"/>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Module: Generics Workshop  |  Decorators  |  Utility Types  |  Conditional Types</a:t>
            </a:r>
            <a:endParaRPr lang="en-US" sz="1333"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0BF4CCF-38EA-BC72-532E-F5421EEBEF87}"/>
              </a:ext>
            </a:extLst>
          </p:cNvPr>
          <p:cNvPicPr preferRelativeResize="0"/>
          <p:nvPr/>
        </p:nvPicPr>
        <p:blipFill rotWithShape="1">
          <a:blip r:embed="rId9">
            <a:alphaModFix/>
          </a:blip>
          <a:srcRect/>
          <a:stretch/>
        </p:blipFill>
        <p:spPr>
          <a:xfrm>
            <a:off x="10503584" y="-58217"/>
            <a:ext cx="1733995" cy="165618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7069518" y="366558"/>
            <a:ext cx="5484971" cy="5484971"/>
          </a:xfrm>
          <a:prstGeom prst="rect">
            <a:avLst/>
          </a:prstGeom>
          <a:noFill/>
          <a:ln/>
        </p:spPr>
        <p:txBody>
          <a:bodyPr wrap="square" lIns="0" tIns="0" rIns="0" bIns="0" rtlCol="0" anchor="ctr"/>
          <a:lstStyle/>
          <a:p>
            <a:pPr defTabSz="1218895">
              <a:buClrTx/>
            </a:pPr>
            <a:r>
              <a:rPr lang="en-US" sz="26660" b="1" kern="1200" dirty="0">
                <a:solidFill>
                  <a:srgbClr val="818CF8">
                    <a:alpha val="14000"/>
                  </a:srgbClr>
                </a:solidFill>
                <a:latin typeface="Consolas" pitchFamily="34" charset="0"/>
                <a:ea typeface="Consolas" pitchFamily="34" charset="-122"/>
                <a:cs typeface="Consolas" pitchFamily="34" charset="-120"/>
              </a:rPr>
              <a:t>&lt;T&gt;</a:t>
            </a:r>
            <a:endParaRPr lang="en-US" sz="26660" kern="1200" dirty="0">
              <a:solidFill>
                <a:prstClr val="black"/>
              </a:solidFill>
              <a:latin typeface="Calibri" panose="020F0502020204030204"/>
              <a:ea typeface="+mn-ea"/>
              <a:cs typeface="+mn-cs"/>
            </a:endParaRPr>
          </a:p>
        </p:txBody>
      </p:sp>
      <p:sp>
        <p:nvSpPr>
          <p:cNvPr id="4" name="Text 2"/>
          <p:cNvSpPr/>
          <p:nvPr/>
        </p:nvSpPr>
        <p:spPr>
          <a:xfrm>
            <a:off x="609441" y="915055"/>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Workshop  ·  Module 2</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585440"/>
            <a:ext cx="9751060" cy="3047206"/>
          </a:xfrm>
          <a:prstGeom prst="rect">
            <a:avLst/>
          </a:prstGeom>
          <a:noFill/>
          <a:ln/>
        </p:spPr>
        <p:txBody>
          <a:bodyPr wrap="square" lIns="0" tIns="0" rIns="0" bIns="0" rtlCol="0" anchor="t"/>
          <a:lstStyle/>
          <a:p>
            <a:pPr defTabSz="1218895">
              <a:buClrTx/>
            </a:pPr>
            <a:r>
              <a:rPr lang="en-US" sz="5065" b="1" kern="1200" dirty="0">
                <a:solidFill>
                  <a:srgbClr val="FFFFFF"/>
                </a:solidFill>
                <a:latin typeface="Calibri" pitchFamily="34" charset="0"/>
                <a:ea typeface="Calibri" pitchFamily="34" charset="-122"/>
                <a:cs typeface="Calibri" pitchFamily="34" charset="-120"/>
              </a:rPr>
              <a:t>Generics, Decorators</a:t>
            </a:r>
            <a:endParaRPr lang="en-US" sz="5065" kern="1200" dirty="0">
              <a:solidFill>
                <a:prstClr val="black"/>
              </a:solidFill>
              <a:latin typeface="Calibri" panose="020F0502020204030204"/>
              <a:ea typeface="+mn-ea"/>
              <a:cs typeface="+mn-cs"/>
            </a:endParaRPr>
          </a:p>
          <a:p>
            <a:pPr defTabSz="1218895">
              <a:buClrTx/>
            </a:pPr>
            <a:r>
              <a:rPr lang="en-US" sz="5065" b="1" kern="1200" dirty="0">
                <a:solidFill>
                  <a:srgbClr val="FFFFFF"/>
                </a:solidFill>
                <a:latin typeface="Calibri" pitchFamily="34" charset="0"/>
                <a:ea typeface="Calibri" pitchFamily="34" charset="-122"/>
                <a:cs typeface="Calibri" pitchFamily="34" charset="-120"/>
              </a:rPr>
              <a:t>&amp; Utility Types</a:t>
            </a:r>
            <a:endParaRPr lang="en-US" sz="5065" kern="1200" dirty="0">
              <a:solidFill>
                <a:prstClr val="black"/>
              </a:solidFill>
              <a:latin typeface="Calibri" panose="020F0502020204030204"/>
              <a:ea typeface="+mn-ea"/>
              <a:cs typeface="+mn-cs"/>
            </a:endParaRPr>
          </a:p>
          <a:p>
            <a:pPr defTabSz="1218895">
              <a:buClrTx/>
            </a:pPr>
            <a:r>
              <a:rPr lang="en-US" sz="3732" kern="1200" dirty="0">
                <a:solidFill>
                  <a:srgbClr val="A78BFA"/>
                </a:solidFill>
                <a:latin typeface="Calibri" pitchFamily="34" charset="0"/>
                <a:ea typeface="Calibri" pitchFamily="34" charset="-122"/>
                <a:cs typeface="Calibri" pitchFamily="34" charset="-120"/>
              </a:rPr>
              <a:t>Workshop</a:t>
            </a:r>
            <a:endParaRPr lang="en-US" sz="5065" kern="1200" dirty="0">
              <a:solidFill>
                <a:prstClr val="black"/>
              </a:solidFill>
              <a:latin typeface="Calibri" panose="020F0502020204030204"/>
              <a:ea typeface="+mn-ea"/>
              <a:cs typeface="+mn-cs"/>
            </a:endParaRPr>
          </a:p>
        </p:txBody>
      </p:sp>
      <p:sp>
        <p:nvSpPr>
          <p:cNvPr id="6" name="Shape 4"/>
          <p:cNvSpPr/>
          <p:nvPr/>
        </p:nvSpPr>
        <p:spPr>
          <a:xfrm>
            <a:off x="609441" y="4998311"/>
            <a:ext cx="3534759" cy="877595"/>
          </a:xfrm>
          <a:prstGeom prst="rect">
            <a:avLst/>
          </a:prstGeom>
          <a:solidFill>
            <a:srgbClr val="7C3AED">
              <a:alpha val="85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A</a:t>
            </a:r>
            <a:endParaRPr lang="en-US" sz="1733" kern="1200" dirty="0">
              <a:solidFill>
                <a:prstClr val="black"/>
              </a:solidFill>
              <a:latin typeface="Calibri" panose="020F0502020204030204"/>
              <a:ea typeface="+mn-ea"/>
              <a:cs typeface="+mn-cs"/>
            </a:endParaRPr>
          </a:p>
        </p:txBody>
      </p:sp>
      <p:sp>
        <p:nvSpPr>
          <p:cNvPr id="8" name="Text 6"/>
          <p:cNvSpPr/>
          <p:nvPr/>
        </p:nvSpPr>
        <p:spPr>
          <a:xfrm>
            <a:off x="609441"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Generics</a:t>
            </a:r>
            <a:endParaRPr lang="en-US" sz="1466" kern="1200" dirty="0">
              <a:solidFill>
                <a:prstClr val="black"/>
              </a:solidFill>
              <a:latin typeface="Calibri" panose="020F0502020204030204"/>
              <a:ea typeface="+mn-ea"/>
              <a:cs typeface="+mn-cs"/>
            </a:endParaRPr>
          </a:p>
        </p:txBody>
      </p:sp>
      <p:sp>
        <p:nvSpPr>
          <p:cNvPr id="9" name="Shape 7"/>
          <p:cNvSpPr/>
          <p:nvPr/>
        </p:nvSpPr>
        <p:spPr>
          <a:xfrm>
            <a:off x="4485487" y="4998311"/>
            <a:ext cx="3534759" cy="877595"/>
          </a:xfrm>
          <a:prstGeom prst="rect">
            <a:avLst/>
          </a:prstGeom>
          <a:solidFill>
            <a:srgbClr val="0D9488">
              <a:alpha val="85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485487"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B</a:t>
            </a:r>
            <a:endParaRPr lang="en-US" sz="1733" kern="1200" dirty="0">
              <a:solidFill>
                <a:prstClr val="black"/>
              </a:solidFill>
              <a:latin typeface="Calibri" panose="020F0502020204030204"/>
              <a:ea typeface="+mn-ea"/>
              <a:cs typeface="+mn-cs"/>
            </a:endParaRPr>
          </a:p>
        </p:txBody>
      </p:sp>
      <p:sp>
        <p:nvSpPr>
          <p:cNvPr id="11" name="Text 9"/>
          <p:cNvSpPr/>
          <p:nvPr/>
        </p:nvSpPr>
        <p:spPr>
          <a:xfrm>
            <a:off x="4485487"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Decorators</a:t>
            </a:r>
            <a:endParaRPr lang="en-US" sz="1466" kern="1200" dirty="0">
              <a:solidFill>
                <a:prstClr val="black"/>
              </a:solidFill>
              <a:latin typeface="Calibri" panose="020F0502020204030204"/>
              <a:ea typeface="+mn-ea"/>
              <a:cs typeface="+mn-cs"/>
            </a:endParaRPr>
          </a:p>
        </p:txBody>
      </p:sp>
      <p:sp>
        <p:nvSpPr>
          <p:cNvPr id="12" name="Shape 10"/>
          <p:cNvSpPr/>
          <p:nvPr/>
        </p:nvSpPr>
        <p:spPr>
          <a:xfrm>
            <a:off x="8361534" y="4998311"/>
            <a:ext cx="3534759" cy="877595"/>
          </a:xfrm>
          <a:prstGeom prst="rect">
            <a:avLst/>
          </a:prstGeom>
          <a:solidFill>
            <a:srgbClr val="D97706">
              <a:alpha val="85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8361534"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C</a:t>
            </a:r>
            <a:endParaRPr lang="en-US" sz="1733" kern="1200" dirty="0">
              <a:solidFill>
                <a:prstClr val="black"/>
              </a:solidFill>
              <a:latin typeface="Calibri" panose="020F0502020204030204"/>
              <a:ea typeface="+mn-ea"/>
              <a:cs typeface="+mn-cs"/>
            </a:endParaRPr>
          </a:p>
        </p:txBody>
      </p:sp>
      <p:sp>
        <p:nvSpPr>
          <p:cNvPr id="14" name="Text 12"/>
          <p:cNvSpPr/>
          <p:nvPr/>
        </p:nvSpPr>
        <p:spPr>
          <a:xfrm>
            <a:off x="8361534"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Utility Types</a:t>
            </a:r>
            <a:endParaRPr lang="en-US" sz="1466" kern="1200" dirty="0">
              <a:solidFill>
                <a:prstClr val="black"/>
              </a:solidFill>
              <a:latin typeface="Calibri" panose="020F0502020204030204"/>
              <a:ea typeface="+mn-ea"/>
              <a:cs typeface="+mn-cs"/>
            </a:endParaRPr>
          </a:p>
        </p:txBody>
      </p:sp>
      <p:sp>
        <p:nvSpPr>
          <p:cNvPr id="15" name="Shape 13"/>
          <p:cNvSpPr/>
          <p:nvPr/>
        </p:nvSpPr>
        <p:spPr>
          <a:xfrm>
            <a:off x="9507283" y="5973417"/>
            <a:ext cx="2437765" cy="75570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9507283" y="5973417"/>
            <a:ext cx="2437765" cy="755707"/>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Hands-On Lab</a:t>
            </a:r>
            <a:endParaRPr lang="en-US" sz="1600" kern="1200" dirty="0">
              <a:solidFill>
                <a:prstClr val="black"/>
              </a:solidFill>
              <a:latin typeface="Calibri" panose="020F0502020204030204"/>
              <a:ea typeface="+mn-ea"/>
              <a:cs typeface="+mn-cs"/>
            </a:endParaRPr>
          </a:p>
        </p:txBody>
      </p:sp>
      <p:pic>
        <p:nvPicPr>
          <p:cNvPr id="17" name="Google Shape;497;p1">
            <a:extLst>
              <a:ext uri="{FF2B5EF4-FFF2-40B4-BE49-F238E27FC236}">
                <a16:creationId xmlns:a16="http://schemas.microsoft.com/office/drawing/2014/main" id="{53643AF3-7C42-1827-A511-4A8059FC4EAB}"/>
              </a:ext>
            </a:extLst>
          </p:cNvPr>
          <p:cNvPicPr preferRelativeResize="0"/>
          <p:nvPr/>
        </p:nvPicPr>
        <p:blipFill rotWithShape="1">
          <a:blip r:embed="rId3">
            <a:alphaModFix/>
          </a:blip>
          <a:srcRect/>
          <a:stretch/>
        </p:blipFill>
        <p:spPr>
          <a:xfrm>
            <a:off x="7348589" y="979768"/>
            <a:ext cx="3621353" cy="349974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Workshop Overview</a:t>
            </a:r>
            <a:endParaRPr lang="en-US" sz="3466" kern="1200" dirty="0">
              <a:solidFill>
                <a:prstClr val="black"/>
              </a:solidFill>
              <a:latin typeface="Calibri" panose="020F0502020204030204"/>
              <a:ea typeface="+mn-ea"/>
              <a:cs typeface="+mn-cs"/>
            </a:endParaRPr>
          </a:p>
        </p:txBody>
      </p:sp>
      <p:sp>
        <p:nvSpPr>
          <p:cNvPr id="5" name="Shape 3"/>
          <p:cNvSpPr/>
          <p:nvPr/>
        </p:nvSpPr>
        <p:spPr>
          <a:xfrm>
            <a:off x="426608" y="1402608"/>
            <a:ext cx="3656648"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548496" y="1463552"/>
            <a:ext cx="438798" cy="438798"/>
          </a:xfrm>
          <a:prstGeom prst="rect">
            <a:avLst/>
          </a:prstGeom>
        </p:spPr>
      </p:pic>
      <p:sp>
        <p:nvSpPr>
          <p:cNvPr id="7" name="Text 4"/>
          <p:cNvSpPr/>
          <p:nvPr/>
        </p:nvSpPr>
        <p:spPr>
          <a:xfrm>
            <a:off x="1084805"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A  — Generics</a:t>
            </a:r>
            <a:endParaRPr lang="en-US" sz="1600" kern="1200" dirty="0">
              <a:solidFill>
                <a:prstClr val="black"/>
              </a:solidFill>
              <a:latin typeface="Calibri" panose="020F0502020204030204"/>
              <a:ea typeface="+mn-ea"/>
              <a:cs typeface="+mn-cs"/>
            </a:endParaRPr>
          </a:p>
        </p:txBody>
      </p:sp>
      <p:sp>
        <p:nvSpPr>
          <p:cNvPr id="8" name="Shape 5"/>
          <p:cNvSpPr/>
          <p:nvPr/>
        </p:nvSpPr>
        <p:spPr>
          <a:xfrm>
            <a:off x="426608" y="2036427"/>
            <a:ext cx="3656648" cy="4534243"/>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597252" y="2158315"/>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are generics &amp; why they exist</a:t>
            </a:r>
            <a:endParaRPr lang="en-US" kern="1200" dirty="0">
              <a:solidFill>
                <a:prstClr val="black"/>
              </a:solidFill>
              <a:latin typeface="Calibri" panose="020F0502020204030204"/>
              <a:ea typeface="+mn-ea"/>
              <a:cs typeface="+mn-cs"/>
            </a:endParaRPr>
          </a:p>
        </p:txBody>
      </p:sp>
      <p:sp>
        <p:nvSpPr>
          <p:cNvPr id="10" name="Text 7"/>
          <p:cNvSpPr/>
          <p:nvPr/>
        </p:nvSpPr>
        <p:spPr>
          <a:xfrm>
            <a:off x="597252" y="3011533"/>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Type parameters: T, K, V</a:t>
            </a:r>
            <a:endParaRPr lang="en-US" kern="1200" dirty="0">
              <a:solidFill>
                <a:prstClr val="black"/>
              </a:solidFill>
              <a:latin typeface="Calibri" panose="020F0502020204030204"/>
              <a:ea typeface="+mn-ea"/>
              <a:cs typeface="+mn-cs"/>
            </a:endParaRPr>
          </a:p>
        </p:txBody>
      </p:sp>
      <p:sp>
        <p:nvSpPr>
          <p:cNvPr id="11" name="Text 8"/>
          <p:cNvSpPr/>
          <p:nvPr/>
        </p:nvSpPr>
        <p:spPr>
          <a:xfrm>
            <a:off x="597252" y="3864751"/>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Generic constraints: extends</a:t>
            </a:r>
            <a:endParaRPr lang="en-US" kern="1200" dirty="0">
              <a:solidFill>
                <a:prstClr val="black"/>
              </a:solidFill>
              <a:latin typeface="Calibri" panose="020F0502020204030204"/>
              <a:ea typeface="+mn-ea"/>
              <a:cs typeface="+mn-cs"/>
            </a:endParaRPr>
          </a:p>
        </p:txBody>
      </p:sp>
      <p:sp>
        <p:nvSpPr>
          <p:cNvPr id="12" name="Text 9"/>
          <p:cNvSpPr/>
          <p:nvPr/>
        </p:nvSpPr>
        <p:spPr>
          <a:xfrm>
            <a:off x="597252" y="4717968"/>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ConfigLoader&lt;T&gt; implementation</a:t>
            </a:r>
            <a:endParaRPr lang="en-US" kern="1200" dirty="0">
              <a:solidFill>
                <a:prstClr val="black"/>
              </a:solidFill>
              <a:latin typeface="Calibri" panose="020F0502020204030204"/>
              <a:ea typeface="+mn-ea"/>
              <a:cs typeface="+mn-cs"/>
            </a:endParaRPr>
          </a:p>
        </p:txBody>
      </p:sp>
      <p:sp>
        <p:nvSpPr>
          <p:cNvPr id="13" name="Text 10"/>
          <p:cNvSpPr/>
          <p:nvPr/>
        </p:nvSpPr>
        <p:spPr>
          <a:xfrm>
            <a:off x="597252" y="5571186"/>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Testing two config shapes</a:t>
            </a:r>
            <a:endParaRPr lang="en-US" kern="1200" dirty="0">
              <a:solidFill>
                <a:prstClr val="black"/>
              </a:solidFill>
              <a:latin typeface="Calibri" panose="020F0502020204030204"/>
              <a:ea typeface="+mn-ea"/>
              <a:cs typeface="+mn-cs"/>
            </a:endParaRPr>
          </a:p>
        </p:txBody>
      </p:sp>
      <p:sp>
        <p:nvSpPr>
          <p:cNvPr id="14" name="Shape 11"/>
          <p:cNvSpPr/>
          <p:nvPr/>
        </p:nvSpPr>
        <p:spPr>
          <a:xfrm>
            <a:off x="4351410" y="1402608"/>
            <a:ext cx="3656648"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5" name="Image 1" descr="preencoded.png"/>
          <p:cNvPicPr>
            <a:picLocks noChangeAspect="1"/>
          </p:cNvPicPr>
          <p:nvPr/>
        </p:nvPicPr>
        <p:blipFill>
          <a:blip r:embed="rId4"/>
          <a:stretch>
            <a:fillRect/>
          </a:stretch>
        </p:blipFill>
        <p:spPr>
          <a:xfrm>
            <a:off x="4473298" y="1463552"/>
            <a:ext cx="438798" cy="438798"/>
          </a:xfrm>
          <a:prstGeom prst="rect">
            <a:avLst/>
          </a:prstGeom>
        </p:spPr>
      </p:pic>
      <p:sp>
        <p:nvSpPr>
          <p:cNvPr id="16" name="Text 12"/>
          <p:cNvSpPr/>
          <p:nvPr/>
        </p:nvSpPr>
        <p:spPr>
          <a:xfrm>
            <a:off x="5009607"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B  — Decorators</a:t>
            </a:r>
            <a:endParaRPr lang="en-US" sz="1600" kern="1200" dirty="0">
              <a:solidFill>
                <a:prstClr val="black"/>
              </a:solidFill>
              <a:latin typeface="Calibri" panose="020F0502020204030204"/>
              <a:ea typeface="+mn-ea"/>
              <a:cs typeface="+mn-cs"/>
            </a:endParaRPr>
          </a:p>
        </p:txBody>
      </p:sp>
      <p:sp>
        <p:nvSpPr>
          <p:cNvPr id="17" name="Shape 13"/>
          <p:cNvSpPr/>
          <p:nvPr/>
        </p:nvSpPr>
        <p:spPr>
          <a:xfrm>
            <a:off x="4351410" y="2036427"/>
            <a:ext cx="3656648" cy="4534243"/>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4"/>
          <p:cNvSpPr/>
          <p:nvPr/>
        </p:nvSpPr>
        <p:spPr>
          <a:xfrm>
            <a:off x="4522054" y="2158315"/>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is a decorator?</a:t>
            </a:r>
            <a:endParaRPr lang="en-US" kern="1200" dirty="0">
              <a:solidFill>
                <a:prstClr val="black"/>
              </a:solidFill>
              <a:latin typeface="Calibri" panose="020F0502020204030204"/>
              <a:ea typeface="+mn-ea"/>
              <a:cs typeface="+mn-cs"/>
            </a:endParaRPr>
          </a:p>
        </p:txBody>
      </p:sp>
      <p:sp>
        <p:nvSpPr>
          <p:cNvPr id="19" name="Text 15"/>
          <p:cNvSpPr/>
          <p:nvPr/>
        </p:nvSpPr>
        <p:spPr>
          <a:xfrm>
            <a:off x="4522054" y="3011533"/>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How TS decorators work</a:t>
            </a:r>
            <a:endParaRPr lang="en-US" kern="1200" dirty="0">
              <a:solidFill>
                <a:prstClr val="black"/>
              </a:solidFill>
              <a:latin typeface="Calibri" panose="020F0502020204030204"/>
              <a:ea typeface="+mn-ea"/>
              <a:cs typeface="+mn-cs"/>
            </a:endParaRPr>
          </a:p>
        </p:txBody>
      </p:sp>
      <p:sp>
        <p:nvSpPr>
          <p:cNvPr id="20" name="Text 16"/>
          <p:cNvSpPr/>
          <p:nvPr/>
        </p:nvSpPr>
        <p:spPr>
          <a:xfrm>
            <a:off x="4522054" y="3864751"/>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Method decorator anatomy</a:t>
            </a:r>
            <a:endParaRPr lang="en-US" kern="1200" dirty="0">
              <a:solidFill>
                <a:prstClr val="black"/>
              </a:solidFill>
              <a:latin typeface="Calibri" panose="020F0502020204030204"/>
              <a:ea typeface="+mn-ea"/>
              <a:cs typeface="+mn-cs"/>
            </a:endParaRPr>
          </a:p>
        </p:txBody>
      </p:sp>
      <p:sp>
        <p:nvSpPr>
          <p:cNvPr id="21" name="Text 17"/>
          <p:cNvSpPr/>
          <p:nvPr/>
        </p:nvSpPr>
        <p:spPr>
          <a:xfrm>
            <a:off x="4522054" y="4717968"/>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@LogRequest implementation</a:t>
            </a:r>
            <a:endParaRPr lang="en-US" kern="1200" dirty="0">
              <a:solidFill>
                <a:prstClr val="black"/>
              </a:solidFill>
              <a:latin typeface="Calibri" panose="020F0502020204030204"/>
              <a:ea typeface="+mn-ea"/>
              <a:cs typeface="+mn-cs"/>
            </a:endParaRPr>
          </a:p>
        </p:txBody>
      </p:sp>
      <p:sp>
        <p:nvSpPr>
          <p:cNvPr id="22" name="Text 18"/>
          <p:cNvSpPr/>
          <p:nvPr/>
        </p:nvSpPr>
        <p:spPr>
          <a:xfrm>
            <a:off x="4522054" y="5571186"/>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Applying to CAP handler class</a:t>
            </a:r>
            <a:endParaRPr lang="en-US" kern="1200" dirty="0">
              <a:solidFill>
                <a:prstClr val="black"/>
              </a:solidFill>
              <a:latin typeface="Calibri" panose="020F0502020204030204"/>
              <a:ea typeface="+mn-ea"/>
              <a:cs typeface="+mn-cs"/>
            </a:endParaRPr>
          </a:p>
        </p:txBody>
      </p:sp>
      <p:sp>
        <p:nvSpPr>
          <p:cNvPr id="23" name="Shape 19"/>
          <p:cNvSpPr/>
          <p:nvPr/>
        </p:nvSpPr>
        <p:spPr>
          <a:xfrm>
            <a:off x="8276211" y="1402608"/>
            <a:ext cx="3656648"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2" descr="preencoded.png"/>
          <p:cNvPicPr>
            <a:picLocks noChangeAspect="1"/>
          </p:cNvPicPr>
          <p:nvPr/>
        </p:nvPicPr>
        <p:blipFill>
          <a:blip r:embed="rId5"/>
          <a:stretch>
            <a:fillRect/>
          </a:stretch>
        </p:blipFill>
        <p:spPr>
          <a:xfrm>
            <a:off x="8398100" y="1463552"/>
            <a:ext cx="438798" cy="438798"/>
          </a:xfrm>
          <a:prstGeom prst="rect">
            <a:avLst/>
          </a:prstGeom>
        </p:spPr>
      </p:pic>
      <p:sp>
        <p:nvSpPr>
          <p:cNvPr id="25" name="Text 20"/>
          <p:cNvSpPr/>
          <p:nvPr/>
        </p:nvSpPr>
        <p:spPr>
          <a:xfrm>
            <a:off x="8934408"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C  — Utility Types</a:t>
            </a:r>
            <a:endParaRPr lang="en-US" sz="1600" kern="1200" dirty="0">
              <a:solidFill>
                <a:prstClr val="black"/>
              </a:solidFill>
              <a:latin typeface="Calibri" panose="020F0502020204030204"/>
              <a:ea typeface="+mn-ea"/>
              <a:cs typeface="+mn-cs"/>
            </a:endParaRPr>
          </a:p>
        </p:txBody>
      </p:sp>
      <p:sp>
        <p:nvSpPr>
          <p:cNvPr id="26" name="Shape 21"/>
          <p:cNvSpPr/>
          <p:nvPr/>
        </p:nvSpPr>
        <p:spPr>
          <a:xfrm>
            <a:off x="8276211" y="2036427"/>
            <a:ext cx="3656648" cy="4534243"/>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2"/>
          <p:cNvSpPr/>
          <p:nvPr/>
        </p:nvSpPr>
        <p:spPr>
          <a:xfrm>
            <a:off x="8446855" y="2158315"/>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Built-in mapped types</a:t>
            </a:r>
            <a:endParaRPr lang="en-US" kern="1200" dirty="0">
              <a:solidFill>
                <a:prstClr val="black"/>
              </a:solidFill>
              <a:latin typeface="Calibri" panose="020F0502020204030204"/>
              <a:ea typeface="+mn-ea"/>
              <a:cs typeface="+mn-cs"/>
            </a:endParaRPr>
          </a:p>
        </p:txBody>
      </p:sp>
      <p:sp>
        <p:nvSpPr>
          <p:cNvPr id="28" name="Text 23"/>
          <p:cNvSpPr/>
          <p:nvPr/>
        </p:nvSpPr>
        <p:spPr>
          <a:xfrm>
            <a:off x="8446855" y="3011533"/>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Readonly&lt;T&gt;, Partial&lt;T&gt;</a:t>
            </a:r>
            <a:endParaRPr lang="en-US" kern="1200" dirty="0">
              <a:solidFill>
                <a:prstClr val="black"/>
              </a:solidFill>
              <a:latin typeface="Calibri" panose="020F0502020204030204"/>
              <a:ea typeface="+mn-ea"/>
              <a:cs typeface="+mn-cs"/>
            </a:endParaRPr>
          </a:p>
        </p:txBody>
      </p:sp>
      <p:sp>
        <p:nvSpPr>
          <p:cNvPr id="29" name="Text 24"/>
          <p:cNvSpPr/>
          <p:nvPr/>
        </p:nvSpPr>
        <p:spPr>
          <a:xfrm>
            <a:off x="8446855" y="3864751"/>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Omit&lt;T,K&gt;, Pick&lt;T,K&gt;</a:t>
            </a:r>
            <a:endParaRPr lang="en-US" kern="1200" dirty="0">
              <a:solidFill>
                <a:prstClr val="black"/>
              </a:solidFill>
              <a:latin typeface="Calibri" panose="020F0502020204030204"/>
              <a:ea typeface="+mn-ea"/>
              <a:cs typeface="+mn-cs"/>
            </a:endParaRPr>
          </a:p>
        </p:txBody>
      </p:sp>
      <p:sp>
        <p:nvSpPr>
          <p:cNvPr id="30" name="Text 25"/>
          <p:cNvSpPr/>
          <p:nvPr/>
        </p:nvSpPr>
        <p:spPr>
          <a:xfrm>
            <a:off x="8446855" y="4717968"/>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Deriving BTP entity types</a:t>
            </a:r>
            <a:endParaRPr lang="en-US" kern="1200" dirty="0">
              <a:solidFill>
                <a:prstClr val="black"/>
              </a:solidFill>
              <a:latin typeface="Calibri" panose="020F0502020204030204"/>
              <a:ea typeface="+mn-ea"/>
              <a:cs typeface="+mn-cs"/>
            </a:endParaRPr>
          </a:p>
        </p:txBody>
      </p:sp>
      <p:sp>
        <p:nvSpPr>
          <p:cNvPr id="31" name="Text 26"/>
          <p:cNvSpPr/>
          <p:nvPr/>
        </p:nvSpPr>
        <p:spPr>
          <a:xfrm>
            <a:off x="8446855" y="5571186"/>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Eliminating duplication</a:t>
            </a:r>
            <a:endParaRPr lang="en-US"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1790480-726A-7584-4476-F0E2D47AAB87}"/>
              </a:ext>
            </a:extLst>
          </p:cNvPr>
          <p:cNvPicPr preferRelativeResize="0"/>
          <p:nvPr/>
        </p:nvPicPr>
        <p:blipFill rotWithShape="1">
          <a:blip r:embed="rId6">
            <a:alphaModFix/>
          </a:blip>
          <a:srcRect/>
          <a:stretch/>
        </p:blipFill>
        <p:spPr>
          <a:xfrm>
            <a:off x="10503584" y="-58217"/>
            <a:ext cx="1733995" cy="165618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Generics: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Why generics exist &amp; what problem they solve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600" b="1" kern="1200" dirty="0">
                <a:solidFill>
                  <a:srgbClr val="7C3AED"/>
                </a:solidFill>
                <a:latin typeface="Calibri" pitchFamily="34" charset="0"/>
                <a:ea typeface="Calibri" pitchFamily="34" charset="-122"/>
                <a:cs typeface="Calibri" pitchFamily="34" charset="-120"/>
              </a:rPr>
              <a:t>Problem: </a:t>
            </a:r>
            <a:r>
              <a:rPr lang="en-US" sz="1600" kern="1200" dirty="0">
                <a:solidFill>
                  <a:srgbClr val="334155"/>
                </a:solidFill>
                <a:latin typeface="Calibri" pitchFamily="34" charset="0"/>
                <a:ea typeface="Calibri" pitchFamily="34" charset="-122"/>
                <a:cs typeface="Calibri" pitchFamily="34" charset="-120"/>
              </a:rPr>
              <a:t>Without generics, reusable functions must accept </a:t>
            </a:r>
            <a:r>
              <a:rPr lang="en-US" sz="1600" b="1" kern="1200" dirty="0">
                <a:solidFill>
                  <a:srgbClr val="DC2626"/>
                </a:solidFill>
                <a:latin typeface="Calibri" pitchFamily="34" charset="0"/>
                <a:ea typeface="Calibri" pitchFamily="34" charset="-122"/>
                <a:cs typeface="Calibri" pitchFamily="34" charset="-120"/>
              </a:rPr>
              <a:t>any </a:t>
            </a:r>
            <a:r>
              <a:rPr lang="en-US" sz="1600" kern="1200" dirty="0">
                <a:solidFill>
                  <a:srgbClr val="334155"/>
                </a:solidFill>
                <a:latin typeface="Calibri" pitchFamily="34" charset="0"/>
                <a:ea typeface="Calibri" pitchFamily="34" charset="-122"/>
                <a:cs typeface="Calibri" pitchFamily="34" charset="-120"/>
              </a:rPr>
              <a:t>— losing all type safety. Generics let you write one function that works for </a:t>
            </a:r>
            <a:r>
              <a:rPr lang="en-US" sz="1600" b="1" kern="1200" dirty="0">
                <a:solidFill>
                  <a:srgbClr val="7C3AED"/>
                </a:solidFill>
                <a:latin typeface="Calibri" pitchFamily="34" charset="0"/>
                <a:ea typeface="Calibri" pitchFamily="34" charset="-122"/>
                <a:cs typeface="Calibri" pitchFamily="34" charset="-120"/>
              </a:rPr>
              <a:t>many types</a:t>
            </a:r>
            <a:r>
              <a:rPr lang="en-US" sz="1600" kern="1200" dirty="0">
                <a:solidFill>
                  <a:srgbClr val="334155"/>
                </a:solidFill>
                <a:latin typeface="Calibri" pitchFamily="34" charset="0"/>
                <a:ea typeface="Calibri" pitchFamily="34" charset="-122"/>
                <a:cs typeface="Calibri" pitchFamily="34" charset="-120"/>
              </a:rPr>
              <a:t> while preserving the compiler's ability to check correctness.</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14281"/>
            <a:ext cx="5484971" cy="390042"/>
          </a:xfrm>
          <a:prstGeom prst="rect">
            <a:avLst/>
          </a:prstGeom>
          <a:noFill/>
          <a:ln/>
        </p:spPr>
        <p:txBody>
          <a:bodyPr wrap="square" lIns="0" tIns="0" rIns="0" bIns="0" rtlCol="0" anchor="ctr"/>
          <a:lstStyle/>
          <a:p>
            <a:pPr defTabSz="1218895">
              <a:buClrTx/>
            </a:pPr>
            <a:r>
              <a:rPr lang="en-US" sz="1600" b="1" kern="1200" dirty="0">
                <a:solidFill>
                  <a:srgbClr val="B91C1C"/>
                </a:solidFill>
                <a:latin typeface="Calibri" pitchFamily="34" charset="0"/>
                <a:ea typeface="Calibri" pitchFamily="34" charset="-122"/>
                <a:cs typeface="Calibri" pitchFamily="34" charset="-120"/>
              </a:rPr>
              <a:t>❌  Without Generics</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3" y="2828700"/>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950589"/>
            <a:ext cx="5216817"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Must use any — loses type info</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getFirst(arr: any[]): any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x is 'any' — no autocomplete!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x.toUpperCase(); // no error ❌</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414281"/>
            <a:ext cx="5606860" cy="390042"/>
          </a:xfrm>
          <a:prstGeom prst="rect">
            <a:avLst/>
          </a:prstGeom>
          <a:noFill/>
          <a:ln/>
        </p:spPr>
        <p:txBody>
          <a:bodyPr wrap="square" lIns="0" tIns="0" rIns="0" bIns="0" rtlCol="0" anchor="ctr"/>
          <a:lstStyle/>
          <a:p>
            <a:pPr defTabSz="1218895">
              <a:buClrTx/>
            </a:pPr>
            <a:r>
              <a:rPr lang="en-US" sz="1600" b="1" kern="1200" dirty="0">
                <a:solidFill>
                  <a:srgbClr val="0D9488"/>
                </a:solidFill>
                <a:latin typeface="Calibri" pitchFamily="34" charset="0"/>
                <a:ea typeface="Calibri" pitchFamily="34" charset="-122"/>
                <a:cs typeface="Calibri" pitchFamily="34" charset="-120"/>
              </a:rPr>
              <a:t>✅  With Generics</a:t>
            </a:r>
            <a:endParaRPr lang="en-US" sz="1600" kern="1200" dirty="0">
              <a:solidFill>
                <a:prstClr val="black"/>
              </a:solidFill>
              <a:latin typeface="Calibri" panose="020F0502020204030204"/>
              <a:ea typeface="+mn-ea"/>
              <a:cs typeface="+mn-cs"/>
            </a:endParaRPr>
          </a:p>
        </p:txBody>
      </p:sp>
      <p:sp>
        <p:nvSpPr>
          <p:cNvPr id="12" name="Shape 10"/>
          <p:cNvSpPr/>
          <p:nvPr/>
        </p:nvSpPr>
        <p:spPr>
          <a:xfrm>
            <a:off x="6277244" y="2828700"/>
            <a:ext cx="5606860"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950589"/>
            <a:ext cx="5338705"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T is inferred from the call site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getFirst&lt;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function getFirst&lt;T&gt;(arr: T[]): 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x is 'number' — full type safety!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x.toUpperCase(); // Error: number ✅</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7552"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609441"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Type parameter — a placeholder resolved at the call site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387976"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387976"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387976"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extends</a:t>
            </a:r>
            <a:endParaRPr lang="en-US" sz="1600" kern="1200" dirty="0">
              <a:solidFill>
                <a:prstClr val="black"/>
              </a:solidFill>
              <a:latin typeface="Calibri" panose="020F0502020204030204"/>
              <a:ea typeface="+mn-ea"/>
              <a:cs typeface="+mn-cs"/>
            </a:endParaRPr>
          </a:p>
        </p:txBody>
      </p:sp>
      <p:sp>
        <p:nvSpPr>
          <p:cNvPr id="21" name="Text 19"/>
          <p:cNvSpPr/>
          <p:nvPr/>
        </p:nvSpPr>
        <p:spPr>
          <a:xfrm>
            <a:off x="4509865"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Constraint — T must satisfy a shape (e.g., T extends object)</a:t>
            </a:r>
            <a:endParaRPr lang="en-US" sz="1266" kern="1200" dirty="0">
              <a:solidFill>
                <a:prstClr val="black"/>
              </a:solidFill>
              <a:latin typeface="Calibri" panose="020F0502020204030204"/>
              <a:ea typeface="+mn-ea"/>
              <a:cs typeface="+mn-cs"/>
            </a:endParaRPr>
          </a:p>
        </p:txBody>
      </p:sp>
      <p:sp>
        <p:nvSpPr>
          <p:cNvPr id="22" name="Shape 20"/>
          <p:cNvSpPr/>
          <p:nvPr/>
        </p:nvSpPr>
        <p:spPr>
          <a:xfrm>
            <a:off x="8288400"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288400"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288400"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Inference</a:t>
            </a:r>
            <a:endParaRPr lang="en-US" sz="1600" kern="1200" dirty="0">
              <a:solidFill>
                <a:prstClr val="black"/>
              </a:solidFill>
              <a:latin typeface="Calibri" panose="020F0502020204030204"/>
              <a:ea typeface="+mn-ea"/>
              <a:cs typeface="+mn-cs"/>
            </a:endParaRPr>
          </a:p>
        </p:txBody>
      </p:sp>
      <p:sp>
        <p:nvSpPr>
          <p:cNvPr id="25" name="Text 23"/>
          <p:cNvSpPr/>
          <p:nvPr/>
        </p:nvSpPr>
        <p:spPr>
          <a:xfrm>
            <a:off x="8410289"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 infers T from arguments — no explicit annotation needed</a:t>
            </a:r>
            <a:endParaRPr lang="en-US" sz="1266"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A525B3E0-F1F9-06F8-1C7E-C788DFCE02EE}"/>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Generics — How Type Parameters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From call site → type parameter → return type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890161"/>
            <a:ext cx="2437765" cy="1218883"/>
          </a:xfrm>
          <a:prstGeom prst="rect">
            <a:avLst/>
          </a:prstGeom>
          <a:solidFill>
            <a:srgbClr val="334155"/>
          </a:solidFill>
          <a:ln w="12700">
            <a:solidFill>
              <a:srgbClr val="334155"/>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Call Site</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getFirst([1,2,3])</a:t>
            </a:r>
            <a:endParaRPr lang="en-US" sz="1200" kern="1200" dirty="0">
              <a:solidFill>
                <a:prstClr val="black"/>
              </a:solidFill>
              <a:latin typeface="Calibri" panose="020F0502020204030204"/>
              <a:ea typeface="+mn-ea"/>
              <a:cs typeface="+mn-cs"/>
            </a:endParaRPr>
          </a:p>
        </p:txBody>
      </p:sp>
      <p:sp>
        <p:nvSpPr>
          <p:cNvPr id="9" name="Shape 7"/>
          <p:cNvSpPr/>
          <p:nvPr/>
        </p:nvSpPr>
        <p:spPr>
          <a:xfrm>
            <a:off x="2974073"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351926"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3169094" y="1890161"/>
            <a:ext cx="2437765" cy="1218883"/>
          </a:xfrm>
          <a:prstGeom prst="rect">
            <a:avLst/>
          </a:prstGeom>
          <a:solidFill>
            <a:srgbClr val="7C3AED"/>
          </a:solidFill>
          <a:ln w="12700">
            <a:solidFill>
              <a:srgbClr val="7C3AED"/>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6909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T  is inferred</a:t>
            </a:r>
            <a:endParaRPr lang="en-US" sz="1600" kern="1200" dirty="0">
              <a:solidFill>
                <a:prstClr val="black"/>
              </a:solidFill>
              <a:latin typeface="Calibri" panose="020F0502020204030204"/>
              <a:ea typeface="+mn-ea"/>
              <a:cs typeface="+mn-cs"/>
            </a:endParaRPr>
          </a:p>
        </p:txBody>
      </p:sp>
      <p:sp>
        <p:nvSpPr>
          <p:cNvPr id="13" name="Text 11"/>
          <p:cNvSpPr/>
          <p:nvPr/>
        </p:nvSpPr>
        <p:spPr>
          <a:xfrm>
            <a:off x="316909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T = number</a:t>
            </a:r>
            <a:endParaRPr lang="en-US" sz="1200" kern="1200" dirty="0">
              <a:solidFill>
                <a:prstClr val="black"/>
              </a:solidFill>
              <a:latin typeface="Calibri" panose="020F0502020204030204"/>
              <a:ea typeface="+mn-ea"/>
              <a:cs typeface="+mn-cs"/>
            </a:endParaRPr>
          </a:p>
        </p:txBody>
      </p:sp>
      <p:sp>
        <p:nvSpPr>
          <p:cNvPr id="14" name="Shape 12"/>
          <p:cNvSpPr/>
          <p:nvPr/>
        </p:nvSpPr>
        <p:spPr>
          <a:xfrm>
            <a:off x="565561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03346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6" name="Shape 14"/>
          <p:cNvSpPr/>
          <p:nvPr/>
        </p:nvSpPr>
        <p:spPr>
          <a:xfrm>
            <a:off x="5972524" y="1890161"/>
            <a:ext cx="2437765" cy="1218883"/>
          </a:xfrm>
          <a:prstGeom prst="rect">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597252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Function Body</a:t>
            </a:r>
            <a:endParaRPr lang="en-US" sz="1600" kern="1200" dirty="0">
              <a:solidFill>
                <a:prstClr val="black"/>
              </a:solidFill>
              <a:latin typeface="Calibri" panose="020F0502020204030204"/>
              <a:ea typeface="+mn-ea"/>
              <a:cs typeface="+mn-cs"/>
            </a:endParaRPr>
          </a:p>
        </p:txBody>
      </p:sp>
      <p:sp>
        <p:nvSpPr>
          <p:cNvPr id="18" name="Text 16"/>
          <p:cNvSpPr/>
          <p:nvPr/>
        </p:nvSpPr>
        <p:spPr>
          <a:xfrm>
            <a:off x="597252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arr: T[] = number[]</a:t>
            </a:r>
            <a:endParaRPr lang="en-US" sz="1200" kern="1200" dirty="0">
              <a:solidFill>
                <a:prstClr val="black"/>
              </a:solidFill>
              <a:latin typeface="Calibri" panose="020F0502020204030204"/>
              <a:ea typeface="+mn-ea"/>
              <a:cs typeface="+mn-cs"/>
            </a:endParaRPr>
          </a:p>
        </p:txBody>
      </p:sp>
      <p:sp>
        <p:nvSpPr>
          <p:cNvPr id="19" name="Shape 17"/>
          <p:cNvSpPr/>
          <p:nvPr/>
        </p:nvSpPr>
        <p:spPr>
          <a:xfrm>
            <a:off x="845904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3689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1" name="Shape 19"/>
          <p:cNvSpPr/>
          <p:nvPr/>
        </p:nvSpPr>
        <p:spPr>
          <a:xfrm>
            <a:off x="8775954" y="1890161"/>
            <a:ext cx="2437765" cy="1218883"/>
          </a:xfrm>
          <a:prstGeom prst="rect">
            <a:avLst/>
          </a:prstGeom>
          <a:solidFill>
            <a:srgbClr val="1D4ED8"/>
          </a:solidFill>
          <a:ln w="12700">
            <a:solidFill>
              <a:srgbClr val="1D4ED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77595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Return Type</a:t>
            </a:r>
            <a:endParaRPr lang="en-US" sz="1600" kern="1200" dirty="0">
              <a:solidFill>
                <a:prstClr val="black"/>
              </a:solidFill>
              <a:latin typeface="Calibri" panose="020F0502020204030204"/>
              <a:ea typeface="+mn-ea"/>
              <a:cs typeface="+mn-cs"/>
            </a:endParaRPr>
          </a:p>
        </p:txBody>
      </p:sp>
      <p:sp>
        <p:nvSpPr>
          <p:cNvPr id="23" name="Text 21"/>
          <p:cNvSpPr/>
          <p:nvPr/>
        </p:nvSpPr>
        <p:spPr>
          <a:xfrm>
            <a:off x="877595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returns T = number</a:t>
            </a:r>
            <a:endParaRPr lang="en-US" sz="1200" kern="1200" dirty="0">
              <a:solidFill>
                <a:prstClr val="black"/>
              </a:solidFill>
              <a:latin typeface="Calibri" panose="020F0502020204030204"/>
              <a:ea typeface="+mn-ea"/>
              <a:cs typeface="+mn-cs"/>
            </a:endParaRPr>
          </a:p>
        </p:txBody>
      </p:sp>
      <p:sp>
        <p:nvSpPr>
          <p:cNvPr id="24" name="Text 22"/>
          <p:cNvSpPr/>
          <p:nvPr/>
        </p:nvSpPr>
        <p:spPr>
          <a:xfrm>
            <a:off x="487553" y="3438142"/>
            <a:ext cx="11213719" cy="390042"/>
          </a:xfrm>
          <a:prstGeom prst="rect">
            <a:avLst/>
          </a:prstGeom>
          <a:noFill/>
          <a:ln/>
        </p:spPr>
        <p:txBody>
          <a:bodyPr wrap="square" lIns="0" tIns="0" rIns="0" bIns="0" rtlCol="0" anchor="ctr"/>
          <a:lstStyle/>
          <a:p>
            <a:pPr defTabSz="1218895">
              <a:buClrTx/>
            </a:pPr>
            <a:r>
              <a:rPr lang="en-US" sz="1733" b="1" kern="1200" dirty="0">
                <a:solidFill>
                  <a:srgbClr val="1E293B"/>
                </a:solidFill>
                <a:latin typeface="Calibri" pitchFamily="34" charset="0"/>
                <a:ea typeface="Calibri" pitchFamily="34" charset="-122"/>
                <a:cs typeface="Calibri" pitchFamily="34" charset="-120"/>
              </a:rPr>
              <a:t>Generic Constraint Pattern (extends)</a:t>
            </a:r>
            <a:endParaRPr lang="en-US" sz="1733" kern="1200" dirty="0">
              <a:solidFill>
                <a:prstClr val="black"/>
              </a:solidFill>
              <a:latin typeface="Calibri" panose="020F0502020204030204"/>
              <a:ea typeface="+mn-ea"/>
              <a:cs typeface="+mn-cs"/>
            </a:endParaRPr>
          </a:p>
        </p:txBody>
      </p:sp>
      <p:sp>
        <p:nvSpPr>
          <p:cNvPr id="25" name="Shape 23"/>
          <p:cNvSpPr/>
          <p:nvPr/>
        </p:nvSpPr>
        <p:spPr>
          <a:xfrm>
            <a:off x="487553" y="3852561"/>
            <a:ext cx="5484971" cy="219398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70385" y="3974450"/>
            <a:ext cx="5216817" cy="197459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Constrained generic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interface HasId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findById&lt;T extends HasId&gt;(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items: 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T | undefined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items.find(i =&gt; i.id ===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27" name="Shape 25"/>
          <p:cNvSpPr/>
          <p:nvPr/>
        </p:nvSpPr>
        <p:spPr>
          <a:xfrm>
            <a:off x="6216300" y="385256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16300" y="385256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411321" y="387693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T extends HasId means…</a:t>
            </a:r>
            <a:endParaRPr lang="en-US" sz="1266" kern="1200" dirty="0">
              <a:solidFill>
                <a:prstClr val="black"/>
              </a:solidFill>
              <a:latin typeface="Calibri" panose="020F0502020204030204"/>
              <a:ea typeface="+mn-ea"/>
              <a:cs typeface="+mn-cs"/>
            </a:endParaRPr>
          </a:p>
        </p:txBody>
      </p:sp>
      <p:sp>
        <p:nvSpPr>
          <p:cNvPr id="30" name="Text 28"/>
          <p:cNvSpPr/>
          <p:nvPr/>
        </p:nvSpPr>
        <p:spPr>
          <a:xfrm>
            <a:off x="6411321" y="4145094"/>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 must have at least an id: string field. Other fields are allowed — this is structural typing.</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16300" y="458389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6216300" y="458389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411321" y="460826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Why constrain?</a:t>
            </a:r>
            <a:endParaRPr lang="en-US" sz="1266" kern="1200" dirty="0">
              <a:solidFill>
                <a:prstClr val="black"/>
              </a:solidFill>
              <a:latin typeface="Calibri" panose="020F0502020204030204"/>
              <a:ea typeface="+mn-ea"/>
              <a:cs typeface="+mn-cs"/>
            </a:endParaRPr>
          </a:p>
        </p:txBody>
      </p:sp>
      <p:sp>
        <p:nvSpPr>
          <p:cNvPr id="34" name="Text 32"/>
          <p:cNvSpPr/>
          <p:nvPr/>
        </p:nvSpPr>
        <p:spPr>
          <a:xfrm>
            <a:off x="6411321" y="487642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Without extends, T could be anything — even number. Constraint lets us safely use id inside the function body.</a:t>
            </a:r>
            <a:endParaRPr lang="en-US" sz="1133" kern="1200" dirty="0">
              <a:solidFill>
                <a:prstClr val="black"/>
              </a:solidFill>
              <a:latin typeface="Calibri" panose="020F0502020204030204"/>
              <a:ea typeface="+mn-ea"/>
              <a:cs typeface="+mn-cs"/>
            </a:endParaRPr>
          </a:p>
        </p:txBody>
      </p:sp>
      <p:sp>
        <p:nvSpPr>
          <p:cNvPr id="35" name="Shape 33"/>
          <p:cNvSpPr/>
          <p:nvPr/>
        </p:nvSpPr>
        <p:spPr>
          <a:xfrm>
            <a:off x="6216300" y="5315220"/>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34"/>
          <p:cNvSpPr/>
          <p:nvPr/>
        </p:nvSpPr>
        <p:spPr>
          <a:xfrm>
            <a:off x="6216300" y="5315220"/>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6411321" y="5339598"/>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BTP relevance</a:t>
            </a:r>
            <a:endParaRPr lang="en-US" sz="1266" kern="1200" dirty="0">
              <a:solidFill>
                <a:prstClr val="black"/>
              </a:solidFill>
              <a:latin typeface="Calibri" panose="020F0502020204030204"/>
              <a:ea typeface="+mn-ea"/>
              <a:cs typeface="+mn-cs"/>
            </a:endParaRPr>
          </a:p>
        </p:txBody>
      </p:sp>
      <p:sp>
        <p:nvSpPr>
          <p:cNvPr id="38" name="Text 36"/>
          <p:cNvSpPr/>
          <p:nvPr/>
        </p:nvSpPr>
        <p:spPr>
          <a:xfrm>
            <a:off x="6411321" y="560775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entities always have an ID. ConfigLoader&lt;T extends object&gt; ensures we only accept object-shaped configs.</a:t>
            </a:r>
            <a:endParaRPr lang="en-US" sz="1133"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ECA16F5B-D435-D921-D7F3-655F3378B9F1}"/>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Implement ConfigLoader&lt;T&gt;</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exercises/config-loader.ts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Architecture</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829217"/>
            <a:ext cx="2193989" cy="877595"/>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2" y="1829217"/>
            <a:ext cx="2193989"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Raw JSON</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 file</a:t>
            </a:r>
            <a:endParaRPr lang="en-US" sz="1200" kern="1200" dirty="0">
              <a:solidFill>
                <a:prstClr val="black"/>
              </a:solidFill>
              <a:latin typeface="Calibri" panose="020F0502020204030204"/>
              <a:ea typeface="+mn-ea"/>
              <a:cs typeface="+mn-cs"/>
            </a:endParaRPr>
          </a:p>
        </p:txBody>
      </p:sp>
      <p:sp>
        <p:nvSpPr>
          <p:cNvPr id="9" name="Shape 7"/>
          <p:cNvSpPr/>
          <p:nvPr/>
        </p:nvSpPr>
        <p:spPr>
          <a:xfrm>
            <a:off x="2705919"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925318"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1" name="Shape 9"/>
          <p:cNvSpPr/>
          <p:nvPr/>
        </p:nvSpPr>
        <p:spPr>
          <a:xfrm>
            <a:off x="3108150" y="1829217"/>
            <a:ext cx="2437765" cy="877595"/>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08150"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ConfigLoader&lt;T&gt;</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.load()</a:t>
            </a:r>
            <a:endParaRPr lang="en-US" sz="1200" kern="1200" dirty="0">
              <a:solidFill>
                <a:prstClr val="black"/>
              </a:solidFill>
              <a:latin typeface="Calibri" panose="020F0502020204030204"/>
              <a:ea typeface="+mn-ea"/>
              <a:cs typeface="+mn-cs"/>
            </a:endParaRPr>
          </a:p>
        </p:txBody>
      </p:sp>
      <p:sp>
        <p:nvSpPr>
          <p:cNvPr id="13" name="Shape 11"/>
          <p:cNvSpPr/>
          <p:nvPr/>
        </p:nvSpPr>
        <p:spPr>
          <a:xfrm>
            <a:off x="5570293"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789691"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5" name="Shape 13"/>
          <p:cNvSpPr/>
          <p:nvPr/>
        </p:nvSpPr>
        <p:spPr>
          <a:xfrm>
            <a:off x="5996901" y="1829217"/>
            <a:ext cx="2437765" cy="877595"/>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5996901"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Validator</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T extends object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459044"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678443"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9" name="Shape 17"/>
          <p:cNvSpPr/>
          <p:nvPr/>
        </p:nvSpPr>
        <p:spPr>
          <a:xfrm>
            <a:off x="8873464" y="1829217"/>
            <a:ext cx="2559653" cy="877595"/>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73464" y="1829217"/>
            <a:ext cx="2559653"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Typed Config</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returns T</a:t>
            </a:r>
            <a:endParaRPr lang="en-US" sz="1200" kern="1200" dirty="0">
              <a:solidFill>
                <a:prstClr val="black"/>
              </a:solidFill>
              <a:latin typeface="Calibri" panose="020F0502020204030204"/>
              <a:ea typeface="+mn-ea"/>
              <a:cs typeface="+mn-cs"/>
            </a:endParaRPr>
          </a:p>
        </p:txBody>
      </p:sp>
      <p:sp>
        <p:nvSpPr>
          <p:cNvPr id="21" name="Text 19"/>
          <p:cNvSpPr/>
          <p:nvPr/>
        </p:nvSpPr>
        <p:spPr>
          <a:xfrm>
            <a:off x="487553" y="2865267"/>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Starter: config-loader.ts  (TODOs to fill)</a:t>
            </a:r>
            <a:endParaRPr lang="en-US" sz="1466" kern="1200" dirty="0">
              <a:solidFill>
                <a:prstClr val="black"/>
              </a:solidFill>
              <a:latin typeface="Calibri" panose="020F0502020204030204"/>
              <a:ea typeface="+mn-ea"/>
              <a:cs typeface="+mn-cs"/>
            </a:endParaRPr>
          </a:p>
        </p:txBody>
      </p:sp>
      <p:sp>
        <p:nvSpPr>
          <p:cNvPr id="22" name="Shape 20"/>
          <p:cNvSpPr/>
          <p:nvPr/>
        </p:nvSpPr>
        <p:spPr>
          <a:xfrm>
            <a:off x="487553" y="3255309"/>
            <a:ext cx="5484971"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70385" y="3377197"/>
            <a:ext cx="5216817" cy="314471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TODO 1: Add generic type param &lt;T&gt;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class ConfigLoader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data: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2: read file, parse 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3: validate &amp; return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4: add validate method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private validate(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raw: unknown): asserts raw is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throw if invalid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24" name="Text 22"/>
          <p:cNvSpPr/>
          <p:nvPr/>
        </p:nvSpPr>
        <p:spPr>
          <a:xfrm>
            <a:off x="6277244" y="2865267"/>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Solution</a:t>
            </a:r>
            <a:endParaRPr lang="en-US" sz="1466" kern="1200" dirty="0">
              <a:solidFill>
                <a:prstClr val="black"/>
              </a:solidFill>
              <a:latin typeface="Calibri" panose="020F0502020204030204"/>
              <a:ea typeface="+mn-ea"/>
              <a:cs typeface="+mn-cs"/>
            </a:endParaRPr>
          </a:p>
        </p:txBody>
      </p:sp>
      <p:sp>
        <p:nvSpPr>
          <p:cNvPr id="25" name="Shape 23"/>
          <p:cNvSpPr/>
          <p:nvPr/>
        </p:nvSpPr>
        <p:spPr>
          <a:xfrm>
            <a:off x="6277244" y="3255309"/>
            <a:ext cx="5606860"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60077" y="3377197"/>
            <a:ext cx="5338705" cy="314471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fs from 'fs';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class ConfigLoader&lt;T extends object&gt;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raw: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txt = fs.readFileSync(path,'utf-8');</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this.raw = JSON.parse(txt);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load(validator: (r:unknown) =&gt; T):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validator(this.raw);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Usage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const loader = new ConfigLoader&lt;DestConfig&gt;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('dest-config.json');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const cfg = loader.load(validateDest);</a:t>
            </a:r>
            <a:endParaRPr lang="en-US" sz="1200" kern="1200" dirty="0">
              <a:solidFill>
                <a:prstClr val="black"/>
              </a:solidFill>
              <a:latin typeface="Calibri" panose="020F0502020204030204"/>
              <a:ea typeface="+mn-ea"/>
              <a:cs typeface="+mn-cs"/>
            </a:endParaRPr>
          </a:p>
        </p:txBody>
      </p:sp>
      <p:pic>
        <p:nvPicPr>
          <p:cNvPr id="27" name="Google Shape;497;p1">
            <a:extLst>
              <a:ext uri="{FF2B5EF4-FFF2-40B4-BE49-F238E27FC236}">
                <a16:creationId xmlns:a16="http://schemas.microsoft.com/office/drawing/2014/main" id="{8552E296-DE10-7D16-EBCC-0D4A8D5BF13C}"/>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Testing Two Config Shapes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Practice  ·  The same ConfigLoader&lt;T&gt; reused with different T</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90042"/>
          </a:xfrm>
          <a:prstGeom prst="rect">
            <a:avLst/>
          </a:prstGeom>
          <a:noFill/>
          <a:ln/>
        </p:spPr>
        <p:txBody>
          <a:bodyPr wrap="square" lIns="0" tIns="0" rIns="0" bIns="0" rtlCol="0" anchor="ctr"/>
          <a:lstStyle/>
          <a:p>
            <a:pPr defTabSz="1218895">
              <a:buClrTx/>
            </a:pPr>
            <a:r>
              <a:rPr lang="en-US" sz="1466" i="1" kern="1200" dirty="0">
                <a:solidFill>
                  <a:srgbClr val="334155"/>
                </a:solidFill>
                <a:latin typeface="Calibri" pitchFamily="34" charset="0"/>
                <a:ea typeface="Calibri" pitchFamily="34" charset="-122"/>
                <a:cs typeface="Calibri" pitchFamily="34" charset="-120"/>
              </a:rPr>
              <a:t>One loader class — two completely different config shapes. TypeScript keeps each one fully typed.</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890161"/>
            <a:ext cx="5484971" cy="46317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3" y="1890161"/>
            <a:ext cx="5484971"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1 — Destination Service</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377714"/>
            <a:ext cx="5484971"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499602"/>
            <a:ext cx="5216817"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DestinationConfig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authenticationType: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'BasicAuthentication' | 'OAuth2';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proxyType: 'Internet' | 'OnPremise';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destLoader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ConfigLoader&lt;DestinationConfig&gt;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('dest.json');</a:t>
            </a:r>
            <a:endParaRPr lang="en-US" sz="1200" kern="1200" dirty="0">
              <a:solidFill>
                <a:prstClr val="black"/>
              </a:solidFill>
              <a:latin typeface="Calibri" panose="020F0502020204030204"/>
              <a:ea typeface="+mn-ea"/>
              <a:cs typeface="+mn-cs"/>
            </a:endParaRPr>
          </a:p>
        </p:txBody>
      </p:sp>
      <p:sp>
        <p:nvSpPr>
          <p:cNvPr id="11" name="Shape 9"/>
          <p:cNvSpPr/>
          <p:nvPr/>
        </p:nvSpPr>
        <p:spPr>
          <a:xfrm>
            <a:off x="6277244" y="1890161"/>
            <a:ext cx="5606860" cy="463175"/>
          </a:xfrm>
          <a:prstGeom prst="rect">
            <a:avLst/>
          </a:prstGeom>
          <a:solidFill>
            <a:srgbClr val="4338CA"/>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77244" y="1890161"/>
            <a:ext cx="5606860"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2 — XSUAA / Auth Config</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2377714"/>
            <a:ext cx="5606860"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2499602"/>
            <a:ext cx="5338705"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XsuaaConfig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clientsecret: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tenantid: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xsappname: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xsuaaLoader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ConfigLoader&lt;XsuaaConfig&gt;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('xsuaa.json');</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87553" y="4571703"/>
            <a:ext cx="11213719" cy="46317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4608269"/>
            <a:ext cx="10969943" cy="390042"/>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Key insight: ConfigLoader&lt;T&gt; is written once. The type T changes the shape of every method signature and return value.</a:t>
            </a:r>
            <a:endParaRPr lang="en-US" kern="1200" dirty="0">
              <a:solidFill>
                <a:prstClr val="black"/>
              </a:solidFill>
              <a:latin typeface="Calibri" panose="020F0502020204030204"/>
              <a:ea typeface="+mn-ea"/>
              <a:cs typeface="+mn-cs"/>
            </a:endParaRPr>
          </a:p>
        </p:txBody>
      </p:sp>
      <p:sp>
        <p:nvSpPr>
          <p:cNvPr id="17" name="Text 15"/>
          <p:cNvSpPr/>
          <p:nvPr/>
        </p:nvSpPr>
        <p:spPr>
          <a:xfrm>
            <a:off x="487553" y="5120200"/>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Using Both Loaders (test scenario)</a:t>
            </a:r>
            <a:endParaRPr lang="en-US" sz="1466" kern="1200" dirty="0">
              <a:solidFill>
                <a:prstClr val="black"/>
              </a:solidFill>
              <a:latin typeface="Calibri" panose="020F0502020204030204"/>
              <a:ea typeface="+mn-ea"/>
              <a:cs typeface="+mn-cs"/>
            </a:endParaRPr>
          </a:p>
        </p:txBody>
      </p:sp>
      <p:sp>
        <p:nvSpPr>
          <p:cNvPr id="18" name="Shape 16"/>
          <p:cNvSpPr/>
          <p:nvPr/>
        </p:nvSpPr>
        <p:spPr>
          <a:xfrm>
            <a:off x="487553" y="5485864"/>
            <a:ext cx="11213719" cy="119450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70385" y="5607752"/>
            <a:ext cx="10945565" cy="975106"/>
          </a:xfrm>
          <a:prstGeom prst="rect">
            <a:avLst/>
          </a:prstGeom>
          <a:noFill/>
          <a:ln/>
        </p:spPr>
        <p:txBody>
          <a:bodyPr wrap="square" lIns="0" tIns="0" rIns="0" bIns="0" rtlCol="0" anchor="t"/>
          <a:lstStyle/>
          <a:p>
            <a:pPr defTabSz="1218895">
              <a:buClrTx/>
            </a:pPr>
            <a:r>
              <a:rPr lang="en-US" sz="1266" kern="1200" dirty="0">
                <a:solidFill>
                  <a:srgbClr val="4ADE80"/>
                </a:solidFill>
                <a:latin typeface="Consolas" pitchFamily="34" charset="0"/>
                <a:ea typeface="Consolas" pitchFamily="34" charset="-122"/>
                <a:cs typeface="Consolas" pitchFamily="34" charset="-120"/>
              </a:rPr>
              <a:t>const dest   = destLoader.load(validateDestConfig);   // type: DestinationConfig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xsuaa  = xsuaaLoader.load(validateXsuaaConfig); // type: XsuaaConfig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dest.url;          // ✅ autocomplete works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xsuaa.xsappname;   // ✅ correct type</a:t>
            </a:r>
            <a:endParaRPr lang="en-US" sz="1266" kern="1200" dirty="0">
              <a:solidFill>
                <a:prstClr val="black"/>
              </a:solidFill>
              <a:latin typeface="Calibri" panose="020F0502020204030204"/>
              <a:ea typeface="+mn-ea"/>
              <a:cs typeface="+mn-cs"/>
            </a:endParaRPr>
          </a:p>
        </p:txBody>
      </p:sp>
      <p:pic>
        <p:nvPicPr>
          <p:cNvPr id="20" name="Google Shape;497;p1">
            <a:extLst>
              <a:ext uri="{FF2B5EF4-FFF2-40B4-BE49-F238E27FC236}">
                <a16:creationId xmlns:a16="http://schemas.microsoft.com/office/drawing/2014/main" id="{55292C83-2B94-6140-A766-0DB5E30954E4}"/>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Decorators: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What decorators are and why they have no JS equivalent</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0D9488"/>
                </a:solidFill>
                <a:latin typeface="Calibri" pitchFamily="34" charset="0"/>
                <a:ea typeface="Calibri" pitchFamily="34" charset="-122"/>
                <a:cs typeface="Calibri" pitchFamily="34" charset="-120"/>
              </a:rPr>
              <a:t>Definition: </a:t>
            </a:r>
            <a:r>
              <a:rPr lang="en-US" sz="1533" kern="1200" dirty="0">
                <a:solidFill>
                  <a:srgbClr val="334155"/>
                </a:solidFill>
                <a:latin typeface="Calibri" pitchFamily="34" charset="0"/>
                <a:ea typeface="Calibri" pitchFamily="34" charset="-122"/>
                <a:cs typeface="Calibri" pitchFamily="34" charset="-120"/>
              </a:rPr>
              <a:t>A decorator is a special function that wraps a class, method, or property to add behaviour </a:t>
            </a:r>
            <a:r>
              <a:rPr lang="en-US" sz="1533" b="1" kern="1200" dirty="0">
                <a:solidFill>
                  <a:srgbClr val="334155"/>
                </a:solidFill>
                <a:latin typeface="Calibri" pitchFamily="34" charset="0"/>
                <a:ea typeface="Calibri" pitchFamily="34" charset="-122"/>
                <a:cs typeface="Calibri" pitchFamily="34" charset="-120"/>
              </a:rPr>
              <a:t>without modifying the original source code.</a:t>
            </a:r>
            <a:r>
              <a:rPr lang="en-US" sz="1533" kern="1200" dirty="0">
                <a:solidFill>
                  <a:srgbClr val="334155"/>
                </a:solidFill>
                <a:latin typeface="Calibri" pitchFamily="34" charset="0"/>
                <a:ea typeface="Calibri" pitchFamily="34" charset="-122"/>
                <a:cs typeface="Calibri" pitchFamily="34" charset="-120"/>
              </a:rPr>
              <a:t> This is the Aspect-Oriented Programming (AOP) pattern — cross-cutting concerns like logging,</a:t>
            </a:r>
            <a:endParaRPr lang="en-US" sz="1533" kern="1200" dirty="0">
              <a:solidFill>
                <a:prstClr val="black"/>
              </a:solidFill>
              <a:latin typeface="Calibri" panose="020F0502020204030204"/>
              <a:ea typeface="+mn-ea"/>
              <a:cs typeface="+mn-cs"/>
            </a:endParaRPr>
          </a:p>
          <a:p>
            <a:pPr defTabSz="1218895">
              <a:buClrTx/>
            </a:pPr>
            <a:r>
              <a:rPr lang="en-US" sz="1533" kern="1200" dirty="0">
                <a:solidFill>
                  <a:srgbClr val="334155"/>
                </a:solidFill>
                <a:latin typeface="Calibri" pitchFamily="34" charset="0"/>
                <a:ea typeface="Calibri" pitchFamily="34" charset="-122"/>
                <a:cs typeface="Calibri" pitchFamily="34" charset="-120"/>
              </a:rPr>
              <a:t>auth checks, and timing are injected around the actual logic.</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89903"/>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Mental Model — Decorator as a Wrapper</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804323"/>
            <a:ext cx="6703854" cy="3230039"/>
          </a:xfrm>
          <a:prstGeom prst="rect">
            <a:avLst/>
          </a:prstGeom>
          <a:solidFill>
            <a:srgbClr val="CCFBF1"/>
          </a:solid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85063" y="2853078"/>
            <a:ext cx="6521021" cy="341287"/>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@LogRequest  Decorator</a:t>
            </a:r>
            <a:endParaRPr lang="en-US" sz="1333" kern="1200" dirty="0">
              <a:solidFill>
                <a:prstClr val="black"/>
              </a:solidFill>
              <a:latin typeface="Calibri" panose="020F0502020204030204"/>
              <a:ea typeface="+mn-ea"/>
              <a:cs typeface="+mn-cs"/>
            </a:endParaRPr>
          </a:p>
        </p:txBody>
      </p:sp>
      <p:sp>
        <p:nvSpPr>
          <p:cNvPr id="11" name="Text 9"/>
          <p:cNvSpPr/>
          <p:nvPr/>
        </p:nvSpPr>
        <p:spPr>
          <a:xfrm>
            <a:off x="670385" y="3218743"/>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① log method name + args</a:t>
            </a:r>
            <a:endParaRPr lang="en-US" sz="1266" kern="1200" dirty="0">
              <a:solidFill>
                <a:prstClr val="black"/>
              </a:solidFill>
              <a:latin typeface="Calibri" panose="020F0502020204030204"/>
              <a:ea typeface="+mn-ea"/>
              <a:cs typeface="+mn-cs"/>
            </a:endParaRPr>
          </a:p>
        </p:txBody>
      </p:sp>
      <p:sp>
        <p:nvSpPr>
          <p:cNvPr id="12" name="Text 10"/>
          <p:cNvSpPr/>
          <p:nvPr/>
        </p:nvSpPr>
        <p:spPr>
          <a:xfrm>
            <a:off x="670385" y="5510242"/>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③ log execution time</a:t>
            </a:r>
            <a:endParaRPr lang="en-US" sz="1266" kern="1200" dirty="0">
              <a:solidFill>
                <a:prstClr val="black"/>
              </a:solidFill>
              <a:latin typeface="Calibri" panose="020F0502020204030204"/>
              <a:ea typeface="+mn-ea"/>
              <a:cs typeface="+mn-cs"/>
            </a:endParaRPr>
          </a:p>
        </p:txBody>
      </p:sp>
      <p:sp>
        <p:nvSpPr>
          <p:cNvPr id="13" name="Shape 11"/>
          <p:cNvSpPr/>
          <p:nvPr/>
        </p:nvSpPr>
        <p:spPr>
          <a:xfrm>
            <a:off x="1462658" y="3718485"/>
            <a:ext cx="4753642" cy="1682058"/>
          </a:xfrm>
          <a:prstGeom prst="rect">
            <a:avLst/>
          </a:prstGeom>
          <a:solidFill>
            <a:srgbClr val="1E293B"/>
          </a:solidFill>
          <a:ln w="12700">
            <a:solidFill>
              <a:srgbClr val="2DD4B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1462658" y="3718485"/>
            <a:ext cx="4753642" cy="390042"/>
          </a:xfrm>
          <a:prstGeom prst="rect">
            <a:avLst/>
          </a:prstGeom>
          <a:noFill/>
          <a:ln/>
        </p:spPr>
        <p:txBody>
          <a:bodyPr wrap="square" lIns="0" tIns="0" rIns="0" bIns="0" rtlCol="0" anchor="ctr"/>
          <a:lstStyle/>
          <a:p>
            <a:pPr algn="ctr" defTabSz="1218895">
              <a:buClrTx/>
            </a:pPr>
            <a:r>
              <a:rPr lang="en-US" sz="1333" b="1" kern="1200" dirty="0">
                <a:solidFill>
                  <a:srgbClr val="2DD4BF"/>
                </a:solidFill>
                <a:latin typeface="Calibri" pitchFamily="34" charset="0"/>
                <a:ea typeface="Calibri" pitchFamily="34" charset="-122"/>
                <a:cs typeface="Calibri" pitchFamily="34" charset="-120"/>
              </a:rPr>
              <a:t>Original Method Body</a:t>
            </a:r>
            <a:endParaRPr lang="en-US" sz="1333" kern="1200" dirty="0">
              <a:solidFill>
                <a:prstClr val="black"/>
              </a:solidFill>
              <a:latin typeface="Calibri" panose="020F0502020204030204"/>
              <a:ea typeface="+mn-ea"/>
              <a:cs typeface="+mn-cs"/>
            </a:endParaRPr>
          </a:p>
        </p:txBody>
      </p:sp>
      <p:sp>
        <p:nvSpPr>
          <p:cNvPr id="15" name="Text 13"/>
          <p:cNvSpPr/>
          <p:nvPr/>
        </p:nvSpPr>
        <p:spPr>
          <a:xfrm>
            <a:off x="1462658" y="4169471"/>
            <a:ext cx="4753642" cy="755707"/>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onsolas" pitchFamily="34" charset="0"/>
                <a:ea typeface="Consolas" pitchFamily="34" charset="-122"/>
                <a:cs typeface="Consolas" pitchFamily="34" charset="-120"/>
              </a:rPr>
              <a:t>② actualMethod(args)</a:t>
            </a:r>
            <a:endParaRPr lang="en-US" sz="1333" kern="1200" dirty="0">
              <a:solidFill>
                <a:prstClr val="black"/>
              </a:solidFill>
              <a:latin typeface="Calibri" panose="020F0502020204030204"/>
              <a:ea typeface="+mn-ea"/>
              <a:cs typeface="+mn-cs"/>
            </a:endParaRPr>
          </a:p>
        </p:txBody>
      </p:sp>
      <p:sp>
        <p:nvSpPr>
          <p:cNvPr id="16" name="Text 14"/>
          <p:cNvSpPr/>
          <p:nvPr/>
        </p:nvSpPr>
        <p:spPr>
          <a:xfrm>
            <a:off x="1462658" y="4815479"/>
            <a:ext cx="4753642" cy="548497"/>
          </a:xfrm>
          <a:prstGeom prst="rect">
            <a:avLst/>
          </a:prstGeom>
          <a:noFill/>
          <a:ln/>
        </p:spPr>
        <p:txBody>
          <a:bodyPr wrap="square" lIns="0" tIns="0" rIns="0" bIns="0" rtlCol="0" anchor="ctr"/>
          <a:lstStyle/>
          <a:p>
            <a:pPr algn="ctr" defTabSz="1218895">
              <a:buClrTx/>
            </a:pPr>
            <a:r>
              <a:rPr lang="en-US" sz="1200" kern="1200" dirty="0">
                <a:solidFill>
                  <a:srgbClr val="94A3B8"/>
                </a:solidFill>
                <a:latin typeface="Calibri" pitchFamily="34" charset="0"/>
                <a:ea typeface="Calibri" pitchFamily="34" charset="-122"/>
                <a:cs typeface="Calibri" pitchFamily="34" charset="-120"/>
              </a:rPr>
              <a:t>handles the BTP request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7435183" y="2804323"/>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6"/>
          <p:cNvSpPr/>
          <p:nvPr/>
        </p:nvSpPr>
        <p:spPr>
          <a:xfrm>
            <a:off x="7435183" y="2804323"/>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630204" y="2840889"/>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Enabled via tsconfig</a:t>
            </a:r>
            <a:endParaRPr lang="en-US" sz="1266" kern="1200" dirty="0">
              <a:solidFill>
                <a:prstClr val="black"/>
              </a:solidFill>
              <a:latin typeface="Calibri" panose="020F0502020204030204"/>
              <a:ea typeface="+mn-ea"/>
              <a:cs typeface="+mn-cs"/>
            </a:endParaRPr>
          </a:p>
        </p:txBody>
      </p:sp>
      <p:sp>
        <p:nvSpPr>
          <p:cNvPr id="20" name="Text 18"/>
          <p:cNvSpPr/>
          <p:nvPr/>
        </p:nvSpPr>
        <p:spPr>
          <a:xfrm>
            <a:off x="7630204" y="3133421"/>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Set "experimentalDecorators": true and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"emitDecoratorMetadata": true in tsconfig.json</a:t>
            </a:r>
            <a:endParaRPr lang="en-US" sz="1133" kern="1200" dirty="0">
              <a:solidFill>
                <a:prstClr val="black"/>
              </a:solidFill>
              <a:latin typeface="Calibri" panose="020F0502020204030204"/>
              <a:ea typeface="+mn-ea"/>
              <a:cs typeface="+mn-cs"/>
            </a:endParaRPr>
          </a:p>
        </p:txBody>
      </p:sp>
      <p:sp>
        <p:nvSpPr>
          <p:cNvPr id="21" name="Shape 19"/>
          <p:cNvSpPr/>
          <p:nvPr/>
        </p:nvSpPr>
        <p:spPr>
          <a:xfrm>
            <a:off x="7435183" y="3706296"/>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7435183" y="3706296"/>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7630204" y="3742862"/>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Method decorator signature</a:t>
            </a:r>
            <a:endParaRPr lang="en-US" sz="1266" kern="1200" dirty="0">
              <a:solidFill>
                <a:prstClr val="black"/>
              </a:solidFill>
              <a:latin typeface="Calibri" panose="020F0502020204030204"/>
              <a:ea typeface="+mn-ea"/>
              <a:cs typeface="+mn-cs"/>
            </a:endParaRPr>
          </a:p>
        </p:txBody>
      </p:sp>
      <p:sp>
        <p:nvSpPr>
          <p:cNvPr id="24" name="Text 22"/>
          <p:cNvSpPr/>
          <p:nvPr/>
        </p:nvSpPr>
        <p:spPr>
          <a:xfrm>
            <a:off x="7630204" y="4035394"/>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(target: any, key: string,</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 descriptor: PropertyDescriptor) =&gt; void</a:t>
            </a:r>
            <a:endParaRPr lang="en-US" sz="1133" kern="1200" dirty="0">
              <a:solidFill>
                <a:prstClr val="black"/>
              </a:solidFill>
              <a:latin typeface="Calibri" panose="020F0502020204030204"/>
              <a:ea typeface="+mn-ea"/>
              <a:cs typeface="+mn-cs"/>
            </a:endParaRPr>
          </a:p>
        </p:txBody>
      </p:sp>
      <p:sp>
        <p:nvSpPr>
          <p:cNvPr id="25" name="Shape 23"/>
          <p:cNvSpPr/>
          <p:nvPr/>
        </p:nvSpPr>
        <p:spPr>
          <a:xfrm>
            <a:off x="7435183" y="4608269"/>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Shape 24"/>
          <p:cNvSpPr/>
          <p:nvPr/>
        </p:nvSpPr>
        <p:spPr>
          <a:xfrm>
            <a:off x="7435183" y="4608269"/>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7630204" y="4644835"/>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No JS equivalent</a:t>
            </a:r>
            <a:endParaRPr lang="en-US" sz="1266" kern="1200" dirty="0">
              <a:solidFill>
                <a:prstClr val="black"/>
              </a:solidFill>
              <a:latin typeface="Calibri" panose="020F0502020204030204"/>
              <a:ea typeface="+mn-ea"/>
              <a:cs typeface="+mn-cs"/>
            </a:endParaRPr>
          </a:p>
        </p:txBody>
      </p:sp>
      <p:sp>
        <p:nvSpPr>
          <p:cNvPr id="28" name="Text 26"/>
          <p:cNvSpPr/>
          <p:nvPr/>
        </p:nvSpPr>
        <p:spPr>
          <a:xfrm>
            <a:off x="7630204" y="4937367"/>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JS class decorators (TC39) are Stage 3 and behave differently — TS decorators are the established pattern for CAP services today.</a:t>
            </a:r>
            <a:endParaRPr lang="en-US" sz="1133" kern="1200" dirty="0">
              <a:solidFill>
                <a:prstClr val="black"/>
              </a:solidFill>
              <a:latin typeface="Calibri" panose="020F0502020204030204"/>
              <a:ea typeface="+mn-ea"/>
              <a:cs typeface="+mn-cs"/>
            </a:endParaRPr>
          </a:p>
        </p:txBody>
      </p:sp>
      <p:sp>
        <p:nvSpPr>
          <p:cNvPr id="29" name="Shape 27"/>
          <p:cNvSpPr/>
          <p:nvPr/>
        </p:nvSpPr>
        <p:spPr>
          <a:xfrm>
            <a:off x="7435183" y="5510242"/>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8"/>
          <p:cNvSpPr/>
          <p:nvPr/>
        </p:nvSpPr>
        <p:spPr>
          <a:xfrm>
            <a:off x="7435183" y="5510242"/>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7630204" y="5546808"/>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Common BTP uses</a:t>
            </a:r>
            <a:endParaRPr lang="en-US" sz="1266" kern="1200" dirty="0">
              <a:solidFill>
                <a:prstClr val="black"/>
              </a:solidFill>
              <a:latin typeface="Calibri" panose="020F0502020204030204"/>
              <a:ea typeface="+mn-ea"/>
              <a:cs typeface="+mn-cs"/>
            </a:endParaRPr>
          </a:p>
        </p:txBody>
      </p:sp>
      <p:sp>
        <p:nvSpPr>
          <p:cNvPr id="32" name="Text 30"/>
          <p:cNvSpPr/>
          <p:nvPr/>
        </p:nvSpPr>
        <p:spPr>
          <a:xfrm>
            <a:off x="7630204" y="5839340"/>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Request logging, auth checks, performance timing, caching, retry logic — all without polluting handler code.</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D7493829-BD80-B6F1-E2FE-5F9C99B48EF7}"/>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Decorator Anatomy — Step by Step</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How a method decorator is constructed and applied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5606860"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Anatomy of a Method Decorator</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5606860" cy="482677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338705" cy="4607376"/>
          </a:xfrm>
          <a:prstGeom prst="rect">
            <a:avLst/>
          </a:prstGeom>
          <a:noFill/>
          <a:ln/>
        </p:spPr>
        <p:txBody>
          <a:bodyPr wrap="square" lIns="0" tIns="0" rIns="0" bIns="0" rtlCol="0" anchor="t"/>
          <a:lstStyle/>
          <a:p>
            <a:pPr defTabSz="1218895">
              <a:buClrTx/>
            </a:pPr>
            <a:r>
              <a:rPr lang="en-US" sz="1173" kern="1200" dirty="0">
                <a:solidFill>
                  <a:srgbClr val="64748B"/>
                </a:solidFill>
                <a:latin typeface="Consolas" pitchFamily="34" charset="0"/>
                <a:ea typeface="Consolas" pitchFamily="34" charset="-122"/>
                <a:cs typeface="Consolas" pitchFamily="34" charset="-120"/>
              </a:rPr>
              <a:t>// A decorator factory (takes options)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function LogRequest(options?: LogOpts)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 outer fn: creates the decorator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return function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target: object,         // ①</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methodName: string,     // ②</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descriptor: PropertyDescriptor // ③</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④ save original method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original = descriptor.value;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⑤ replace with wrapped version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descriptor.value = function(...args: unknown[])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t0 = Date.now();</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result = original.apply(this,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ms = Date.now() - t0;</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${ms}ms`);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descriptor;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362566" y="1402608"/>
            <a:ext cx="5484971"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What each argument means</a:t>
            </a:r>
            <a:endParaRPr lang="en-US" sz="1600" kern="1200" dirty="0">
              <a:solidFill>
                <a:prstClr val="black"/>
              </a:solidFill>
              <a:latin typeface="Calibri" panose="020F0502020204030204"/>
              <a:ea typeface="+mn-ea"/>
              <a:cs typeface="+mn-cs"/>
            </a:endParaRPr>
          </a:p>
        </p:txBody>
      </p:sp>
      <p:sp>
        <p:nvSpPr>
          <p:cNvPr id="10" name="Shape 8"/>
          <p:cNvSpPr/>
          <p:nvPr/>
        </p:nvSpPr>
        <p:spPr>
          <a:xfrm>
            <a:off x="6362566" y="1829217"/>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362566" y="1829217"/>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①</a:t>
            </a:r>
            <a:endParaRPr lang="en-US" sz="1466" kern="1200" dirty="0">
              <a:solidFill>
                <a:prstClr val="black"/>
              </a:solidFill>
              <a:latin typeface="Calibri" panose="020F0502020204030204"/>
              <a:ea typeface="+mn-ea"/>
              <a:cs typeface="+mn-cs"/>
            </a:endParaRPr>
          </a:p>
        </p:txBody>
      </p:sp>
      <p:sp>
        <p:nvSpPr>
          <p:cNvPr id="12" name="Text 10"/>
          <p:cNvSpPr/>
          <p:nvPr/>
        </p:nvSpPr>
        <p:spPr>
          <a:xfrm>
            <a:off x="6923252" y="1829217"/>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target</a:t>
            </a:r>
            <a:endParaRPr lang="en-US" sz="1333" kern="1200" dirty="0">
              <a:solidFill>
                <a:prstClr val="black"/>
              </a:solidFill>
              <a:latin typeface="Calibri" panose="020F0502020204030204"/>
              <a:ea typeface="+mn-ea"/>
              <a:cs typeface="+mn-cs"/>
            </a:endParaRPr>
          </a:p>
        </p:txBody>
      </p:sp>
      <p:sp>
        <p:nvSpPr>
          <p:cNvPr id="13" name="Text 11"/>
          <p:cNvSpPr/>
          <p:nvPr/>
        </p:nvSpPr>
        <p:spPr>
          <a:xfrm>
            <a:off x="6923252" y="209737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prototype of the class (or constructor for static methods). Rarely used directly.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62566" y="276775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362566" y="276775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②</a:t>
            </a:r>
            <a:endParaRPr lang="en-US" sz="1466" kern="1200" dirty="0">
              <a:solidFill>
                <a:prstClr val="black"/>
              </a:solidFill>
              <a:latin typeface="Calibri" panose="020F0502020204030204"/>
              <a:ea typeface="+mn-ea"/>
              <a:cs typeface="+mn-cs"/>
            </a:endParaRPr>
          </a:p>
        </p:txBody>
      </p:sp>
      <p:sp>
        <p:nvSpPr>
          <p:cNvPr id="16" name="Text 14"/>
          <p:cNvSpPr/>
          <p:nvPr/>
        </p:nvSpPr>
        <p:spPr>
          <a:xfrm>
            <a:off x="6923252" y="276775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methodName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23252" y="303591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String name of the decorated method — use for logging, error messages.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62566" y="370629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362566" y="370629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③</a:t>
            </a:r>
            <a:endParaRPr lang="en-US" sz="1466" kern="1200" dirty="0">
              <a:solidFill>
                <a:prstClr val="black"/>
              </a:solidFill>
              <a:latin typeface="Calibri" panose="020F0502020204030204"/>
              <a:ea typeface="+mn-ea"/>
              <a:cs typeface="+mn-cs"/>
            </a:endParaRPr>
          </a:p>
        </p:txBody>
      </p:sp>
      <p:sp>
        <p:nvSpPr>
          <p:cNvPr id="20" name="Text 18"/>
          <p:cNvSpPr/>
          <p:nvPr/>
        </p:nvSpPr>
        <p:spPr>
          <a:xfrm>
            <a:off x="6923252" y="370629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a:t>
            </a:r>
            <a:endParaRPr lang="en-US" sz="1333" kern="1200" dirty="0">
              <a:solidFill>
                <a:prstClr val="black"/>
              </a:solidFill>
              <a:latin typeface="Calibri" panose="020F0502020204030204"/>
              <a:ea typeface="+mn-ea"/>
              <a:cs typeface="+mn-cs"/>
            </a:endParaRPr>
          </a:p>
        </p:txBody>
      </p:sp>
      <p:sp>
        <p:nvSpPr>
          <p:cNvPr id="21" name="Text 19"/>
          <p:cNvSpPr/>
          <p:nvPr/>
        </p:nvSpPr>
        <p:spPr>
          <a:xfrm>
            <a:off x="6923252" y="397445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PropertyDescriptor containing the .value (the original function). Replace .value to wrap it.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62566" y="464483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362566" y="464483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④</a:t>
            </a:r>
            <a:endParaRPr lang="en-US" sz="1466" kern="1200" dirty="0">
              <a:solidFill>
                <a:prstClr val="black"/>
              </a:solidFill>
              <a:latin typeface="Calibri" panose="020F0502020204030204"/>
              <a:ea typeface="+mn-ea"/>
              <a:cs typeface="+mn-cs"/>
            </a:endParaRPr>
          </a:p>
        </p:txBody>
      </p:sp>
      <p:sp>
        <p:nvSpPr>
          <p:cNvPr id="24" name="Text 22"/>
          <p:cNvSpPr/>
          <p:nvPr/>
        </p:nvSpPr>
        <p:spPr>
          <a:xfrm>
            <a:off x="6923252" y="464483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original</a:t>
            </a:r>
            <a:endParaRPr lang="en-US" sz="1333" kern="1200" dirty="0">
              <a:solidFill>
                <a:prstClr val="black"/>
              </a:solidFill>
              <a:latin typeface="Calibri" panose="020F0502020204030204"/>
              <a:ea typeface="+mn-ea"/>
              <a:cs typeface="+mn-cs"/>
            </a:endParaRPr>
          </a:p>
        </p:txBody>
      </p:sp>
      <p:sp>
        <p:nvSpPr>
          <p:cNvPr id="25" name="Text 23"/>
          <p:cNvSpPr/>
          <p:nvPr/>
        </p:nvSpPr>
        <p:spPr>
          <a:xfrm>
            <a:off x="6923252" y="491299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Reference to the unmodified method — call it via .apply(this, args) to preserve the correct 'this'.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62566" y="558337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362566" y="558337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⑤</a:t>
            </a:r>
            <a:endParaRPr lang="en-US" sz="1466" kern="1200" dirty="0">
              <a:solidFill>
                <a:prstClr val="black"/>
              </a:solidFill>
              <a:latin typeface="Calibri" panose="020F0502020204030204"/>
              <a:ea typeface="+mn-ea"/>
              <a:cs typeface="+mn-cs"/>
            </a:endParaRPr>
          </a:p>
        </p:txBody>
      </p:sp>
      <p:sp>
        <p:nvSpPr>
          <p:cNvPr id="28" name="Text 26"/>
          <p:cNvSpPr/>
          <p:nvPr/>
        </p:nvSpPr>
        <p:spPr>
          <a:xfrm>
            <a:off x="6923252" y="558337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descriptor.value = …</a:t>
            </a:r>
            <a:endParaRPr lang="en-US" sz="1333" kern="1200" dirty="0">
              <a:solidFill>
                <a:prstClr val="black"/>
              </a:solidFill>
              <a:latin typeface="Calibri" panose="020F0502020204030204"/>
              <a:ea typeface="+mn-ea"/>
              <a:cs typeface="+mn-cs"/>
            </a:endParaRPr>
          </a:p>
        </p:txBody>
      </p:sp>
      <p:sp>
        <p:nvSpPr>
          <p:cNvPr id="29" name="Text 27"/>
          <p:cNvSpPr/>
          <p:nvPr/>
        </p:nvSpPr>
        <p:spPr>
          <a:xfrm>
            <a:off x="6923252" y="5851529"/>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Assign the new wrapper function here. This is what callers will now invoke.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3" y="6485348"/>
            <a:ext cx="11213719" cy="243777"/>
          </a:xfrm>
          <a:prstGeom prst="rect">
            <a:avLst/>
          </a:prstGeom>
          <a:solidFill>
            <a:srgbClr val="FEF9C3"/>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09441" y="6497537"/>
            <a:ext cx="10969943" cy="219399"/>
          </a:xfrm>
          <a:prstGeom prst="rect">
            <a:avLst/>
          </a:prstGeom>
          <a:noFill/>
          <a:ln/>
        </p:spPr>
        <p:txBody>
          <a:bodyPr wrap="square" lIns="0" tIns="0" rIns="0" bIns="0" rtlCol="0" anchor="ctr"/>
          <a:lstStyle/>
          <a:p>
            <a:pPr defTabSz="1218895">
              <a:buClrTx/>
            </a:pPr>
            <a:r>
              <a:rPr lang="en-US" sz="1200" kern="1200" dirty="0">
                <a:solidFill>
                  <a:srgbClr val="92400E"/>
                </a:solidFill>
                <a:latin typeface="Calibri" pitchFamily="34" charset="0"/>
                <a:ea typeface="Calibri" pitchFamily="34" charset="-122"/>
                <a:cs typeface="Calibri" pitchFamily="34" charset="-120"/>
              </a:rPr>
              <a:t>⚠  tsconfig.json must have: "experimentalDecorators": true, "emitDecoratorMetadata": true</a:t>
            </a:r>
            <a:endParaRPr lang="en-US" sz="1200"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ADF25599-6142-2875-37FE-127FD129A4ED}"/>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@LogRequest on a CAP Handler</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exercises/cap-handler.ts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cap-handler.ts  —  Before (no decorator)</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216817"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business logic only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cap-handler.ts  —  After (@LogRequest applied)</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8"/>
            <a:ext cx="5338705"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'info'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'debug'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449814"/>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Full @LogRequest Implementation</a:t>
            </a:r>
            <a:endParaRPr lang="en-US" sz="1600" kern="1200" dirty="0">
              <a:solidFill>
                <a:prstClr val="black"/>
              </a:solidFill>
              <a:latin typeface="Calibri" panose="020F0502020204030204"/>
              <a:ea typeface="+mn-ea"/>
              <a:cs typeface="+mn-cs"/>
            </a:endParaRPr>
          </a:p>
        </p:txBody>
      </p:sp>
      <p:sp>
        <p:nvSpPr>
          <p:cNvPr id="13" name="Shape 11"/>
          <p:cNvSpPr/>
          <p:nvPr/>
        </p:nvSpPr>
        <p:spPr>
          <a:xfrm>
            <a:off x="487553" y="4839856"/>
            <a:ext cx="11213719" cy="188926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4961745"/>
            <a:ext cx="10945565" cy="166986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LogOpts { level?: 'info' | 'debug' | 'warn';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LogRequest(opts: LogOpts =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(_target: object, methodName: string, descriptor: PropertyDescriptor)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original: (...args: unknown[]) =&gt; unknown = descriptor.value;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descriptor.value = async function (...args: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t0 = Date.now();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 args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await original.apply(this, args);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${Date.now()-t0}ms`);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return result;  };  return descriptor;  }; }</a:t>
            </a:r>
            <a:endParaRPr lang="en-US" sz="1200"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1122E79D-1E8E-0B84-87BD-D9AB0060413B}"/>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Runtime Execution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Flowchart  ·  What happens when a decorated method is called</a:t>
            </a:r>
            <a:endParaRPr lang="en-US" sz="1466" kern="1200" dirty="0">
              <a:solidFill>
                <a:prstClr val="black"/>
              </a:solidFill>
              <a:latin typeface="Calibri" panose="020F0502020204030204"/>
              <a:ea typeface="+mn-ea"/>
              <a:cs typeface="+mn-cs"/>
            </a:endParaRPr>
          </a:p>
        </p:txBody>
      </p:sp>
      <p:sp>
        <p:nvSpPr>
          <p:cNvPr id="6" name="Shape 4"/>
          <p:cNvSpPr/>
          <p:nvPr/>
        </p:nvSpPr>
        <p:spPr>
          <a:xfrm>
            <a:off x="609441" y="1439174"/>
            <a:ext cx="6703854" cy="755707"/>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1536685"/>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536685"/>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9" name="Text 7"/>
          <p:cNvSpPr/>
          <p:nvPr/>
        </p:nvSpPr>
        <p:spPr>
          <a:xfrm>
            <a:off x="1292015" y="143917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CAP Framework calls  handler.onCreate(req)</a:t>
            </a:r>
            <a:endParaRPr lang="en-US" sz="1466" kern="1200" dirty="0">
              <a:solidFill>
                <a:prstClr val="black"/>
              </a:solidFill>
              <a:latin typeface="Calibri" panose="020F0502020204030204"/>
              <a:ea typeface="+mn-ea"/>
              <a:cs typeface="+mn-cs"/>
            </a:endParaRPr>
          </a:p>
        </p:txBody>
      </p:sp>
      <p:sp>
        <p:nvSpPr>
          <p:cNvPr id="10" name="Shape 8"/>
          <p:cNvSpPr/>
          <p:nvPr/>
        </p:nvSpPr>
        <p:spPr>
          <a:xfrm>
            <a:off x="3351926" y="2194882"/>
            <a:ext cx="0" cy="341287"/>
          </a:xfrm>
          <a:prstGeom prst="line">
            <a:avLst/>
          </a:prstGeom>
          <a:noFill/>
          <a:ln w="25400">
            <a:solidFill>
              <a:srgbClr val="334155"/>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3193472" y="2268014"/>
            <a:ext cx="316909" cy="268154"/>
          </a:xfrm>
          <a:prstGeom prst="rect">
            <a:avLst/>
          </a:prstGeom>
          <a:noFill/>
          <a:ln/>
        </p:spPr>
        <p:txBody>
          <a:bodyPr wrap="square" lIns="0" tIns="0" rIns="0" bIns="0" rtlCol="0" anchor="ctr"/>
          <a:lstStyle/>
          <a:p>
            <a:pPr defTabSz="1218895">
              <a:buClrTx/>
            </a:pPr>
            <a:r>
              <a:rPr lang="en-US" sz="1466" kern="1200" dirty="0">
                <a:solidFill>
                  <a:srgbClr val="334155"/>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09441" y="2353336"/>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09441" y="2450847"/>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2450847"/>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5" name="Text 13"/>
          <p:cNvSpPr/>
          <p:nvPr/>
        </p:nvSpPr>
        <p:spPr>
          <a:xfrm>
            <a:off x="1292015" y="2353336"/>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Decorator wrapper intercepts the call</a:t>
            </a:r>
            <a:endParaRPr lang="en-US" sz="1466" kern="1200" dirty="0">
              <a:solidFill>
                <a:prstClr val="black"/>
              </a:solidFill>
              <a:latin typeface="Calibri" panose="020F0502020204030204"/>
              <a:ea typeface="+mn-ea"/>
              <a:cs typeface="+mn-cs"/>
            </a:endParaRPr>
          </a:p>
        </p:txBody>
      </p:sp>
      <p:sp>
        <p:nvSpPr>
          <p:cNvPr id="16" name="Shape 14"/>
          <p:cNvSpPr/>
          <p:nvPr/>
        </p:nvSpPr>
        <p:spPr>
          <a:xfrm>
            <a:off x="3351926" y="3109043"/>
            <a:ext cx="0" cy="341287"/>
          </a:xfrm>
          <a:prstGeom prst="line">
            <a:avLst/>
          </a:prstGeom>
          <a:no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3193472" y="3182176"/>
            <a:ext cx="316909" cy="268154"/>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8" name="Shape 16"/>
          <p:cNvSpPr/>
          <p:nvPr/>
        </p:nvSpPr>
        <p:spPr>
          <a:xfrm>
            <a:off x="609441" y="3267498"/>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09441" y="3365009"/>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365009"/>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21" name="Text 19"/>
          <p:cNvSpPr/>
          <p:nvPr/>
        </p:nvSpPr>
        <p:spPr>
          <a:xfrm>
            <a:off x="1292015" y="3267498"/>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method name + arguments  →  console</a:t>
            </a:r>
            <a:endParaRPr lang="en-US" sz="1466" kern="1200" dirty="0">
              <a:solidFill>
                <a:prstClr val="black"/>
              </a:solidFill>
              <a:latin typeface="Calibri" panose="020F0502020204030204"/>
              <a:ea typeface="+mn-ea"/>
              <a:cs typeface="+mn-cs"/>
            </a:endParaRPr>
          </a:p>
        </p:txBody>
      </p:sp>
      <p:sp>
        <p:nvSpPr>
          <p:cNvPr id="22" name="Shape 20"/>
          <p:cNvSpPr/>
          <p:nvPr/>
        </p:nvSpPr>
        <p:spPr>
          <a:xfrm>
            <a:off x="3351926" y="4023205"/>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3193472" y="4096338"/>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4" name="Shape 22"/>
          <p:cNvSpPr/>
          <p:nvPr/>
        </p:nvSpPr>
        <p:spPr>
          <a:xfrm>
            <a:off x="609441" y="4181660"/>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09441" y="4279171"/>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4279171"/>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7" name="Text 25"/>
          <p:cNvSpPr/>
          <p:nvPr/>
        </p:nvSpPr>
        <p:spPr>
          <a:xfrm>
            <a:off x="1292015" y="4181660"/>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Record start time  t0 = Date.now()</a:t>
            </a:r>
            <a:endParaRPr lang="en-US" sz="1466" kern="1200" dirty="0">
              <a:solidFill>
                <a:prstClr val="black"/>
              </a:solidFill>
              <a:latin typeface="Calibri" panose="020F0502020204030204"/>
              <a:ea typeface="+mn-ea"/>
              <a:cs typeface="+mn-cs"/>
            </a:endParaRPr>
          </a:p>
        </p:txBody>
      </p:sp>
      <p:sp>
        <p:nvSpPr>
          <p:cNvPr id="28" name="Shape 26"/>
          <p:cNvSpPr/>
          <p:nvPr/>
        </p:nvSpPr>
        <p:spPr>
          <a:xfrm>
            <a:off x="3351926" y="4937367"/>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3193472" y="5010500"/>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0" name="Shape 28"/>
          <p:cNvSpPr/>
          <p:nvPr/>
        </p:nvSpPr>
        <p:spPr>
          <a:xfrm>
            <a:off x="609441" y="5095822"/>
            <a:ext cx="6703854" cy="755707"/>
          </a:xfrm>
          <a:prstGeom prst="rect">
            <a:avLst/>
          </a:prstGeom>
          <a:solidFill>
            <a:srgbClr val="1E293B"/>
          </a:solidFill>
          <a:ln w="12700">
            <a:solidFill>
              <a:srgbClr val="1E293B"/>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09441" y="5193332"/>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5193332"/>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33" name="Text 31"/>
          <p:cNvSpPr/>
          <p:nvPr/>
        </p:nvSpPr>
        <p:spPr>
          <a:xfrm>
            <a:off x="1292015" y="5095822"/>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Call original method:  original.apply(this, args)</a:t>
            </a:r>
            <a:endParaRPr lang="en-US" sz="1466" kern="1200" dirty="0">
              <a:solidFill>
                <a:prstClr val="black"/>
              </a:solidFill>
              <a:latin typeface="Calibri" panose="020F0502020204030204"/>
              <a:ea typeface="+mn-ea"/>
              <a:cs typeface="+mn-cs"/>
            </a:endParaRPr>
          </a:p>
        </p:txBody>
      </p:sp>
      <p:sp>
        <p:nvSpPr>
          <p:cNvPr id="34" name="Shape 32"/>
          <p:cNvSpPr/>
          <p:nvPr/>
        </p:nvSpPr>
        <p:spPr>
          <a:xfrm>
            <a:off x="3351926" y="5851529"/>
            <a:ext cx="0" cy="341287"/>
          </a:xfrm>
          <a:prstGeom prst="line">
            <a:avLst/>
          </a:prstGeom>
          <a:noFill/>
          <a:ln w="254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Text 33"/>
          <p:cNvSpPr/>
          <p:nvPr/>
        </p:nvSpPr>
        <p:spPr>
          <a:xfrm>
            <a:off x="3193472" y="5924662"/>
            <a:ext cx="316909" cy="268154"/>
          </a:xfrm>
          <a:prstGeom prst="rect">
            <a:avLst/>
          </a:prstGeom>
          <a:noFill/>
          <a:ln/>
        </p:spPr>
        <p:txBody>
          <a:bodyPr wrap="square" lIns="0" tIns="0" rIns="0" bIns="0" rtlCol="0" anchor="ctr"/>
          <a:lstStyle/>
          <a:p>
            <a:pPr defTabSz="1218895">
              <a:buClrTx/>
            </a:pPr>
            <a:r>
              <a:rPr lang="en-US" sz="1466" kern="1200" dirty="0">
                <a:solidFill>
                  <a:srgbClr val="1E293B"/>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6" name="Shape 34"/>
          <p:cNvSpPr/>
          <p:nvPr/>
        </p:nvSpPr>
        <p:spPr>
          <a:xfrm>
            <a:off x="609441" y="6009984"/>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09441" y="6107494"/>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107494"/>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6</a:t>
            </a:r>
            <a:endParaRPr lang="en-US" sz="1733" kern="1200" dirty="0">
              <a:solidFill>
                <a:prstClr val="black"/>
              </a:solidFill>
              <a:latin typeface="Calibri" panose="020F0502020204030204"/>
              <a:ea typeface="+mn-ea"/>
              <a:cs typeface="+mn-cs"/>
            </a:endParaRPr>
          </a:p>
        </p:txBody>
      </p:sp>
      <p:sp>
        <p:nvSpPr>
          <p:cNvPr id="39" name="Text 37"/>
          <p:cNvSpPr/>
          <p:nvPr/>
        </p:nvSpPr>
        <p:spPr>
          <a:xfrm>
            <a:off x="1292015" y="600998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execution time  (Date.now() - t0) ms</a:t>
            </a:r>
            <a:endParaRPr lang="en-US" sz="1466" kern="1200" dirty="0">
              <a:solidFill>
                <a:prstClr val="black"/>
              </a:solidFill>
              <a:latin typeface="Calibri" panose="020F0502020204030204"/>
              <a:ea typeface="+mn-ea"/>
              <a:cs typeface="+mn-cs"/>
            </a:endParaRPr>
          </a:p>
        </p:txBody>
      </p:sp>
      <p:sp>
        <p:nvSpPr>
          <p:cNvPr id="40" name="Text 38"/>
          <p:cNvSpPr/>
          <p:nvPr/>
        </p:nvSpPr>
        <p:spPr>
          <a:xfrm>
            <a:off x="7557071" y="1439174"/>
            <a:ext cx="4387977"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Expected Console Output</a:t>
            </a:r>
            <a:endParaRPr lang="en-US" sz="1600" kern="1200" dirty="0">
              <a:solidFill>
                <a:prstClr val="black"/>
              </a:solidFill>
              <a:latin typeface="Calibri" panose="020F0502020204030204"/>
              <a:ea typeface="+mn-ea"/>
              <a:cs typeface="+mn-cs"/>
            </a:endParaRPr>
          </a:p>
        </p:txBody>
      </p:sp>
      <p:sp>
        <p:nvSpPr>
          <p:cNvPr id="41" name="Shape 39"/>
          <p:cNvSpPr/>
          <p:nvPr/>
        </p:nvSpPr>
        <p:spPr>
          <a:xfrm>
            <a:off x="7557071" y="1829217"/>
            <a:ext cx="4387977" cy="2864374"/>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7739903" y="1951105"/>
            <a:ext cx="4119823" cy="2644975"/>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node server.js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entity: 'Orders',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data: { amount: 500 }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  42ms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query: SELECT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  8ms</a:t>
            </a:r>
            <a:endParaRPr lang="en-US" sz="1200" kern="1200" dirty="0">
              <a:solidFill>
                <a:prstClr val="black"/>
              </a:solidFill>
              <a:latin typeface="Calibri" panose="020F0502020204030204"/>
              <a:ea typeface="+mn-ea"/>
              <a:cs typeface="+mn-cs"/>
            </a:endParaRPr>
          </a:p>
        </p:txBody>
      </p:sp>
      <p:sp>
        <p:nvSpPr>
          <p:cNvPr id="43" name="Shape 41"/>
          <p:cNvSpPr/>
          <p:nvPr/>
        </p:nvSpPr>
        <p:spPr>
          <a:xfrm>
            <a:off x="7557071" y="4778912"/>
            <a:ext cx="4387977" cy="2011156"/>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4" name="Text 42"/>
          <p:cNvSpPr/>
          <p:nvPr/>
        </p:nvSpPr>
        <p:spPr>
          <a:xfrm>
            <a:off x="7678959" y="4839857"/>
            <a:ext cx="4144201" cy="34128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Why this matters for CAP</a:t>
            </a:r>
            <a:endParaRPr lang="en-US" kern="1200" dirty="0">
              <a:solidFill>
                <a:prstClr val="black"/>
              </a:solidFill>
              <a:latin typeface="Calibri" panose="020F0502020204030204"/>
              <a:ea typeface="+mn-ea"/>
              <a:cs typeface="+mn-cs"/>
            </a:endParaRPr>
          </a:p>
        </p:txBody>
      </p:sp>
      <p:sp>
        <p:nvSpPr>
          <p:cNvPr id="45" name="Text 43"/>
          <p:cNvSpPr/>
          <p:nvPr/>
        </p:nvSpPr>
        <p:spPr>
          <a:xfrm>
            <a:off x="7678959" y="5217710"/>
            <a:ext cx="4144201" cy="1462659"/>
          </a:xfrm>
          <a:prstGeom prst="rect">
            <a:avLst/>
          </a:prstGeom>
          <a:noFill/>
          <a:ln/>
        </p:spPr>
        <p:txBody>
          <a:bodyPr wrap="square" lIns="0" tIns="0" rIns="0" bIns="0" rtlCol="0" anchor="ctr"/>
          <a:lstStyle/>
          <a:p>
            <a:pPr defTabSz="1218895">
              <a:buClrTx/>
            </a:pP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Performance monitoring for every handler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Auth checks before business logic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Retry logic, caching — all injected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Zero changes to handler code</a:t>
            </a:r>
            <a:endParaRPr lang="en-US" sz="1333" kern="1200" dirty="0">
              <a:solidFill>
                <a:prstClr val="black"/>
              </a:solidFill>
              <a:latin typeface="Calibri" panose="020F0502020204030204"/>
              <a:ea typeface="+mn-ea"/>
              <a:cs typeface="+mn-cs"/>
            </a:endParaRPr>
          </a:p>
        </p:txBody>
      </p:sp>
      <p:pic>
        <p:nvPicPr>
          <p:cNvPr id="46" name="Google Shape;497;p1">
            <a:extLst>
              <a:ext uri="{FF2B5EF4-FFF2-40B4-BE49-F238E27FC236}">
                <a16:creationId xmlns:a16="http://schemas.microsoft.com/office/drawing/2014/main" id="{1CCB4776-BA58-FE65-ABA1-BFA934C07686}"/>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Utility Types: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Deriving new types from existing ones without duplication</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D9770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BTP projects you often need multiple variants of the same entity — a full version for reads, a subset for creates, an all-optional version for updates. Writing each as a separate interface leads to </a:t>
            </a:r>
            <a:r>
              <a:rPr lang="en-US" sz="1533" b="1" kern="1200" dirty="0">
                <a:solidFill>
                  <a:srgbClr val="DC2626"/>
                </a:solidFill>
                <a:latin typeface="Calibri" pitchFamily="34" charset="0"/>
                <a:ea typeface="Calibri" pitchFamily="34" charset="-122"/>
                <a:cs typeface="Calibri" pitchFamily="34" charset="-120"/>
              </a:rPr>
              <a:t>duplication and drift.</a:t>
            </a:r>
            <a:r>
              <a:rPr lang="en-US" sz="1533" kern="1200" dirty="0">
                <a:solidFill>
                  <a:srgbClr val="334155"/>
                </a:solidFill>
                <a:latin typeface="Calibri" pitchFamily="34" charset="0"/>
                <a:ea typeface="Calibri" pitchFamily="34" charset="-122"/>
                <a:cs typeface="Calibri" pitchFamily="34" charset="-120"/>
              </a:rPr>
              <a:t> Utility types solve this by </a:t>
            </a:r>
            <a:r>
              <a:rPr lang="en-US" sz="1533" b="1" kern="1200" dirty="0">
                <a:solidFill>
                  <a:srgbClr val="D97706"/>
                </a:solidFill>
                <a:latin typeface="Calibri" pitchFamily="34" charset="0"/>
                <a:ea typeface="Calibri" pitchFamily="34" charset="-122"/>
                <a:cs typeface="Calibri" pitchFamily="34" charset="-120"/>
              </a:rPr>
              <a:t>deriving new shapes from one source of truth.</a:t>
            </a:r>
            <a:endParaRPr lang="en-US" sz="1533" kern="1200" dirty="0">
              <a:solidFill>
                <a:prstClr val="black"/>
              </a:solidFill>
              <a:latin typeface="Calibri" panose="020F0502020204030204"/>
              <a:ea typeface="+mn-ea"/>
              <a:cs typeface="+mn-cs"/>
            </a:endParaRPr>
          </a:p>
        </p:txBody>
      </p:sp>
      <p:sp>
        <p:nvSpPr>
          <p:cNvPr id="8" name="Shape 6"/>
          <p:cNvSpPr/>
          <p:nvPr/>
        </p:nvSpPr>
        <p:spPr>
          <a:xfrm>
            <a:off x="487552"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87552"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87552"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Readonly&lt;T&gt;</a:t>
            </a:r>
            <a:endParaRPr lang="en-US" sz="1600" kern="1200" dirty="0">
              <a:solidFill>
                <a:prstClr val="black"/>
              </a:solidFill>
              <a:latin typeface="Calibri" panose="020F0502020204030204"/>
              <a:ea typeface="+mn-ea"/>
              <a:cs typeface="+mn-cs"/>
            </a:endParaRPr>
          </a:p>
        </p:txBody>
      </p:sp>
      <p:sp>
        <p:nvSpPr>
          <p:cNvPr id="11" name="Text 9"/>
          <p:cNvSpPr/>
          <p:nvPr/>
        </p:nvSpPr>
        <p:spPr>
          <a:xfrm>
            <a:off x="609441"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immutable (readonly).</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58196"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Readonly&lt;Order&gt;  →  all fields readonly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412354"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412354"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Partial&lt;T&gt;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4534242"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optional (?:).</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534242"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4582998"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Partial&lt;Order&gt;  →  all fields optional</a:t>
            </a:r>
            <a:endParaRPr lang="en-US" sz="1133" kern="1200" dirty="0">
              <a:solidFill>
                <a:prstClr val="black"/>
              </a:solidFill>
              <a:latin typeface="Calibri" panose="020F0502020204030204"/>
              <a:ea typeface="+mn-ea"/>
              <a:cs typeface="+mn-cs"/>
            </a:endParaRPr>
          </a:p>
        </p:txBody>
      </p:sp>
      <p:sp>
        <p:nvSpPr>
          <p:cNvPr id="20" name="Shape 18"/>
          <p:cNvSpPr/>
          <p:nvPr/>
        </p:nvSpPr>
        <p:spPr>
          <a:xfrm>
            <a:off x="8337156"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8337156"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337156"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Required&lt;T&gt;</a:t>
            </a:r>
            <a:endParaRPr lang="en-US" sz="1600" kern="1200" dirty="0">
              <a:solidFill>
                <a:prstClr val="black"/>
              </a:solidFill>
              <a:latin typeface="Calibri" panose="020F0502020204030204"/>
              <a:ea typeface="+mn-ea"/>
              <a:cs typeface="+mn-cs"/>
            </a:endParaRPr>
          </a:p>
        </p:txBody>
      </p:sp>
      <p:sp>
        <p:nvSpPr>
          <p:cNvPr id="23" name="Text 21"/>
          <p:cNvSpPr/>
          <p:nvPr/>
        </p:nvSpPr>
        <p:spPr>
          <a:xfrm>
            <a:off x="8459044"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required (removes ?).</a:t>
            </a:r>
            <a:endParaRPr lang="en-US" sz="1266" kern="1200" dirty="0">
              <a:solidFill>
                <a:prstClr val="black"/>
              </a:solidFill>
              <a:latin typeface="Calibri" panose="020F0502020204030204"/>
              <a:ea typeface="+mn-ea"/>
              <a:cs typeface="+mn-cs"/>
            </a:endParaRPr>
          </a:p>
        </p:txBody>
      </p:sp>
      <p:sp>
        <p:nvSpPr>
          <p:cNvPr id="24" name="Shape 22"/>
          <p:cNvSpPr/>
          <p:nvPr/>
        </p:nvSpPr>
        <p:spPr>
          <a:xfrm>
            <a:off x="8459044"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8507800"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Required&lt;Draft&gt;  →  no optional fields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487552"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487552"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487552"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Omit&lt;T, K&gt;</a:t>
            </a:r>
            <a:endParaRPr lang="en-US" sz="1600" kern="1200" dirty="0">
              <a:solidFill>
                <a:prstClr val="black"/>
              </a:solidFill>
              <a:latin typeface="Calibri" panose="020F0502020204030204"/>
              <a:ea typeface="+mn-ea"/>
              <a:cs typeface="+mn-cs"/>
            </a:endParaRPr>
          </a:p>
        </p:txBody>
      </p:sp>
      <p:sp>
        <p:nvSpPr>
          <p:cNvPr id="29" name="Text 27"/>
          <p:cNvSpPr/>
          <p:nvPr/>
        </p:nvSpPr>
        <p:spPr>
          <a:xfrm>
            <a:off x="609441"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new type excluding named keys K from T.</a:t>
            </a:r>
            <a:endParaRPr lang="en-US" sz="1266" kern="1200" dirty="0">
              <a:solidFill>
                <a:prstClr val="black"/>
              </a:solidFill>
              <a:latin typeface="Calibri" panose="020F0502020204030204"/>
              <a:ea typeface="+mn-ea"/>
              <a:cs typeface="+mn-cs"/>
            </a:endParaRPr>
          </a:p>
        </p:txBody>
      </p:sp>
      <p:sp>
        <p:nvSpPr>
          <p:cNvPr id="30" name="Shape 28"/>
          <p:cNvSpPr/>
          <p:nvPr/>
        </p:nvSpPr>
        <p:spPr>
          <a:xfrm>
            <a:off x="609441"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58196"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Omit&lt;Order,'id'|'createdAt'&gt;  →  CreatePayload</a:t>
            </a:r>
            <a:endParaRPr lang="en-US" sz="1133" kern="1200" dirty="0">
              <a:solidFill>
                <a:prstClr val="black"/>
              </a:solidFill>
              <a:latin typeface="Calibri" panose="020F0502020204030204"/>
              <a:ea typeface="+mn-ea"/>
              <a:cs typeface="+mn-cs"/>
            </a:endParaRPr>
          </a:p>
        </p:txBody>
      </p:sp>
      <p:sp>
        <p:nvSpPr>
          <p:cNvPr id="32" name="Shape 30"/>
          <p:cNvSpPr/>
          <p:nvPr/>
        </p:nvSpPr>
        <p:spPr>
          <a:xfrm>
            <a:off x="4412354"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Shape 31"/>
          <p:cNvSpPr/>
          <p:nvPr/>
        </p:nvSpPr>
        <p:spPr>
          <a:xfrm>
            <a:off x="4412354"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4412354"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Pick&lt;T, K&gt;</a:t>
            </a:r>
            <a:endParaRPr lang="en-US" sz="1600" kern="1200" dirty="0">
              <a:solidFill>
                <a:prstClr val="black"/>
              </a:solidFill>
              <a:latin typeface="Calibri" panose="020F0502020204030204"/>
              <a:ea typeface="+mn-ea"/>
              <a:cs typeface="+mn-cs"/>
            </a:endParaRPr>
          </a:p>
        </p:txBody>
      </p:sp>
      <p:sp>
        <p:nvSpPr>
          <p:cNvPr id="35" name="Text 33"/>
          <p:cNvSpPr/>
          <p:nvPr/>
        </p:nvSpPr>
        <p:spPr>
          <a:xfrm>
            <a:off x="4534242"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only the named keys K from T.</a:t>
            </a:r>
            <a:endParaRPr lang="en-US" sz="1266" kern="1200" dirty="0">
              <a:solidFill>
                <a:prstClr val="black"/>
              </a:solidFill>
              <a:latin typeface="Calibri" panose="020F0502020204030204"/>
              <a:ea typeface="+mn-ea"/>
              <a:cs typeface="+mn-cs"/>
            </a:endParaRPr>
          </a:p>
        </p:txBody>
      </p:sp>
      <p:sp>
        <p:nvSpPr>
          <p:cNvPr id="36" name="Shape 34"/>
          <p:cNvSpPr/>
          <p:nvPr/>
        </p:nvSpPr>
        <p:spPr>
          <a:xfrm>
            <a:off x="4534242"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4582998"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Pick&lt;Order,'id'|'status'&gt;  →  OrderRef</a:t>
            </a:r>
            <a:endParaRPr lang="en-US" sz="1133" kern="1200" dirty="0">
              <a:solidFill>
                <a:prstClr val="black"/>
              </a:solidFill>
              <a:latin typeface="Calibri" panose="020F0502020204030204"/>
              <a:ea typeface="+mn-ea"/>
              <a:cs typeface="+mn-cs"/>
            </a:endParaRPr>
          </a:p>
        </p:txBody>
      </p:sp>
      <p:sp>
        <p:nvSpPr>
          <p:cNvPr id="38" name="Shape 36"/>
          <p:cNvSpPr/>
          <p:nvPr/>
        </p:nvSpPr>
        <p:spPr>
          <a:xfrm>
            <a:off x="8337156"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8337156"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8337156"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Record&lt;K, V&gt;</a:t>
            </a:r>
            <a:endParaRPr lang="en-US" sz="1600" kern="1200" dirty="0">
              <a:solidFill>
                <a:prstClr val="black"/>
              </a:solidFill>
              <a:latin typeface="Calibri" panose="020F0502020204030204"/>
              <a:ea typeface="+mn-ea"/>
              <a:cs typeface="+mn-cs"/>
            </a:endParaRPr>
          </a:p>
        </p:txBody>
      </p:sp>
      <p:sp>
        <p:nvSpPr>
          <p:cNvPr id="41" name="Text 39"/>
          <p:cNvSpPr/>
          <p:nvPr/>
        </p:nvSpPr>
        <p:spPr>
          <a:xfrm>
            <a:off x="8459044"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keys K and values of type V.</a:t>
            </a:r>
            <a:endParaRPr lang="en-US" sz="1266" kern="1200" dirty="0">
              <a:solidFill>
                <a:prstClr val="black"/>
              </a:solidFill>
              <a:latin typeface="Calibri" panose="020F0502020204030204"/>
              <a:ea typeface="+mn-ea"/>
              <a:cs typeface="+mn-cs"/>
            </a:endParaRPr>
          </a:p>
        </p:txBody>
      </p:sp>
      <p:sp>
        <p:nvSpPr>
          <p:cNvPr id="42" name="Shape 40"/>
          <p:cNvSpPr/>
          <p:nvPr/>
        </p:nvSpPr>
        <p:spPr>
          <a:xfrm>
            <a:off x="8459044"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Text 41"/>
          <p:cNvSpPr/>
          <p:nvPr/>
        </p:nvSpPr>
        <p:spPr>
          <a:xfrm>
            <a:off x="8507800"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Record&lt;string, DestConfig&gt;  →  config map</a:t>
            </a:r>
            <a:endParaRPr lang="en-US" sz="1133" kern="1200" dirty="0">
              <a:solidFill>
                <a:prstClr val="black"/>
              </a:solidFill>
              <a:latin typeface="Calibri" panose="020F0502020204030204"/>
              <a:ea typeface="+mn-ea"/>
              <a:cs typeface="+mn-cs"/>
            </a:endParaRPr>
          </a:p>
        </p:txBody>
      </p:sp>
      <p:pic>
        <p:nvPicPr>
          <p:cNvPr id="44" name="Google Shape;497;p1">
            <a:extLst>
              <a:ext uri="{FF2B5EF4-FFF2-40B4-BE49-F238E27FC236}">
                <a16:creationId xmlns:a16="http://schemas.microsoft.com/office/drawing/2014/main" id="{E50D6655-1AC0-D7B8-64FA-2EFE41B8D025}"/>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How Utility Types Work — Mapped Type Mechanics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Under the hood: how Readonly&lt;T&gt; and Partial&lt;T&gt; are defined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426608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Source Type (entity-types.ts)</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4266089"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3997935" cy="3802913"/>
          </a:xfrm>
          <a:prstGeom prst="rect">
            <a:avLst/>
          </a:prstGeom>
          <a:noFill/>
          <a:ln/>
        </p:spPr>
        <p:txBody>
          <a:bodyPr wrap="square" lIns="0" tIns="0" rIns="0" bIns="0" rtlCol="0" anchor="t"/>
          <a:lstStyle/>
          <a:p>
            <a:pPr defTabSz="1218895">
              <a:buClrTx/>
            </a:pPr>
            <a:r>
              <a:rPr lang="en-US" sz="1266" kern="1200" dirty="0">
                <a:solidFill>
                  <a:srgbClr val="F472B6"/>
                </a:solidFill>
                <a:latin typeface="Consolas" pitchFamily="34" charset="0"/>
                <a:ea typeface="Consolas" pitchFamily="34" charset="-122"/>
                <a:cs typeface="Consolas" pitchFamily="34" charset="-120"/>
              </a:rPr>
              <a:t>interface BtpOrder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         // ①</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customerId: string; // ②</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     // ③</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status: OrderStatus;// ④</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createdAt: Date;    // ⑤</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updatedAt: Date;    // ⑥</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This is the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ALL other types derive from 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copy-paste ever needed.</a:t>
            </a:r>
            <a:endParaRPr lang="en-US" sz="1266" kern="1200" dirty="0">
              <a:solidFill>
                <a:prstClr val="black"/>
              </a:solidFill>
              <a:latin typeface="Calibri" panose="020F0502020204030204"/>
              <a:ea typeface="+mn-ea"/>
              <a:cs typeface="+mn-cs"/>
            </a:endParaRPr>
          </a:p>
        </p:txBody>
      </p:sp>
      <p:sp>
        <p:nvSpPr>
          <p:cNvPr id="9" name="Shape 7"/>
          <p:cNvSpPr/>
          <p:nvPr/>
        </p:nvSpPr>
        <p:spPr>
          <a:xfrm>
            <a:off x="4778019" y="2328959"/>
            <a:ext cx="950728" cy="0"/>
          </a:xfrm>
          <a:prstGeom prst="line">
            <a:avLst/>
          </a:prstGeom>
          <a:noFill/>
          <a:ln w="1905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582481" y="2207070"/>
            <a:ext cx="243777" cy="292532"/>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4778019" y="1865783"/>
            <a:ext cx="950728" cy="390042"/>
          </a:xfrm>
          <a:prstGeom prst="rect">
            <a:avLst/>
          </a:prstGeom>
          <a:solidFill>
            <a:srgbClr val="4338CA">
              <a:alpha val="80000"/>
            </a:srgbClr>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4802397" y="1890161"/>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Readonly&lt;BtpOrder&gt;</a:t>
            </a:r>
            <a:endParaRPr lang="en-US" sz="733" kern="1200" dirty="0">
              <a:solidFill>
                <a:prstClr val="black"/>
              </a:solidFill>
              <a:latin typeface="Calibri" panose="020F0502020204030204"/>
              <a:ea typeface="+mn-ea"/>
              <a:cs typeface="+mn-cs"/>
            </a:endParaRPr>
          </a:p>
        </p:txBody>
      </p:sp>
      <p:sp>
        <p:nvSpPr>
          <p:cNvPr id="13" name="Shape 11"/>
          <p:cNvSpPr/>
          <p:nvPr/>
        </p:nvSpPr>
        <p:spPr>
          <a:xfrm>
            <a:off x="4778019" y="3401575"/>
            <a:ext cx="950728" cy="0"/>
          </a:xfrm>
          <a:prstGeom prst="line">
            <a:avLst/>
          </a:prstGeom>
          <a:noFill/>
          <a:ln w="1905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582481" y="3279687"/>
            <a:ext cx="243777" cy="292532"/>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5" name="Shape 13"/>
          <p:cNvSpPr/>
          <p:nvPr/>
        </p:nvSpPr>
        <p:spPr>
          <a:xfrm>
            <a:off x="4778019" y="2938400"/>
            <a:ext cx="950728" cy="390042"/>
          </a:xfrm>
          <a:prstGeom prst="rect">
            <a:avLst/>
          </a:prstGeom>
          <a:solidFill>
            <a:srgbClr val="0D9488">
              <a:alpha val="80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02397" y="2962777"/>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Partial&lt;BtpOrder&gt;</a:t>
            </a:r>
            <a:endParaRPr lang="en-US" sz="733" kern="1200" dirty="0">
              <a:solidFill>
                <a:prstClr val="black"/>
              </a:solidFill>
              <a:latin typeface="Calibri" panose="020F0502020204030204"/>
              <a:ea typeface="+mn-ea"/>
              <a:cs typeface="+mn-cs"/>
            </a:endParaRPr>
          </a:p>
        </p:txBody>
      </p:sp>
      <p:sp>
        <p:nvSpPr>
          <p:cNvPr id="17" name="Shape 15"/>
          <p:cNvSpPr/>
          <p:nvPr/>
        </p:nvSpPr>
        <p:spPr>
          <a:xfrm>
            <a:off x="4778019" y="4474192"/>
            <a:ext cx="950728" cy="0"/>
          </a:xfrm>
          <a:prstGeom prst="line">
            <a:avLst/>
          </a:prstGeom>
          <a:noFill/>
          <a:ln w="1905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5582481" y="4352303"/>
            <a:ext cx="243777" cy="292532"/>
          </a:xfrm>
          <a:prstGeom prst="rect">
            <a:avLst/>
          </a:prstGeom>
          <a:noFill/>
          <a:ln/>
        </p:spPr>
        <p:txBody>
          <a:bodyPr wrap="square" lIns="0" tIns="0" rIns="0" bIns="0" rtlCol="0" anchor="ctr"/>
          <a:lstStyle/>
          <a:p>
            <a:pPr defTabSz="1218895">
              <a:buClrTx/>
            </a:pPr>
            <a:r>
              <a:rPr lang="en-US" sz="1466" kern="1200" dirty="0">
                <a:solidFill>
                  <a:srgbClr val="D97706"/>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9" name="Shape 17"/>
          <p:cNvSpPr/>
          <p:nvPr/>
        </p:nvSpPr>
        <p:spPr>
          <a:xfrm>
            <a:off x="4778019" y="4011017"/>
            <a:ext cx="950728" cy="390042"/>
          </a:xfrm>
          <a:prstGeom prst="rect">
            <a:avLst/>
          </a:prstGeom>
          <a:solidFill>
            <a:srgbClr val="D97706">
              <a:alpha val="80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802397" y="4035394"/>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Omit&lt;BtpOrder, 'id'|'createdAt'|'updatedAt'&gt;</a:t>
            </a:r>
            <a:endParaRPr lang="en-US" sz="733" kern="1200" dirty="0">
              <a:solidFill>
                <a:prstClr val="black"/>
              </a:solidFill>
              <a:latin typeface="Calibri" panose="020F0502020204030204"/>
              <a:ea typeface="+mn-ea"/>
              <a:cs typeface="+mn-cs"/>
            </a:endParaRPr>
          </a:p>
        </p:txBody>
      </p:sp>
      <p:sp>
        <p:nvSpPr>
          <p:cNvPr id="21" name="Shape 19"/>
          <p:cNvSpPr/>
          <p:nvPr/>
        </p:nvSpPr>
        <p:spPr>
          <a:xfrm>
            <a:off x="4778019" y="5534620"/>
            <a:ext cx="950728" cy="0"/>
          </a:xfrm>
          <a:prstGeom prst="line">
            <a:avLst/>
          </a:prstGeom>
          <a:noFill/>
          <a:ln w="1905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5582481" y="5412731"/>
            <a:ext cx="243777" cy="29253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3" name="Shape 21"/>
          <p:cNvSpPr/>
          <p:nvPr/>
        </p:nvSpPr>
        <p:spPr>
          <a:xfrm>
            <a:off x="4778019" y="5071444"/>
            <a:ext cx="950728" cy="390042"/>
          </a:xfrm>
          <a:prstGeom prst="rect">
            <a:avLst/>
          </a:prstGeom>
          <a:solidFill>
            <a:srgbClr val="7C3AED">
              <a:alpha val="80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4802397" y="5095822"/>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Pick&lt;BtpOrder, 'id'|'status'&gt;</a:t>
            </a:r>
            <a:endParaRPr lang="en-US" sz="733" kern="1200" dirty="0">
              <a:solidFill>
                <a:prstClr val="black"/>
              </a:solidFill>
              <a:latin typeface="Calibri" panose="020F0502020204030204"/>
              <a:ea typeface="+mn-ea"/>
              <a:cs typeface="+mn-cs"/>
            </a:endParaRPr>
          </a:p>
        </p:txBody>
      </p:sp>
      <p:sp>
        <p:nvSpPr>
          <p:cNvPr id="25" name="Text 23"/>
          <p:cNvSpPr/>
          <p:nvPr/>
        </p:nvSpPr>
        <p:spPr>
          <a:xfrm>
            <a:off x="5911580" y="1402608"/>
            <a:ext cx="5972524"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Derived Types (no duplication!)</a:t>
            </a:r>
            <a:endParaRPr lang="en-US" sz="1600" kern="1200" dirty="0">
              <a:solidFill>
                <a:prstClr val="black"/>
              </a:solidFill>
              <a:latin typeface="Calibri" panose="020F0502020204030204"/>
              <a:ea typeface="+mn-ea"/>
              <a:cs typeface="+mn-cs"/>
            </a:endParaRPr>
          </a:p>
        </p:txBody>
      </p:sp>
      <p:sp>
        <p:nvSpPr>
          <p:cNvPr id="26" name="Shape 24"/>
          <p:cNvSpPr/>
          <p:nvPr/>
        </p:nvSpPr>
        <p:spPr>
          <a:xfrm>
            <a:off x="5911580" y="1792650"/>
            <a:ext cx="5972524"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094412" y="1914539"/>
            <a:ext cx="5704370" cy="3802913"/>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① Read-only view (cannot mutate)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ReadonlyOrder = Readonly&lt;BtpOrder&gt;;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createdAt is readonly — safe to share</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② PATCH payload (all fields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UpdatePayload = Partial&lt;BtpOrder&gt;;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amount?: number; status?: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③ POST payload (no server-set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CreatePayload = Omit&lt;BtpOrder,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'id' | 'createdAt' | 'updatedAt'&gt;;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customerId, amount, status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④ Lightweight reference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OrderRef = Pick&lt;BtpOrder,'id'|'status'&gt;;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id: string; status: OrderStatus }</a:t>
            </a:r>
            <a:endParaRPr lang="en-US" sz="1200" kern="1200" dirty="0">
              <a:solidFill>
                <a:prstClr val="black"/>
              </a:solidFill>
              <a:latin typeface="Calibri" panose="020F0502020204030204"/>
              <a:ea typeface="+mn-ea"/>
              <a:cs typeface="+mn-cs"/>
            </a:endParaRPr>
          </a:p>
        </p:txBody>
      </p:sp>
      <p:sp>
        <p:nvSpPr>
          <p:cNvPr id="28" name="Shape 26"/>
          <p:cNvSpPr/>
          <p:nvPr/>
        </p:nvSpPr>
        <p:spPr>
          <a:xfrm>
            <a:off x="487553" y="5936851"/>
            <a:ext cx="11213719" cy="755707"/>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70385" y="5973417"/>
            <a:ext cx="10969943" cy="682574"/>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Mapped types are computed at compile time — zero runtime cost. If you rename a field in BtpOrder,</a:t>
            </a:r>
            <a:endParaRPr lang="en-US" kern="1200" dirty="0">
              <a:solidFill>
                <a:prstClr val="black"/>
              </a:solidFill>
              <a:latin typeface="Calibri" panose="020F0502020204030204"/>
              <a:ea typeface="+mn-ea"/>
              <a:cs typeface="+mn-cs"/>
            </a:endParaRPr>
          </a:p>
          <a:p>
            <a:pPr defTabSz="1218895">
              <a:buClrTx/>
            </a:pPr>
            <a:r>
              <a:rPr lang="en-US" b="1" kern="1200" dirty="0">
                <a:solidFill>
                  <a:srgbClr val="D97706"/>
                </a:solidFill>
                <a:latin typeface="Calibri" pitchFamily="34" charset="0"/>
                <a:ea typeface="Calibri" pitchFamily="34" charset="-122"/>
                <a:cs typeface="Calibri" pitchFamily="34" charset="-120"/>
              </a:rPr>
              <a:t>all derived types update automatically. No interface drift, no manual updates.</a:t>
            </a:r>
            <a:endParaRPr lang="en-US" kern="1200" dirty="0">
              <a:solidFill>
                <a:prstClr val="black"/>
              </a:solidFill>
              <a:latin typeface="Calibri" panose="020F0502020204030204"/>
              <a:ea typeface="+mn-ea"/>
              <a:cs typeface="+mn-cs"/>
            </a:endParaRPr>
          </a:p>
        </p:txBody>
      </p:sp>
      <p:pic>
        <p:nvPicPr>
          <p:cNvPr id="30" name="Google Shape;497;p1">
            <a:extLst>
              <a:ext uri="{FF2B5EF4-FFF2-40B4-BE49-F238E27FC236}">
                <a16:creationId xmlns:a16="http://schemas.microsoft.com/office/drawing/2014/main" id="{5C91E97B-8773-E07B-7D1C-F80C63093462}"/>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entity-types.ts Full Solution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exercises/entity-types.ts — derive all payload types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Source Interface (write once)</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5216817"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The single source of truth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interface BtpServiceOrder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items: OrderItem[];</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totalAmount: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currency: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status: 'Open'|'Processing'|'Closed';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updatedAt: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createdBy: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D97706"/>
                </a:solidFill>
                <a:latin typeface="Calibri" pitchFamily="34" charset="0"/>
                <a:ea typeface="Calibri" pitchFamily="34" charset="-122"/>
                <a:cs typeface="Calibri" pitchFamily="34" charset="-120"/>
              </a:rPr>
              <a:t>Derived Types (zero repetition)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9"/>
            <a:ext cx="5338705"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ReadOnly — safe for event emissions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ReadOnlyOrder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Readonly&lt;BtpServiceOrder&gt;;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POST payload — no system-managed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CreateOrderPayload = Omit&lt;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PATCH payload — all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UpdateOrderPayload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Partial&lt;Omit&lt;BtpServiceOrder,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'id'|'createdAt'|'updatedAt'|'createdBy'&gt;&gt;;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973934"/>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How to use these types in CAP handlers</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339599"/>
            <a:ext cx="11213719" cy="136514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461486"/>
            <a:ext cx="10945565" cy="114575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POST handler — TypeScript enforces only allowed fields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onCreate(req: { data: CreateOrderPayload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req.data.id;         // Error! 'id' does not exist on CreateOrderPayload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req.data.customerId; // 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PATCH handler — all fields optional, no id allowed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onUpdate(req: { data: UpdateOrderPayload }) { ... }</a:t>
            </a:r>
            <a:endParaRPr lang="en-US" sz="1266"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66D18645-AB6C-02C1-264B-8EA090A2157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Putting It All Together — Real BTP Service Pattern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Integration  ·  Generics + Decorators + Utility Types in one CAP handler</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521681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524496"/>
            <a:ext cx="10945565" cy="4997418"/>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import { ConfigLoader }   from './config-loader';   // Exercise 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LogRequest }     from './decorators';      // Exercise B</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CreateOrderPayload, UpdateOrderPayload } from './entity-types'; // Exercise C</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A: Load typed config once at startup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const destCfg = new ConfigLoader&lt;DestinationConfig&gt;('dest.json')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.load(validateDestConfig);</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B + C: Decorated handler with utility-typed parameters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class OrderService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'info'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onCreate(data: CreateOrderPayload) {   // C: utility type (no id, no timestamps)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const resp = await fetch(destCfg.url, {   // A: typed 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method: 'POST',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body: JSON.stringify(data)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resp.json();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'debug'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onUpdate(id: string, patch: UpdateOrderPayload) {  // C: all optional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patch.id is a compile-time error — Omit removes it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updateOrderInBtp(destCfg, id, patch);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8" name="Shape 6"/>
          <p:cNvSpPr/>
          <p:nvPr/>
        </p:nvSpPr>
        <p:spPr>
          <a:xfrm>
            <a:off x="487552" y="6704747"/>
            <a:ext cx="3656648" cy="0"/>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412354" y="6704747"/>
            <a:ext cx="3656648" cy="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8337156" y="6704747"/>
            <a:ext cx="3656648" cy="0"/>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487553" y="6704747"/>
            <a:ext cx="11213719" cy="73133"/>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10"/>
          <p:cNvSpPr/>
          <p:nvPr/>
        </p:nvSpPr>
        <p:spPr>
          <a:xfrm>
            <a:off x="487552" y="6668180"/>
            <a:ext cx="219399" cy="21939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755707"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 Generics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6668180"/>
            <a:ext cx="219399" cy="21939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680508"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B: Decorators</a:t>
            </a:r>
            <a:endParaRPr lang="en-US" sz="1133" kern="1200" dirty="0">
              <a:solidFill>
                <a:prstClr val="black"/>
              </a:solidFill>
              <a:latin typeface="Calibri" panose="020F0502020204030204"/>
              <a:ea typeface="+mn-ea"/>
              <a:cs typeface="+mn-cs"/>
            </a:endParaRPr>
          </a:p>
        </p:txBody>
      </p:sp>
      <p:sp>
        <p:nvSpPr>
          <p:cNvPr id="16" name="Shape 14"/>
          <p:cNvSpPr/>
          <p:nvPr/>
        </p:nvSpPr>
        <p:spPr>
          <a:xfrm>
            <a:off x="8337156" y="6668180"/>
            <a:ext cx="219399" cy="21939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8605310"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 Utility Types</a:t>
            </a:r>
            <a:endParaRPr lang="en-US" sz="1133"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DEA13D57-E33D-B5DD-CFA8-7120654C57F0}"/>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Common Mistakes &amp; How to Fix Them</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Reference  ·  Errors you will see and how to resolve them</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8755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9" name="Text 7"/>
          <p:cNvSpPr/>
          <p:nvPr/>
        </p:nvSpPr>
        <p:spPr>
          <a:xfrm>
            <a:off x="633818"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TS2322: Type 'string' is not assignable to type 'T'</a:t>
            </a:r>
            <a:endParaRPr lang="en-US" sz="1133" kern="1200" dirty="0">
              <a:solidFill>
                <a:prstClr val="black"/>
              </a:solidFill>
              <a:latin typeface="Calibri" panose="020F0502020204030204"/>
              <a:ea typeface="+mn-ea"/>
              <a:cs typeface="+mn-cs"/>
            </a:endParaRPr>
          </a:p>
        </p:txBody>
      </p:sp>
      <p:sp>
        <p:nvSpPr>
          <p:cNvPr id="10" name="Text 8"/>
          <p:cNvSpPr/>
          <p:nvPr/>
        </p:nvSpPr>
        <p:spPr>
          <a:xfrm>
            <a:off x="633818"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Returning a hardcoded value instead of the validated T</a:t>
            </a:r>
            <a:endParaRPr lang="en-US" sz="1133" kern="1200" dirty="0">
              <a:solidFill>
                <a:prstClr val="black"/>
              </a:solidFill>
              <a:latin typeface="Calibri" panose="020F0502020204030204"/>
              <a:ea typeface="+mn-ea"/>
              <a:cs typeface="+mn-cs"/>
            </a:endParaRPr>
          </a:p>
        </p:txBody>
      </p:sp>
      <p:sp>
        <p:nvSpPr>
          <p:cNvPr id="11" name="Text 9"/>
          <p:cNvSpPr/>
          <p:nvPr/>
        </p:nvSpPr>
        <p:spPr>
          <a:xfrm>
            <a:off x="633818"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Return the result of the validator function — it knows the shape of T</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39913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39913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52102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15" name="Text 13"/>
          <p:cNvSpPr/>
          <p:nvPr/>
        </p:nvSpPr>
        <p:spPr>
          <a:xfrm>
            <a:off x="6545399"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TS2344: Type 'string' does not satisfy constraint 'object'</a:t>
            </a:r>
            <a:endParaRPr lang="en-US" sz="1133" kern="1200" dirty="0">
              <a:solidFill>
                <a:prstClr val="black"/>
              </a:solidFill>
              <a:latin typeface="Calibri" panose="020F0502020204030204"/>
              <a:ea typeface="+mn-ea"/>
              <a:cs typeface="+mn-cs"/>
            </a:endParaRPr>
          </a:p>
        </p:txBody>
      </p:sp>
      <p:sp>
        <p:nvSpPr>
          <p:cNvPr id="16" name="Text 14"/>
          <p:cNvSpPr/>
          <p:nvPr/>
        </p:nvSpPr>
        <p:spPr>
          <a:xfrm>
            <a:off x="6545399"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Calling ConfigLoader&lt;string&gt; — primitive types not allowed</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45399"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ConfigLoader&lt;T extends object&gt; only accepts object shapes, not primitives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8755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8755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1" name="Text 19"/>
          <p:cNvSpPr/>
          <p:nvPr/>
        </p:nvSpPr>
        <p:spPr>
          <a:xfrm>
            <a:off x="633818"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Error: Decorators are not enabled</a:t>
            </a:r>
            <a:endParaRPr lang="en-US" sz="1133" kern="1200" dirty="0">
              <a:solidFill>
                <a:prstClr val="black"/>
              </a:solidFill>
              <a:latin typeface="Calibri" panose="020F0502020204030204"/>
              <a:ea typeface="+mn-ea"/>
              <a:cs typeface="+mn-cs"/>
            </a:endParaRPr>
          </a:p>
        </p:txBody>
      </p:sp>
      <p:sp>
        <p:nvSpPr>
          <p:cNvPr id="22" name="Text 20"/>
          <p:cNvSpPr/>
          <p:nvPr/>
        </p:nvSpPr>
        <p:spPr>
          <a:xfrm>
            <a:off x="633818"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Missing experimentalDecorators in tsconfig.json</a:t>
            </a:r>
            <a:endParaRPr lang="en-US" sz="1133" kern="1200" dirty="0">
              <a:solidFill>
                <a:prstClr val="black"/>
              </a:solidFill>
              <a:latin typeface="Calibri" panose="020F0502020204030204"/>
              <a:ea typeface="+mn-ea"/>
              <a:cs typeface="+mn-cs"/>
            </a:endParaRPr>
          </a:p>
        </p:txBody>
      </p:sp>
      <p:sp>
        <p:nvSpPr>
          <p:cNvPr id="23" name="Text 21"/>
          <p:cNvSpPr/>
          <p:nvPr/>
        </p:nvSpPr>
        <p:spPr>
          <a:xfrm>
            <a:off x="633818"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Add "experimentalDecorators": true to compilerOptions in tsconfig.json</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39913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39913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52102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7" name="Text 25"/>
          <p:cNvSpPr/>
          <p:nvPr/>
        </p:nvSpPr>
        <p:spPr>
          <a:xfrm>
            <a:off x="6545399"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'this' is lost inside the wrapper function</a:t>
            </a:r>
            <a:endParaRPr lang="en-US" sz="1133" kern="1200" dirty="0">
              <a:solidFill>
                <a:prstClr val="black"/>
              </a:solidFill>
              <a:latin typeface="Calibri" panose="020F0502020204030204"/>
              <a:ea typeface="+mn-ea"/>
              <a:cs typeface="+mn-cs"/>
            </a:endParaRPr>
          </a:p>
        </p:txBody>
      </p:sp>
      <p:sp>
        <p:nvSpPr>
          <p:cNvPr id="28" name="Text 26"/>
          <p:cNvSpPr/>
          <p:nvPr/>
        </p:nvSpPr>
        <p:spPr>
          <a:xfrm>
            <a:off x="6545399"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Using function() {} loses 'this' binding from the class instance</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45399"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Always use original.apply(this, args) — never original(...args) alone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8755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33818"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TS2339: Property 'id' does not exist on CreateOrderPayload</a:t>
            </a:r>
            <a:endParaRPr lang="en-US" sz="1133" kern="1200" dirty="0">
              <a:solidFill>
                <a:prstClr val="black"/>
              </a:solidFill>
              <a:latin typeface="Calibri" panose="020F0502020204030204"/>
              <a:ea typeface="+mn-ea"/>
              <a:cs typeface="+mn-cs"/>
            </a:endParaRPr>
          </a:p>
        </p:txBody>
      </p:sp>
      <p:sp>
        <p:nvSpPr>
          <p:cNvPr id="34" name="Text 32"/>
          <p:cNvSpPr/>
          <p:nvPr/>
        </p:nvSpPr>
        <p:spPr>
          <a:xfrm>
            <a:off x="633818"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This is intentional! Omit removed 'id' from the type.</a:t>
            </a:r>
            <a:endParaRPr lang="en-US" sz="1133" kern="1200" dirty="0">
              <a:solidFill>
                <a:prstClr val="black"/>
              </a:solidFill>
              <a:latin typeface="Calibri" panose="020F0502020204030204"/>
              <a:ea typeface="+mn-ea"/>
              <a:cs typeface="+mn-cs"/>
            </a:endParaRPr>
          </a:p>
        </p:txBody>
      </p:sp>
      <p:sp>
        <p:nvSpPr>
          <p:cNvPr id="35" name="Text 33"/>
          <p:cNvSpPr/>
          <p:nvPr/>
        </p:nvSpPr>
        <p:spPr>
          <a:xfrm>
            <a:off x="633818"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This IS the correct compiler behaviour — do not add id to the create payload</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39913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39913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52102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9" name="Text 37"/>
          <p:cNvSpPr/>
          <p:nvPr/>
        </p:nvSpPr>
        <p:spPr>
          <a:xfrm>
            <a:off x="6545399"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Cannot assign to 'x' because it is a read-only property</a:t>
            </a:r>
            <a:endParaRPr lang="en-US" sz="1133" kern="1200" dirty="0">
              <a:solidFill>
                <a:prstClr val="black"/>
              </a:solidFill>
              <a:latin typeface="Calibri" panose="020F0502020204030204"/>
              <a:ea typeface="+mn-ea"/>
              <a:cs typeface="+mn-cs"/>
            </a:endParaRPr>
          </a:p>
        </p:txBody>
      </p:sp>
      <p:sp>
        <p:nvSpPr>
          <p:cNvPr id="40" name="Text 38"/>
          <p:cNvSpPr/>
          <p:nvPr/>
        </p:nvSpPr>
        <p:spPr>
          <a:xfrm>
            <a:off x="6545399"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Trying to mutate a field on a Readonly&lt;T&gt; derived type</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45399"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Readonly types are immutable — create a new object instead of mutating</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5E3A6E7-5651-48DA-9748-570AD262B60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818CF8">
                    <a:alpha val="12000"/>
                  </a:srgbClr>
                </a:solidFill>
                <a:latin typeface="Consolas" pitchFamily="34" charset="0"/>
                <a:ea typeface="Consolas" pitchFamily="34" charset="-122"/>
                <a:cs typeface="Consolas" pitchFamily="34" charset="-120"/>
              </a:rPr>
              <a:t>{}</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71279"/>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Workshop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439174"/>
            <a:ext cx="9141619" cy="585064"/>
          </a:xfrm>
          <a:prstGeom prst="rect">
            <a:avLst/>
          </a:prstGeom>
          <a:noFill/>
          <a:ln/>
        </p:spPr>
        <p:txBody>
          <a:bodyPr wrap="square" lIns="0" tIns="0" rIns="0" bIns="0" rtlCol="0" anchor="ctr"/>
          <a:lstStyle/>
          <a:p>
            <a:pPr defTabSz="1218895">
              <a:buClrTx/>
            </a:pPr>
            <a:r>
              <a:rPr lang="en-US" sz="1733" kern="1200" dirty="0">
                <a:solidFill>
                  <a:srgbClr val="A5B4FC"/>
                </a:solidFill>
                <a:latin typeface="Calibri" pitchFamily="34" charset="0"/>
                <a:ea typeface="Calibri" pitchFamily="34" charset="-122"/>
                <a:cs typeface="Calibri" pitchFamily="34" charset="-120"/>
              </a:rPr>
              <a:t>You now have three patterns that have no JavaScript equivalent — ready for production BTP services.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097371"/>
            <a:ext cx="633819"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2097371"/>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A</a:t>
            </a:r>
            <a:endParaRPr lang="en-US" sz="2000" kern="1200" dirty="0">
              <a:solidFill>
                <a:prstClr val="black"/>
              </a:solidFill>
              <a:latin typeface="Calibri" panose="020F0502020204030204"/>
              <a:ea typeface="+mn-ea"/>
              <a:cs typeface="+mn-cs"/>
            </a:endParaRPr>
          </a:p>
        </p:txBody>
      </p:sp>
      <p:sp>
        <p:nvSpPr>
          <p:cNvPr id="8" name="Text 6"/>
          <p:cNvSpPr/>
          <p:nvPr/>
        </p:nvSpPr>
        <p:spPr>
          <a:xfrm>
            <a:off x="1401714" y="2158315"/>
            <a:ext cx="2437765" cy="414420"/>
          </a:xfrm>
          <a:prstGeom prst="rect">
            <a:avLst/>
          </a:prstGeom>
          <a:noFill/>
          <a:ln/>
        </p:spPr>
        <p:txBody>
          <a:bodyPr wrap="square" lIns="0" tIns="0" rIns="0" bIns="0" rtlCol="0" anchor="ctr"/>
          <a:lstStyle/>
          <a:p>
            <a:pPr defTabSz="1218895">
              <a:buClrTx/>
            </a:pPr>
            <a:r>
              <a:rPr lang="en-US" sz="1733" b="1" kern="1200" dirty="0">
                <a:solidFill>
                  <a:srgbClr val="7C3AED"/>
                </a:solidFill>
                <a:latin typeface="Calibri" pitchFamily="34" charset="0"/>
                <a:ea typeface="Calibri" pitchFamily="34" charset="-122"/>
                <a:cs typeface="Calibri" pitchFamily="34" charset="-120"/>
              </a:rPr>
              <a:t>Generics</a:t>
            </a:r>
            <a:endParaRPr lang="en-US" sz="1733" kern="1200" dirty="0">
              <a:solidFill>
                <a:prstClr val="black"/>
              </a:solidFill>
              <a:latin typeface="Calibri" panose="020F0502020204030204"/>
              <a:ea typeface="+mn-ea"/>
              <a:cs typeface="+mn-cs"/>
            </a:endParaRPr>
          </a:p>
        </p:txBody>
      </p:sp>
      <p:sp>
        <p:nvSpPr>
          <p:cNvPr id="9" name="Text 7"/>
          <p:cNvSpPr/>
          <p:nvPr/>
        </p:nvSpPr>
        <p:spPr>
          <a:xfrm>
            <a:off x="1401714" y="2584924"/>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ConfigLoader&lt;T&gt; implemented for any config shape</a:t>
            </a:r>
            <a:endParaRPr lang="en-US" sz="1266" kern="1200" dirty="0">
              <a:solidFill>
                <a:prstClr val="black"/>
              </a:solidFill>
              <a:latin typeface="Calibri" panose="020F0502020204030204"/>
              <a:ea typeface="+mn-ea"/>
              <a:cs typeface="+mn-cs"/>
            </a:endParaRPr>
          </a:p>
        </p:txBody>
      </p:sp>
      <p:sp>
        <p:nvSpPr>
          <p:cNvPr id="10" name="Text 8"/>
          <p:cNvSpPr/>
          <p:nvPr/>
        </p:nvSpPr>
        <p:spPr>
          <a:xfrm>
            <a:off x="1401714" y="2877456"/>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Generic constraints with extends object</a:t>
            </a:r>
            <a:endParaRPr lang="en-US" sz="1266" kern="1200" dirty="0">
              <a:solidFill>
                <a:prstClr val="black"/>
              </a:solidFill>
              <a:latin typeface="Calibri" panose="020F0502020204030204"/>
              <a:ea typeface="+mn-ea"/>
              <a:cs typeface="+mn-cs"/>
            </a:endParaRPr>
          </a:p>
        </p:txBody>
      </p:sp>
      <p:sp>
        <p:nvSpPr>
          <p:cNvPr id="11" name="Text 9"/>
          <p:cNvSpPr/>
          <p:nvPr/>
        </p:nvSpPr>
        <p:spPr>
          <a:xfrm>
            <a:off x="1401714" y="3169987"/>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Type inference at the call site — no explicit annotation needed</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462519"/>
            <a:ext cx="633819"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3462519"/>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B</a:t>
            </a:r>
            <a:endParaRPr lang="en-US" sz="2000" kern="1200" dirty="0">
              <a:solidFill>
                <a:prstClr val="black"/>
              </a:solidFill>
              <a:latin typeface="Calibri" panose="020F0502020204030204"/>
              <a:ea typeface="+mn-ea"/>
              <a:cs typeface="+mn-cs"/>
            </a:endParaRPr>
          </a:p>
        </p:txBody>
      </p:sp>
      <p:sp>
        <p:nvSpPr>
          <p:cNvPr id="14" name="Text 12"/>
          <p:cNvSpPr/>
          <p:nvPr/>
        </p:nvSpPr>
        <p:spPr>
          <a:xfrm>
            <a:off x="1401714" y="3523463"/>
            <a:ext cx="2437765" cy="414420"/>
          </a:xfrm>
          <a:prstGeom prst="rect">
            <a:avLst/>
          </a:prstGeom>
          <a:noFill/>
          <a:ln/>
        </p:spPr>
        <p:txBody>
          <a:bodyPr wrap="square" lIns="0" tIns="0" rIns="0" bIns="0" rtlCol="0" anchor="ctr"/>
          <a:lstStyle/>
          <a:p>
            <a:pPr defTabSz="1218895">
              <a:buClrTx/>
            </a:pPr>
            <a:r>
              <a:rPr lang="en-US" sz="1733" b="1" kern="1200" dirty="0">
                <a:solidFill>
                  <a:srgbClr val="0D9488"/>
                </a:solidFill>
                <a:latin typeface="Calibri" pitchFamily="34" charset="0"/>
                <a:ea typeface="Calibri" pitchFamily="34" charset="-122"/>
                <a:cs typeface="Calibri" pitchFamily="34" charset="-120"/>
              </a:rPr>
              <a:t>Decorators</a:t>
            </a:r>
            <a:endParaRPr lang="en-US" sz="1733" kern="1200" dirty="0">
              <a:solidFill>
                <a:prstClr val="black"/>
              </a:solidFill>
              <a:latin typeface="Calibri" panose="020F0502020204030204"/>
              <a:ea typeface="+mn-ea"/>
              <a:cs typeface="+mn-cs"/>
            </a:endParaRPr>
          </a:p>
        </p:txBody>
      </p:sp>
      <p:sp>
        <p:nvSpPr>
          <p:cNvPr id="15" name="Text 13"/>
          <p:cNvSpPr/>
          <p:nvPr/>
        </p:nvSpPr>
        <p:spPr>
          <a:xfrm>
            <a:off x="1401714" y="3950072"/>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@LogRequest logs name, args, and execution time</a:t>
            </a:r>
            <a:endParaRPr lang="en-US" sz="1266" kern="1200" dirty="0">
              <a:solidFill>
                <a:prstClr val="black"/>
              </a:solidFill>
              <a:latin typeface="Calibri" panose="020F0502020204030204"/>
              <a:ea typeface="+mn-ea"/>
              <a:cs typeface="+mn-cs"/>
            </a:endParaRPr>
          </a:p>
        </p:txBody>
      </p:sp>
      <p:sp>
        <p:nvSpPr>
          <p:cNvPr id="16" name="Text 14"/>
          <p:cNvSpPr/>
          <p:nvPr/>
        </p:nvSpPr>
        <p:spPr>
          <a:xfrm>
            <a:off x="1401714" y="4242604"/>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Method decorator anatomy: target / methodName / descriptor</a:t>
            </a:r>
            <a:endParaRPr lang="en-US" sz="1266" kern="1200" dirty="0">
              <a:solidFill>
                <a:prstClr val="black"/>
              </a:solidFill>
              <a:latin typeface="Calibri" panose="020F0502020204030204"/>
              <a:ea typeface="+mn-ea"/>
              <a:cs typeface="+mn-cs"/>
            </a:endParaRPr>
          </a:p>
        </p:txBody>
      </p:sp>
      <p:sp>
        <p:nvSpPr>
          <p:cNvPr id="17" name="Text 15"/>
          <p:cNvSpPr/>
          <p:nvPr/>
        </p:nvSpPr>
        <p:spPr>
          <a:xfrm>
            <a:off x="1401714" y="4535136"/>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Applied to a real CAP handler class — zero handler code change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609441" y="4827668"/>
            <a:ext cx="633819"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09441" y="4827668"/>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C</a:t>
            </a:r>
            <a:endParaRPr lang="en-US" sz="2000" kern="1200" dirty="0">
              <a:solidFill>
                <a:prstClr val="black"/>
              </a:solidFill>
              <a:latin typeface="Calibri" panose="020F0502020204030204"/>
              <a:ea typeface="+mn-ea"/>
              <a:cs typeface="+mn-cs"/>
            </a:endParaRPr>
          </a:p>
        </p:txBody>
      </p:sp>
      <p:sp>
        <p:nvSpPr>
          <p:cNvPr id="20" name="Text 18"/>
          <p:cNvSpPr/>
          <p:nvPr/>
        </p:nvSpPr>
        <p:spPr>
          <a:xfrm>
            <a:off x="1401714" y="4888612"/>
            <a:ext cx="2437765" cy="414420"/>
          </a:xfrm>
          <a:prstGeom prst="rect">
            <a:avLst/>
          </a:prstGeom>
          <a:noFill/>
          <a:ln/>
        </p:spPr>
        <p:txBody>
          <a:bodyPr wrap="square" lIns="0" tIns="0" rIns="0" bIns="0" rtlCol="0" anchor="ctr"/>
          <a:lstStyle/>
          <a:p>
            <a:pPr defTabSz="1218895">
              <a:buClrTx/>
            </a:pPr>
            <a:r>
              <a:rPr lang="en-US" sz="1733" b="1" kern="1200" dirty="0">
                <a:solidFill>
                  <a:srgbClr val="D97706"/>
                </a:solidFill>
                <a:latin typeface="Calibri" pitchFamily="34" charset="0"/>
                <a:ea typeface="Calibri" pitchFamily="34" charset="-122"/>
                <a:cs typeface="Calibri" pitchFamily="34" charset="-120"/>
              </a:rPr>
              <a:t>Utility Types</a:t>
            </a:r>
            <a:endParaRPr lang="en-US" sz="1733" kern="1200" dirty="0">
              <a:solidFill>
                <a:prstClr val="black"/>
              </a:solidFill>
              <a:latin typeface="Calibri" panose="020F0502020204030204"/>
              <a:ea typeface="+mn-ea"/>
              <a:cs typeface="+mn-cs"/>
            </a:endParaRPr>
          </a:p>
        </p:txBody>
      </p:sp>
      <p:sp>
        <p:nvSpPr>
          <p:cNvPr id="21" name="Text 19"/>
          <p:cNvSpPr/>
          <p:nvPr/>
        </p:nvSpPr>
        <p:spPr>
          <a:xfrm>
            <a:off x="1401714" y="5315221"/>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ReadOnlyOrder, CreateOrderPayload, UpdateOrderPayload derived</a:t>
            </a:r>
            <a:endParaRPr lang="en-US" sz="1266" kern="1200" dirty="0">
              <a:solidFill>
                <a:prstClr val="black"/>
              </a:solidFill>
              <a:latin typeface="Calibri" panose="020F0502020204030204"/>
              <a:ea typeface="+mn-ea"/>
              <a:cs typeface="+mn-cs"/>
            </a:endParaRPr>
          </a:p>
        </p:txBody>
      </p:sp>
      <p:sp>
        <p:nvSpPr>
          <p:cNvPr id="22" name="Text 20"/>
          <p:cNvSpPr/>
          <p:nvPr/>
        </p:nvSpPr>
        <p:spPr>
          <a:xfrm>
            <a:off x="1401714" y="5607752"/>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Readonly&lt;T&gt;, Omit&lt;T,K&gt;, Partial&lt;T&gt; — no property duplication</a:t>
            </a:r>
            <a:endParaRPr lang="en-US" sz="1266" kern="1200" dirty="0">
              <a:solidFill>
                <a:prstClr val="black"/>
              </a:solidFill>
              <a:latin typeface="Calibri" panose="020F0502020204030204"/>
              <a:ea typeface="+mn-ea"/>
              <a:cs typeface="+mn-cs"/>
            </a:endParaRPr>
          </a:p>
        </p:txBody>
      </p:sp>
      <p:sp>
        <p:nvSpPr>
          <p:cNvPr id="23" name="Text 21"/>
          <p:cNvSpPr/>
          <p:nvPr/>
        </p:nvSpPr>
        <p:spPr>
          <a:xfrm>
            <a:off x="1401714" y="5900284"/>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One source interface drives all variants automatically</a:t>
            </a:r>
            <a:endParaRPr lang="en-US" sz="1266" kern="1200" dirty="0">
              <a:solidFill>
                <a:prstClr val="black"/>
              </a:solidFill>
              <a:latin typeface="Calibri" panose="020F0502020204030204"/>
              <a:ea typeface="+mn-ea"/>
              <a:cs typeface="+mn-cs"/>
            </a:endParaRPr>
          </a:p>
        </p:txBody>
      </p:sp>
      <p:sp>
        <p:nvSpPr>
          <p:cNvPr id="24" name="Shape 22"/>
          <p:cNvSpPr/>
          <p:nvPr/>
        </p:nvSpPr>
        <p:spPr>
          <a:xfrm>
            <a:off x="609441" y="6436593"/>
            <a:ext cx="10969943" cy="329098"/>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09441" y="6436593"/>
            <a:ext cx="10969943" cy="329098"/>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Conditional Types  |  infer keyword  |  Template Literal Types  |  Discriminated Unions</a:t>
            </a:r>
            <a:endParaRPr lang="en-US" sz="1333"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78220026-46D2-C772-9AD1-68EFFE6D5343}"/>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1748</TotalTime>
  <Words>8537</Words>
  <Application>Microsoft Office PowerPoint</Application>
  <PresentationFormat>Custom</PresentationFormat>
  <Paragraphs>1241</Paragraphs>
  <Slides>43</Slides>
  <Notes>38</Notes>
  <HiddenSlides>0</HiddenSlides>
  <MMClips>0</MMClips>
  <ScaleCrop>false</ScaleCrop>
  <HeadingPairs>
    <vt:vector size="6" baseType="variant">
      <vt:variant>
        <vt:lpstr>Fonts Used</vt:lpstr>
      </vt:variant>
      <vt:variant>
        <vt:i4>14</vt:i4>
      </vt:variant>
      <vt:variant>
        <vt:lpstr>Theme</vt:lpstr>
      </vt:variant>
      <vt:variant>
        <vt:i4>5</vt:i4>
      </vt:variant>
      <vt:variant>
        <vt:lpstr>Slide Titles</vt:lpstr>
      </vt:variant>
      <vt:variant>
        <vt:i4>43</vt:i4>
      </vt:variant>
    </vt:vector>
  </HeadingPairs>
  <TitlesOfParts>
    <vt:vector size="62" baseType="lpstr">
      <vt:lpstr>Aptos</vt:lpstr>
      <vt:lpstr>Cooper Black</vt:lpstr>
      <vt:lpstr>Aptos Display</vt:lpstr>
      <vt:lpstr>Arial Black</vt:lpstr>
      <vt:lpstr>Cambria</vt:lpstr>
      <vt:lpstr>Gill Sans</vt:lpstr>
      <vt:lpstr>Corben</vt:lpstr>
      <vt:lpstr>Calibri</vt:lpstr>
      <vt:lpstr>Open Sans</vt:lpstr>
      <vt:lpstr>Quattrocento Sans</vt:lpstr>
      <vt:lpstr>Consolas</vt:lpstr>
      <vt:lpstr>Segoe UI Light</vt:lpstr>
      <vt:lpstr>Segoe UI</vt:lpstr>
      <vt:lpstr>Arial</vt:lpstr>
      <vt:lpstr>Office Theme</vt:lpstr>
      <vt:lpstr>2_Office Theme</vt:lpstr>
      <vt:lpstr>3_Office Theme</vt:lpstr>
      <vt:lpstr>1_Office Theme</vt:lpstr>
      <vt:lpstr>4_Office Theme</vt:lpstr>
      <vt:lpstr>SAP BTP CAPM “TypeScript” for Developers</vt:lpstr>
      <vt:lpstr>PowerPoint Presentation</vt:lpstr>
      <vt:lpstr>Agenda </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53</cp:revision>
  <dcterms:created xsi:type="dcterms:W3CDTF">2023-10-03T21:33:12Z</dcterms:created>
  <dcterms:modified xsi:type="dcterms:W3CDTF">2026-06-09T04:35:51Z</dcterms:modified>
</cp:coreProperties>
</file>